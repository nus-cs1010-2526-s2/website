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087" r:id="rId1"/>
  </p:sldMasterIdLst>
  <p:notesMasterIdLst>
    <p:notesMasterId r:id="rId25"/>
  </p:notesMasterIdLst>
  <p:handoutMasterIdLst>
    <p:handoutMasterId r:id="rId26"/>
  </p:handoutMasterIdLst>
  <p:sldIdLst>
    <p:sldId id="256" r:id="rId2"/>
    <p:sldId id="468" r:id="rId3"/>
    <p:sldId id="582" r:id="rId4"/>
    <p:sldId id="644" r:id="rId5"/>
    <p:sldId id="546" r:id="rId6"/>
    <p:sldId id="645" r:id="rId7"/>
    <p:sldId id="646" r:id="rId8"/>
    <p:sldId id="647" r:id="rId9"/>
    <p:sldId id="648" r:id="rId10"/>
    <p:sldId id="649" r:id="rId11"/>
    <p:sldId id="650" r:id="rId12"/>
    <p:sldId id="651" r:id="rId13"/>
    <p:sldId id="652" r:id="rId14"/>
    <p:sldId id="617" r:id="rId15"/>
    <p:sldId id="653" r:id="rId16"/>
    <p:sldId id="654" r:id="rId17"/>
    <p:sldId id="636" r:id="rId18"/>
    <p:sldId id="655" r:id="rId19"/>
    <p:sldId id="656" r:id="rId20"/>
    <p:sldId id="657" r:id="rId21"/>
    <p:sldId id="575" r:id="rId22"/>
    <p:sldId id="592" r:id="rId23"/>
    <p:sldId id="526" r:id="rId24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00"/>
    <a:srgbClr val="FFFF99"/>
    <a:srgbClr val="00CCFF"/>
    <a:srgbClr val="0099FF"/>
    <a:srgbClr val="6699FF"/>
    <a:srgbClr val="0066FF"/>
    <a:srgbClr val="CCFFCC"/>
    <a:srgbClr val="000099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85CC96-32C8-4C8A-B07A-DFEB87A92E06}" v="46" dt="2026-04-07T03:58:13.6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140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 Jin" userId="cd05a825-544c-438a-9ba1-08e63db50b47" providerId="ADAL" clId="{5DF3A229-1965-414E-AF54-F4C37AC7DF68}"/>
    <pc:docChg chg="undo custSel modSld">
      <pc:chgData name="Zhao Jin" userId="cd05a825-544c-438a-9ba1-08e63db50b47" providerId="ADAL" clId="{5DF3A229-1965-414E-AF54-F4C37AC7DF68}" dt="2026-04-07T03:58:13.628" v="412"/>
      <pc:docMkLst>
        <pc:docMk/>
      </pc:docMkLst>
      <pc:sldChg chg="modSp mod">
        <pc:chgData name="Zhao Jin" userId="cd05a825-544c-438a-9ba1-08e63db50b47" providerId="ADAL" clId="{5DF3A229-1965-414E-AF54-F4C37AC7DF68}" dt="2026-04-06T07:22:48.848" v="407" actId="20577"/>
        <pc:sldMkLst>
          <pc:docMk/>
          <pc:sldMk cId="1067695719" sldId="526"/>
        </pc:sldMkLst>
        <pc:spChg chg="mod">
          <ac:chgData name="Zhao Jin" userId="cd05a825-544c-438a-9ba1-08e63db50b47" providerId="ADAL" clId="{5DF3A229-1965-414E-AF54-F4C37AC7DF68}" dt="2026-04-06T07:22:48.848" v="407" actId="20577"/>
          <ac:spMkLst>
            <pc:docMk/>
            <pc:sldMk cId="1067695719" sldId="526"/>
            <ac:spMk id="13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4-06T07:09:58.302" v="306" actId="20577"/>
        <pc:sldMkLst>
          <pc:docMk/>
          <pc:sldMk cId="2573090601" sldId="546"/>
        </pc:sldMkLst>
        <pc:spChg chg="mod">
          <ac:chgData name="Zhao Jin" userId="cd05a825-544c-438a-9ba1-08e63db50b47" providerId="ADAL" clId="{5DF3A229-1965-414E-AF54-F4C37AC7DF68}" dt="2026-04-06T07:09:58.302" v="306" actId="20577"/>
          <ac:spMkLst>
            <pc:docMk/>
            <pc:sldMk cId="2573090601" sldId="546"/>
            <ac:spMk id="8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4-06T07:09:55.884" v="304" actId="20577"/>
          <ac:spMkLst>
            <pc:docMk/>
            <pc:sldMk cId="2573090601" sldId="546"/>
            <ac:spMk id="14338" creationId="{00000000-0000-0000-0000-000000000000}"/>
          </ac:spMkLst>
        </pc:spChg>
      </pc:sldChg>
      <pc:sldChg chg="modAnim">
        <pc:chgData name="Zhao Jin" userId="cd05a825-544c-438a-9ba1-08e63db50b47" providerId="ADAL" clId="{5DF3A229-1965-414E-AF54-F4C37AC7DF68}" dt="2026-04-06T07:20:55.882" v="382"/>
        <pc:sldMkLst>
          <pc:docMk/>
          <pc:sldMk cId="1565163798" sldId="575"/>
        </pc:sldMkLst>
      </pc:sldChg>
      <pc:sldChg chg="addAnim delAnim modAnim">
        <pc:chgData name="Zhao Jin" userId="cd05a825-544c-438a-9ba1-08e63db50b47" providerId="ADAL" clId="{5DF3A229-1965-414E-AF54-F4C37AC7DF68}" dt="2026-04-07T03:58:13.628" v="412"/>
        <pc:sldMkLst>
          <pc:docMk/>
          <pc:sldMk cId="2550500962" sldId="592"/>
        </pc:sldMkLst>
      </pc:sldChg>
      <pc:sldChg chg="modAnim">
        <pc:chgData name="Zhao Jin" userId="cd05a825-544c-438a-9ba1-08e63db50b47" providerId="ADAL" clId="{5DF3A229-1965-414E-AF54-F4C37AC7DF68}" dt="2026-04-06T07:17:25.441" v="367"/>
        <pc:sldMkLst>
          <pc:docMk/>
          <pc:sldMk cId="1813128722" sldId="617"/>
        </pc:sldMkLst>
      </pc:sldChg>
      <pc:sldChg chg="modSp mod addAnim delAnim modAnim">
        <pc:chgData name="Zhao Jin" userId="cd05a825-544c-438a-9ba1-08e63db50b47" providerId="ADAL" clId="{5DF3A229-1965-414E-AF54-F4C37AC7DF68}" dt="2026-04-06T07:18:45.883" v="377"/>
        <pc:sldMkLst>
          <pc:docMk/>
          <pc:sldMk cId="3454948446" sldId="636"/>
        </pc:sldMkLst>
        <pc:spChg chg="mod">
          <ac:chgData name="Zhao Jin" userId="cd05a825-544c-438a-9ba1-08e63db50b47" providerId="ADAL" clId="{5DF3A229-1965-414E-AF54-F4C37AC7DF68}" dt="2026-04-06T07:18:26.254" v="371" actId="1076"/>
          <ac:spMkLst>
            <pc:docMk/>
            <pc:sldMk cId="3454948446" sldId="636"/>
            <ac:spMk id="222" creationId="{689FCCC1-5F77-4501-A120-F099E35B5B85}"/>
          </ac:spMkLst>
        </pc:spChg>
        <pc:spChg chg="mod">
          <ac:chgData name="Zhao Jin" userId="cd05a825-544c-438a-9ba1-08e63db50b47" providerId="ADAL" clId="{5DF3A229-1965-414E-AF54-F4C37AC7DF68}" dt="2026-04-06T07:18:26.254" v="371" actId="1076"/>
          <ac:spMkLst>
            <pc:docMk/>
            <pc:sldMk cId="3454948446" sldId="636"/>
            <ac:spMk id="223" creationId="{4E57D16C-F289-4E02-9D67-4F8DB43103CA}"/>
          </ac:spMkLst>
        </pc:spChg>
        <pc:spChg chg="mod">
          <ac:chgData name="Zhao Jin" userId="cd05a825-544c-438a-9ba1-08e63db50b47" providerId="ADAL" clId="{5DF3A229-1965-414E-AF54-F4C37AC7DF68}" dt="2026-04-06T07:18:26.254" v="371" actId="1076"/>
          <ac:spMkLst>
            <pc:docMk/>
            <pc:sldMk cId="3454948446" sldId="636"/>
            <ac:spMk id="226" creationId="{52D9BBE1-5AF6-4A31-9E91-B62ED0344FDD}"/>
          </ac:spMkLst>
        </pc:spChg>
        <pc:spChg chg="mod">
          <ac:chgData name="Zhao Jin" userId="cd05a825-544c-438a-9ba1-08e63db50b47" providerId="ADAL" clId="{5DF3A229-1965-414E-AF54-F4C37AC7DF68}" dt="2026-04-06T07:18:26.254" v="371" actId="1076"/>
          <ac:spMkLst>
            <pc:docMk/>
            <pc:sldMk cId="3454948446" sldId="636"/>
            <ac:spMk id="227" creationId="{0EC8393C-BB83-44E9-B35D-1D94A63B3E35}"/>
          </ac:spMkLst>
        </pc:spChg>
      </pc:sldChg>
      <pc:sldChg chg="addSp modSp mod modAnim">
        <pc:chgData name="Zhao Jin" userId="cd05a825-544c-438a-9ba1-08e63db50b47" providerId="ADAL" clId="{5DF3A229-1965-414E-AF54-F4C37AC7DF68}" dt="2026-04-07T03:57:55.930" v="411"/>
        <pc:sldMkLst>
          <pc:docMk/>
          <pc:sldMk cId="1716205057" sldId="645"/>
        </pc:sldMkLst>
        <pc:spChg chg="add mod">
          <ac:chgData name="Zhao Jin" userId="cd05a825-544c-438a-9ba1-08e63db50b47" providerId="ADAL" clId="{5DF3A229-1965-414E-AF54-F4C37AC7DF68}" dt="2026-04-06T07:07:10.224" v="3" actId="1076"/>
          <ac:spMkLst>
            <pc:docMk/>
            <pc:sldMk cId="1716205057" sldId="645"/>
            <ac:spMk id="3" creationId="{DEFAE54C-FDA9-2BD9-5772-6CD3F50FD409}"/>
          </ac:spMkLst>
        </pc:spChg>
        <pc:spChg chg="mod">
          <ac:chgData name="Zhao Jin" userId="cd05a825-544c-438a-9ba1-08e63db50b47" providerId="ADAL" clId="{5DF3A229-1965-414E-AF54-F4C37AC7DF68}" dt="2026-04-06T07:10:10.582" v="312" actId="6549"/>
          <ac:spMkLst>
            <pc:docMk/>
            <pc:sldMk cId="1716205057" sldId="645"/>
            <ac:spMk id="18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4-06T07:07:07.251" v="2" actId="1076"/>
          <ac:spMkLst>
            <pc:docMk/>
            <pc:sldMk cId="1716205057" sldId="645"/>
            <ac:spMk id="19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4-06T07:10:03.791" v="308" actId="20577"/>
          <ac:spMkLst>
            <pc:docMk/>
            <pc:sldMk cId="1716205057" sldId="645"/>
            <ac:spMk id="14338" creationId="{00000000-0000-0000-0000-000000000000}"/>
          </ac:spMkLst>
        </pc:spChg>
      </pc:sldChg>
      <pc:sldChg chg="addSp delSp modSp mod">
        <pc:chgData name="Zhao Jin" userId="cd05a825-544c-438a-9ba1-08e63db50b47" providerId="ADAL" clId="{5DF3A229-1965-414E-AF54-F4C37AC7DF68}" dt="2026-04-06T07:10:37.062" v="337" actId="14100"/>
        <pc:sldMkLst>
          <pc:docMk/>
          <pc:sldMk cId="1832708629" sldId="646"/>
        </pc:sldMkLst>
        <pc:spChg chg="add del">
          <ac:chgData name="Zhao Jin" userId="cd05a825-544c-438a-9ba1-08e63db50b47" providerId="ADAL" clId="{5DF3A229-1965-414E-AF54-F4C37AC7DF68}" dt="2026-04-06T07:09:20.561" v="239" actId="22"/>
          <ac:spMkLst>
            <pc:docMk/>
            <pc:sldMk cId="1832708629" sldId="646"/>
            <ac:spMk id="4" creationId="{656327AD-57FA-9216-E441-24F33515EC4C}"/>
          </ac:spMkLst>
        </pc:spChg>
        <pc:spChg chg="add mod">
          <ac:chgData name="Zhao Jin" userId="cd05a825-544c-438a-9ba1-08e63db50b47" providerId="ADAL" clId="{5DF3A229-1965-414E-AF54-F4C37AC7DF68}" dt="2026-04-06T07:10:37.062" v="337" actId="14100"/>
          <ac:spMkLst>
            <pc:docMk/>
            <pc:sldMk cId="1832708629" sldId="646"/>
            <ac:spMk id="5" creationId="{CF63EDAB-F53D-A2B2-C39C-D2D189321E3A}"/>
          </ac:spMkLst>
        </pc:spChg>
        <pc:spChg chg="add mod">
          <ac:chgData name="Zhao Jin" userId="cd05a825-544c-438a-9ba1-08e63db50b47" providerId="ADAL" clId="{5DF3A229-1965-414E-AF54-F4C37AC7DF68}" dt="2026-04-06T07:09:36.325" v="245"/>
          <ac:spMkLst>
            <pc:docMk/>
            <pc:sldMk cId="1832708629" sldId="646"/>
            <ac:spMk id="6" creationId="{81A8EB5E-C919-ACBE-4695-FE222FACC519}"/>
          </ac:spMkLst>
        </pc:spChg>
        <pc:spChg chg="mod">
          <ac:chgData name="Zhao Jin" userId="cd05a825-544c-438a-9ba1-08e63db50b47" providerId="ADAL" clId="{5DF3A229-1965-414E-AF54-F4C37AC7DF68}" dt="2026-04-06T07:09:26.911" v="241" actId="20577"/>
          <ac:spMkLst>
            <pc:docMk/>
            <pc:sldMk cId="1832708629" sldId="646"/>
            <ac:spMk id="11" creationId="{00000000-0000-0000-0000-000000000000}"/>
          </ac:spMkLst>
        </pc:spChg>
        <pc:spChg chg="del mod">
          <ac:chgData name="Zhao Jin" userId="cd05a825-544c-438a-9ba1-08e63db50b47" providerId="ADAL" clId="{5DF3A229-1965-414E-AF54-F4C37AC7DF68}" dt="2026-04-06T07:07:23.848" v="43" actId="478"/>
          <ac:spMkLst>
            <pc:docMk/>
            <pc:sldMk cId="1832708629" sldId="646"/>
            <ac:spMk id="13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4-06T07:09:32.248" v="243" actId="1076"/>
          <ac:spMkLst>
            <pc:docMk/>
            <pc:sldMk cId="1832708629" sldId="646"/>
            <ac:spMk id="14" creationId="{8C3CC3B0-3002-463B-8DF4-93843E69377B}"/>
          </ac:spMkLst>
        </pc:spChg>
        <pc:spChg chg="del">
          <ac:chgData name="Zhao Jin" userId="cd05a825-544c-438a-9ba1-08e63db50b47" providerId="ADAL" clId="{5DF3A229-1965-414E-AF54-F4C37AC7DF68}" dt="2026-04-06T07:07:14.837" v="4" actId="478"/>
          <ac:spMkLst>
            <pc:docMk/>
            <pc:sldMk cId="1832708629" sldId="646"/>
            <ac:spMk id="17" creationId="{00000000-0000-0000-0000-000000000000}"/>
          </ac:spMkLst>
        </pc:spChg>
        <pc:spChg chg="del">
          <ac:chgData name="Zhao Jin" userId="cd05a825-544c-438a-9ba1-08e63db50b47" providerId="ADAL" clId="{5DF3A229-1965-414E-AF54-F4C37AC7DF68}" dt="2026-04-06T07:07:14.837" v="4" actId="478"/>
          <ac:spMkLst>
            <pc:docMk/>
            <pc:sldMk cId="1832708629" sldId="646"/>
            <ac:spMk id="20" creationId="{00000000-0000-0000-0000-000000000000}"/>
          </ac:spMkLst>
        </pc:spChg>
      </pc:sldChg>
      <pc:sldChg chg="addAnim delAnim modAnim">
        <pc:chgData name="Zhao Jin" userId="cd05a825-544c-438a-9ba1-08e63db50b47" providerId="ADAL" clId="{5DF3A229-1965-414E-AF54-F4C37AC7DF68}" dt="2026-04-06T07:11:40.405" v="341"/>
        <pc:sldMkLst>
          <pc:docMk/>
          <pc:sldMk cId="2677643591" sldId="647"/>
        </pc:sldMkLst>
      </pc:sldChg>
      <pc:sldChg chg="addAnim delAnim modAnim">
        <pc:chgData name="Zhao Jin" userId="cd05a825-544c-438a-9ba1-08e63db50b47" providerId="ADAL" clId="{5DF3A229-1965-414E-AF54-F4C37AC7DF68}" dt="2026-04-06T07:14:09.634" v="363"/>
        <pc:sldMkLst>
          <pc:docMk/>
          <pc:sldMk cId="2524073575" sldId="648"/>
        </pc:sldMkLst>
      </pc:sldChg>
      <pc:sldChg chg="addSp delSp modSp mod modAnim">
        <pc:chgData name="Zhao Jin" userId="cd05a825-544c-438a-9ba1-08e63db50b47" providerId="ADAL" clId="{5DF3A229-1965-414E-AF54-F4C37AC7DF68}" dt="2026-04-06T07:27:12.931" v="409"/>
        <pc:sldMkLst>
          <pc:docMk/>
          <pc:sldMk cId="997017972" sldId="650"/>
        </pc:sldMkLst>
        <pc:spChg chg="add del mod">
          <ac:chgData name="Zhao Jin" userId="cd05a825-544c-438a-9ba1-08e63db50b47" providerId="ADAL" clId="{5DF3A229-1965-414E-AF54-F4C37AC7DF68}" dt="2026-04-06T07:17:11.208" v="366" actId="1036"/>
          <ac:spMkLst>
            <pc:docMk/>
            <pc:sldMk cId="997017972" sldId="650"/>
            <ac:spMk id="13" creationId="{50048137-8368-44B5-85DD-193F9405A05C}"/>
          </ac:spMkLst>
        </pc:spChg>
      </pc:sldChg>
      <pc:sldChg chg="modAnim">
        <pc:chgData name="Zhao Jin" userId="cd05a825-544c-438a-9ba1-08e63db50b47" providerId="ADAL" clId="{5DF3A229-1965-414E-AF54-F4C37AC7DF68}" dt="2026-04-06T07:18:02.294" v="368"/>
        <pc:sldMkLst>
          <pc:docMk/>
          <pc:sldMk cId="234197343" sldId="653"/>
        </pc:sldMkLst>
      </pc:sldChg>
      <pc:sldChg chg="modAnim">
        <pc:chgData name="Zhao Jin" userId="cd05a825-544c-438a-9ba1-08e63db50b47" providerId="ADAL" clId="{5DF3A229-1965-414E-AF54-F4C37AC7DF68}" dt="2026-04-06T07:18:11.662" v="369"/>
        <pc:sldMkLst>
          <pc:docMk/>
          <pc:sldMk cId="81373691" sldId="654"/>
        </pc:sldMkLst>
      </pc:sldChg>
      <pc:sldChg chg="modSp mod">
        <pc:chgData name="Zhao Jin" userId="cd05a825-544c-438a-9ba1-08e63db50b47" providerId="ADAL" clId="{5DF3A229-1965-414E-AF54-F4C37AC7DF68}" dt="2026-04-06T07:44:25.115" v="410" actId="20577"/>
        <pc:sldMkLst>
          <pc:docMk/>
          <pc:sldMk cId="2051865563" sldId="655"/>
        </pc:sldMkLst>
        <pc:spChg chg="mod">
          <ac:chgData name="Zhao Jin" userId="cd05a825-544c-438a-9ba1-08e63db50b47" providerId="ADAL" clId="{5DF3A229-1965-414E-AF54-F4C37AC7DF68}" dt="2026-04-06T07:44:25.115" v="410" actId="20577"/>
          <ac:spMkLst>
            <pc:docMk/>
            <pc:sldMk cId="2051865563" sldId="655"/>
            <ac:spMk id="14338" creationId="{00000000-0000-0000-0000-000000000000}"/>
          </ac:spMkLst>
        </pc:spChg>
      </pc:sldChg>
      <pc:sldChg chg="addAnim delAnim modAnim">
        <pc:chgData name="Zhao Jin" userId="cd05a825-544c-438a-9ba1-08e63db50b47" providerId="ADAL" clId="{5DF3A229-1965-414E-AF54-F4C37AC7DF68}" dt="2026-04-06T07:20:30.029" v="380"/>
        <pc:sldMkLst>
          <pc:docMk/>
          <pc:sldMk cId="4152505185" sldId="65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4/7/2026</a:t>
            </a:fld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240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220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246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8315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686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3080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36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712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4410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2437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7816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3819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7849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8669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5823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9412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5200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6149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16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26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C00000"/>
                </a:solidFill>
                <a:latin typeface="Calibri" panose="020F0502020204030204" pitchFamily="34" charset="0"/>
              </a:rPr>
              <a:t>Struct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5932A1C3-91FF-7FDD-76E9-76821B0DC1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810758-35A5-4EC6-F42A-631E8A63FCC5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LabsHighlightBulletsSlide2014070809294006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26: Struct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Organizing Data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Structure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Structure Variable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Structures as Parameters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Returning a Structure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US" sz="2800" dirty="0">
                <a:latin typeface="+mj-lt"/>
              </a:rPr>
              <a:t>Defining a Structure as a Type</a:t>
            </a: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Unit26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</a:t>
            </a:fld>
            <a:endParaRPr sz="12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0C33D6C-95F1-6D73-07A0-11170741B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43860769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Organizing Data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Unit26</a:t>
            </a:r>
            <a:r>
              <a:rPr lang="en-US" dirty="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3</a:t>
            </a:fld>
            <a:endParaRPr sz="1200" dirty="0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733425" y="1457325"/>
            <a:ext cx="7834313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/>
              <a:t>Write a program to compute the volume of 2 boxes.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85800" y="5083673"/>
            <a:ext cx="7772400" cy="159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endParaRPr lang="en-US" sz="2800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03363" y="2005012"/>
            <a:ext cx="1954732" cy="2319575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 marL="342900" indent="-342900"/>
            <a:r>
              <a:rPr lang="en-US" sz="1600" b="1">
                <a:solidFill>
                  <a:srgbClr val="C00000"/>
                </a:solidFill>
                <a:latin typeface="Courier New" pitchFamily="49" charset="0"/>
              </a:rPr>
              <a:t>// for 1st box</a:t>
            </a:r>
          </a:p>
          <a:p>
            <a:pPr marL="342900" indent="-342900"/>
            <a:r>
              <a:rPr lang="en-US" sz="1600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sz="1600" b="1">
                <a:solidFill>
                  <a:srgbClr val="000000"/>
                </a:solidFill>
                <a:latin typeface="Courier New" pitchFamily="49" charset="0"/>
              </a:rPr>
              <a:t> length1;</a:t>
            </a:r>
          </a:p>
          <a:p>
            <a:pPr marL="342900" indent="-342900"/>
            <a:r>
              <a:rPr lang="en-US" sz="1600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sz="1600" b="1">
                <a:solidFill>
                  <a:srgbClr val="000000"/>
                </a:solidFill>
                <a:latin typeface="Courier New" pitchFamily="49" charset="0"/>
              </a:rPr>
              <a:t> width1; </a:t>
            </a:r>
          </a:p>
          <a:p>
            <a:pPr marL="342900" indent="-342900"/>
            <a:r>
              <a:rPr lang="en-US" sz="1600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sz="1600" b="1">
                <a:solidFill>
                  <a:srgbClr val="000000"/>
                </a:solidFill>
                <a:latin typeface="Courier New" pitchFamily="49" charset="0"/>
              </a:rPr>
              <a:t> height1; </a:t>
            </a:r>
          </a:p>
          <a:p>
            <a:pPr marL="342900" indent="-342900"/>
            <a:endParaRPr lang="en-US" sz="1600" b="1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>
                <a:solidFill>
                  <a:srgbClr val="C00000"/>
                </a:solidFill>
                <a:latin typeface="Courier New" pitchFamily="49" charset="0"/>
              </a:rPr>
              <a:t>// for 2nd box</a:t>
            </a:r>
            <a:endParaRPr lang="en-US" sz="1600" b="1">
              <a:solidFill>
                <a:srgbClr val="0000FF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>
                <a:solidFill>
                  <a:srgbClr val="0000FF"/>
                </a:solidFill>
                <a:latin typeface="Courier New" pitchFamily="49" charset="0"/>
              </a:rPr>
              <a:t>long </a:t>
            </a:r>
            <a:r>
              <a:rPr lang="en-US" sz="1600" b="1">
                <a:solidFill>
                  <a:srgbClr val="000000"/>
                </a:solidFill>
                <a:latin typeface="Courier New" pitchFamily="49" charset="0"/>
              </a:rPr>
              <a:t>length2;</a:t>
            </a:r>
          </a:p>
          <a:p>
            <a:pPr marL="342900" indent="-342900"/>
            <a:r>
              <a:rPr lang="en-US" sz="1600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sz="1600" b="1">
                <a:solidFill>
                  <a:srgbClr val="000000"/>
                </a:solidFill>
                <a:latin typeface="Courier New" pitchFamily="49" charset="0"/>
              </a:rPr>
              <a:t> width2, </a:t>
            </a:r>
          </a:p>
          <a:p>
            <a:pPr marL="342900" indent="-342900"/>
            <a:r>
              <a:rPr lang="en-US" sz="1600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sz="1600" b="1">
                <a:solidFill>
                  <a:srgbClr val="000000"/>
                </a:solidFill>
                <a:latin typeface="Courier New" pitchFamily="49" charset="0"/>
              </a:rPr>
              <a:t> height2; 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733425" y="4584965"/>
            <a:ext cx="7953375" cy="163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/>
              <a:t>More logical to organize the dimensions into a group and declare two variables of such a </a:t>
            </a:r>
            <a:r>
              <a:rPr lang="en-US" sz="2400" i="1"/>
              <a:t>group</a:t>
            </a:r>
            <a:r>
              <a:rPr lang="en-US" sz="2400"/>
              <a:t>. </a:t>
            </a:r>
          </a:p>
        </p:txBody>
      </p:sp>
      <p:grpSp>
        <p:nvGrpSpPr>
          <p:cNvPr id="14" name="Group 15"/>
          <p:cNvGrpSpPr>
            <a:grpSpLocks/>
          </p:cNvGrpSpPr>
          <p:nvPr/>
        </p:nvGrpSpPr>
        <p:grpSpPr bwMode="auto">
          <a:xfrm>
            <a:off x="4228033" y="2274977"/>
            <a:ext cx="2635250" cy="593725"/>
            <a:chOff x="1161536" y="3002692"/>
            <a:chExt cx="2636108" cy="593125"/>
          </a:xfrm>
        </p:grpSpPr>
        <p:sp>
          <p:nvSpPr>
            <p:cNvPr id="15" name="Rectangle 14"/>
            <p:cNvSpPr/>
            <p:nvPr/>
          </p:nvSpPr>
          <p:spPr bwMode="auto">
            <a:xfrm>
              <a:off x="1593477" y="3262779"/>
              <a:ext cx="495461" cy="333038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2401778" y="3262779"/>
              <a:ext cx="493873" cy="333038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3254542" y="3262779"/>
              <a:ext cx="493874" cy="333038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18" name="TextBox 12"/>
            <p:cNvSpPr txBox="1">
              <a:spLocks noChangeArrowheads="1"/>
            </p:cNvSpPr>
            <p:nvPr/>
          </p:nvSpPr>
          <p:spPr bwMode="auto">
            <a:xfrm>
              <a:off x="1161536" y="3002692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length1</a:t>
              </a:r>
              <a:endParaRPr lang="en-SG" sz="1400"/>
            </a:p>
          </p:txBody>
        </p:sp>
        <p:sp>
          <p:nvSpPr>
            <p:cNvPr id="19" name="TextBox 13"/>
            <p:cNvSpPr txBox="1">
              <a:spLocks noChangeArrowheads="1"/>
            </p:cNvSpPr>
            <p:nvPr/>
          </p:nvSpPr>
          <p:spPr bwMode="auto">
            <a:xfrm>
              <a:off x="2092411" y="3002692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width1</a:t>
              </a:r>
              <a:endParaRPr lang="en-SG" sz="1400"/>
            </a:p>
          </p:txBody>
        </p:sp>
        <p:sp>
          <p:nvSpPr>
            <p:cNvPr id="20" name="TextBox 14"/>
            <p:cNvSpPr txBox="1">
              <a:spLocks noChangeArrowheads="1"/>
            </p:cNvSpPr>
            <p:nvPr/>
          </p:nvSpPr>
          <p:spPr bwMode="auto">
            <a:xfrm>
              <a:off x="2969742" y="3002692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height1</a:t>
              </a:r>
              <a:endParaRPr lang="en-SG" sz="1400"/>
            </a:p>
          </p:txBody>
        </p:sp>
      </p:grpSp>
      <p:grpSp>
        <p:nvGrpSpPr>
          <p:cNvPr id="21" name="Group 23"/>
          <p:cNvGrpSpPr>
            <a:grpSpLocks/>
          </p:cNvGrpSpPr>
          <p:nvPr/>
        </p:nvGrpSpPr>
        <p:grpSpPr bwMode="auto">
          <a:xfrm>
            <a:off x="4228033" y="3170237"/>
            <a:ext cx="2635250" cy="593725"/>
            <a:chOff x="1161536" y="3002692"/>
            <a:chExt cx="2636108" cy="593125"/>
          </a:xfrm>
        </p:grpSpPr>
        <p:sp>
          <p:nvSpPr>
            <p:cNvPr id="22" name="Rectangle 21"/>
            <p:cNvSpPr/>
            <p:nvPr/>
          </p:nvSpPr>
          <p:spPr bwMode="auto">
            <a:xfrm>
              <a:off x="1593477" y="3262779"/>
              <a:ext cx="495461" cy="333038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23" name="Rectangle 22"/>
            <p:cNvSpPr/>
            <p:nvPr/>
          </p:nvSpPr>
          <p:spPr bwMode="auto">
            <a:xfrm>
              <a:off x="2401777" y="3262779"/>
              <a:ext cx="493874" cy="333038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24" name="Rectangle 23"/>
            <p:cNvSpPr/>
            <p:nvPr/>
          </p:nvSpPr>
          <p:spPr bwMode="auto">
            <a:xfrm>
              <a:off x="3254542" y="3262779"/>
              <a:ext cx="493873" cy="333038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25" name="TextBox 27"/>
            <p:cNvSpPr txBox="1">
              <a:spLocks noChangeArrowheads="1"/>
            </p:cNvSpPr>
            <p:nvPr/>
          </p:nvSpPr>
          <p:spPr bwMode="auto">
            <a:xfrm>
              <a:off x="1161536" y="3002692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length2</a:t>
              </a:r>
              <a:endParaRPr lang="en-SG" sz="1400"/>
            </a:p>
          </p:txBody>
        </p:sp>
        <p:sp>
          <p:nvSpPr>
            <p:cNvPr id="26" name="TextBox 28"/>
            <p:cNvSpPr txBox="1">
              <a:spLocks noChangeArrowheads="1"/>
            </p:cNvSpPr>
            <p:nvPr/>
          </p:nvSpPr>
          <p:spPr bwMode="auto">
            <a:xfrm>
              <a:off x="2092411" y="3002692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width2</a:t>
              </a:r>
              <a:endParaRPr lang="en-SG" sz="1400"/>
            </a:p>
          </p:txBody>
        </p:sp>
        <p:sp>
          <p:nvSpPr>
            <p:cNvPr id="27" name="TextBox 29"/>
            <p:cNvSpPr txBox="1">
              <a:spLocks noChangeArrowheads="1"/>
            </p:cNvSpPr>
            <p:nvPr/>
          </p:nvSpPr>
          <p:spPr bwMode="auto">
            <a:xfrm>
              <a:off x="2969742" y="3002692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height2</a:t>
              </a:r>
              <a:endParaRPr lang="en-SG" sz="1400"/>
            </a:p>
          </p:txBody>
        </p:sp>
      </p:grpSp>
      <p:grpSp>
        <p:nvGrpSpPr>
          <p:cNvPr id="28" name="Group 45"/>
          <p:cNvGrpSpPr>
            <a:grpSpLocks/>
          </p:cNvGrpSpPr>
          <p:nvPr/>
        </p:nvGrpSpPr>
        <p:grpSpPr bwMode="auto">
          <a:xfrm>
            <a:off x="1050925" y="5423507"/>
            <a:ext cx="3249613" cy="1004888"/>
            <a:chOff x="1050323" y="4790303"/>
            <a:chExt cx="3249828" cy="1005016"/>
          </a:xfrm>
        </p:grpSpPr>
        <p:sp>
          <p:nvSpPr>
            <p:cNvPr id="29" name="Rectangle 28"/>
            <p:cNvSpPr/>
            <p:nvPr/>
          </p:nvSpPr>
          <p:spPr bwMode="auto">
            <a:xfrm>
              <a:off x="1869527" y="5353938"/>
              <a:ext cx="495333" cy="33500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2677619" y="5353938"/>
              <a:ext cx="493745" cy="33500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3530162" y="5353938"/>
              <a:ext cx="493746" cy="33500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32" name="TextBox 20"/>
            <p:cNvSpPr txBox="1">
              <a:spLocks noChangeArrowheads="1"/>
            </p:cNvSpPr>
            <p:nvPr/>
          </p:nvSpPr>
          <p:spPr bwMode="auto">
            <a:xfrm>
              <a:off x="1437505" y="5095103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length</a:t>
              </a:r>
              <a:endParaRPr lang="en-SG" sz="1400"/>
            </a:p>
          </p:txBody>
        </p:sp>
        <p:sp>
          <p:nvSpPr>
            <p:cNvPr id="33" name="TextBox 21"/>
            <p:cNvSpPr txBox="1">
              <a:spLocks noChangeArrowheads="1"/>
            </p:cNvSpPr>
            <p:nvPr/>
          </p:nvSpPr>
          <p:spPr bwMode="auto">
            <a:xfrm>
              <a:off x="2368380" y="5095103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width</a:t>
              </a:r>
              <a:endParaRPr lang="en-SG" sz="1400"/>
            </a:p>
          </p:txBody>
        </p:sp>
        <p:sp>
          <p:nvSpPr>
            <p:cNvPr id="34" name="TextBox 22"/>
            <p:cNvSpPr txBox="1">
              <a:spLocks noChangeArrowheads="1"/>
            </p:cNvSpPr>
            <p:nvPr/>
          </p:nvSpPr>
          <p:spPr bwMode="auto">
            <a:xfrm>
              <a:off x="3245711" y="5095103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height</a:t>
              </a:r>
              <a:endParaRPr lang="en-SG" sz="1400"/>
            </a:p>
          </p:txBody>
        </p:sp>
        <p:sp>
          <p:nvSpPr>
            <p:cNvPr id="35" name="TextBox 41"/>
            <p:cNvSpPr txBox="1">
              <a:spLocks noChangeArrowheads="1"/>
            </p:cNvSpPr>
            <p:nvPr/>
          </p:nvSpPr>
          <p:spPr bwMode="auto">
            <a:xfrm>
              <a:off x="1050323" y="4790303"/>
              <a:ext cx="687861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box1</a:t>
              </a:r>
              <a:endParaRPr lang="en-SG" sz="1400"/>
            </a:p>
          </p:txBody>
        </p:sp>
        <p:sp>
          <p:nvSpPr>
            <p:cNvPr id="36" name="Rectangle 44"/>
            <p:cNvSpPr>
              <a:spLocks noChangeArrowheads="1"/>
            </p:cNvSpPr>
            <p:nvPr/>
          </p:nvSpPr>
          <p:spPr bwMode="auto">
            <a:xfrm>
              <a:off x="1396314" y="5053914"/>
              <a:ext cx="2903837" cy="741405"/>
            </a:xfrm>
            <a:prstGeom prst="rect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37" name="Group 46"/>
          <p:cNvGrpSpPr>
            <a:grpSpLocks/>
          </p:cNvGrpSpPr>
          <p:nvPr/>
        </p:nvGrpSpPr>
        <p:grpSpPr bwMode="auto">
          <a:xfrm>
            <a:off x="4922838" y="5423507"/>
            <a:ext cx="3249612" cy="1004888"/>
            <a:chOff x="1050323" y="4790303"/>
            <a:chExt cx="3249828" cy="1005016"/>
          </a:xfrm>
        </p:grpSpPr>
        <p:sp>
          <p:nvSpPr>
            <p:cNvPr id="38" name="Rectangle 37"/>
            <p:cNvSpPr/>
            <p:nvPr/>
          </p:nvSpPr>
          <p:spPr bwMode="auto">
            <a:xfrm>
              <a:off x="1869527" y="5353938"/>
              <a:ext cx="495333" cy="33500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39" name="Rectangle 38"/>
            <p:cNvSpPr/>
            <p:nvPr/>
          </p:nvSpPr>
          <p:spPr bwMode="auto">
            <a:xfrm>
              <a:off x="2677618" y="5353938"/>
              <a:ext cx="493746" cy="33500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40" name="Rectangle 39"/>
            <p:cNvSpPr/>
            <p:nvPr/>
          </p:nvSpPr>
          <p:spPr bwMode="auto">
            <a:xfrm>
              <a:off x="3530163" y="5353938"/>
              <a:ext cx="493745" cy="33500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41" name="TextBox 50"/>
            <p:cNvSpPr txBox="1">
              <a:spLocks noChangeArrowheads="1"/>
            </p:cNvSpPr>
            <p:nvPr/>
          </p:nvSpPr>
          <p:spPr bwMode="auto">
            <a:xfrm>
              <a:off x="1437505" y="5095103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length</a:t>
              </a:r>
              <a:endParaRPr lang="en-SG" sz="1400"/>
            </a:p>
          </p:txBody>
        </p:sp>
        <p:sp>
          <p:nvSpPr>
            <p:cNvPr id="42" name="TextBox 51"/>
            <p:cNvSpPr txBox="1">
              <a:spLocks noChangeArrowheads="1"/>
            </p:cNvSpPr>
            <p:nvPr/>
          </p:nvSpPr>
          <p:spPr bwMode="auto">
            <a:xfrm>
              <a:off x="2368380" y="5095103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width</a:t>
              </a:r>
              <a:endParaRPr lang="en-SG" sz="1400"/>
            </a:p>
          </p:txBody>
        </p:sp>
        <p:sp>
          <p:nvSpPr>
            <p:cNvPr id="43" name="TextBox 52"/>
            <p:cNvSpPr txBox="1">
              <a:spLocks noChangeArrowheads="1"/>
            </p:cNvSpPr>
            <p:nvPr/>
          </p:nvSpPr>
          <p:spPr bwMode="auto">
            <a:xfrm>
              <a:off x="3245711" y="5095103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height</a:t>
              </a:r>
              <a:endParaRPr lang="en-SG" sz="1400"/>
            </a:p>
          </p:txBody>
        </p:sp>
        <p:sp>
          <p:nvSpPr>
            <p:cNvPr id="44" name="TextBox 53"/>
            <p:cNvSpPr txBox="1">
              <a:spLocks noChangeArrowheads="1"/>
            </p:cNvSpPr>
            <p:nvPr/>
          </p:nvSpPr>
          <p:spPr bwMode="auto">
            <a:xfrm>
              <a:off x="1050323" y="4790303"/>
              <a:ext cx="687861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box2</a:t>
              </a:r>
              <a:endParaRPr lang="en-SG" sz="1400"/>
            </a:p>
          </p:txBody>
        </p:sp>
        <p:sp>
          <p:nvSpPr>
            <p:cNvPr id="45" name="Rectangle 54"/>
            <p:cNvSpPr>
              <a:spLocks noChangeArrowheads="1"/>
            </p:cNvSpPr>
            <p:nvPr/>
          </p:nvSpPr>
          <p:spPr bwMode="auto">
            <a:xfrm>
              <a:off x="1396314" y="5053914"/>
              <a:ext cx="2903837" cy="741405"/>
            </a:xfrm>
            <a:prstGeom prst="rect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EF544DA-860D-4803-543C-B6661FA29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0478819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Organizing Data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Unit26</a:t>
            </a:r>
            <a:r>
              <a:rPr lang="en-US" dirty="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4</a:t>
            </a:fld>
            <a:endParaRPr sz="1200" dirty="0"/>
          </a:p>
        </p:txBody>
      </p:sp>
      <p:sp>
        <p:nvSpPr>
          <p:cNvPr id="46" name="Rectangle 8"/>
          <p:cNvSpPr>
            <a:spLocks noChangeArrowheads="1"/>
          </p:cNvSpPr>
          <p:nvPr/>
        </p:nvSpPr>
        <p:spPr bwMode="auto">
          <a:xfrm>
            <a:off x="733425" y="1457325"/>
            <a:ext cx="7834313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/>
              <a:t>The members of a </a:t>
            </a:r>
            <a:r>
              <a:rPr lang="en-US" sz="2400" i="1"/>
              <a:t>group</a:t>
            </a:r>
            <a:r>
              <a:rPr lang="en-US" sz="2400"/>
              <a:t> may be </a:t>
            </a:r>
            <a:r>
              <a:rPr lang="en-US" sz="2400">
                <a:solidFill>
                  <a:srgbClr val="0000FF"/>
                </a:solidFill>
              </a:rPr>
              <a:t>heterogeneous </a:t>
            </a:r>
            <a:r>
              <a:rPr lang="en-US" sz="2400"/>
              <a:t>(of different types) (as opposed to an array whose elements must be homogeneous)</a:t>
            </a:r>
          </a:p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/>
              <a:t>Examples:</a:t>
            </a:r>
          </a:p>
        </p:txBody>
      </p:sp>
      <p:grpSp>
        <p:nvGrpSpPr>
          <p:cNvPr id="47" name="Group 91"/>
          <p:cNvGrpSpPr>
            <a:grpSpLocks/>
          </p:cNvGrpSpPr>
          <p:nvPr/>
        </p:nvGrpSpPr>
        <p:grpSpPr bwMode="auto">
          <a:xfrm>
            <a:off x="1713297" y="2930525"/>
            <a:ext cx="6219441" cy="1385980"/>
            <a:chOff x="1713130" y="2525486"/>
            <a:chExt cx="6219206" cy="1386393"/>
          </a:xfrm>
        </p:grpSpPr>
        <p:sp>
          <p:nvSpPr>
            <p:cNvPr id="48" name="Rectangle 47"/>
            <p:cNvSpPr/>
            <p:nvPr/>
          </p:nvSpPr>
          <p:spPr bwMode="auto">
            <a:xfrm>
              <a:off x="3838328" y="3089217"/>
              <a:ext cx="893729" cy="333474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49" name="Rectangle 48"/>
            <p:cNvSpPr/>
            <p:nvPr/>
          </p:nvSpPr>
          <p:spPr bwMode="auto">
            <a:xfrm>
              <a:off x="5184477" y="3089217"/>
              <a:ext cx="495281" cy="333474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50" name="TextBox 46"/>
            <p:cNvSpPr txBox="1">
              <a:spLocks noChangeArrowheads="1"/>
            </p:cNvSpPr>
            <p:nvPr/>
          </p:nvSpPr>
          <p:spPr bwMode="auto">
            <a:xfrm>
              <a:off x="3554613" y="2830286"/>
              <a:ext cx="1533774" cy="307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400" err="1"/>
                <a:t>acctNum</a:t>
              </a:r>
              <a:endParaRPr lang="en-SG" sz="1400"/>
            </a:p>
          </p:txBody>
        </p:sp>
        <p:sp>
          <p:nvSpPr>
            <p:cNvPr id="51" name="TextBox 55"/>
            <p:cNvSpPr txBox="1">
              <a:spLocks noChangeArrowheads="1"/>
            </p:cNvSpPr>
            <p:nvPr/>
          </p:nvSpPr>
          <p:spPr bwMode="auto">
            <a:xfrm>
              <a:off x="4876100" y="2830286"/>
              <a:ext cx="1079530" cy="307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400"/>
                <a:t>balance</a:t>
              </a:r>
              <a:endParaRPr lang="en-SG" sz="1400"/>
            </a:p>
          </p:txBody>
        </p:sp>
        <p:sp>
          <p:nvSpPr>
            <p:cNvPr id="52" name="TextBox 57"/>
            <p:cNvSpPr txBox="1">
              <a:spLocks noChangeArrowheads="1"/>
            </p:cNvSpPr>
            <p:nvPr/>
          </p:nvSpPr>
          <p:spPr bwMode="auto">
            <a:xfrm>
              <a:off x="3006970" y="2525486"/>
              <a:ext cx="108522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account</a:t>
              </a:r>
              <a:endParaRPr lang="en-SG" sz="1400"/>
            </a:p>
          </p:txBody>
        </p:sp>
        <p:sp>
          <p:nvSpPr>
            <p:cNvPr id="53" name="Rectangle 58"/>
            <p:cNvSpPr>
              <a:spLocks noChangeArrowheads="1"/>
            </p:cNvSpPr>
            <p:nvPr/>
          </p:nvSpPr>
          <p:spPr bwMode="auto">
            <a:xfrm>
              <a:off x="3456634" y="2789097"/>
              <a:ext cx="2723102" cy="741405"/>
            </a:xfrm>
            <a:prstGeom prst="rect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cxnSp>
          <p:nvCxnSpPr>
            <p:cNvPr id="54" name="Straight Arrow Connector 68"/>
            <p:cNvCxnSpPr>
              <a:cxnSpLocks noChangeShapeType="1"/>
              <a:stCxn id="55" idx="3"/>
            </p:cNvCxnSpPr>
            <p:nvPr/>
          </p:nvCxnSpPr>
          <p:spPr bwMode="auto">
            <a:xfrm flipV="1">
              <a:off x="3439050" y="3376250"/>
              <a:ext cx="894303" cy="381695"/>
            </a:xfrm>
            <a:prstGeom prst="straightConnector1">
              <a:avLst/>
            </a:prstGeom>
            <a:noFill/>
            <a:ln w="19050" cap="sq" algn="ctr">
              <a:solidFill>
                <a:srgbClr val="800000"/>
              </a:solidFill>
              <a:round/>
              <a:headEnd/>
              <a:tailEnd type="triangle" w="med" len="med"/>
            </a:ln>
          </p:spPr>
        </p:cxnSp>
        <p:sp>
          <p:nvSpPr>
            <p:cNvPr id="55" name="TextBox 69"/>
            <p:cNvSpPr txBox="1">
              <a:spLocks noChangeArrowheads="1"/>
            </p:cNvSpPr>
            <p:nvPr/>
          </p:nvSpPr>
          <p:spPr bwMode="auto">
            <a:xfrm>
              <a:off x="1713130" y="3604010"/>
              <a:ext cx="1725920" cy="307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400" i="1">
                  <a:solidFill>
                    <a:srgbClr val="800000"/>
                  </a:solidFill>
                </a:rPr>
                <a:t>contains an integer</a:t>
              </a:r>
              <a:endParaRPr lang="en-SG" sz="1400" i="1">
                <a:solidFill>
                  <a:srgbClr val="800000"/>
                </a:solidFill>
              </a:endParaRPr>
            </a:p>
          </p:txBody>
        </p:sp>
        <p:cxnSp>
          <p:nvCxnSpPr>
            <p:cNvPr id="56" name="Straight Arrow Connector 71"/>
            <p:cNvCxnSpPr>
              <a:cxnSpLocks noChangeShapeType="1"/>
            </p:cNvCxnSpPr>
            <p:nvPr/>
          </p:nvCxnSpPr>
          <p:spPr bwMode="auto">
            <a:xfrm rot="10800000">
              <a:off x="5560927" y="3367873"/>
              <a:ext cx="751951" cy="249534"/>
            </a:xfrm>
            <a:prstGeom prst="straightConnector1">
              <a:avLst/>
            </a:prstGeom>
            <a:noFill/>
            <a:ln w="19050" cap="sq" algn="ctr">
              <a:solidFill>
                <a:srgbClr val="800000"/>
              </a:solidFill>
              <a:round/>
              <a:headEnd/>
              <a:tailEnd type="triangle" w="med" len="med"/>
            </a:ln>
          </p:spPr>
        </p:cxnSp>
        <p:sp>
          <p:nvSpPr>
            <p:cNvPr id="57" name="TextBox 73"/>
            <p:cNvSpPr txBox="1">
              <a:spLocks noChangeArrowheads="1"/>
            </p:cNvSpPr>
            <p:nvPr/>
          </p:nvSpPr>
          <p:spPr bwMode="auto">
            <a:xfrm>
              <a:off x="5679758" y="3604010"/>
              <a:ext cx="2252578" cy="307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400" i="1">
                  <a:solidFill>
                    <a:srgbClr val="800000"/>
                  </a:solidFill>
                </a:rPr>
                <a:t>contains a real number</a:t>
              </a:r>
              <a:endParaRPr lang="en-SG" sz="1400" i="1">
                <a:solidFill>
                  <a:srgbClr val="800000"/>
                </a:solidFill>
              </a:endParaRPr>
            </a:p>
          </p:txBody>
        </p:sp>
      </p:grpSp>
      <p:grpSp>
        <p:nvGrpSpPr>
          <p:cNvPr id="58" name="Group 31"/>
          <p:cNvGrpSpPr>
            <a:grpSpLocks/>
          </p:cNvGrpSpPr>
          <p:nvPr/>
        </p:nvGrpSpPr>
        <p:grpSpPr bwMode="auto">
          <a:xfrm>
            <a:off x="1579562" y="4554292"/>
            <a:ext cx="6916738" cy="1414411"/>
            <a:chOff x="1579562" y="4554381"/>
            <a:chExt cx="6916738" cy="1413929"/>
          </a:xfrm>
        </p:grpSpPr>
        <p:sp>
          <p:nvSpPr>
            <p:cNvPr id="59" name="TextBox 79"/>
            <p:cNvSpPr txBox="1">
              <a:spLocks noChangeArrowheads="1"/>
            </p:cNvSpPr>
            <p:nvPr/>
          </p:nvSpPr>
          <p:spPr bwMode="auto">
            <a:xfrm>
              <a:off x="4333619" y="5660638"/>
              <a:ext cx="2200531" cy="3076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400" i="1">
                  <a:solidFill>
                    <a:srgbClr val="800000"/>
                  </a:solidFill>
                </a:rPr>
                <a:t>contains a real number</a:t>
              </a:r>
              <a:endParaRPr lang="en-SG" sz="1400" i="1">
                <a:solidFill>
                  <a:srgbClr val="800000"/>
                </a:solidFill>
              </a:endParaRPr>
            </a:p>
          </p:txBody>
        </p:sp>
        <p:sp>
          <p:nvSpPr>
            <p:cNvPr id="60" name="Rectangle 59"/>
            <p:cNvSpPr/>
            <p:nvPr/>
          </p:nvSpPr>
          <p:spPr bwMode="auto">
            <a:xfrm>
              <a:off x="3065463" y="5141807"/>
              <a:ext cx="1687512" cy="333262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61" name="Rectangle 60"/>
            <p:cNvSpPr/>
            <p:nvPr/>
          </p:nvSpPr>
          <p:spPr bwMode="auto">
            <a:xfrm>
              <a:off x="5264150" y="5141807"/>
              <a:ext cx="495300" cy="333262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6210300" y="5141807"/>
              <a:ext cx="311150" cy="333262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63" name="TextBox 62"/>
            <p:cNvSpPr txBox="1">
              <a:spLocks noChangeArrowheads="1"/>
            </p:cNvSpPr>
            <p:nvPr/>
          </p:nvSpPr>
          <p:spPr bwMode="auto">
            <a:xfrm>
              <a:off x="2839388" y="4882908"/>
              <a:ext cx="827916" cy="3074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err="1"/>
                <a:t>stuNum</a:t>
              </a:r>
              <a:endParaRPr lang="en-SG" sz="1400"/>
            </a:p>
          </p:txBody>
        </p:sp>
        <p:sp>
          <p:nvSpPr>
            <p:cNvPr id="64" name="TextBox 63"/>
            <p:cNvSpPr txBox="1">
              <a:spLocks noChangeArrowheads="1"/>
            </p:cNvSpPr>
            <p:nvPr/>
          </p:nvSpPr>
          <p:spPr bwMode="auto">
            <a:xfrm>
              <a:off x="4956005" y="4882908"/>
              <a:ext cx="827916" cy="3074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score</a:t>
              </a:r>
              <a:endParaRPr lang="en-SG" sz="1400"/>
            </a:p>
          </p:txBody>
        </p:sp>
        <p:sp>
          <p:nvSpPr>
            <p:cNvPr id="65" name="TextBox 64"/>
            <p:cNvSpPr txBox="1">
              <a:spLocks noChangeArrowheads="1"/>
            </p:cNvSpPr>
            <p:nvPr/>
          </p:nvSpPr>
          <p:spPr bwMode="auto">
            <a:xfrm>
              <a:off x="5803206" y="4882908"/>
              <a:ext cx="827916" cy="3074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grade</a:t>
              </a:r>
              <a:endParaRPr lang="en-SG" sz="1400"/>
            </a:p>
          </p:txBody>
        </p:sp>
        <p:sp>
          <p:nvSpPr>
            <p:cNvPr id="66" name="TextBox 65"/>
            <p:cNvSpPr txBox="1">
              <a:spLocks noChangeArrowheads="1"/>
            </p:cNvSpPr>
            <p:nvPr/>
          </p:nvSpPr>
          <p:spPr bwMode="auto">
            <a:xfrm>
              <a:off x="2492304" y="4554381"/>
              <a:ext cx="1174999" cy="3076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400"/>
                <a:t>result</a:t>
              </a:r>
              <a:endParaRPr lang="en-SG" sz="1400"/>
            </a:p>
          </p:txBody>
        </p:sp>
        <p:sp>
          <p:nvSpPr>
            <p:cNvPr id="67" name="Rectangle 66"/>
            <p:cNvSpPr>
              <a:spLocks noChangeArrowheads="1"/>
            </p:cNvSpPr>
            <p:nvPr/>
          </p:nvSpPr>
          <p:spPr bwMode="auto">
            <a:xfrm>
              <a:off x="2733469" y="4841763"/>
              <a:ext cx="4330915" cy="740609"/>
            </a:xfrm>
            <a:prstGeom prst="rect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cxnSp>
          <p:nvCxnSpPr>
            <p:cNvPr id="68" name="Straight Arrow Connector 76"/>
            <p:cNvCxnSpPr>
              <a:cxnSpLocks noChangeShapeType="1"/>
            </p:cNvCxnSpPr>
            <p:nvPr/>
          </p:nvCxnSpPr>
          <p:spPr bwMode="auto">
            <a:xfrm flipV="1">
              <a:off x="2763615" y="5398172"/>
              <a:ext cx="654829" cy="259299"/>
            </a:xfrm>
            <a:prstGeom prst="straightConnector1">
              <a:avLst/>
            </a:prstGeom>
            <a:noFill/>
            <a:ln w="19050" cap="sq" algn="ctr">
              <a:solidFill>
                <a:srgbClr val="800000"/>
              </a:solidFill>
              <a:round/>
              <a:headEnd/>
              <a:tailEnd type="triangle" w="med" len="med"/>
            </a:ln>
          </p:spPr>
        </p:cxnSp>
        <p:sp>
          <p:nvSpPr>
            <p:cNvPr id="69" name="TextBox 77"/>
            <p:cNvSpPr txBox="1">
              <a:spLocks noChangeArrowheads="1"/>
            </p:cNvSpPr>
            <p:nvPr/>
          </p:nvSpPr>
          <p:spPr bwMode="auto">
            <a:xfrm>
              <a:off x="1579562" y="5645762"/>
              <a:ext cx="1975287" cy="3076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400" i="1">
                  <a:solidFill>
                    <a:srgbClr val="800000"/>
                  </a:solidFill>
                </a:rPr>
                <a:t>contains a string</a:t>
              </a:r>
              <a:endParaRPr lang="en-SG" sz="1400" i="1">
                <a:solidFill>
                  <a:srgbClr val="800000"/>
                </a:solidFill>
              </a:endParaRPr>
            </a:p>
          </p:txBody>
        </p:sp>
        <p:cxnSp>
          <p:nvCxnSpPr>
            <p:cNvPr id="70" name="Straight Arrow Connector 78"/>
            <p:cNvCxnSpPr>
              <a:cxnSpLocks noChangeShapeType="1"/>
            </p:cNvCxnSpPr>
            <p:nvPr/>
          </p:nvCxnSpPr>
          <p:spPr bwMode="auto">
            <a:xfrm rot="5400000" flipH="1" flipV="1">
              <a:off x="5324494" y="5552077"/>
              <a:ext cx="327893" cy="3351"/>
            </a:xfrm>
            <a:prstGeom prst="straightConnector1">
              <a:avLst/>
            </a:prstGeom>
            <a:noFill/>
            <a:ln w="19050" cap="sq" algn="ctr">
              <a:solidFill>
                <a:srgbClr val="800000"/>
              </a:solidFill>
              <a:round/>
              <a:headEnd/>
              <a:tailEnd type="triangle" w="med" len="med"/>
            </a:ln>
          </p:spPr>
        </p:cxnSp>
        <p:sp>
          <p:nvSpPr>
            <p:cNvPr id="71" name="TextBox 84"/>
            <p:cNvSpPr txBox="1">
              <a:spLocks noChangeArrowheads="1"/>
            </p:cNvSpPr>
            <p:nvPr/>
          </p:nvSpPr>
          <p:spPr bwMode="auto">
            <a:xfrm>
              <a:off x="6632297" y="5617324"/>
              <a:ext cx="1864003" cy="3074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400" i="1">
                  <a:solidFill>
                    <a:srgbClr val="800000"/>
                  </a:solidFill>
                </a:rPr>
                <a:t>contains a character</a:t>
              </a:r>
              <a:endParaRPr lang="en-SG" sz="1400" i="1">
                <a:solidFill>
                  <a:srgbClr val="800000"/>
                </a:solidFill>
              </a:endParaRPr>
            </a:p>
          </p:txBody>
        </p:sp>
        <p:cxnSp>
          <p:nvCxnSpPr>
            <p:cNvPr id="72" name="Straight Arrow Connector 85"/>
            <p:cNvCxnSpPr>
              <a:cxnSpLocks noChangeShapeType="1"/>
            </p:cNvCxnSpPr>
            <p:nvPr/>
          </p:nvCxnSpPr>
          <p:spPr bwMode="auto">
            <a:xfrm rot="10800000">
              <a:off x="6434678" y="5389806"/>
              <a:ext cx="1001503" cy="267666"/>
            </a:xfrm>
            <a:prstGeom prst="straightConnector1">
              <a:avLst/>
            </a:prstGeom>
            <a:noFill/>
            <a:ln w="19050" cap="sq" algn="ctr">
              <a:solidFill>
                <a:srgbClr val="800000"/>
              </a:solidFill>
              <a:round/>
              <a:headEnd/>
              <a:tailEnd type="triangle" w="med" len="med"/>
            </a:ln>
          </p:spPr>
        </p:cxn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A0904DA-C7EF-5E00-0D15-380C7182C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63584953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Structure Type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Unit26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5</a:t>
            </a:fld>
            <a:endParaRPr sz="1200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462722"/>
            <a:ext cx="8229600" cy="1189038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Such a group is called </a:t>
            </a:r>
            <a:r>
              <a:rPr lang="en-US" dirty="0">
                <a:solidFill>
                  <a:srgbClr val="0000FF"/>
                </a:solidFill>
              </a:rPr>
              <a:t>structure type</a:t>
            </a:r>
            <a:endParaRPr lang="en-SG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Examples of structures: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996950" y="2619375"/>
            <a:ext cx="2434619" cy="1673009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/>
          <a:lstStyle/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Arial" charset="0"/>
              </a:rPr>
              <a:t>struct</a:t>
            </a:r>
            <a:r>
              <a:rPr lang="en-US" sz="2000" b="1">
                <a:solidFill>
                  <a:srgbClr val="C00000"/>
                </a:solidFill>
                <a:latin typeface="Courier New" pitchFamily="49" charset="0"/>
                <a:cs typeface="Arial" charset="0"/>
              </a:rPr>
              <a:t> </a:t>
            </a:r>
            <a:r>
              <a:rPr lang="en-US" sz="2000" b="1">
                <a:latin typeface="Courier New" pitchFamily="49" charset="0"/>
                <a:cs typeface="Arial" charset="0"/>
              </a:rPr>
              <a:t>box 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{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  </a:t>
            </a:r>
            <a:r>
              <a:rPr lang="en-US" sz="2000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 length;</a:t>
            </a:r>
            <a:b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</a:b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  </a:t>
            </a:r>
            <a:r>
              <a:rPr lang="en-US" sz="2000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width;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2000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height;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}</a:t>
            </a:r>
            <a:r>
              <a:rPr lang="en-US" sz="2000" b="1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defRPr/>
            </a:pPr>
            <a:endParaRPr lang="en-US" sz="2400" b="1">
              <a:solidFill>
                <a:srgbClr val="000000"/>
              </a:solidFill>
              <a:latin typeface="Courier New" pitchFamily="49" charset="0"/>
              <a:cs typeface="Arial" charset="0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985419" y="4711828"/>
            <a:ext cx="3378033" cy="1360020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/>
          <a:lstStyle/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Arial" charset="0"/>
              </a:rPr>
              <a:t>struct</a:t>
            </a:r>
            <a:r>
              <a:rPr lang="en-US" sz="2000" b="1">
                <a:latin typeface="Courier New" pitchFamily="49" charset="0"/>
                <a:cs typeface="Arial" charset="0"/>
              </a:rPr>
              <a:t> account 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{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	</a:t>
            </a:r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Arial" charset="0"/>
              </a:rPr>
              <a:t>long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 </a:t>
            </a:r>
            <a:r>
              <a:rPr lang="en-US" sz="2000" b="1" err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acctNum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	</a:t>
            </a:r>
            <a:r>
              <a:rPr lang="en-US" sz="2000" b="1">
                <a:solidFill>
                  <a:srgbClr val="0000FF"/>
                </a:solidFill>
                <a:latin typeface="Courier New" pitchFamily="49" charset="0"/>
              </a:rPr>
              <a:t>double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 balance;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}</a:t>
            </a:r>
            <a:r>
              <a:rPr lang="en-US" sz="2000" b="1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defRPr/>
            </a:pPr>
            <a:endParaRPr lang="en-US" sz="2400" b="1">
              <a:solidFill>
                <a:srgbClr val="000000"/>
              </a:solidFill>
              <a:latin typeface="Courier New" pitchFamily="49" charset="0"/>
              <a:cs typeface="Arial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4768347" y="4711661"/>
            <a:ext cx="3252788" cy="1673009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/>
          <a:lstStyle/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Arial" charset="0"/>
              </a:rPr>
              <a:t>struct</a:t>
            </a:r>
            <a:r>
              <a:rPr lang="en-US" sz="2000" b="1">
                <a:solidFill>
                  <a:srgbClr val="C00000"/>
                </a:solidFill>
                <a:latin typeface="Courier New" pitchFamily="49" charset="0"/>
                <a:cs typeface="Arial" charset="0"/>
              </a:rPr>
              <a:t> </a:t>
            </a:r>
            <a:r>
              <a:rPr lang="en-US" sz="2000" b="1">
                <a:latin typeface="Courier New" pitchFamily="49" charset="0"/>
                <a:cs typeface="Arial" charset="0"/>
              </a:rPr>
              <a:t>result</a:t>
            </a:r>
            <a:r>
              <a:rPr lang="en-US" sz="2000" b="1">
                <a:solidFill>
                  <a:srgbClr val="C00000"/>
                </a:solidFill>
                <a:latin typeface="Courier New" pitchFamily="49" charset="0"/>
                <a:cs typeface="Arial" charset="0"/>
              </a:rPr>
              <a:t> 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{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	</a:t>
            </a:r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Arial" charset="0"/>
              </a:rPr>
              <a:t>char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 *</a:t>
            </a:r>
            <a:r>
              <a:rPr lang="en-US" sz="2000" b="1" err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stuNum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	</a:t>
            </a:r>
            <a:r>
              <a:rPr lang="en-US" sz="2000" b="1">
                <a:solidFill>
                  <a:srgbClr val="0000FF"/>
                </a:solidFill>
                <a:latin typeface="Courier New" pitchFamily="49" charset="0"/>
              </a:rPr>
              <a:t>double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</a:rPr>
              <a:t> score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	</a:t>
            </a:r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Arial" charset="0"/>
              </a:rPr>
              <a:t>char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 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</a:rPr>
              <a:t>grade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}</a:t>
            </a:r>
            <a:r>
              <a:rPr lang="en-US" sz="2000" b="1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defRPr/>
            </a:pPr>
            <a:endParaRPr lang="en-US" sz="2400" b="1">
              <a:solidFill>
                <a:srgbClr val="000000"/>
              </a:solidFill>
              <a:latin typeface="Courier New" pitchFamily="49" charset="0"/>
              <a:cs typeface="Arial" charset="0"/>
            </a:endParaRPr>
          </a:p>
        </p:txBody>
      </p:sp>
      <p:sp>
        <p:nvSpPr>
          <p:cNvPr id="13" name="Line Callout 2 (Border and Accent Bar) 12"/>
          <p:cNvSpPr/>
          <p:nvPr/>
        </p:nvSpPr>
        <p:spPr bwMode="auto">
          <a:xfrm>
            <a:off x="4532692" y="2895282"/>
            <a:ext cx="2193925" cy="828675"/>
          </a:xfrm>
          <a:prstGeom prst="accentBorderCallout2">
            <a:avLst>
              <a:gd name="adj1" fmla="val 21230"/>
              <a:gd name="adj2" fmla="val -4587"/>
              <a:gd name="adj3" fmla="val 19990"/>
              <a:gd name="adj4" fmla="val -39116"/>
              <a:gd name="adj5" fmla="val 139352"/>
              <a:gd name="adj6" fmla="val -143061"/>
            </a:avLst>
          </a:prstGeom>
          <a:solidFill>
            <a:schemeClr val="accent2">
              <a:lumMod val="20000"/>
              <a:lumOff val="80000"/>
            </a:schemeClr>
          </a:solidFill>
          <a:ln w="12700" cap="sq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r>
              <a:rPr lang="en-US" sz="1600">
                <a:latin typeface="Arial" charset="0"/>
                <a:cs typeface="Arial" charset="0"/>
              </a:rPr>
              <a:t>This semi-colon </a:t>
            </a:r>
            <a:r>
              <a:rPr lang="en-US" sz="1600" b="1">
                <a:solidFill>
                  <a:srgbClr val="C00000"/>
                </a:solidFill>
                <a:latin typeface="Arial" charset="0"/>
                <a:cs typeface="Arial" charset="0"/>
              </a:rPr>
              <a:t>;</a:t>
            </a:r>
            <a:r>
              <a:rPr lang="en-US" sz="1600">
                <a:latin typeface="Arial" charset="0"/>
                <a:cs typeface="Arial" charset="0"/>
              </a:rPr>
              <a:t> is very important and is often forgotten!</a:t>
            </a:r>
            <a:endParaRPr lang="en-SG" sz="1600">
              <a:latin typeface="Arial" charset="0"/>
              <a:cs typeface="Arial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1236653" y="5705537"/>
            <a:ext cx="143665" cy="295093"/>
          </a:xfrm>
          <a:prstGeom prst="ellipse">
            <a:avLst/>
          </a:prstGeom>
          <a:noFill/>
          <a:ln w="28575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1247542" y="3911148"/>
            <a:ext cx="143665" cy="295093"/>
          </a:xfrm>
          <a:prstGeom prst="ellipse">
            <a:avLst/>
          </a:prstGeom>
          <a:noFill/>
          <a:ln w="28575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8" name="Oval 17"/>
          <p:cNvSpPr/>
          <p:nvPr/>
        </p:nvSpPr>
        <p:spPr bwMode="auto">
          <a:xfrm>
            <a:off x="5026030" y="6011310"/>
            <a:ext cx="143665" cy="295093"/>
          </a:xfrm>
          <a:prstGeom prst="ellipse">
            <a:avLst/>
          </a:prstGeom>
          <a:noFill/>
          <a:ln w="28575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84F3DBF-5956-33CA-DD1A-1C86A1054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5730906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 animBg="1"/>
      <p:bldP spid="15" grpId="0" animBg="1"/>
      <p:bldP spid="14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Structure Type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Unit26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6</a:t>
            </a:fld>
            <a:endParaRPr sz="1200" dirty="0"/>
          </a:p>
        </p:txBody>
      </p:sp>
      <p:sp>
        <p:nvSpPr>
          <p:cNvPr id="18" name="Rectangle 8"/>
          <p:cNvSpPr>
            <a:spLocks noChangeArrowheads="1"/>
          </p:cNvSpPr>
          <p:nvPr/>
        </p:nvSpPr>
        <p:spPr bwMode="auto">
          <a:xfrm>
            <a:off x="733425" y="1460500"/>
            <a:ext cx="7834313" cy="2872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A structure type is </a:t>
            </a:r>
            <a:r>
              <a:rPr lang="en-US" sz="2400" u="sng" dirty="0">
                <a:solidFill>
                  <a:srgbClr val="C00000"/>
                </a:solidFill>
              </a:rPr>
              <a:t>NOT</a:t>
            </a:r>
            <a:r>
              <a:rPr lang="en-US" sz="2400" dirty="0"/>
              <a:t> a variable!</a:t>
            </a:r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It is a data type like long, double except that it is compound.</a:t>
            </a:r>
            <a:br>
              <a:rPr lang="en-US" sz="2000" dirty="0"/>
            </a:br>
            <a:endParaRPr lang="en-US" sz="1200" dirty="0"/>
          </a:p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The following is a </a:t>
            </a:r>
            <a:r>
              <a:rPr lang="en-US" sz="2400" u="sng" dirty="0"/>
              <a:t>definition of a type</a:t>
            </a:r>
            <a:r>
              <a:rPr lang="en-US" sz="2400" dirty="0"/>
              <a:t>, NOT a </a:t>
            </a:r>
            <a:r>
              <a:rPr lang="en-US" sz="2400" u="sng" dirty="0"/>
              <a:t>declaration of a variable</a:t>
            </a:r>
          </a:p>
          <a:p>
            <a:pPr marL="800100" lvl="1" indent="-3429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A type needs to be defined before we can declare variable of that type</a:t>
            </a:r>
          </a:p>
          <a:p>
            <a:pPr marL="800100" lvl="1" indent="-3429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u="sng" dirty="0">
                <a:solidFill>
                  <a:srgbClr val="C00000"/>
                </a:solidFill>
              </a:rPr>
              <a:t>No</a:t>
            </a:r>
            <a:r>
              <a:rPr lang="en-US" sz="2000" dirty="0"/>
              <a:t> memory is allocated to a type</a:t>
            </a:r>
          </a:p>
        </p:txBody>
      </p:sp>
      <p:sp>
        <p:nvSpPr>
          <p:cNvPr id="19" name="Rectangle 8"/>
          <p:cNvSpPr>
            <a:spLocks noChangeArrowheads="1"/>
          </p:cNvSpPr>
          <p:nvPr/>
        </p:nvSpPr>
        <p:spPr bwMode="auto">
          <a:xfrm>
            <a:off x="1597025" y="4470399"/>
            <a:ext cx="2511033" cy="1575085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/>
          <a:lstStyle/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struct </a:t>
            </a:r>
            <a:r>
              <a:rPr lang="en-US" sz="2000" b="1" dirty="0">
                <a:solidFill>
                  <a:srgbClr val="7030A0"/>
                </a:solidFill>
                <a:latin typeface="Courier New" pitchFamily="49" charset="0"/>
              </a:rPr>
              <a:t>module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char </a:t>
            </a:r>
            <a:r>
              <a:rPr lang="en-US" sz="2000" b="1" dirty="0">
                <a:latin typeface="Courier New" pitchFamily="49" charset="0"/>
              </a:rPr>
              <a:t>*code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char </a:t>
            </a:r>
            <a:r>
              <a:rPr lang="en-US" sz="2000" b="1" dirty="0">
                <a:latin typeface="Courier New" pitchFamily="49" charset="0"/>
              </a:rPr>
              <a:t>*title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long </a:t>
            </a:r>
            <a:r>
              <a:rPr lang="en-US" sz="2000" b="1" dirty="0">
                <a:latin typeface="Courier New" pitchFamily="49" charset="0"/>
              </a:rPr>
              <a:t>mc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}</a:t>
            </a:r>
            <a:r>
              <a:rPr lang="en-US" sz="2000" b="1" dirty="0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endParaRPr lang="en-US" sz="2400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A1F0DDA-3B54-7E7A-7873-638FA1F0D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FAE54C-FDA9-2BD9-5772-6CD3F50FD409}"/>
              </a:ext>
            </a:extLst>
          </p:cNvPr>
          <p:cNvSpPr txBox="1"/>
          <p:nvPr/>
        </p:nvSpPr>
        <p:spPr bwMode="auto">
          <a:xfrm>
            <a:off x="4286436" y="4858575"/>
            <a:ext cx="3676278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Before function prototypes 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dirty="0">
                <a:latin typeface="Arial" charset="0"/>
                <a:cs typeface="Arial" charset="0"/>
              </a:rPr>
              <a:t>(but after preprocessor directives)</a:t>
            </a:r>
            <a:endParaRPr lang="en-SG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20505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Structure Variables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Unit26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7</a:t>
            </a:fld>
            <a:endParaRPr sz="1200" dirty="0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733425" y="1460501"/>
            <a:ext cx="8181975" cy="1040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Declaration</a:t>
            </a:r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The syntax is similar to declaring ordinary variables</a:t>
            </a:r>
            <a:endParaRPr lang="en-US" sz="2000" dirty="0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8C3CC3B0-3002-463B-8DF4-93843E693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8144" y="2501107"/>
            <a:ext cx="3389312" cy="483015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 tIns="91440" rIns="91440" bIns="0"/>
          <a:lstStyle/>
          <a:p>
            <a:pPr marL="342900" indent="-342900"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struct</a:t>
            </a:r>
            <a:r>
              <a:rPr lang="en-US" sz="2000" b="1" dirty="0">
                <a:solidFill>
                  <a:srgbClr val="7030A0"/>
                </a:solidFill>
                <a:latin typeface="Courier New" pitchFamily="49" charset="0"/>
              </a:rPr>
              <a:t> module </a:t>
            </a:r>
            <a:r>
              <a:rPr lang="en-US" sz="2000" b="1" dirty="0">
                <a:latin typeface="Courier New" pitchFamily="49" charset="0"/>
              </a:rPr>
              <a:t>cs1010;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9D478A-7CFE-17DB-6DF6-0574C13B1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63EDAB-F53D-A2B2-C39C-D2D189321E3A}"/>
              </a:ext>
            </a:extLst>
          </p:cNvPr>
          <p:cNvSpPr txBox="1"/>
          <p:nvPr/>
        </p:nvSpPr>
        <p:spPr bwMode="auto">
          <a:xfrm>
            <a:off x="5398264" y="2501107"/>
            <a:ext cx="3126611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Use a structure type instead of the standard data types</a:t>
            </a:r>
            <a:endParaRPr lang="en-SG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70862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Structure Variables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Unit26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8</a:t>
            </a:fld>
            <a:endParaRPr sz="1200" dirty="0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733425" y="1460501"/>
            <a:ext cx="8181975" cy="1040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Initialization</a:t>
            </a:r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Use dot (.) operator </a:t>
            </a:r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With compound literal</a:t>
            </a: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80A3AA33-A8FF-47C2-A2D5-57D6B362A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9712" y="2501107"/>
            <a:ext cx="6437311" cy="1305757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 marL="342900" indent="-342900"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struct</a:t>
            </a:r>
            <a:r>
              <a:rPr lang="en-US" sz="2000" b="1" dirty="0">
                <a:solidFill>
                  <a:srgbClr val="7030A0"/>
                </a:solidFill>
                <a:latin typeface="Courier New" pitchFamily="49" charset="0"/>
              </a:rPr>
              <a:t> module </a:t>
            </a:r>
            <a:r>
              <a:rPr lang="en-US" sz="2000" b="1" dirty="0">
                <a:latin typeface="Courier New" pitchFamily="49" charset="0"/>
              </a:rPr>
              <a:t>cs1010;</a:t>
            </a:r>
          </a:p>
          <a:p>
            <a:pPr marL="342900" indent="-342900">
              <a:defRPr/>
            </a:pPr>
            <a:r>
              <a:rPr lang="en-US" sz="2000" b="1" dirty="0">
                <a:latin typeface="Courier New" pitchFamily="49" charset="0"/>
              </a:rPr>
              <a:t>cs1010.code =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"CS1010"</a:t>
            </a:r>
            <a:r>
              <a:rPr lang="en-US" sz="2000" b="1" dirty="0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r>
              <a:rPr lang="en-US" sz="2000" b="1" dirty="0">
                <a:latin typeface="Courier New" pitchFamily="49" charset="0"/>
              </a:rPr>
              <a:t>cs1010.title =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"Programming Methodology"</a:t>
            </a:r>
            <a:r>
              <a:rPr lang="en-US" sz="2000" b="1" dirty="0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r>
              <a:rPr lang="en-US" sz="2000" b="1" dirty="0">
                <a:latin typeface="Courier New" pitchFamily="49" charset="0"/>
              </a:rPr>
              <a:t>cs1010.mc 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</a:rPr>
              <a:t>4</a:t>
            </a:r>
            <a:r>
              <a:rPr lang="en-US" sz="2000" b="1" dirty="0">
                <a:latin typeface="Courier New" pitchFamily="49" charset="0"/>
              </a:rPr>
              <a:t>;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4FF30617-62A0-4BFB-A7F3-B83FE940F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9711" y="4648405"/>
            <a:ext cx="6437311" cy="1659928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 marL="342900" indent="-342900">
              <a:defRPr/>
            </a:pPr>
            <a:r>
              <a:rPr lang="en-US" sz="2000" b="1">
                <a:solidFill>
                  <a:srgbClr val="0000FF"/>
                </a:solidFill>
                <a:latin typeface="Courier New" pitchFamily="49" charset="0"/>
              </a:rPr>
              <a:t>struct </a:t>
            </a:r>
            <a:r>
              <a:rPr lang="en-US" sz="2000" b="1">
                <a:solidFill>
                  <a:srgbClr val="7030A0"/>
                </a:solidFill>
                <a:latin typeface="Courier New" pitchFamily="49" charset="0"/>
              </a:rPr>
              <a:t>module</a:t>
            </a:r>
            <a:r>
              <a:rPr lang="en-US" sz="2000" b="1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b="1">
                <a:latin typeface="Courier New" pitchFamily="49" charset="0"/>
              </a:rPr>
              <a:t>cs1010</a:t>
            </a:r>
            <a:r>
              <a:rPr lang="en-US" sz="2000" b="1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b="1">
                <a:latin typeface="Courier New" pitchFamily="49" charset="0"/>
              </a:rPr>
              <a:t>= {</a:t>
            </a:r>
          </a:p>
          <a:p>
            <a:pPr marL="342900" indent="-342900">
              <a:defRPr/>
            </a:pPr>
            <a:r>
              <a:rPr lang="en-US" sz="2000" b="1">
                <a:latin typeface="Courier New" pitchFamily="49" charset="0"/>
              </a:rPr>
              <a:t>  .code = </a:t>
            </a:r>
            <a:r>
              <a:rPr lang="en-US" sz="2000" b="1">
                <a:solidFill>
                  <a:srgbClr val="006600"/>
                </a:solidFill>
                <a:latin typeface="Courier New" pitchFamily="49" charset="0"/>
              </a:rPr>
              <a:t>"CS1010"</a:t>
            </a:r>
            <a:r>
              <a:rPr lang="en-US" sz="2000" b="1">
                <a:latin typeface="Courier New" pitchFamily="49" charset="0"/>
              </a:rPr>
              <a:t>,</a:t>
            </a:r>
          </a:p>
          <a:p>
            <a:pPr marL="342900" indent="-342900">
              <a:defRPr/>
            </a:pPr>
            <a:r>
              <a:rPr lang="en-US" sz="2000" b="1">
                <a:latin typeface="Courier New" pitchFamily="49" charset="0"/>
              </a:rPr>
              <a:t>  .title = </a:t>
            </a:r>
            <a:r>
              <a:rPr lang="en-US" sz="2000" b="1">
                <a:solidFill>
                  <a:srgbClr val="006600"/>
                </a:solidFill>
                <a:latin typeface="Courier New" pitchFamily="49" charset="0"/>
              </a:rPr>
              <a:t>"Programming Methodology"</a:t>
            </a:r>
            <a:r>
              <a:rPr lang="en-US" sz="2000" b="1">
                <a:latin typeface="Courier New" pitchFamily="49" charset="0"/>
              </a:rPr>
              <a:t>,</a:t>
            </a:r>
          </a:p>
          <a:p>
            <a:pPr marL="342900" indent="-342900">
              <a:defRPr/>
            </a:pPr>
            <a:r>
              <a:rPr lang="en-US" sz="2000" b="1">
                <a:latin typeface="Courier New" pitchFamily="49" charset="0"/>
              </a:rPr>
              <a:t>  .mc = </a:t>
            </a:r>
            <a:r>
              <a:rPr lang="en-US" sz="2000" b="1">
                <a:solidFill>
                  <a:srgbClr val="C00000"/>
                </a:solidFill>
                <a:latin typeface="Courier New" pitchFamily="49" charset="0"/>
              </a:rPr>
              <a:t>4</a:t>
            </a:r>
          </a:p>
          <a:p>
            <a:pPr marL="342900" indent="-342900">
              <a:defRPr/>
            </a:pPr>
            <a:r>
              <a:rPr lang="en-US" sz="2000" b="1">
                <a:latin typeface="Courier New" pitchFamily="49" charset="0"/>
              </a:rPr>
              <a:t>};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7425BC-0F86-4EAC-9513-183A3C67238E}"/>
              </a:ext>
            </a:extLst>
          </p:cNvPr>
          <p:cNvSpPr txBox="1"/>
          <p:nvPr/>
        </p:nvSpPr>
        <p:spPr bwMode="auto">
          <a:xfrm>
            <a:off x="5560189" y="4356017"/>
            <a:ext cx="2915991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>
                <a:latin typeface="Arial" charset="0"/>
                <a:cs typeface="Arial" charset="0"/>
              </a:rPr>
              <a:t>Unmentioned components are initialized to 0.</a:t>
            </a:r>
            <a:endParaRPr lang="en-SG">
              <a:latin typeface="Arial" charset="0"/>
              <a:cs typeface="Arial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4E4ACD-827E-1BD3-82BA-A2BD5825E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6776435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Structures as Parameters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Unit26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9</a:t>
            </a:fld>
            <a:endParaRPr sz="1200" dirty="0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733425" y="1460501"/>
            <a:ext cx="8181975" cy="1040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Call by value</a:t>
            </a:r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Call by reference (recommended)</a:t>
            </a: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80A3AA33-A8FF-47C2-A2D5-57D6B362A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424" y="1928252"/>
            <a:ext cx="6826596" cy="1180066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 marL="342900" indent="-342900">
              <a:defRPr/>
            </a:pP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void</a:t>
            </a:r>
            <a:r>
              <a:rPr lang="en-US" b="1">
                <a:latin typeface="Courier New" pitchFamily="49" charset="0"/>
              </a:rPr>
              <a:t> </a:t>
            </a:r>
            <a:r>
              <a:rPr lang="en-US" b="1" err="1">
                <a:latin typeface="Courier New" pitchFamily="49" charset="0"/>
              </a:rPr>
              <a:t>update_mc</a:t>
            </a:r>
            <a:r>
              <a:rPr lang="en-US" b="1">
                <a:latin typeface="Courier New" pitchFamily="49" charset="0"/>
              </a:rPr>
              <a:t>(</a:t>
            </a: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struct</a:t>
            </a:r>
            <a:r>
              <a:rPr lang="en-US" b="1">
                <a:latin typeface="Courier New" pitchFamily="49" charset="0"/>
              </a:rPr>
              <a:t> </a:t>
            </a:r>
            <a:r>
              <a:rPr lang="en-US" b="1">
                <a:solidFill>
                  <a:srgbClr val="7030A0"/>
                </a:solidFill>
                <a:latin typeface="Courier New" pitchFamily="49" charset="0"/>
              </a:rPr>
              <a:t>module</a:t>
            </a:r>
            <a:r>
              <a:rPr lang="en-US" b="1">
                <a:latin typeface="Courier New" pitchFamily="49" charset="0"/>
              </a:rPr>
              <a:t> cs1010, </a:t>
            </a:r>
            <a:br>
              <a:rPr lang="en-US" b="1">
                <a:latin typeface="Courier New" pitchFamily="49" charset="0"/>
              </a:rPr>
            </a:br>
            <a:r>
              <a:rPr lang="en-US" b="1">
                <a:latin typeface="Courier New" pitchFamily="49" charset="0"/>
              </a:rPr>
              <a:t>             </a:t>
            </a: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b="1">
                <a:latin typeface="Courier New" pitchFamily="49" charset="0"/>
              </a:rPr>
              <a:t> </a:t>
            </a:r>
            <a:r>
              <a:rPr lang="en-US" b="1" err="1">
                <a:latin typeface="Courier New" pitchFamily="49" charset="0"/>
              </a:rPr>
              <a:t>hours_spent_per_week</a:t>
            </a:r>
            <a:r>
              <a:rPr lang="en-US" b="1">
                <a:latin typeface="Courier New" pitchFamily="49" charset="0"/>
              </a:rPr>
              <a:t>) {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  cs1010.mc = </a:t>
            </a:r>
            <a:r>
              <a:rPr lang="en-US" b="1" err="1">
                <a:latin typeface="Courier New" pitchFamily="49" charset="0"/>
              </a:rPr>
              <a:t>hours_spent_per_week</a:t>
            </a:r>
            <a:r>
              <a:rPr lang="en-US" b="1">
                <a:latin typeface="Courier New" pitchFamily="49" charset="0"/>
              </a:rPr>
              <a:t>/</a:t>
            </a:r>
            <a:r>
              <a:rPr lang="en-US" b="1">
                <a:solidFill>
                  <a:srgbClr val="C00000"/>
                </a:solidFill>
                <a:latin typeface="Courier New" pitchFamily="49" charset="0"/>
              </a:rPr>
              <a:t>2.5</a:t>
            </a:r>
            <a:r>
              <a:rPr lang="en-US" b="1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}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4FF30617-62A0-4BFB-A7F3-B83FE940F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424" y="4109536"/>
            <a:ext cx="7635689" cy="1180066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 marL="342900" indent="-342900">
              <a:defRPr/>
            </a:pP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void</a:t>
            </a:r>
            <a:r>
              <a:rPr lang="en-US" b="1">
                <a:latin typeface="Courier New" pitchFamily="49" charset="0"/>
              </a:rPr>
              <a:t> </a:t>
            </a:r>
            <a:r>
              <a:rPr lang="en-US" b="1" err="1">
                <a:latin typeface="Courier New" pitchFamily="49" charset="0"/>
              </a:rPr>
              <a:t>update_mc</a:t>
            </a:r>
            <a:r>
              <a:rPr lang="en-US" b="1">
                <a:latin typeface="Courier New" pitchFamily="49" charset="0"/>
              </a:rPr>
              <a:t>(</a:t>
            </a: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struct</a:t>
            </a:r>
            <a:r>
              <a:rPr lang="en-US" b="1">
                <a:latin typeface="Courier New" pitchFamily="49" charset="0"/>
              </a:rPr>
              <a:t> </a:t>
            </a:r>
            <a:r>
              <a:rPr lang="en-US" b="1">
                <a:solidFill>
                  <a:srgbClr val="7030A0"/>
                </a:solidFill>
                <a:latin typeface="Courier New" pitchFamily="49" charset="0"/>
              </a:rPr>
              <a:t>module</a:t>
            </a:r>
            <a:r>
              <a:rPr lang="en-US" b="1">
                <a:latin typeface="Courier New" pitchFamily="49" charset="0"/>
              </a:rPr>
              <a:t> *cs1010, </a:t>
            </a:r>
            <a:br>
              <a:rPr lang="en-US" b="1">
                <a:latin typeface="Courier New" pitchFamily="49" charset="0"/>
              </a:rPr>
            </a:br>
            <a:r>
              <a:rPr lang="en-US" b="1">
                <a:latin typeface="Courier New" pitchFamily="49" charset="0"/>
              </a:rPr>
              <a:t>             </a:t>
            </a: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b="1">
                <a:latin typeface="Courier New" pitchFamily="49" charset="0"/>
              </a:rPr>
              <a:t> </a:t>
            </a:r>
            <a:r>
              <a:rPr lang="en-US" b="1" err="1">
                <a:latin typeface="Courier New" pitchFamily="49" charset="0"/>
              </a:rPr>
              <a:t>hours_spent_per_week</a:t>
            </a:r>
            <a:r>
              <a:rPr lang="en-US" b="1">
                <a:latin typeface="Courier New" pitchFamily="49" charset="0"/>
              </a:rPr>
              <a:t>) {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  (*cs1010).mc = </a:t>
            </a:r>
            <a:r>
              <a:rPr lang="en-US" b="1" err="1">
                <a:latin typeface="Courier New" pitchFamily="49" charset="0"/>
              </a:rPr>
              <a:t>hours_spent_per_week</a:t>
            </a:r>
            <a:r>
              <a:rPr lang="en-US" b="1">
                <a:latin typeface="Courier New" pitchFamily="49" charset="0"/>
              </a:rPr>
              <a:t>/</a:t>
            </a:r>
            <a:r>
              <a:rPr lang="en-US" b="1">
                <a:solidFill>
                  <a:srgbClr val="C00000"/>
                </a:solidFill>
                <a:latin typeface="Courier New" pitchFamily="49" charset="0"/>
              </a:rPr>
              <a:t>2.5</a:t>
            </a:r>
            <a:r>
              <a:rPr lang="en-US" b="1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D0FDFD-09D3-4172-91D8-194B55C9EC66}"/>
              </a:ext>
            </a:extLst>
          </p:cNvPr>
          <p:cNvSpPr txBox="1"/>
          <p:nvPr/>
        </p:nvSpPr>
        <p:spPr bwMode="auto">
          <a:xfrm>
            <a:off x="5435029" y="5031859"/>
            <a:ext cx="3251771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SG" dirty="0">
                <a:latin typeface="Arial" charset="0"/>
                <a:cs typeface="Arial" charset="0"/>
              </a:rPr>
              <a:t>More efficient and allow changes to be visible </a:t>
            </a:r>
            <a:r>
              <a:rPr lang="en-SG" dirty="0"/>
              <a:t>outside.</a:t>
            </a:r>
            <a:r>
              <a:rPr lang="en-SG" dirty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8B88D5-D535-4201-A58F-8DB99AEE47E8}"/>
              </a:ext>
            </a:extLst>
          </p:cNvPr>
          <p:cNvSpPr txBox="1"/>
          <p:nvPr/>
        </p:nvSpPr>
        <p:spPr bwMode="auto">
          <a:xfrm>
            <a:off x="4315147" y="2853174"/>
            <a:ext cx="4371654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SG" dirty="0">
                <a:latin typeface="Arial" charset="0"/>
                <a:cs typeface="Arial" charset="0"/>
              </a:rPr>
              <a:t>Values copied component by component and changes not visible </a:t>
            </a:r>
            <a:r>
              <a:rPr lang="en-SG" dirty="0"/>
              <a:t>outside.</a:t>
            </a:r>
            <a:r>
              <a:rPr lang="en-SG" dirty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7C1E4480-EEB2-4874-9F94-6B5904CCE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7940" y="5814111"/>
            <a:ext cx="5416340" cy="403507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cs1010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</a:rPr>
              <a:t>-&gt;</a:t>
            </a:r>
            <a:r>
              <a:rPr lang="en-US" b="1">
                <a:latin typeface="Courier New" pitchFamily="49" charset="0"/>
              </a:rPr>
              <a:t>mc = </a:t>
            </a:r>
            <a:r>
              <a:rPr lang="en-US" b="1" err="1">
                <a:latin typeface="Courier New" pitchFamily="49" charset="0"/>
              </a:rPr>
              <a:t>hours_spent_per_week</a:t>
            </a:r>
            <a:r>
              <a:rPr lang="en-US" b="1">
                <a:latin typeface="Courier New" pitchFamily="49" charset="0"/>
              </a:rPr>
              <a:t>/</a:t>
            </a:r>
            <a:r>
              <a:rPr lang="en-US" b="1">
                <a:solidFill>
                  <a:srgbClr val="C00000"/>
                </a:solidFill>
                <a:latin typeface="Courier New" pitchFamily="49" charset="0"/>
              </a:rPr>
              <a:t>2.5</a:t>
            </a:r>
            <a:r>
              <a:rPr lang="en-US" b="1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endParaRPr lang="en-US" sz="2000" b="1">
              <a:latin typeface="Courier New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99A7D1-5F5C-4684-93FF-87CAEAA26D2B}"/>
              </a:ext>
            </a:extLst>
          </p:cNvPr>
          <p:cNvSpPr txBox="1"/>
          <p:nvPr/>
        </p:nvSpPr>
        <p:spPr bwMode="auto">
          <a:xfrm>
            <a:off x="1098967" y="6288563"/>
            <a:ext cx="4336062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SG" dirty="0">
                <a:latin typeface="Arial" charset="0"/>
                <a:cs typeface="Arial" charset="0"/>
              </a:rPr>
              <a:t>Using the arrow operator as a shorthand.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1C21EEF-0612-42E1-1DA1-114C2283D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F97F894-BA11-AED8-CE5B-C175C32F0AEC}"/>
              </a:ext>
            </a:extLst>
          </p:cNvPr>
          <p:cNvCxnSpPr/>
          <p:nvPr/>
        </p:nvCxnSpPr>
        <p:spPr>
          <a:xfrm flipH="1">
            <a:off x="2157984" y="4964004"/>
            <a:ext cx="557784" cy="72214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40735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9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Returning a Structure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Unit26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10</a:t>
            </a:fld>
            <a:endParaRPr sz="1200" dirty="0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733425" y="1460500"/>
            <a:ext cx="8181975" cy="6532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err="1"/>
              <a:t>Collatz</a:t>
            </a:r>
            <a:r>
              <a:rPr lang="en-US" sz="2400"/>
              <a:t> again!</a:t>
            </a:r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/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/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/>
          </a:p>
          <a:p>
            <a:pPr lvl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endParaRPr lang="en-US" sz="1600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80A3AA33-A8FF-47C2-A2D5-57D6B362A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424" y="1928252"/>
            <a:ext cx="3076529" cy="1180066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 marL="342900" indent="-342900">
              <a:defRPr/>
            </a:pP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struct</a:t>
            </a:r>
            <a:r>
              <a:rPr lang="en-US" b="1">
                <a:latin typeface="Courier New" pitchFamily="49" charset="0"/>
              </a:rPr>
              <a:t> </a:t>
            </a:r>
            <a:r>
              <a:rPr lang="en-US" b="1">
                <a:solidFill>
                  <a:srgbClr val="7030A0"/>
                </a:solidFill>
                <a:latin typeface="Courier New" pitchFamily="49" charset="0"/>
              </a:rPr>
              <a:t>answer</a:t>
            </a:r>
            <a:r>
              <a:rPr lang="en-US" b="1">
                <a:latin typeface="Courier New" pitchFamily="49" charset="0"/>
              </a:rPr>
              <a:t> {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  </a:t>
            </a: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b="1">
                <a:latin typeface="Courier New" pitchFamily="49" charset="0"/>
              </a:rPr>
              <a:t> </a:t>
            </a:r>
            <a:r>
              <a:rPr lang="en-US" b="1" err="1">
                <a:latin typeface="Courier New" pitchFamily="49" charset="0"/>
              </a:rPr>
              <a:t>max_n</a:t>
            </a:r>
            <a:r>
              <a:rPr lang="en-US" b="1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  </a:t>
            </a: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b="1">
                <a:latin typeface="Courier New" pitchFamily="49" charset="0"/>
              </a:rPr>
              <a:t> </a:t>
            </a:r>
            <a:r>
              <a:rPr lang="en-US" b="1" err="1">
                <a:latin typeface="Courier New" pitchFamily="49" charset="0"/>
              </a:rPr>
              <a:t>max_num_steps</a:t>
            </a:r>
            <a:r>
              <a:rPr lang="en-US" b="1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};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4FF30617-62A0-4BFB-A7F3-B83FE940F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425" y="3236233"/>
            <a:ext cx="5603972" cy="3154293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 marL="342900" indent="-342900">
              <a:defRPr/>
            </a:pP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struct </a:t>
            </a:r>
            <a:r>
              <a:rPr lang="en-US" b="1">
                <a:solidFill>
                  <a:srgbClr val="7030A0"/>
                </a:solidFill>
                <a:latin typeface="Courier New" pitchFamily="49" charset="0"/>
              </a:rPr>
              <a:t>answer</a:t>
            </a: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b="1" err="1">
                <a:latin typeface="Courier New" pitchFamily="49" charset="0"/>
              </a:rPr>
              <a:t>find_max_steps</a:t>
            </a:r>
            <a:r>
              <a:rPr lang="en-US" b="1">
                <a:latin typeface="Courier New" pitchFamily="49" charset="0"/>
              </a:rPr>
              <a:t>(</a:t>
            </a: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b="1">
                <a:latin typeface="Courier New" pitchFamily="49" charset="0"/>
              </a:rPr>
              <a:t> n) {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  </a:t>
            </a: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struct </a:t>
            </a:r>
            <a:r>
              <a:rPr lang="en-US" b="1">
                <a:solidFill>
                  <a:srgbClr val="7030A0"/>
                </a:solidFill>
                <a:latin typeface="Courier New" pitchFamily="49" charset="0"/>
              </a:rPr>
              <a:t>answer</a:t>
            </a: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b="1" err="1">
                <a:latin typeface="Courier New" pitchFamily="49" charset="0"/>
              </a:rPr>
              <a:t>ans</a:t>
            </a:r>
            <a:r>
              <a:rPr lang="en-US" b="1">
                <a:latin typeface="Courier New" pitchFamily="49" charset="0"/>
              </a:rPr>
              <a:t> = {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    .</a:t>
            </a:r>
            <a:r>
              <a:rPr lang="en-US" b="1" err="1">
                <a:latin typeface="Courier New" pitchFamily="49" charset="0"/>
              </a:rPr>
              <a:t>max_n</a:t>
            </a:r>
            <a:r>
              <a:rPr lang="en-US" b="1">
                <a:latin typeface="Courier New" pitchFamily="49" charset="0"/>
              </a:rPr>
              <a:t> = </a:t>
            </a:r>
            <a:r>
              <a:rPr lang="en-US" b="1">
                <a:solidFill>
                  <a:srgbClr val="C00000"/>
                </a:solidFill>
                <a:latin typeface="Courier New" pitchFamily="49" charset="0"/>
              </a:rPr>
              <a:t>1</a:t>
            </a:r>
            <a:r>
              <a:rPr lang="en-US" b="1">
                <a:latin typeface="Courier New" pitchFamily="49" charset="0"/>
              </a:rPr>
              <a:t>,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    .</a:t>
            </a:r>
            <a:r>
              <a:rPr lang="en-US" b="1" err="1">
                <a:latin typeface="Courier New" pitchFamily="49" charset="0"/>
              </a:rPr>
              <a:t>max_num_steps</a:t>
            </a:r>
            <a:r>
              <a:rPr lang="en-US" b="1">
                <a:latin typeface="Courier New" pitchFamily="49" charset="0"/>
              </a:rPr>
              <a:t> = </a:t>
            </a:r>
            <a:r>
              <a:rPr lang="en-US" b="1">
                <a:solidFill>
                  <a:srgbClr val="C00000"/>
                </a:solidFill>
                <a:latin typeface="Courier New" pitchFamily="49" charset="0"/>
              </a:rPr>
              <a:t>0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  };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  …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      </a:t>
            </a:r>
            <a:r>
              <a:rPr lang="en-US" b="1" err="1">
                <a:latin typeface="Courier New" pitchFamily="49" charset="0"/>
              </a:rPr>
              <a:t>ans.max_n</a:t>
            </a:r>
            <a:r>
              <a:rPr lang="en-US" b="1">
                <a:latin typeface="Courier New" pitchFamily="49" charset="0"/>
              </a:rPr>
              <a:t> = </a:t>
            </a:r>
            <a:r>
              <a:rPr lang="en-US" b="1" err="1">
                <a:latin typeface="Courier New" pitchFamily="49" charset="0"/>
              </a:rPr>
              <a:t>i</a:t>
            </a:r>
            <a:r>
              <a:rPr lang="en-US" b="1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      </a:t>
            </a:r>
            <a:r>
              <a:rPr lang="en-US" b="1" err="1">
                <a:latin typeface="Courier New" pitchFamily="49" charset="0"/>
              </a:rPr>
              <a:t>ans.max_num_steps</a:t>
            </a:r>
            <a:r>
              <a:rPr lang="en-US" b="1">
                <a:latin typeface="Courier New" pitchFamily="49" charset="0"/>
              </a:rPr>
              <a:t> = </a:t>
            </a:r>
            <a:r>
              <a:rPr lang="en-US" b="1" err="1">
                <a:latin typeface="Courier New" pitchFamily="49" charset="0"/>
              </a:rPr>
              <a:t>num_of_steps</a:t>
            </a:r>
            <a:r>
              <a:rPr lang="en-US" b="1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  …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  </a:t>
            </a: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return</a:t>
            </a:r>
            <a:r>
              <a:rPr lang="en-US" b="1">
                <a:latin typeface="Courier New" pitchFamily="49" charset="0"/>
              </a:rPr>
              <a:t> </a:t>
            </a:r>
            <a:r>
              <a:rPr lang="en-US" b="1" err="1">
                <a:latin typeface="Courier New" pitchFamily="49" charset="0"/>
              </a:rPr>
              <a:t>ans</a:t>
            </a:r>
            <a:r>
              <a:rPr lang="en-US" b="1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D0FDFD-09D3-4172-91D8-194B55C9EC66}"/>
              </a:ext>
            </a:extLst>
          </p:cNvPr>
          <p:cNvSpPr txBox="1"/>
          <p:nvPr/>
        </p:nvSpPr>
        <p:spPr bwMode="auto">
          <a:xfrm>
            <a:off x="3348382" y="5584018"/>
            <a:ext cx="3278449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SG">
                <a:latin typeface="Arial" charset="0"/>
                <a:cs typeface="Arial" charset="0"/>
              </a:rPr>
              <a:t>Both numbers can be returned together via the structure.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8B88D5-D535-4201-A58F-8DB99AEE47E8}"/>
              </a:ext>
            </a:extLst>
          </p:cNvPr>
          <p:cNvSpPr txBox="1"/>
          <p:nvPr/>
        </p:nvSpPr>
        <p:spPr bwMode="auto">
          <a:xfrm>
            <a:off x="4420459" y="1928252"/>
            <a:ext cx="2339937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SG">
                <a:latin typeface="Arial" charset="0"/>
                <a:cs typeface="Arial" charset="0"/>
              </a:rPr>
              <a:t>A structure for storing two numbers.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EBA9232-FB87-0083-A6B4-5C40E8202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84619034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8">
            <a:extLst>
              <a:ext uri="{FF2B5EF4-FFF2-40B4-BE49-F238E27FC236}">
                <a16:creationId xmlns:a16="http://schemas.microsoft.com/office/drawing/2014/main" id="{793BC6DB-2155-470B-9458-43CFA2CF6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25" y="1460500"/>
            <a:ext cx="8181975" cy="6532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typedef allows new data types to be defined.</a:t>
            </a:r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lvl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endParaRPr lang="en-US" sz="1600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Defining a Structure as a Type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Unit26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11</a:t>
            </a:fld>
            <a:endParaRPr sz="1200" dirty="0"/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4FF30617-62A0-4BFB-A7F3-B83FE940F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424" y="3782304"/>
            <a:ext cx="7530376" cy="1321321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 marL="342900" indent="-342900">
              <a:defRPr/>
            </a:pPr>
            <a:r>
              <a:rPr lang="en-US" sz="2000" b="1">
                <a:solidFill>
                  <a:srgbClr val="0000FF"/>
                </a:solidFill>
                <a:latin typeface="Courier New" pitchFamily="49" charset="0"/>
              </a:rPr>
              <a:t>void</a:t>
            </a:r>
            <a:r>
              <a:rPr lang="en-US" sz="2000" b="1">
                <a:latin typeface="Courier New" pitchFamily="49" charset="0"/>
              </a:rPr>
              <a:t> </a:t>
            </a:r>
            <a:r>
              <a:rPr lang="en-US" sz="2000" b="1" err="1">
                <a:latin typeface="Courier New" pitchFamily="49" charset="0"/>
              </a:rPr>
              <a:t>update_mc</a:t>
            </a:r>
            <a:r>
              <a:rPr lang="en-US" sz="2000" b="1">
                <a:latin typeface="Courier New" pitchFamily="49" charset="0"/>
              </a:rPr>
              <a:t>(</a:t>
            </a:r>
            <a:r>
              <a:rPr lang="en-US" sz="2000" b="1">
                <a:solidFill>
                  <a:srgbClr val="7030A0"/>
                </a:solidFill>
                <a:latin typeface="Courier New" pitchFamily="49" charset="0"/>
              </a:rPr>
              <a:t>module</a:t>
            </a:r>
            <a:r>
              <a:rPr lang="en-US" sz="2000" b="1">
                <a:latin typeface="Courier New" pitchFamily="49" charset="0"/>
              </a:rPr>
              <a:t> cs1010, </a:t>
            </a:r>
            <a:br>
              <a:rPr lang="en-US" sz="2000" b="1">
                <a:latin typeface="Courier New" pitchFamily="49" charset="0"/>
              </a:rPr>
            </a:br>
            <a:r>
              <a:rPr lang="en-US" sz="2000" b="1">
                <a:latin typeface="Courier New" pitchFamily="49" charset="0"/>
              </a:rPr>
              <a:t>             </a:t>
            </a:r>
            <a:r>
              <a:rPr lang="en-US" sz="2000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sz="2000" b="1">
                <a:latin typeface="Courier New" pitchFamily="49" charset="0"/>
              </a:rPr>
              <a:t> </a:t>
            </a:r>
            <a:r>
              <a:rPr lang="en-US" sz="2000" b="1" err="1">
                <a:latin typeface="Courier New" pitchFamily="49" charset="0"/>
              </a:rPr>
              <a:t>hours_spent_per_week</a:t>
            </a:r>
            <a:r>
              <a:rPr lang="en-US" sz="2000" b="1">
                <a:latin typeface="Courier New" pitchFamily="49" charset="0"/>
              </a:rPr>
              <a:t>) {</a:t>
            </a:r>
          </a:p>
          <a:p>
            <a:pPr marL="342900" indent="-342900">
              <a:defRPr/>
            </a:pPr>
            <a:r>
              <a:rPr lang="en-US" sz="2000" b="1">
                <a:latin typeface="Courier New" pitchFamily="49" charset="0"/>
              </a:rPr>
              <a:t>  cs1010.mc = </a:t>
            </a:r>
            <a:r>
              <a:rPr lang="en-US" sz="2000" b="1" err="1">
                <a:latin typeface="Courier New" pitchFamily="49" charset="0"/>
              </a:rPr>
              <a:t>hours_spent_per_week</a:t>
            </a:r>
            <a:r>
              <a:rPr lang="en-US" sz="2000" b="1">
                <a:latin typeface="Courier New" pitchFamily="49" charset="0"/>
              </a:rPr>
              <a:t>/</a:t>
            </a:r>
            <a:r>
              <a:rPr lang="en-US" sz="2000" b="1">
                <a:solidFill>
                  <a:srgbClr val="C00000"/>
                </a:solidFill>
                <a:latin typeface="Courier New" pitchFamily="49" charset="0"/>
              </a:rPr>
              <a:t>2.5</a:t>
            </a:r>
            <a:r>
              <a:rPr lang="en-US" sz="2000" b="1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r>
              <a:rPr lang="en-US" sz="2000" b="1">
                <a:latin typeface="Courier New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D0FDFD-09D3-4172-91D8-194B55C9EC66}"/>
              </a:ext>
            </a:extLst>
          </p:cNvPr>
          <p:cNvSpPr txBox="1"/>
          <p:nvPr/>
        </p:nvSpPr>
        <p:spPr bwMode="auto">
          <a:xfrm>
            <a:off x="4572000" y="5259010"/>
            <a:ext cx="3604437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SG">
                <a:solidFill>
                  <a:srgbClr val="7030A0"/>
                </a:solidFill>
                <a:latin typeface="Arial" charset="0"/>
                <a:cs typeface="Arial" charset="0"/>
              </a:rPr>
              <a:t>module</a:t>
            </a:r>
            <a:r>
              <a:rPr lang="en-SG">
                <a:latin typeface="Arial" charset="0"/>
                <a:cs typeface="Arial" charset="0"/>
              </a:rPr>
              <a:t> can now be used just like any other standard data type!</a:t>
            </a: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50048137-8368-44B5-85DD-193F9405A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424" y="2025456"/>
            <a:ext cx="3691473" cy="1618122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typedef struct </a:t>
            </a:r>
            <a:r>
              <a:rPr lang="en-US" sz="2000" b="1" dirty="0">
                <a:solidFill>
                  <a:srgbClr val="7030A0"/>
                </a:solidFill>
                <a:latin typeface="Courier New" pitchFamily="49" charset="0"/>
              </a:rPr>
              <a:t>module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char </a:t>
            </a:r>
            <a:r>
              <a:rPr lang="en-US" sz="2000" b="1" dirty="0">
                <a:latin typeface="Courier New" pitchFamily="49" charset="0"/>
              </a:rPr>
              <a:t>*code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char </a:t>
            </a:r>
            <a:r>
              <a:rPr lang="en-US" sz="2000" b="1" dirty="0">
                <a:latin typeface="Courier New" pitchFamily="49" charset="0"/>
              </a:rPr>
              <a:t>*title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long </a:t>
            </a:r>
            <a:r>
              <a:rPr lang="en-US" sz="2000" b="1" dirty="0">
                <a:latin typeface="Courier New" pitchFamily="49" charset="0"/>
              </a:rPr>
              <a:t>mc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} module</a:t>
            </a:r>
            <a:r>
              <a:rPr lang="en-US" sz="2000" b="1" dirty="0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endParaRPr lang="en-US" sz="2000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31C5F6A1-BE15-41B7-8B73-EEA07BDFF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7606" y="2018580"/>
            <a:ext cx="3691473" cy="1618121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typedef struct 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char </a:t>
            </a:r>
            <a:r>
              <a:rPr lang="en-US" sz="2000" b="1" dirty="0">
                <a:latin typeface="Courier New" pitchFamily="49" charset="0"/>
              </a:rPr>
              <a:t>*code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char </a:t>
            </a:r>
            <a:r>
              <a:rPr lang="en-US" sz="2000" b="1" dirty="0">
                <a:latin typeface="Courier New" pitchFamily="49" charset="0"/>
              </a:rPr>
              <a:t>*title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long </a:t>
            </a:r>
            <a:r>
              <a:rPr lang="en-US" sz="2000" b="1" dirty="0">
                <a:latin typeface="Courier New" pitchFamily="49" charset="0"/>
              </a:rPr>
              <a:t>mc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} </a:t>
            </a:r>
            <a:r>
              <a:rPr lang="en-US" sz="2000" b="1" dirty="0">
                <a:latin typeface="Courier New" pitchFamily="49" charset="0"/>
              </a:rPr>
              <a:t>module;</a:t>
            </a:r>
          </a:p>
          <a:p>
            <a:pPr marL="342900" indent="-342900">
              <a:defRPr/>
            </a:pPr>
            <a:endParaRPr lang="en-US" sz="2000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3EDF79-736E-469E-8311-FF8963BF7B56}"/>
              </a:ext>
            </a:extLst>
          </p:cNvPr>
          <p:cNvSpPr txBox="1"/>
          <p:nvPr/>
        </p:nvSpPr>
        <p:spPr bwMode="auto">
          <a:xfrm>
            <a:off x="4572000" y="6028828"/>
            <a:ext cx="2573267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SG" dirty="0">
                <a:latin typeface="Arial" charset="0"/>
                <a:cs typeface="Arial" charset="0"/>
              </a:rPr>
              <a:t>Better to name the type </a:t>
            </a:r>
            <a:r>
              <a:rPr lang="en-SG" dirty="0" err="1">
                <a:solidFill>
                  <a:srgbClr val="7030A0"/>
                </a:solidFill>
                <a:latin typeface="Arial" charset="0"/>
                <a:cs typeface="Arial" charset="0"/>
              </a:rPr>
              <a:t>module_t</a:t>
            </a:r>
            <a:r>
              <a:rPr lang="en-SG" dirty="0">
                <a:solidFill>
                  <a:srgbClr val="7030A0"/>
                </a:solidFill>
                <a:latin typeface="Arial" charset="0"/>
                <a:cs typeface="Arial" charset="0"/>
              </a:rPr>
              <a:t> </a:t>
            </a:r>
            <a:r>
              <a:rPr lang="en-SG" dirty="0">
                <a:latin typeface="Arial" charset="0"/>
                <a:cs typeface="Arial" charset="0"/>
              </a:rPr>
              <a:t>for clarity.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141E0C-B42A-4448-BB78-91A698273659}"/>
              </a:ext>
            </a:extLst>
          </p:cNvPr>
          <p:cNvSpPr/>
          <p:nvPr/>
        </p:nvSpPr>
        <p:spPr>
          <a:xfrm>
            <a:off x="1233377" y="2039846"/>
            <a:ext cx="1073888" cy="3418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6B17F0-6F99-439D-A835-AB5E351CCD9A}"/>
              </a:ext>
            </a:extLst>
          </p:cNvPr>
          <p:cNvSpPr/>
          <p:nvPr/>
        </p:nvSpPr>
        <p:spPr>
          <a:xfrm>
            <a:off x="5076224" y="2039846"/>
            <a:ext cx="1073888" cy="3418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111BEF-3BD0-586B-335B-193F67995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9970179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9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27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Standard I/O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C99DB81A-17D9-DB56-E5BF-3F31A77AD7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742DCC-41DC-4821-022A-20FE5AE93C62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27: Standard I/O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 err="1">
                <a:latin typeface="+mj-lt"/>
              </a:rPr>
              <a:t>printf</a:t>
            </a: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 err="1">
                <a:latin typeface="+mj-lt"/>
              </a:rPr>
              <a:t>scanf</a:t>
            </a: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 err="1">
                <a:latin typeface="+mj-lt"/>
              </a:rPr>
              <a:t>fgets</a:t>
            </a: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F83332-680A-6410-A874-44CF08855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6A6A9-AF5D-3B81-33BA-2A734FDB7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Unit27 - </a:t>
            </a:r>
            <a:fld id="{2E4790E1-2590-4AEE-892D-AB46A7688113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34129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 err="1">
                <a:solidFill>
                  <a:srgbClr val="0000FF"/>
                </a:solidFill>
              </a:rPr>
              <a:t>printf</a:t>
            </a:r>
            <a:r>
              <a:rPr lang="en-GB" sz="3600" dirty="0">
                <a:solidFill>
                  <a:srgbClr val="0000FF"/>
                </a:solidFill>
              </a:rPr>
              <a:t>()</a:t>
            </a:r>
          </a:p>
        </p:txBody>
      </p:sp>
      <p:sp>
        <p:nvSpPr>
          <p:cNvPr id="79" name="Content Placeholder 5">
            <a:extLst>
              <a:ext uri="{FF2B5EF4-FFF2-40B4-BE49-F238E27FC236}">
                <a16:creationId xmlns:a16="http://schemas.microsoft.com/office/drawing/2014/main" id="{BF04FEDC-6D62-4A7E-9426-F70D350EAE56}"/>
              </a:ext>
            </a:extLst>
          </p:cNvPr>
          <p:cNvSpPr txBox="1">
            <a:spLocks/>
          </p:cNvSpPr>
          <p:nvPr/>
        </p:nvSpPr>
        <p:spPr>
          <a:xfrm>
            <a:off x="587375" y="1225549"/>
            <a:ext cx="8229600" cy="61410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663" indent="-34766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Simplest form:</a:t>
            </a:r>
          </a:p>
          <a:p>
            <a:pPr marL="625475" lvl="1" indent="-27781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C00000"/>
                </a:solidFill>
              </a:rPr>
              <a:t>printf</a:t>
            </a:r>
            <a:r>
              <a:rPr lang="en-US" dirty="0">
                <a:solidFill>
                  <a:srgbClr val="C00000"/>
                </a:solidFill>
              </a:rPr>
              <a:t> (</a:t>
            </a:r>
            <a:r>
              <a:rPr lang="en-US" dirty="0" err="1">
                <a:solidFill>
                  <a:srgbClr val="C00000"/>
                </a:solidFill>
              </a:rPr>
              <a:t>format_string</a:t>
            </a:r>
            <a:r>
              <a:rPr lang="en-US" dirty="0">
                <a:solidFill>
                  <a:srgbClr val="C00000"/>
                </a:solidFill>
              </a:rPr>
              <a:t>)</a:t>
            </a:r>
          </a:p>
          <a:p>
            <a:pPr marL="625475" lvl="1" indent="-27781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>
              <a:solidFill>
                <a:srgbClr val="C00000"/>
              </a:solidFill>
            </a:endParaRPr>
          </a:p>
          <a:p>
            <a:pPr marL="625475" lvl="1" indent="-27781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600" dirty="0">
              <a:solidFill>
                <a:srgbClr val="C00000"/>
              </a:solidFill>
            </a:endParaRPr>
          </a:p>
          <a:p>
            <a:pPr marL="288925" indent="-288925" eaLnBrk="1" hangingPunct="1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\n </a:t>
            </a:r>
            <a:r>
              <a:rPr lang="en-US" dirty="0"/>
              <a:t>is an example of </a:t>
            </a:r>
            <a:r>
              <a:rPr lang="en-US" dirty="0">
                <a:solidFill>
                  <a:srgbClr val="0000FF"/>
                </a:solidFill>
              </a:rPr>
              <a:t>escape sequence</a:t>
            </a:r>
            <a:endParaRPr lang="en-US" dirty="0"/>
          </a:p>
          <a:p>
            <a:pPr marL="563245" lvl="1" indent="-288925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800" dirty="0"/>
              <a:t>For certain special effects or to display certain characters properly</a:t>
            </a:r>
          </a:p>
          <a:p>
            <a:pPr marL="563245" lvl="1" indent="-288925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600" dirty="0">
              <a:solidFill>
                <a:srgbClr val="0000FF"/>
              </a:solidFill>
            </a:endParaRPr>
          </a:p>
          <a:p>
            <a:pPr marL="288925" indent="-288925" eaLnBrk="1" hangingPunct="1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Common escape sequences</a:t>
            </a:r>
          </a:p>
          <a:p>
            <a:pPr lvl="2" indent="-457200" eaLnBrk="1" hangingPunct="1">
              <a:buSzPct val="120000"/>
              <a:buFont typeface="Wingdings" pitchFamily="2" charset="2"/>
              <a:buNone/>
            </a:pPr>
            <a:endParaRPr lang="en-US" sz="1200" dirty="0">
              <a:solidFill>
                <a:srgbClr val="0000FF"/>
              </a:solidFill>
            </a:endParaRPr>
          </a:p>
          <a:p>
            <a:pPr marL="625475" lvl="1" indent="-27781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800" dirty="0">
              <a:solidFill>
                <a:srgbClr val="C00000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1444749-39BE-4F95-BFB7-C8DF43DE123A}"/>
              </a:ext>
            </a:extLst>
          </p:cNvPr>
          <p:cNvSpPr txBox="1"/>
          <p:nvPr/>
        </p:nvSpPr>
        <p:spPr>
          <a:xfrm>
            <a:off x="1266666" y="2081337"/>
            <a:ext cx="3305334" cy="338554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"Hello World!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\n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2EDF0335-D6CA-4B73-8CBF-809E6A0CFA42}"/>
              </a:ext>
            </a:extLst>
          </p:cNvPr>
          <p:cNvGraphicFramePr>
            <a:graphicFrameLocks noGrp="1"/>
          </p:cNvGraphicFramePr>
          <p:nvPr/>
        </p:nvGraphicFramePr>
        <p:xfrm>
          <a:off x="759655" y="4186989"/>
          <a:ext cx="8145194" cy="2175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50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813">
                <a:tc>
                  <a:txBody>
                    <a:bodyPr/>
                    <a:lstStyle/>
                    <a:p>
                      <a:r>
                        <a:rPr lang="en-US" dirty="0"/>
                        <a:t>Escape 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813">
                <a:tc>
                  <a:txBody>
                    <a:bodyPr/>
                    <a:lstStyle/>
                    <a:p>
                      <a:pPr marL="0" indent="0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\n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New 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Subsequent output will appear</a:t>
                      </a:r>
                      <a:r>
                        <a:rPr lang="en-US" baseline="0" dirty="0"/>
                        <a:t> on the next line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813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\t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Horizontal tab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Move to the next tab position</a:t>
                      </a:r>
                      <a:r>
                        <a:rPr lang="en-US" baseline="0" dirty="0"/>
                        <a:t> on the current line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813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\"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Double quote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Display a double quote 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813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%%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Display a percent</a:t>
                      </a:r>
                      <a:r>
                        <a:rPr lang="en-US" baseline="0" dirty="0"/>
                        <a:t> character 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6" name="TextBox 85">
            <a:extLst>
              <a:ext uri="{FF2B5EF4-FFF2-40B4-BE49-F238E27FC236}">
                <a16:creationId xmlns:a16="http://schemas.microsoft.com/office/drawing/2014/main" id="{A1045315-EC0F-46BF-877D-984B4C79A709}"/>
              </a:ext>
            </a:extLst>
          </p:cNvPr>
          <p:cNvSpPr txBox="1"/>
          <p:nvPr/>
        </p:nvSpPr>
        <p:spPr>
          <a:xfrm>
            <a:off x="4724400" y="1927448"/>
            <a:ext cx="2179834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Print "Hello World!" with </a:t>
            </a:r>
            <a:r>
              <a:rPr lang="en-US" dirty="0">
                <a:solidFill>
                  <a:srgbClr val="0000FF"/>
                </a:solidFill>
              </a:rPr>
              <a:t>a new line</a:t>
            </a:r>
            <a:r>
              <a:rPr lang="en-US" dirty="0"/>
              <a:t>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80DB94D-481E-B622-8B43-29F4D579F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E5510D-DADB-B96F-C135-26E7694FD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Unit27 - </a:t>
            </a:r>
            <a:fld id="{2E4790E1-2590-4AEE-892D-AB46A7688113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128722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 err="1">
                <a:solidFill>
                  <a:srgbClr val="0000FF"/>
                </a:solidFill>
              </a:rPr>
              <a:t>printf</a:t>
            </a:r>
            <a:r>
              <a:rPr lang="en-GB" sz="3600" dirty="0">
                <a:solidFill>
                  <a:srgbClr val="0000FF"/>
                </a:solidFill>
              </a:rPr>
              <a:t>()</a:t>
            </a:r>
          </a:p>
        </p:txBody>
      </p:sp>
      <p:sp>
        <p:nvSpPr>
          <p:cNvPr id="79" name="Content Placeholder 5">
            <a:extLst>
              <a:ext uri="{FF2B5EF4-FFF2-40B4-BE49-F238E27FC236}">
                <a16:creationId xmlns:a16="http://schemas.microsoft.com/office/drawing/2014/main" id="{BF04FEDC-6D62-4A7E-9426-F70D350EAE56}"/>
              </a:ext>
            </a:extLst>
          </p:cNvPr>
          <p:cNvSpPr txBox="1">
            <a:spLocks/>
          </p:cNvSpPr>
          <p:nvPr/>
        </p:nvSpPr>
        <p:spPr>
          <a:xfrm>
            <a:off x="587375" y="1225549"/>
            <a:ext cx="8229600" cy="61410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663" indent="-34766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With variables: </a:t>
            </a:r>
          </a:p>
          <a:p>
            <a:pPr marL="625475" lvl="1" indent="-27781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C00000"/>
                </a:solidFill>
              </a:rPr>
              <a:t>printf</a:t>
            </a:r>
            <a:r>
              <a:rPr lang="en-US" dirty="0">
                <a:solidFill>
                  <a:srgbClr val="C00000"/>
                </a:solidFill>
              </a:rPr>
              <a:t> (</a:t>
            </a:r>
            <a:r>
              <a:rPr lang="en-US" dirty="0" err="1">
                <a:solidFill>
                  <a:srgbClr val="C00000"/>
                </a:solidFill>
              </a:rPr>
              <a:t>format_string</a:t>
            </a:r>
            <a:r>
              <a:rPr lang="en-US" dirty="0">
                <a:solidFill>
                  <a:srgbClr val="C00000"/>
                </a:solidFill>
              </a:rPr>
              <a:t>, var1, var2, …)</a:t>
            </a:r>
          </a:p>
          <a:p>
            <a:pPr marL="625475" lvl="1" indent="-27781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>
              <a:solidFill>
                <a:srgbClr val="C00000"/>
              </a:solidFill>
            </a:endParaRPr>
          </a:p>
          <a:p>
            <a:pPr marL="625475" lvl="1" indent="-27781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600" dirty="0">
              <a:solidFill>
                <a:srgbClr val="C00000"/>
              </a:solidFill>
            </a:endParaRPr>
          </a:p>
          <a:p>
            <a:pPr marL="288925" indent="-288925" eaLnBrk="1" hangingPunct="1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>
              <a:solidFill>
                <a:srgbClr val="C00000"/>
              </a:solidFill>
            </a:endParaRPr>
          </a:p>
          <a:p>
            <a:pPr marL="288925" indent="-288925" eaLnBrk="1" hangingPunct="1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%s </a:t>
            </a:r>
            <a:r>
              <a:rPr lang="en-US" dirty="0"/>
              <a:t>is a format modifier: </a:t>
            </a:r>
            <a:r>
              <a:rPr lang="en-US" dirty="0">
                <a:solidFill>
                  <a:srgbClr val="0000FF"/>
                </a:solidFill>
              </a:rPr>
              <a:t>%[</a:t>
            </a:r>
            <a:r>
              <a:rPr lang="en-US" dirty="0" err="1">
                <a:solidFill>
                  <a:srgbClr val="0000FF"/>
                </a:solidFill>
              </a:rPr>
              <a:t>length_modifier</a:t>
            </a:r>
            <a:r>
              <a:rPr lang="en-US" dirty="0">
                <a:solidFill>
                  <a:srgbClr val="0000FF"/>
                </a:solidFill>
              </a:rPr>
              <a:t>]specifier</a:t>
            </a:r>
          </a:p>
          <a:p>
            <a:pPr marL="563245" lvl="1" indent="-288925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One for each variable to be printed.</a:t>
            </a:r>
          </a:p>
          <a:p>
            <a:pPr marL="563245" lvl="1" indent="-288925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Controls the location and the formatting </a:t>
            </a:r>
            <a:br>
              <a:rPr lang="en-US" dirty="0"/>
            </a:br>
            <a:r>
              <a:rPr lang="en-US" dirty="0"/>
              <a:t>of the printed value.</a:t>
            </a:r>
          </a:p>
          <a:p>
            <a:pPr marL="563245" lvl="1" indent="-288925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Chosen based on the value type.</a:t>
            </a:r>
          </a:p>
          <a:p>
            <a:pPr marL="563245" lvl="1" indent="-288925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b="1" dirty="0" err="1"/>
              <a:t>length_modifier</a:t>
            </a:r>
            <a:r>
              <a:rPr lang="en-US" dirty="0"/>
              <a:t>:</a:t>
            </a:r>
            <a:r>
              <a:rPr lang="en-US" b="1" i="0" u="none" strike="noStrike" kern="120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u="none" strike="noStrike" kern="1200" dirty="0" err="1">
                <a:solidFill>
                  <a:srgbClr val="292934"/>
                </a:solidFill>
                <a:effectLst/>
                <a:latin typeface="Arial" panose="020B0604020202020204" pitchFamily="34" charset="0"/>
              </a:rPr>
              <a:t>ld</a:t>
            </a:r>
            <a:r>
              <a:rPr lang="en-US" b="0" i="0" u="none" strike="noStrike" kern="1200" dirty="0">
                <a:solidFill>
                  <a:srgbClr val="292934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u="none" strike="noStrike" kern="1200" dirty="0">
                <a:solidFill>
                  <a:srgbClr val="292934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 long integer, </a:t>
            </a:r>
            <a:br>
              <a:rPr lang="en-US" b="0" i="0" u="none" strike="noStrike" kern="1200" dirty="0">
                <a:solidFill>
                  <a:srgbClr val="292934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</a:br>
            <a:r>
              <a:rPr lang="en-US" b="0" i="0" u="none" strike="noStrike" kern="1200" dirty="0" err="1">
                <a:solidFill>
                  <a:srgbClr val="292934"/>
                </a:solidFill>
                <a:effectLst/>
                <a:latin typeface="Arial" panose="020B0604020202020204" pitchFamily="34" charset="0"/>
              </a:rPr>
              <a:t>lf</a:t>
            </a:r>
            <a:r>
              <a:rPr lang="en-US" b="0" i="0" u="none" strike="noStrike" kern="1200" dirty="0">
                <a:solidFill>
                  <a:srgbClr val="292934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u="none" strike="noStrike" kern="1200" dirty="0">
                <a:solidFill>
                  <a:srgbClr val="292934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 double real number</a:t>
            </a:r>
            <a:endParaRPr lang="en-US" b="0" i="0" u="none" strike="noStrike" dirty="0">
              <a:effectLst/>
              <a:latin typeface="Arial" panose="020B0604020202020204" pitchFamily="34" charset="0"/>
            </a:endParaRPr>
          </a:p>
          <a:p>
            <a:pPr marL="274320" lvl="1" indent="0">
              <a:buClr>
                <a:schemeClr val="bg1">
                  <a:lumMod val="50000"/>
                </a:schemeClr>
              </a:buClr>
              <a:buSzPct val="100000"/>
              <a:buNone/>
            </a:pPr>
            <a:endParaRPr lang="en-US" dirty="0"/>
          </a:p>
          <a:p>
            <a:pPr marL="563245" lvl="1" indent="-288925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288925" indent="-288925" eaLnBrk="1" hangingPunct="1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0000FF"/>
              </a:solidFill>
            </a:endParaRPr>
          </a:p>
          <a:p>
            <a:pPr lvl="2" indent="-457200" eaLnBrk="1" hangingPunct="1">
              <a:buSzPct val="120000"/>
              <a:buFont typeface="Wingdings" pitchFamily="2" charset="2"/>
              <a:buNone/>
            </a:pPr>
            <a:endParaRPr lang="en-US" sz="2000" dirty="0">
              <a:solidFill>
                <a:srgbClr val="0000FF"/>
              </a:solidFill>
            </a:endParaRPr>
          </a:p>
          <a:p>
            <a:pPr marL="625475" lvl="1" indent="-27781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800" dirty="0">
              <a:solidFill>
                <a:srgbClr val="C00000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1444749-39BE-4F95-BFB7-C8DF43DE123A}"/>
              </a:ext>
            </a:extLst>
          </p:cNvPr>
          <p:cNvSpPr txBox="1"/>
          <p:nvPr/>
        </p:nvSpPr>
        <p:spPr>
          <a:xfrm>
            <a:off x="1266666" y="2081337"/>
            <a:ext cx="5380714" cy="584775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*name =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"Siri"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"Hello! My name is 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%s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\n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, name);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1045315-EC0F-46BF-877D-984B4C79A709}"/>
              </a:ext>
            </a:extLst>
          </p:cNvPr>
          <p:cNvSpPr txBox="1"/>
          <p:nvPr/>
        </p:nvSpPr>
        <p:spPr>
          <a:xfrm>
            <a:off x="5815173" y="1627984"/>
            <a:ext cx="2578813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Print the value of name with the string.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A87E232-4FE4-47AF-9D1D-1470DF57C60B}"/>
              </a:ext>
            </a:extLst>
          </p:cNvPr>
          <p:cNvGraphicFramePr>
            <a:graphicFrameLocks noGrp="1"/>
          </p:cNvGraphicFramePr>
          <p:nvPr/>
        </p:nvGraphicFramePr>
        <p:xfrm>
          <a:off x="6281420" y="3610809"/>
          <a:ext cx="26771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5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8613">
                <a:tc>
                  <a:txBody>
                    <a:bodyPr/>
                    <a:lstStyle/>
                    <a:p>
                      <a:r>
                        <a:rPr lang="en-US" dirty="0"/>
                        <a:t>Specifier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539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539">
                <a:tc>
                  <a:txBody>
                    <a:bodyPr/>
                    <a:lstStyle/>
                    <a:p>
                      <a:pPr marL="0" indent="0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60006"/>
                  </a:ext>
                </a:extLst>
              </a:tr>
              <a:tr h="346539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pointer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774678"/>
                  </a:ext>
                </a:extLst>
              </a:tr>
              <a:tr h="346539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790009"/>
                  </a:ext>
                </a:extLst>
              </a:tr>
              <a:tr h="346539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674200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D0A4FE6-337B-0F09-4DEE-AAFD1CDB4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086DFC-F0A5-23B4-3B42-19F940573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Unit27 - </a:t>
            </a:r>
            <a:fld id="{2E4790E1-2590-4AEE-892D-AB46A7688113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9734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 err="1">
                <a:solidFill>
                  <a:srgbClr val="0000FF"/>
                </a:solidFill>
              </a:rPr>
              <a:t>printf</a:t>
            </a:r>
            <a:r>
              <a:rPr lang="en-GB" sz="3600" dirty="0">
                <a:solidFill>
                  <a:srgbClr val="0000FF"/>
                </a:solidFill>
              </a:rPr>
              <a:t>()</a:t>
            </a:r>
          </a:p>
        </p:txBody>
      </p:sp>
      <p:sp>
        <p:nvSpPr>
          <p:cNvPr id="79" name="Content Placeholder 5">
            <a:extLst>
              <a:ext uri="{FF2B5EF4-FFF2-40B4-BE49-F238E27FC236}">
                <a16:creationId xmlns:a16="http://schemas.microsoft.com/office/drawing/2014/main" id="{BF04FEDC-6D62-4A7E-9426-F70D350EAE56}"/>
              </a:ext>
            </a:extLst>
          </p:cNvPr>
          <p:cNvSpPr txBox="1">
            <a:spLocks/>
          </p:cNvSpPr>
          <p:nvPr/>
        </p:nvSpPr>
        <p:spPr>
          <a:xfrm>
            <a:off x="587375" y="1225549"/>
            <a:ext cx="8229600" cy="61410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663" indent="-34766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With formatting: </a:t>
            </a:r>
          </a:p>
          <a:p>
            <a:pPr marL="625475" lvl="1" indent="-27781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C00000"/>
                </a:solidFill>
              </a:rPr>
              <a:t>printf</a:t>
            </a:r>
            <a:r>
              <a:rPr lang="en-US" dirty="0">
                <a:solidFill>
                  <a:srgbClr val="C00000"/>
                </a:solidFill>
              </a:rPr>
              <a:t> (</a:t>
            </a:r>
            <a:r>
              <a:rPr lang="en-US" dirty="0" err="1">
                <a:solidFill>
                  <a:srgbClr val="C00000"/>
                </a:solidFill>
              </a:rPr>
              <a:t>format_string</a:t>
            </a:r>
            <a:r>
              <a:rPr lang="en-US" dirty="0">
                <a:solidFill>
                  <a:srgbClr val="C00000"/>
                </a:solidFill>
              </a:rPr>
              <a:t>, var1, var2, …)</a:t>
            </a:r>
          </a:p>
          <a:p>
            <a:pPr marL="625475" lvl="1" indent="-27781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>
              <a:solidFill>
                <a:srgbClr val="C00000"/>
              </a:solidFill>
            </a:endParaRPr>
          </a:p>
          <a:p>
            <a:pPr marL="625475" lvl="1" indent="-27781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600" dirty="0">
              <a:solidFill>
                <a:srgbClr val="C00000"/>
              </a:solidFill>
            </a:endParaRPr>
          </a:p>
          <a:p>
            <a:pPr marL="288925" indent="-288925" eaLnBrk="1" hangingPunct="1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>
              <a:solidFill>
                <a:srgbClr val="C00000"/>
              </a:solidFill>
            </a:endParaRPr>
          </a:p>
          <a:p>
            <a:pPr marL="288925" indent="-288925" eaLnBrk="1" hangingPunct="1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%</a:t>
            </a:r>
            <a:r>
              <a:rPr lang="en-US" dirty="0">
                <a:solidFill>
                  <a:srgbClr val="0000FF"/>
                </a:solidFill>
              </a:rPr>
              <a:t>[flags][</a:t>
            </a:r>
            <a:r>
              <a:rPr lang="en-US" dirty="0" err="1">
                <a:solidFill>
                  <a:srgbClr val="0000FF"/>
                </a:solidFill>
              </a:rPr>
              <a:t>field_width</a:t>
            </a:r>
            <a:r>
              <a:rPr lang="en-US" dirty="0">
                <a:solidFill>
                  <a:srgbClr val="0000FF"/>
                </a:solidFill>
              </a:rPr>
              <a:t>][.precision]</a:t>
            </a:r>
            <a:r>
              <a:rPr lang="en-US" dirty="0"/>
              <a:t>[</a:t>
            </a:r>
            <a:r>
              <a:rPr lang="en-US" dirty="0" err="1"/>
              <a:t>length_modifier</a:t>
            </a:r>
            <a:r>
              <a:rPr lang="en-US" dirty="0"/>
              <a:t>]specifier</a:t>
            </a:r>
          </a:p>
          <a:p>
            <a:pPr marL="347662" lvl="1" indent="0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None/>
            </a:pPr>
            <a:endParaRPr lang="en-US" sz="1800" dirty="0">
              <a:solidFill>
                <a:srgbClr val="C00000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1444749-39BE-4F95-BFB7-C8DF43DE123A}"/>
              </a:ext>
            </a:extLst>
          </p:cNvPr>
          <p:cNvSpPr txBox="1"/>
          <p:nvPr/>
        </p:nvSpPr>
        <p:spPr>
          <a:xfrm>
            <a:off x="1266666" y="2081337"/>
            <a:ext cx="5380714" cy="584775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*name =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"Siri"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"Hello! My name is 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%s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\n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, name);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1045315-EC0F-46BF-877D-984B4C79A709}"/>
              </a:ext>
            </a:extLst>
          </p:cNvPr>
          <p:cNvSpPr txBox="1"/>
          <p:nvPr/>
        </p:nvSpPr>
        <p:spPr>
          <a:xfrm>
            <a:off x="5815174" y="1627984"/>
            <a:ext cx="2321960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Print the value of name with the string.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CA830449-8F73-41C7-A511-496EA8827B16}"/>
              </a:ext>
            </a:extLst>
          </p:cNvPr>
          <p:cNvSpPr txBox="1">
            <a:spLocks/>
          </p:cNvSpPr>
          <p:nvPr/>
        </p:nvSpPr>
        <p:spPr bwMode="auto">
          <a:xfrm>
            <a:off x="587374" y="4080302"/>
            <a:ext cx="8438385" cy="2053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kern="0" dirty="0">
                <a:latin typeface="+mn-lt"/>
                <a:cs typeface="+mn-cs"/>
              </a:rPr>
              <a:t>Examples:</a:t>
            </a:r>
          </a:p>
          <a:p>
            <a:pPr marL="800100" lvl="1" indent="-342900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b="1" kern="0" dirty="0"/>
              <a:t>Flags</a:t>
            </a:r>
            <a:r>
              <a:rPr lang="en-US" sz="2000" kern="0" dirty="0"/>
              <a:t>: </a:t>
            </a:r>
            <a:r>
              <a:rPr lang="en-US" sz="2000" kern="0" dirty="0">
                <a:solidFill>
                  <a:srgbClr val="0000FF"/>
                </a:solidFill>
              </a:rPr>
              <a:t>+d</a:t>
            </a:r>
            <a:r>
              <a:rPr lang="en-US" sz="2000" kern="0" dirty="0"/>
              <a:t> </a:t>
            </a:r>
            <a:r>
              <a:rPr lang="en-US" sz="2000" kern="0" dirty="0">
                <a:sym typeface="Wingdings" panose="05000000000000000000" pitchFamily="2" charset="2"/>
              </a:rPr>
              <a:t> Print the sign of the number. "+7"</a:t>
            </a:r>
            <a:endParaRPr lang="en-US" sz="2000" kern="0" dirty="0"/>
          </a:p>
          <a:p>
            <a:pPr marL="800100" lvl="1" indent="-342900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b="1" kern="0" dirty="0" err="1"/>
              <a:t>Field_width</a:t>
            </a:r>
            <a:r>
              <a:rPr lang="en-US" sz="2000" kern="0" dirty="0"/>
              <a:t>: </a:t>
            </a:r>
            <a:r>
              <a:rPr lang="en-US" sz="2000" kern="0" dirty="0">
                <a:solidFill>
                  <a:srgbClr val="0000FF"/>
                </a:solidFill>
              </a:rPr>
              <a:t>%3d </a:t>
            </a:r>
            <a:r>
              <a:rPr lang="en-US" sz="2000" kern="0" dirty="0">
                <a:sym typeface="Wingdings" panose="05000000000000000000" pitchFamily="2" charset="2"/>
              </a:rPr>
              <a:t> Pad the number to 3 characters with spaces.  "  7"</a:t>
            </a:r>
            <a:endParaRPr lang="en-US" sz="2000" kern="0" dirty="0"/>
          </a:p>
          <a:p>
            <a:pPr marL="800100" lvl="1" indent="-342900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b="1" kern="0" dirty="0">
                <a:latin typeface="+mn-lt"/>
                <a:cs typeface="+mn-cs"/>
              </a:rPr>
              <a:t>Flags with </a:t>
            </a:r>
            <a:r>
              <a:rPr lang="en-US" sz="2000" b="1" kern="0" dirty="0" err="1">
                <a:latin typeface="+mn-lt"/>
                <a:cs typeface="+mn-cs"/>
              </a:rPr>
              <a:t>field_width</a:t>
            </a:r>
            <a:r>
              <a:rPr lang="en-US" sz="2000" kern="0" dirty="0">
                <a:latin typeface="+mn-lt"/>
                <a:cs typeface="+mn-cs"/>
              </a:rPr>
              <a:t>: </a:t>
            </a:r>
            <a:r>
              <a:rPr lang="en-US" sz="2000" kern="0" dirty="0">
                <a:solidFill>
                  <a:srgbClr val="0000FF"/>
                </a:solidFill>
                <a:latin typeface="+mn-lt"/>
                <a:cs typeface="+mn-cs"/>
              </a:rPr>
              <a:t>%03d </a:t>
            </a:r>
            <a:r>
              <a:rPr lang="en-US" sz="2000" kern="0" dirty="0">
                <a:latin typeface="+mn-lt"/>
                <a:cs typeface="+mn-cs"/>
                <a:sym typeface="Wingdings" panose="05000000000000000000" pitchFamily="2" charset="2"/>
              </a:rPr>
              <a:t> </a:t>
            </a:r>
            <a:r>
              <a:rPr lang="en-US" sz="2000" kern="0" dirty="0">
                <a:sym typeface="Wingdings" panose="05000000000000000000" pitchFamily="2" charset="2"/>
              </a:rPr>
              <a:t>Pad the number to 3 characters with 0. "007"</a:t>
            </a:r>
          </a:p>
          <a:p>
            <a:pPr marL="800100" lvl="1" indent="-342900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b="1" kern="0" dirty="0">
                <a:latin typeface="+mn-lt"/>
                <a:cs typeface="+mn-cs"/>
                <a:sym typeface="Wingdings" panose="05000000000000000000" pitchFamily="2" charset="2"/>
              </a:rPr>
              <a:t>.p</a:t>
            </a:r>
            <a:r>
              <a:rPr lang="en-US" sz="2000" b="1" kern="0" dirty="0">
                <a:latin typeface="+mn-lt"/>
                <a:cs typeface="+mn-cs"/>
              </a:rPr>
              <a:t>recision</a:t>
            </a:r>
            <a:r>
              <a:rPr lang="en-US" sz="2000" kern="0" dirty="0">
                <a:latin typeface="+mn-lt"/>
                <a:cs typeface="+mn-cs"/>
              </a:rPr>
              <a:t>: </a:t>
            </a:r>
            <a:r>
              <a:rPr lang="en-US" sz="2000" kern="0" dirty="0">
                <a:solidFill>
                  <a:srgbClr val="0000FF"/>
                </a:solidFill>
                <a:latin typeface="+mn-lt"/>
                <a:cs typeface="+mn-cs"/>
              </a:rPr>
              <a:t>%.4lf </a:t>
            </a:r>
            <a:r>
              <a:rPr lang="en-US" sz="2000" kern="0" dirty="0">
                <a:latin typeface="+mn-lt"/>
                <a:cs typeface="+mn-cs"/>
                <a:sym typeface="Wingdings" panose="05000000000000000000" pitchFamily="2" charset="2"/>
              </a:rPr>
              <a:t> Print 4 digits after the decimal point. "7.0000"</a:t>
            </a:r>
            <a:endParaRPr lang="en-US" sz="2000" kern="0" dirty="0">
              <a:latin typeface="+mn-lt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53E578-9E84-5143-F775-051F79962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7AFF7F-B706-3ADD-620E-523C36F7D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Unit27 - </a:t>
            </a:r>
            <a:fld id="{2E4790E1-2590-4AEE-892D-AB46A7688113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73691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Common Pitfalls</a:t>
            </a:r>
          </a:p>
        </p:txBody>
      </p:sp>
      <p:sp>
        <p:nvSpPr>
          <p:cNvPr id="69" name="Rectangle 3"/>
          <p:cNvSpPr txBox="1">
            <a:spLocks noChangeArrowheads="1"/>
          </p:cNvSpPr>
          <p:nvPr/>
        </p:nvSpPr>
        <p:spPr>
          <a:xfrm>
            <a:off x="471488" y="1289050"/>
            <a:ext cx="7948612" cy="5187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Mismatched Types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b="1" dirty="0">
              <a:solidFill>
                <a:srgbClr val="0000FF"/>
              </a:solidFill>
            </a:endParaRP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b="1" dirty="0">
              <a:solidFill>
                <a:srgbClr val="0000FF"/>
              </a:solidFill>
            </a:endParaRP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b="1" dirty="0">
              <a:solidFill>
                <a:srgbClr val="0000FF"/>
              </a:solidFill>
            </a:endParaRP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Mismatched number of arguments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Printing User Input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921AA574-75C9-4DAE-93CA-E8554F48884B}"/>
              </a:ext>
            </a:extLst>
          </p:cNvPr>
          <p:cNvSpPr txBox="1"/>
          <p:nvPr/>
        </p:nvSpPr>
        <p:spPr>
          <a:xfrm>
            <a:off x="999537" y="1762838"/>
            <a:ext cx="5986889" cy="584775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printf(</a:t>
            </a:r>
            <a:r>
              <a:rPr lang="pt-BR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BR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%d %f\n</a:t>
            </a:r>
            <a:r>
              <a:rPr lang="pt-BR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BR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BR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100000000000</a:t>
            </a:r>
            <a:r>
              <a:rPr lang="pt-BR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BR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100000000000</a:t>
            </a:r>
            <a:r>
              <a:rPr lang="pt-BR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pt-BR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printf(</a:t>
            </a:r>
            <a:r>
              <a:rPr lang="pt-BR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BR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%s %s\n</a:t>
            </a:r>
            <a:r>
              <a:rPr lang="pt-BR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BR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BR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100000000000</a:t>
            </a:r>
            <a:r>
              <a:rPr lang="pt-BR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BR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100000000000</a:t>
            </a:r>
            <a:r>
              <a:rPr lang="pt-BR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1FD890F2-6B46-490D-9E69-39B1F5C66DD2}"/>
              </a:ext>
            </a:extLst>
          </p:cNvPr>
          <p:cNvSpPr txBox="1"/>
          <p:nvPr/>
        </p:nvSpPr>
        <p:spPr>
          <a:xfrm>
            <a:off x="6257813" y="774062"/>
            <a:ext cx="1971787" cy="646331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All these can pass compilation!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689FCCC1-5F77-4501-A120-F099E35B5B85}"/>
              </a:ext>
            </a:extLst>
          </p:cNvPr>
          <p:cNvSpPr txBox="1"/>
          <p:nvPr/>
        </p:nvSpPr>
        <p:spPr>
          <a:xfrm>
            <a:off x="999537" y="3883025"/>
            <a:ext cx="3315610" cy="338554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printf(</a:t>
            </a:r>
            <a:r>
              <a:rPr lang="pt-BR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BR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%d %s %s\n</a:t>
            </a:r>
            <a:r>
              <a:rPr lang="pt-BR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BR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BR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pt-BR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4E57D16C-F289-4E02-9D67-4F8DB43103CA}"/>
              </a:ext>
            </a:extLst>
          </p:cNvPr>
          <p:cNvSpPr txBox="1"/>
          <p:nvPr/>
        </p:nvSpPr>
        <p:spPr>
          <a:xfrm>
            <a:off x="999537" y="5425899"/>
            <a:ext cx="4147816" cy="584775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pt-BR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*str = cs1010_read_word();</a:t>
            </a:r>
          </a:p>
          <a:p>
            <a:r>
              <a:rPr lang="pt-BR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printf(str);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158BB1ED-CEF2-4476-8476-000A6877AF07}"/>
              </a:ext>
            </a:extLst>
          </p:cNvPr>
          <p:cNvSpPr txBox="1"/>
          <p:nvPr/>
        </p:nvSpPr>
        <p:spPr>
          <a:xfrm>
            <a:off x="5631092" y="2466420"/>
            <a:ext cx="2945348" cy="646331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Print strange output or even crashes…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52D9BBE1-5AF6-4A31-9E91-B62ED0344FDD}"/>
              </a:ext>
            </a:extLst>
          </p:cNvPr>
          <p:cNvSpPr txBox="1"/>
          <p:nvPr/>
        </p:nvSpPr>
        <p:spPr>
          <a:xfrm>
            <a:off x="5631092" y="3883025"/>
            <a:ext cx="2945349" cy="923330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Access and print the contents of the stack frame as strings.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0EC8393C-BB83-44E9-B35D-1D94A63B3E35}"/>
              </a:ext>
            </a:extLst>
          </p:cNvPr>
          <p:cNvSpPr txBox="1"/>
          <p:nvPr/>
        </p:nvSpPr>
        <p:spPr>
          <a:xfrm>
            <a:off x="5675402" y="5428283"/>
            <a:ext cx="2901039" cy="923330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Output the content of the stack frame if the input is a specifier (</a:t>
            </a:r>
            <a:r>
              <a:rPr lang="pt-BR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%s</a:t>
            </a:r>
            <a:r>
              <a:rPr lang="en-US" dirty="0"/>
              <a:t>).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8E39781-5218-FFA6-DBD6-7713D966B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939C80-EAED-4574-FBA6-5F44C7C7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Unit27 - </a:t>
            </a:r>
            <a:fld id="{2E4790E1-2590-4AEE-892D-AB46A7688113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9484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" grpId="0" animBg="1"/>
      <p:bldP spid="223" grpId="0" animBg="1"/>
      <p:bldP spid="226" grpId="0" animBg="1"/>
      <p:bldP spid="2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 err="1">
                <a:solidFill>
                  <a:srgbClr val="0000FF"/>
                </a:solidFill>
              </a:rPr>
              <a:t>scanf</a:t>
            </a:r>
            <a:r>
              <a:rPr lang="en-GB" sz="3600" dirty="0">
                <a:solidFill>
                  <a:srgbClr val="0000FF"/>
                </a:solidFill>
              </a:rPr>
              <a:t>()</a:t>
            </a:r>
          </a:p>
        </p:txBody>
      </p:sp>
      <p:sp>
        <p:nvSpPr>
          <p:cNvPr id="79" name="Content Placeholder 5">
            <a:extLst>
              <a:ext uri="{FF2B5EF4-FFF2-40B4-BE49-F238E27FC236}">
                <a16:creationId xmlns:a16="http://schemas.microsoft.com/office/drawing/2014/main" id="{BF04FEDC-6D62-4A7E-9426-F70D350EAE56}"/>
              </a:ext>
            </a:extLst>
          </p:cNvPr>
          <p:cNvSpPr txBox="1">
            <a:spLocks/>
          </p:cNvSpPr>
          <p:nvPr/>
        </p:nvSpPr>
        <p:spPr>
          <a:xfrm>
            <a:off x="587375" y="1225549"/>
            <a:ext cx="8229600" cy="61410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663" indent="-34766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Syntax</a:t>
            </a:r>
          </a:p>
          <a:p>
            <a:pPr marL="625475" lvl="1" indent="-27781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C00000"/>
                </a:solidFill>
              </a:rPr>
              <a:t>scanf</a:t>
            </a:r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dirty="0" err="1">
                <a:solidFill>
                  <a:srgbClr val="C00000"/>
                </a:solidFill>
              </a:rPr>
              <a:t>format_string</a:t>
            </a:r>
            <a:r>
              <a:rPr lang="en-US" dirty="0">
                <a:solidFill>
                  <a:srgbClr val="C00000"/>
                </a:solidFill>
              </a:rPr>
              <a:t>, addr1, addr2, …)</a:t>
            </a:r>
          </a:p>
          <a:p>
            <a:pPr marL="625475" lvl="1" indent="-27781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>
              <a:solidFill>
                <a:srgbClr val="C00000"/>
              </a:solidFill>
            </a:endParaRPr>
          </a:p>
          <a:p>
            <a:pPr marL="625475" lvl="1" indent="-27781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600" dirty="0">
              <a:solidFill>
                <a:srgbClr val="C00000"/>
              </a:solidFill>
            </a:endParaRPr>
          </a:p>
          <a:p>
            <a:pPr marL="563245" lvl="1" indent="-288925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600" dirty="0">
              <a:solidFill>
                <a:srgbClr val="0000FF"/>
              </a:solidFill>
            </a:endParaRPr>
          </a:p>
          <a:p>
            <a:pPr marL="563245" lvl="1" indent="-288925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000FF"/>
              </a:solidFill>
            </a:endParaRPr>
          </a:p>
          <a:p>
            <a:pPr marL="288925" indent="-288925" eaLnBrk="1" hangingPunct="1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%[*][</a:t>
            </a:r>
            <a:r>
              <a:rPr lang="en-US" dirty="0" err="1"/>
              <a:t>field_width</a:t>
            </a:r>
            <a:r>
              <a:rPr lang="en-US" dirty="0"/>
              <a:t>][</a:t>
            </a:r>
            <a:r>
              <a:rPr lang="en-US" dirty="0" err="1"/>
              <a:t>length_modifier</a:t>
            </a:r>
            <a:r>
              <a:rPr lang="en-US" dirty="0"/>
              <a:t>]specifier</a:t>
            </a:r>
          </a:p>
          <a:p>
            <a:pPr marL="288925" indent="-288925" eaLnBrk="1" hangingPunct="1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200" dirty="0">
              <a:solidFill>
                <a:srgbClr val="0000FF"/>
              </a:solidFill>
            </a:endParaRPr>
          </a:p>
          <a:p>
            <a:pPr marL="288925" indent="-288925" eaLnBrk="1" hangingPunct="1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200" dirty="0">
              <a:solidFill>
                <a:srgbClr val="0000FF"/>
              </a:solidFill>
            </a:endParaRPr>
          </a:p>
          <a:p>
            <a:pPr marL="288925" indent="-288925" eaLnBrk="1" hangingPunct="1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200" dirty="0">
              <a:solidFill>
                <a:srgbClr val="0000FF"/>
              </a:solidFill>
            </a:endParaRPr>
          </a:p>
          <a:p>
            <a:pPr marL="625475" lvl="1" indent="-27781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800" dirty="0">
              <a:solidFill>
                <a:srgbClr val="C00000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1444749-39BE-4F95-BFB7-C8DF43DE123A}"/>
              </a:ext>
            </a:extLst>
          </p:cNvPr>
          <p:cNvSpPr txBox="1"/>
          <p:nvPr/>
        </p:nvSpPr>
        <p:spPr>
          <a:xfrm>
            <a:off x="1266666" y="2081337"/>
            <a:ext cx="4291653" cy="1077218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l;</a:t>
            </a:r>
          </a:p>
          <a:p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d;</a:t>
            </a:r>
          </a:p>
          <a:p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s[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"%</a:t>
            </a:r>
            <a:r>
              <a:rPr lang="en-US" sz="1600" b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ld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%</a:t>
            </a:r>
            <a:r>
              <a:rPr lang="en-US" sz="1600" b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lf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%10s"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&amp;l,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&amp;d,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1045315-EC0F-46BF-877D-984B4C79A709}"/>
              </a:ext>
            </a:extLst>
          </p:cNvPr>
          <p:cNvSpPr txBox="1"/>
          <p:nvPr/>
        </p:nvSpPr>
        <p:spPr>
          <a:xfrm>
            <a:off x="5973566" y="2102930"/>
            <a:ext cx="2338227" cy="1200329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Read in an integer, a real number and a string using </a:t>
            </a:r>
            <a:r>
              <a:rPr lang="en-US" dirty="0">
                <a:solidFill>
                  <a:srgbClr val="0000FF"/>
                </a:solidFill>
              </a:rPr>
              <a:t>white spaces</a:t>
            </a:r>
            <a:r>
              <a:rPr lang="en-US" dirty="0"/>
              <a:t> as delimiters.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C18DC808-EE89-4B82-9830-7F22065249CF}"/>
              </a:ext>
            </a:extLst>
          </p:cNvPr>
          <p:cNvSpPr txBox="1">
            <a:spLocks/>
          </p:cNvSpPr>
          <p:nvPr/>
        </p:nvSpPr>
        <p:spPr bwMode="auto">
          <a:xfrm>
            <a:off x="587375" y="4080302"/>
            <a:ext cx="8229600" cy="2053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kern="0" dirty="0">
                <a:latin typeface="+mn-lt"/>
                <a:cs typeface="+mn-cs"/>
              </a:rPr>
              <a:t>Examples:</a:t>
            </a:r>
          </a:p>
          <a:p>
            <a:pPr marL="800100" lvl="1" indent="-342900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kern="0" dirty="0" err="1"/>
              <a:t>Field_width</a:t>
            </a:r>
            <a:r>
              <a:rPr lang="en-US" sz="2000" kern="0" dirty="0"/>
              <a:t>: </a:t>
            </a:r>
            <a:r>
              <a:rPr lang="en-US" sz="2000" kern="0" dirty="0">
                <a:solidFill>
                  <a:srgbClr val="0000FF"/>
                </a:solidFill>
              </a:rPr>
              <a:t>%10s </a:t>
            </a:r>
            <a:r>
              <a:rPr lang="en-US" sz="2000" kern="0" dirty="0">
                <a:sym typeface="Wingdings" panose="05000000000000000000" pitchFamily="2" charset="2"/>
              </a:rPr>
              <a:t> Read in a string of up to 10 characters.</a:t>
            </a:r>
          </a:p>
          <a:p>
            <a:pPr marL="800100" lvl="1" indent="-342900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kern="0" dirty="0">
                <a:sym typeface="Wingdings" panose="05000000000000000000" pitchFamily="2" charset="2"/>
              </a:rPr>
              <a:t>*: </a:t>
            </a:r>
            <a:r>
              <a:rPr lang="en-US" sz="2000" kern="0" dirty="0">
                <a:solidFill>
                  <a:srgbClr val="0000FF"/>
                </a:solidFill>
                <a:sym typeface="Wingdings" panose="05000000000000000000" pitchFamily="2" charset="2"/>
              </a:rPr>
              <a:t>%*</a:t>
            </a:r>
            <a:r>
              <a:rPr lang="en-US" sz="2000" kern="0" dirty="0" err="1">
                <a:solidFill>
                  <a:srgbClr val="0000FF"/>
                </a:solidFill>
                <a:sym typeface="Wingdings" panose="05000000000000000000" pitchFamily="2" charset="2"/>
              </a:rPr>
              <a:t>ld</a:t>
            </a:r>
            <a:r>
              <a:rPr lang="en-US" sz="2000" kern="0" dirty="0">
                <a:sym typeface="Wingdings" panose="05000000000000000000" pitchFamily="2" charset="2"/>
              </a:rPr>
              <a:t>  Read in an integer without storing it into a variable. (Useful for clearing extra / bad inputs).</a:t>
            </a:r>
          </a:p>
          <a:p>
            <a:pPr marL="800100" lvl="1" indent="-342900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000" kern="0" dirty="0">
              <a:sym typeface="Wingdings" panose="05000000000000000000" pitchFamily="2" charset="2"/>
            </a:endParaRPr>
          </a:p>
          <a:p>
            <a:pPr marL="342900" indent="-342900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kern="0" dirty="0">
                <a:solidFill>
                  <a:srgbClr val="0000FF"/>
                </a:solidFill>
                <a:sym typeface="Wingdings" panose="05000000000000000000" pitchFamily="2" charset="2"/>
              </a:rPr>
              <a:t>Stop when a delimiter is reached, or conversion fails</a:t>
            </a:r>
            <a:r>
              <a:rPr lang="en-US" sz="2400" kern="0" dirty="0"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EA9DA8-A471-1213-33D0-78950DBFA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3CDF6A-9D5A-5972-9AC9-DBC74593C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Unit27 - </a:t>
            </a:r>
            <a:fld id="{2E4790E1-2590-4AEE-892D-AB46A7688113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8655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Common Pitfalls</a:t>
            </a:r>
          </a:p>
        </p:txBody>
      </p:sp>
      <p:sp>
        <p:nvSpPr>
          <p:cNvPr id="69" name="Rectangle 3"/>
          <p:cNvSpPr txBox="1">
            <a:spLocks noChangeArrowheads="1"/>
          </p:cNvSpPr>
          <p:nvPr/>
        </p:nvSpPr>
        <p:spPr>
          <a:xfrm>
            <a:off x="471488" y="1289050"/>
            <a:ext cx="7948612" cy="5187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Unchecked Error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b="1" dirty="0">
              <a:solidFill>
                <a:srgbClr val="0000FF"/>
              </a:solidFill>
            </a:endParaRP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b="1" dirty="0">
              <a:solidFill>
                <a:srgbClr val="0000FF"/>
              </a:solidFill>
            </a:endParaRPr>
          </a:p>
          <a:p>
            <a:pPr marL="0" indent="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GB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0" indent="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GB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921AA574-75C9-4DAE-93CA-E8554F48884B}"/>
              </a:ext>
            </a:extLst>
          </p:cNvPr>
          <p:cNvSpPr txBox="1"/>
          <p:nvPr/>
        </p:nvSpPr>
        <p:spPr>
          <a:xfrm>
            <a:off x="999537" y="1762838"/>
            <a:ext cx="2353263" cy="830997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a;</a:t>
            </a:r>
          </a:p>
          <a:p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6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ld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&amp;a);</a:t>
            </a:r>
          </a:p>
          <a:p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6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ld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a);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689FCCC1-5F77-4501-A120-F099E35B5B85}"/>
              </a:ext>
            </a:extLst>
          </p:cNvPr>
          <p:cNvSpPr txBox="1"/>
          <p:nvPr/>
        </p:nvSpPr>
        <p:spPr>
          <a:xfrm>
            <a:off x="999537" y="3077291"/>
            <a:ext cx="4034800" cy="2062103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a;</a:t>
            </a:r>
          </a:p>
          <a:p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result =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6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ld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&amp;a);</a:t>
            </a:r>
          </a:p>
          <a:p>
            <a:endParaRPr lang="en-US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(result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6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ld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a);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"*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[^\n]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158BB1ED-CEF2-4476-8476-000A6877AF07}"/>
              </a:ext>
            </a:extLst>
          </p:cNvPr>
          <p:cNvSpPr txBox="1"/>
          <p:nvPr/>
        </p:nvSpPr>
        <p:spPr>
          <a:xfrm>
            <a:off x="3639833" y="1771157"/>
            <a:ext cx="2469305" cy="646331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 may be uninitialized if the reading fails.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8E4694-7B06-46C3-ADF5-73CDB8D41B89}"/>
              </a:ext>
            </a:extLst>
          </p:cNvPr>
          <p:cNvSpPr txBox="1"/>
          <p:nvPr/>
        </p:nvSpPr>
        <p:spPr>
          <a:xfrm>
            <a:off x="5480407" y="3077291"/>
            <a:ext cx="2338227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Check for the return value and flush the bad output if needed.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AB102D-DF30-7E04-2541-89827B902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224854-5070-73BA-7A52-34775E9D0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Unit27 - </a:t>
            </a:r>
            <a:fld id="{2E4790E1-2590-4AEE-892D-AB46A7688113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606488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Common Pitfalls</a:t>
            </a:r>
          </a:p>
        </p:txBody>
      </p:sp>
      <p:sp>
        <p:nvSpPr>
          <p:cNvPr id="69" name="Rectangle 3"/>
          <p:cNvSpPr txBox="1">
            <a:spLocks noChangeArrowheads="1"/>
          </p:cNvSpPr>
          <p:nvPr/>
        </p:nvSpPr>
        <p:spPr>
          <a:xfrm>
            <a:off x="471488" y="1289050"/>
            <a:ext cx="7948612" cy="5187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Invalid pointers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b="1" dirty="0">
              <a:solidFill>
                <a:srgbClr val="0000FF"/>
              </a:solidFill>
            </a:endParaRP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Buffer overflow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b="1" dirty="0">
              <a:solidFill>
                <a:srgbClr val="0000FF"/>
              </a:solidFill>
            </a:endParaRPr>
          </a:p>
          <a:p>
            <a:pPr marL="0" indent="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GB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0" indent="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GB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921AA574-75C9-4DAE-93CA-E8554F48884B}"/>
              </a:ext>
            </a:extLst>
          </p:cNvPr>
          <p:cNvSpPr txBox="1"/>
          <p:nvPr/>
        </p:nvSpPr>
        <p:spPr>
          <a:xfrm>
            <a:off x="999537" y="1762838"/>
            <a:ext cx="2353263" cy="584775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*a;</a:t>
            </a:r>
          </a:p>
          <a:p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6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ld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a);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689FCCC1-5F77-4501-A120-F099E35B5B85}"/>
              </a:ext>
            </a:extLst>
          </p:cNvPr>
          <p:cNvSpPr txBox="1"/>
          <p:nvPr/>
        </p:nvSpPr>
        <p:spPr>
          <a:xfrm>
            <a:off x="999537" y="3282771"/>
            <a:ext cx="3726738" cy="1077218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name[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"What's your name?"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%s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name);</a:t>
            </a:r>
          </a:p>
          <a:p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"Hello 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%s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!\n"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name);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158BB1ED-CEF2-4476-8476-000A6877AF07}"/>
              </a:ext>
            </a:extLst>
          </p:cNvPr>
          <p:cNvSpPr txBox="1"/>
          <p:nvPr/>
        </p:nvSpPr>
        <p:spPr>
          <a:xfrm>
            <a:off x="3639833" y="1870559"/>
            <a:ext cx="3726738" cy="369332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 does not contain a valid address.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BB93C0-F4B3-4560-9E04-830B5F9FF7B7}"/>
              </a:ext>
            </a:extLst>
          </p:cNvPr>
          <p:cNvSpPr txBox="1"/>
          <p:nvPr/>
        </p:nvSpPr>
        <p:spPr>
          <a:xfrm>
            <a:off x="5033532" y="3436706"/>
            <a:ext cx="3110931" cy="646331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Reading does not stop until a white space is reached.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FA073E-4C51-00FA-6ED6-84C0E5D57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FF7BDE-8D42-0EB8-50B9-F19A9531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Unit27 - </a:t>
            </a:r>
            <a:fld id="{2E4790E1-2590-4AEE-892D-AB46A7688113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5051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 err="1">
                <a:solidFill>
                  <a:srgbClr val="0000FF"/>
                </a:solidFill>
              </a:rPr>
              <a:t>fgets</a:t>
            </a:r>
            <a:r>
              <a:rPr lang="en-GB" sz="3600" dirty="0">
                <a:solidFill>
                  <a:srgbClr val="0000FF"/>
                </a:solidFill>
              </a:rPr>
              <a:t>()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213338"/>
            <a:ext cx="8240102" cy="5263661"/>
          </a:xfrm>
        </p:spPr>
        <p:txBody>
          <a:bodyPr>
            <a:normAutofit/>
          </a:bodyPr>
          <a:lstStyle/>
          <a:p>
            <a:pPr marL="352425" indent="-352425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Basic syntax</a:t>
            </a:r>
          </a:p>
          <a:p>
            <a:pPr marL="626745" lvl="1" indent="-352425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 err="1">
                <a:solidFill>
                  <a:srgbClr val="C00000"/>
                </a:solidFill>
              </a:rPr>
              <a:t>fgets</a:t>
            </a:r>
            <a:r>
              <a:rPr lang="en-US" sz="2400" dirty="0">
                <a:solidFill>
                  <a:srgbClr val="C00000"/>
                </a:solidFill>
              </a:rPr>
              <a:t>(</a:t>
            </a:r>
            <a:r>
              <a:rPr lang="en-US" sz="2400" dirty="0" err="1">
                <a:solidFill>
                  <a:srgbClr val="C00000"/>
                </a:solidFill>
              </a:rPr>
              <a:t>ptr_to_str</a:t>
            </a:r>
            <a:r>
              <a:rPr lang="en-US" sz="2400" dirty="0">
                <a:solidFill>
                  <a:srgbClr val="C00000"/>
                </a:solidFill>
              </a:rPr>
              <a:t>, size, source)</a:t>
            </a:r>
          </a:p>
          <a:p>
            <a:pPr marL="626745" lvl="1" indent="-352425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>
              <a:solidFill>
                <a:srgbClr val="C00000"/>
              </a:solidFill>
            </a:endParaRPr>
          </a:p>
          <a:p>
            <a:pPr marL="626745" lvl="1" indent="-352425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>
              <a:solidFill>
                <a:srgbClr val="C00000"/>
              </a:solidFill>
            </a:endParaRPr>
          </a:p>
          <a:p>
            <a:pPr marL="0" indent="0"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US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352425" indent="-352425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kern="0" dirty="0">
                <a:sym typeface="Wingdings" panose="05000000000000000000" pitchFamily="2" charset="2"/>
              </a:rPr>
              <a:t>Stop when size - 1 characters has been read, or a newline is reached.</a:t>
            </a:r>
            <a:endParaRPr lang="en-US" b="1" dirty="0">
              <a:solidFill>
                <a:srgbClr val="006600"/>
              </a:solidFill>
              <a:latin typeface="Courier New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26D70D-836F-43A3-8E18-D41DF5BF5583}"/>
              </a:ext>
            </a:extLst>
          </p:cNvPr>
          <p:cNvSpPr txBox="1"/>
          <p:nvPr/>
        </p:nvSpPr>
        <p:spPr>
          <a:xfrm>
            <a:off x="999538" y="2249436"/>
            <a:ext cx="3489336" cy="646331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array[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fgets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(array,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stdin);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B1735E-0EC6-4741-8237-EBE46CB1340F}"/>
              </a:ext>
            </a:extLst>
          </p:cNvPr>
          <p:cNvSpPr txBox="1"/>
          <p:nvPr/>
        </p:nvSpPr>
        <p:spPr>
          <a:xfrm>
            <a:off x="4852557" y="2249436"/>
            <a:ext cx="2547991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Read in </a:t>
            </a:r>
            <a:r>
              <a:rPr lang="en-US" dirty="0">
                <a:solidFill>
                  <a:srgbClr val="0000FF"/>
                </a:solidFill>
              </a:rPr>
              <a:t>19</a:t>
            </a:r>
            <a:r>
              <a:rPr lang="en-US" dirty="0"/>
              <a:t> characters or until newline from standard input.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AEB2E9-FA6C-2497-26FD-3B29CA04A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F905E4-CB1D-2139-CE41-D68FE9CEC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Unit27 - </a:t>
            </a:r>
            <a:fld id="{2E4790E1-2590-4AEE-892D-AB46A7688113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1637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Common Pitfall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213339"/>
            <a:ext cx="8240102" cy="4923692"/>
          </a:xfrm>
        </p:spPr>
        <p:txBody>
          <a:bodyPr>
            <a:normAutofit/>
          </a:bodyPr>
          <a:lstStyle/>
          <a:p>
            <a:pPr marL="352425" indent="-352425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Extra newline character (when reading from standard input)</a:t>
            </a:r>
            <a:endParaRPr lang="en-US" sz="2400" dirty="0"/>
          </a:p>
          <a:p>
            <a:pPr marL="800100" lvl="1" indent="-342900">
              <a:buSzPct val="100000"/>
              <a:buFont typeface="Wingdings" pitchFamily="2" charset="2"/>
              <a:buChar char="§"/>
            </a:pPr>
            <a:endParaRPr lang="en-US" sz="2400" dirty="0"/>
          </a:p>
          <a:p>
            <a:pPr marL="800100" lvl="1" indent="-342900">
              <a:buSzPct val="100000"/>
              <a:buFont typeface="Wingdings" pitchFamily="2" charset="2"/>
              <a:buChar char="§"/>
            </a:pPr>
            <a:endParaRPr lang="en-US" sz="2400" dirty="0"/>
          </a:p>
        </p:txBody>
      </p:sp>
      <p:graphicFrame>
        <p:nvGraphicFramePr>
          <p:cNvPr id="9" name="Group 38"/>
          <p:cNvGraphicFramePr>
            <a:graphicFrameLocks noGrp="1"/>
          </p:cNvGraphicFramePr>
          <p:nvPr/>
        </p:nvGraphicFramePr>
        <p:xfrm>
          <a:off x="4393286" y="2414266"/>
          <a:ext cx="3483297" cy="518160"/>
        </p:xfrm>
        <a:graphic>
          <a:graphicData uri="http://schemas.openxmlformats.org/drawingml/2006/table">
            <a:tbl>
              <a:tblPr/>
              <a:tblGrid>
                <a:gridCol w="496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8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81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81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68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109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\n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654333" y="2495068"/>
            <a:ext cx="2322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User input: </a:t>
            </a:r>
            <a:r>
              <a:rPr lang="en-US" sz="2400" b="1" dirty="0">
                <a:solidFill>
                  <a:srgbClr val="7030A0"/>
                </a:solidFill>
              </a:rPr>
              <a:t>eat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CDB52F-AEC3-4B9D-B3CF-E169A8E345EF}"/>
              </a:ext>
            </a:extLst>
          </p:cNvPr>
          <p:cNvSpPr txBox="1"/>
          <p:nvPr/>
        </p:nvSpPr>
        <p:spPr>
          <a:xfrm>
            <a:off x="1057998" y="3352734"/>
            <a:ext cx="3649427" cy="1200329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tx1"/>
                </a:solidFill>
                <a:latin typeface="Courier New" pitchFamily="49" charset="0"/>
              </a:rPr>
              <a:t>fgets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(str, size, stdin);</a:t>
            </a:r>
            <a:br>
              <a:rPr lang="en-US" b="1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b="1" dirty="0" err="1">
                <a:solidFill>
                  <a:schemeClr val="tx1"/>
                </a:solidFill>
                <a:latin typeface="Courier New" pitchFamily="49" charset="0"/>
              </a:rPr>
              <a:t>len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 =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</a:rPr>
              <a:t>strlen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(str);</a:t>
            </a:r>
            <a:br>
              <a:rPr lang="en-US" b="1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 (str[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</a:rPr>
              <a:t>len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 –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] ==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</a:rPr>
              <a:t>'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\n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</a:rPr>
              <a:t>'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)</a:t>
            </a:r>
            <a:br>
              <a:rPr lang="en-US" b="1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  str[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</a:rPr>
              <a:t>len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 –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] =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</a:rPr>
              <a:t>'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\0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</a:rPr>
              <a:t>'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;</a:t>
            </a:r>
            <a:endParaRPr lang="en-US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C5A209-E51E-4403-B19A-E10BE3B7C631}"/>
              </a:ext>
            </a:extLst>
          </p:cNvPr>
          <p:cNvSpPr txBox="1"/>
          <p:nvPr/>
        </p:nvSpPr>
        <p:spPr>
          <a:xfrm>
            <a:off x="4936028" y="3356093"/>
            <a:ext cx="2465797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Replace the newline character accordingly.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0BC9E4-0487-962E-E2A3-7A2BBE924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913708-8105-9106-AD64-10AC95363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Unit27 - </a:t>
            </a:r>
            <a:fld id="{2E4790E1-2590-4AEE-892D-AB46A7688113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5009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Homework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10" name="HighlightBackgroundShapeeee31423-879f-470c-ac44-148c4404b3a6"/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13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Diagnostic Quizzes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Lecture 11: due </a:t>
            </a:r>
            <a:r>
              <a:rPr lang="en-US" sz="2000" dirty="0">
                <a:solidFill>
                  <a:srgbClr val="0000FF"/>
                </a:solidFill>
              </a:rPr>
              <a:t>14 Apr</a:t>
            </a:r>
            <a:r>
              <a:rPr lang="en-US" sz="2000">
                <a:solidFill>
                  <a:srgbClr val="0000FF"/>
                </a:solidFill>
              </a:rPr>
              <a:t>, 2pm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Problem Set 26-27</a:t>
            </a:r>
          </a:p>
          <a:p>
            <a:pPr marL="2628900" lvl="5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Exercises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Exercise 8 due </a:t>
            </a:r>
            <a:r>
              <a:rPr lang="en-US" sz="2000" dirty="0">
                <a:solidFill>
                  <a:srgbClr val="0000FF"/>
                </a:solidFill>
              </a:rPr>
              <a:t>14 Apr, 2pm</a:t>
            </a:r>
            <a:endParaRPr lang="en-US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53EA51F-77C2-4162-50FF-BC396B4AF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B4ADD7-ABCD-C379-8541-F981F2FD1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Unit27 - </a:t>
            </a:r>
            <a:fld id="{2E4790E1-2590-4AEE-892D-AB46A7688113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695719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63</TotalTime>
  <Words>1878</Words>
  <Application>Microsoft Office PowerPoint</Application>
  <PresentationFormat>On-screen Show (4:3)</PresentationFormat>
  <Paragraphs>407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Courier New</vt:lpstr>
      <vt:lpstr>Times New Roman</vt:lpstr>
      <vt:lpstr>Wingdings</vt:lpstr>
      <vt:lpstr>Clarity</vt:lpstr>
      <vt:lpstr>PowerPoint Presentation</vt:lpstr>
      <vt:lpstr>Unit 26: Struct</vt:lpstr>
      <vt:lpstr>Organizing Data</vt:lpstr>
      <vt:lpstr>Organizing Data</vt:lpstr>
      <vt:lpstr>Structure Type</vt:lpstr>
      <vt:lpstr>Structure Type</vt:lpstr>
      <vt:lpstr>Structure Variables</vt:lpstr>
      <vt:lpstr>Structure Variables</vt:lpstr>
      <vt:lpstr>Structures as Parameters</vt:lpstr>
      <vt:lpstr>Returning a Structure</vt:lpstr>
      <vt:lpstr>Defining a Structure as a Type</vt:lpstr>
      <vt:lpstr>PowerPoint Presentation</vt:lpstr>
      <vt:lpstr>Unit 27: Standard I/O</vt:lpstr>
      <vt:lpstr>printf()</vt:lpstr>
      <vt:lpstr>printf()</vt:lpstr>
      <vt:lpstr>printf()</vt:lpstr>
      <vt:lpstr>Common Pitfalls</vt:lpstr>
      <vt:lpstr>scanf()</vt:lpstr>
      <vt:lpstr>Common Pitfalls</vt:lpstr>
      <vt:lpstr>Common Pitfalls</vt:lpstr>
      <vt:lpstr>fgets()</vt:lpstr>
      <vt:lpstr>Common Pitfall</vt:lpstr>
      <vt:lpstr>Homework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Zhao Jin</cp:lastModifiedBy>
  <cp:revision>1</cp:revision>
  <cp:lastPrinted>2014-06-20T04:24:53Z</cp:lastPrinted>
  <dcterms:created xsi:type="dcterms:W3CDTF">1998-09-05T15:03:32Z</dcterms:created>
  <dcterms:modified xsi:type="dcterms:W3CDTF">2026-04-07T03:58:14Z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