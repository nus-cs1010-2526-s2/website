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5"/>
  </p:notesMasterIdLst>
  <p:handoutMasterIdLst>
    <p:handoutMasterId r:id="rId16"/>
  </p:handoutMasterIdLst>
  <p:sldIdLst>
    <p:sldId id="256" r:id="rId2"/>
    <p:sldId id="468" r:id="rId3"/>
    <p:sldId id="603" r:id="rId4"/>
    <p:sldId id="602" r:id="rId5"/>
    <p:sldId id="605" r:id="rId6"/>
    <p:sldId id="608" r:id="rId7"/>
    <p:sldId id="613" r:id="rId8"/>
    <p:sldId id="612" r:id="rId9"/>
    <p:sldId id="614" r:id="rId10"/>
    <p:sldId id="611" r:id="rId11"/>
    <p:sldId id="604" r:id="rId12"/>
    <p:sldId id="610" r:id="rId13"/>
    <p:sldId id="525" r:id="rId1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1E315-EDE1-42E7-A640-84CC0316B763}" v="8" dt="2026-04-13T07:00:41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858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4-13T07:58:34.009" v="1470" actId="20577"/>
      <pc:docMkLst>
        <pc:docMk/>
      </pc:docMkLst>
      <pc:sldChg chg="modSp mod">
        <pc:chgData name="Zhao Jin" userId="cd05a825-544c-438a-9ba1-08e63db50b47" providerId="ADAL" clId="{5DF3A229-1965-414E-AF54-F4C37AC7DF68}" dt="2026-04-13T07:02:08.379" v="1416" actId="20577"/>
        <pc:sldMkLst>
          <pc:docMk/>
          <pc:sldMk cId="1542002799" sldId="602"/>
        </pc:sldMkLst>
        <pc:spChg chg="mod">
          <ac:chgData name="Zhao Jin" userId="cd05a825-544c-438a-9ba1-08e63db50b47" providerId="ADAL" clId="{5DF3A229-1965-414E-AF54-F4C37AC7DF68}" dt="2026-04-13T07:02:08.379" v="1416" actId="20577"/>
          <ac:spMkLst>
            <pc:docMk/>
            <pc:sldMk cId="1542002799" sldId="602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58:34.009" v="1470" actId="20577"/>
        <pc:sldMkLst>
          <pc:docMk/>
          <pc:sldMk cId="4071526340" sldId="603"/>
        </pc:sldMkLst>
        <pc:spChg chg="mod">
          <ac:chgData name="Zhao Jin" userId="cd05a825-544c-438a-9ba1-08e63db50b47" providerId="ADAL" clId="{5DF3A229-1965-414E-AF54-F4C37AC7DF68}" dt="2026-04-13T07:58:34.009" v="1470" actId="20577"/>
          <ac:spMkLst>
            <pc:docMk/>
            <pc:sldMk cId="4071526340" sldId="603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6:52:16.931" v="909" actId="6549"/>
        <pc:sldMkLst>
          <pc:docMk/>
          <pc:sldMk cId="1986457205" sldId="605"/>
        </pc:sldMkLst>
        <pc:spChg chg="mod">
          <ac:chgData name="Zhao Jin" userId="cd05a825-544c-438a-9ba1-08e63db50b47" providerId="ADAL" clId="{5DF3A229-1965-414E-AF54-F4C37AC7DF68}" dt="2026-04-13T06:52:16.931" v="909" actId="6549"/>
          <ac:spMkLst>
            <pc:docMk/>
            <pc:sldMk cId="1986457205" sldId="605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6:51:17.692" v="877" actId="5793"/>
        <pc:sldMkLst>
          <pc:docMk/>
          <pc:sldMk cId="244432225" sldId="608"/>
        </pc:sldMkLst>
        <pc:spChg chg="mod">
          <ac:chgData name="Zhao Jin" userId="cd05a825-544c-438a-9ba1-08e63db50b47" providerId="ADAL" clId="{5DF3A229-1965-414E-AF54-F4C37AC7DF68}" dt="2026-04-13T06:51:17.692" v="877" actId="5793"/>
          <ac:spMkLst>
            <pc:docMk/>
            <pc:sldMk cId="244432225" sldId="608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6:47:01.895" v="752" actId="20577"/>
        <pc:sldMkLst>
          <pc:docMk/>
          <pc:sldMk cId="4053289514" sldId="612"/>
        </pc:sldMkLst>
        <pc:spChg chg="mod">
          <ac:chgData name="Zhao Jin" userId="cd05a825-544c-438a-9ba1-08e63db50b47" providerId="ADAL" clId="{5DF3A229-1965-414E-AF54-F4C37AC7DF68}" dt="2026-04-13T06:47:01.895" v="752" actId="20577"/>
          <ac:spMkLst>
            <pc:docMk/>
            <pc:sldMk cId="4053289514" sldId="612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6:50:53.626" v="872" actId="20577"/>
        <pc:sldMkLst>
          <pc:docMk/>
          <pc:sldMk cId="1485799118" sldId="613"/>
        </pc:sldMkLst>
        <pc:spChg chg="mod">
          <ac:chgData name="Zhao Jin" userId="cd05a825-544c-438a-9ba1-08e63db50b47" providerId="ADAL" clId="{5DF3A229-1965-414E-AF54-F4C37AC7DF68}" dt="2026-04-13T06:50:53.626" v="872" actId="20577"/>
          <ac:spMkLst>
            <pc:docMk/>
            <pc:sldMk cId="1485799118" sldId="613"/>
            <ac:spMk id="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13T07:05:31.561" v="1419" actId="6549"/>
        <pc:sldMkLst>
          <pc:docMk/>
          <pc:sldMk cId="3865777220" sldId="614"/>
        </pc:sldMkLst>
        <pc:spChg chg="mod">
          <ac:chgData name="Zhao Jin" userId="cd05a825-544c-438a-9ba1-08e63db50b47" providerId="ADAL" clId="{5DF3A229-1965-414E-AF54-F4C37AC7DF68}" dt="2026-04-13T07:05:31.561" v="1419" actId="6549"/>
          <ac:spMkLst>
            <pc:docMk/>
            <pc:sldMk cId="3865777220" sldId="614"/>
            <ac:spMk id="8" creationId="{C258A7DE-EC58-F2C7-CF50-BDD3484102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4/13/2026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23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72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15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62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37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60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FE954-2117-D96E-167F-3DCBC3CB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ADC0AC6-9194-6A84-4AD4-7D082FAAF0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3E519148-3B3D-FE36-0C24-7BD3C57B69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A45FAC0-27A9-7618-F9CC-F9B4682D7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50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46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37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66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Week2 -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apparchitecture.techtarget.com/definition/object-oriented-programming-OO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modernescpp.com/index.php/the-definition-of-functional-programmi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sualgo.net/en/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13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The Future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2777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Week 13: The Future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Exam Matters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CS2030 / CS2040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BBAD30-C8AB-7A2A-8D33-19F4343AA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Exam Matters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52866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Date / Time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29 Apr (Wed), 9-11am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Venue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zh-CN" sz="2400" dirty="0"/>
              <a:t>SR2 (COM1-0204)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Format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Pen and Paper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Open book (only printed/written materials allowed)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Calculators allowed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 libraries not allowed </a:t>
            </a:r>
            <a:r>
              <a:rPr lang="en-US" sz="2400"/>
              <a:t>in general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D76420-D95C-DB1C-C2E5-1BF8BA52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715263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Exam Matters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Scope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Everything covered in the course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Structure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MCQs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Short Structured Questions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Long (Programming) Questions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A8A127-1FD6-9326-56D4-37F83A92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420027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Tips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MCQs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Understanding of Concepts / Algorithms / Functions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Logical Thinking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Basic Syntax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Tracing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Time Complexity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CA280C-77E4-D76C-4356-E7612465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8645720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Tips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Short Structured Questions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Tracing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Logical Thinking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Assertion / Loop Invariant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Computer Memory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78CD17-0083-C6BD-C578-F875ADEB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44322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Tips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Long Programming Questions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Coding on Paper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Focusing on topics not covered in PEs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 Solving</a:t>
            </a:r>
            <a:endParaRPr lang="en-US" sz="22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Familiarity with C Syntax 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Time Complexity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Tracing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9EE74B-2828-5690-678A-0222DC05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8579911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Help Session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Date/Time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23 Apr (Thu), 12-2pm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Content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Past year paper (24/25 Sem 2) + Q&amp;A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Format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Online via Zoom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Recorded on a best-effort basis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Zoom Link to be released in Canvas Zoom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B88196-F27D-16DF-E75A-1280B478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5328951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6FA4-7204-2182-5E43-48C3CC36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A6BB3C3-1657-D7D9-0648-E35D33DAB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Consultations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258A7DE-EC58-F2C7-CF50-BDD348410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Date / Time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16/20/23 Apr (Thu/Mon/Thu), 4-6pm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Format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30 minutes per session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b="1" dirty="0"/>
              <a:t>Online</a:t>
            </a:r>
            <a:r>
              <a:rPr lang="en-US" sz="2400" dirty="0"/>
              <a:t> (via Zoom) or </a:t>
            </a:r>
            <a:r>
              <a:rPr lang="en-US" sz="2400" b="1" dirty="0"/>
              <a:t>Physical</a:t>
            </a:r>
            <a:r>
              <a:rPr lang="en-US" sz="2400" dirty="0"/>
              <a:t> (at COM-02-10)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Signup link to be released in Canvas Announcement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Indicate format when you sign up, e.g., Alex (Online)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D66369-774E-D398-4B21-632EB964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86577722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B4F4E329-093E-49B3-B244-F0496FF22AB3}"/>
              </a:ext>
            </a:extLst>
          </p:cNvPr>
          <p:cNvSpPr txBox="1">
            <a:spLocks/>
          </p:cNvSpPr>
          <p:nvPr/>
        </p:nvSpPr>
        <p:spPr>
          <a:xfrm>
            <a:off x="582439" y="1175418"/>
            <a:ext cx="8292856" cy="5289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Mainly Procedural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Get input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Compute</a:t>
            </a:r>
          </a:p>
          <a:p>
            <a:pPr marL="896303" lvl="2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Compute intermediate results</a:t>
            </a:r>
          </a:p>
          <a:p>
            <a:pPr marL="896303" lvl="2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Compute final results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Print output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6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6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Simple Data Structures / Algorithms</a:t>
            </a:r>
            <a:endParaRPr lang="en-US" sz="2400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From CS1010…</a:t>
            </a:r>
          </a:p>
        </p:txBody>
      </p:sp>
      <p:grpSp>
        <p:nvGrpSpPr>
          <p:cNvPr id="19" name="Group 45">
            <a:extLst>
              <a:ext uri="{FF2B5EF4-FFF2-40B4-BE49-F238E27FC236}">
                <a16:creationId xmlns:a16="http://schemas.microsoft.com/office/drawing/2014/main" id="{E89FF6CA-6E23-4656-9D72-F8AC82FA5FD3}"/>
              </a:ext>
            </a:extLst>
          </p:cNvPr>
          <p:cNvGrpSpPr>
            <a:grpSpLocks/>
          </p:cNvGrpSpPr>
          <p:nvPr/>
        </p:nvGrpSpPr>
        <p:grpSpPr bwMode="auto">
          <a:xfrm>
            <a:off x="5446038" y="5184493"/>
            <a:ext cx="3249613" cy="1004888"/>
            <a:chOff x="1050323" y="4790303"/>
            <a:chExt cx="3249828" cy="100501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2A9998E-6DC3-4D04-B6BF-02AC1919E87F}"/>
                </a:ext>
              </a:extLst>
            </p:cNvPr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9618AD3-49FC-4012-ABB9-754837305867}"/>
                </a:ext>
              </a:extLst>
            </p:cNvPr>
            <p:cNvSpPr/>
            <p:nvPr/>
          </p:nvSpPr>
          <p:spPr bwMode="auto">
            <a:xfrm>
              <a:off x="2677619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C11458-41E0-4C28-9AE4-E4833039ABC7}"/>
                </a:ext>
              </a:extLst>
            </p:cNvPr>
            <p:cNvSpPr/>
            <p:nvPr/>
          </p:nvSpPr>
          <p:spPr bwMode="auto">
            <a:xfrm>
              <a:off x="3530162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3" name="TextBox 20">
              <a:extLst>
                <a:ext uri="{FF2B5EF4-FFF2-40B4-BE49-F238E27FC236}">
                  <a16:creationId xmlns:a16="http://schemas.microsoft.com/office/drawing/2014/main" id="{FC28A598-58A9-47D6-93A0-4AEE6F9D8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24" name="TextBox 21">
              <a:extLst>
                <a:ext uri="{FF2B5EF4-FFF2-40B4-BE49-F238E27FC236}">
                  <a16:creationId xmlns:a16="http://schemas.microsoft.com/office/drawing/2014/main" id="{48EDE6BE-2BC0-413F-99AB-C32F2B20A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25" name="TextBox 22">
              <a:extLst>
                <a:ext uri="{FF2B5EF4-FFF2-40B4-BE49-F238E27FC236}">
                  <a16:creationId xmlns:a16="http://schemas.microsoft.com/office/drawing/2014/main" id="{C507A2B1-7F52-4348-ADBD-F3D70C55A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26" name="TextBox 41">
              <a:extLst>
                <a:ext uri="{FF2B5EF4-FFF2-40B4-BE49-F238E27FC236}">
                  <a16:creationId xmlns:a16="http://schemas.microsoft.com/office/drawing/2014/main" id="{5D9D7D4C-3959-425A-8D34-AA1D04496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box1</a:t>
              </a:r>
              <a:endParaRPr lang="en-SG" sz="1400"/>
            </a:p>
          </p:txBody>
        </p:sp>
        <p:sp>
          <p:nvSpPr>
            <p:cNvPr id="27" name="Rectangle 44">
              <a:extLst>
                <a:ext uri="{FF2B5EF4-FFF2-40B4-BE49-F238E27FC236}">
                  <a16:creationId xmlns:a16="http://schemas.microsoft.com/office/drawing/2014/main" id="{6C1A6BD4-ED0A-4E5E-B138-A46F820DC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59" name="Group 187">
            <a:extLst>
              <a:ext uri="{FF2B5EF4-FFF2-40B4-BE49-F238E27FC236}">
                <a16:creationId xmlns:a16="http://schemas.microsoft.com/office/drawing/2014/main" id="{66F1C578-2D04-45E6-B2F4-A02163AFDAD1}"/>
              </a:ext>
            </a:extLst>
          </p:cNvPr>
          <p:cNvGrpSpPr>
            <a:grpSpLocks/>
          </p:cNvGrpSpPr>
          <p:nvPr/>
        </p:nvGrpSpPr>
        <p:grpSpPr bwMode="auto">
          <a:xfrm>
            <a:off x="550082" y="5789469"/>
            <a:ext cx="5037884" cy="399911"/>
            <a:chOff x="2460019" y="3608936"/>
            <a:chExt cx="5037744" cy="400110"/>
          </a:xfrm>
        </p:grpSpPr>
        <p:sp>
          <p:nvSpPr>
            <p:cNvPr id="61" name="TextBox 38">
              <a:extLst>
                <a:ext uri="{FF2B5EF4-FFF2-40B4-BE49-F238E27FC236}">
                  <a16:creationId xmlns:a16="http://schemas.microsoft.com/office/drawing/2014/main" id="{F0AAC96C-77B2-4347-80E1-38589739C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0019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23</a:t>
              </a:r>
              <a:endParaRPr lang="en-SG" sz="2000" dirty="0"/>
            </a:p>
          </p:txBody>
        </p:sp>
        <p:sp>
          <p:nvSpPr>
            <p:cNvPr id="62" name="TextBox 39">
              <a:extLst>
                <a:ext uri="{FF2B5EF4-FFF2-40B4-BE49-F238E27FC236}">
                  <a16:creationId xmlns:a16="http://schemas.microsoft.com/office/drawing/2014/main" id="{0C3EF8CA-B5B1-41CB-ABFE-9B1912313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182" y="3608936"/>
              <a:ext cx="55816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17</a:t>
              </a:r>
              <a:endParaRPr lang="en-SG" sz="2000" dirty="0"/>
            </a:p>
          </p:txBody>
        </p:sp>
        <p:sp>
          <p:nvSpPr>
            <p:cNvPr id="63" name="TextBox 40">
              <a:extLst>
                <a:ext uri="{FF2B5EF4-FFF2-40B4-BE49-F238E27FC236}">
                  <a16:creationId xmlns:a16="http://schemas.microsoft.com/office/drawing/2014/main" id="{B5115239-DF19-4381-A000-63C099F37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345" y="3608936"/>
              <a:ext cx="568723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5</a:t>
              </a:r>
              <a:endParaRPr lang="en-SG" sz="2000" dirty="0"/>
            </a:p>
          </p:txBody>
        </p:sp>
        <p:sp>
          <p:nvSpPr>
            <p:cNvPr id="64" name="TextBox 41">
              <a:extLst>
                <a:ext uri="{FF2B5EF4-FFF2-40B4-BE49-F238E27FC236}">
                  <a16:creationId xmlns:a16="http://schemas.microsoft.com/office/drawing/2014/main" id="{A76A3A62-DA69-4D35-8F61-457EE55F9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194" y="3608936"/>
              <a:ext cx="562219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12</a:t>
              </a:r>
              <a:endParaRPr lang="en-SG" sz="2000" dirty="0"/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525135C4-CC80-4A08-8160-D90776D62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413" y="3608936"/>
              <a:ext cx="567464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38</a:t>
              </a:r>
              <a:endParaRPr lang="en-SG" sz="2000" dirty="0"/>
            </a:p>
          </p:txBody>
        </p:sp>
        <p:sp>
          <p:nvSpPr>
            <p:cNvPr id="66" name="TextBox 43">
              <a:extLst>
                <a:ext uri="{FF2B5EF4-FFF2-40B4-BE49-F238E27FC236}">
                  <a16:creationId xmlns:a16="http://schemas.microsoft.com/office/drawing/2014/main" id="{0B7833B2-A739-43F9-8AA0-D74A7AB80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878" y="3608936"/>
              <a:ext cx="568460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44</a:t>
              </a:r>
              <a:endParaRPr lang="en-SG" sz="2000" dirty="0"/>
            </a:p>
          </p:txBody>
        </p:sp>
        <p:sp>
          <p:nvSpPr>
            <p:cNvPr id="67" name="TextBox 44">
              <a:extLst>
                <a:ext uri="{FF2B5EF4-FFF2-40B4-BE49-F238E27FC236}">
                  <a16:creationId xmlns:a16="http://schemas.microsoft.com/office/drawing/2014/main" id="{CBD3A04C-AD2C-4E19-95B6-1E812C703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9337" y="3608936"/>
              <a:ext cx="554502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77</a:t>
              </a:r>
              <a:endParaRPr lang="en-SG" sz="2000" dirty="0"/>
            </a:p>
          </p:txBody>
        </p:sp>
        <p:sp>
          <p:nvSpPr>
            <p:cNvPr id="68" name="TextBox 45">
              <a:extLst>
                <a:ext uri="{FF2B5EF4-FFF2-40B4-BE49-F238E27FC236}">
                  <a16:creationId xmlns:a16="http://schemas.microsoft.com/office/drawing/2014/main" id="{EC9D5FCF-882C-4FEC-9104-6929AE135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3839" y="3608936"/>
              <a:ext cx="554501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84</a:t>
              </a:r>
              <a:endParaRPr lang="en-SG" sz="2000" dirty="0"/>
            </a:p>
          </p:txBody>
        </p:sp>
        <p:sp>
          <p:nvSpPr>
            <p:cNvPr id="69" name="TextBox 46">
              <a:extLst>
                <a:ext uri="{FF2B5EF4-FFF2-40B4-BE49-F238E27FC236}">
                  <a16:creationId xmlns:a16="http://schemas.microsoft.com/office/drawing/2014/main" id="{55D0321C-7940-4441-A6EF-7CD8A379F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340" y="3608936"/>
              <a:ext cx="549423" cy="40011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dirty="0"/>
                <a:t>90</a:t>
              </a:r>
              <a:endParaRPr lang="en-SG" sz="2000" dirty="0"/>
            </a:p>
          </p:txBody>
        </p:sp>
      </p:grpSp>
      <p:grpSp>
        <p:nvGrpSpPr>
          <p:cNvPr id="70" name="Group 133">
            <a:extLst>
              <a:ext uri="{FF2B5EF4-FFF2-40B4-BE49-F238E27FC236}">
                <a16:creationId xmlns:a16="http://schemas.microsoft.com/office/drawing/2014/main" id="{E1458B6E-01D3-4848-9CDA-EB7E9BBFC690}"/>
              </a:ext>
            </a:extLst>
          </p:cNvPr>
          <p:cNvGrpSpPr>
            <a:grpSpLocks/>
          </p:cNvGrpSpPr>
          <p:nvPr/>
        </p:nvGrpSpPr>
        <p:grpSpPr bwMode="auto">
          <a:xfrm>
            <a:off x="526311" y="5203524"/>
            <a:ext cx="2243461" cy="585787"/>
            <a:chOff x="3649905" y="2733282"/>
            <a:chExt cx="2241823" cy="586565"/>
          </a:xfrm>
        </p:grpSpPr>
        <p:cxnSp>
          <p:nvCxnSpPr>
            <p:cNvPr id="71" name="Straight Arrow Connector 123">
              <a:extLst>
                <a:ext uri="{FF2B5EF4-FFF2-40B4-BE49-F238E27FC236}">
                  <a16:creationId xmlns:a16="http://schemas.microsoft.com/office/drawing/2014/main" id="{41C302FF-E5FE-4F58-8FBF-5FA0640A82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81902" y="3074020"/>
              <a:ext cx="9097" cy="245827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TextBox 124">
              <a:extLst>
                <a:ext uri="{FF2B5EF4-FFF2-40B4-BE49-F238E27FC236}">
                  <a16:creationId xmlns:a16="http://schemas.microsoft.com/office/drawing/2014/main" id="{5D4F842D-5394-45F5-81FD-D83A939D8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2823" y="2735466"/>
              <a:ext cx="56890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last</a:t>
              </a:r>
              <a:endParaRPr lang="en-SG" sz="1600" dirty="0"/>
            </a:p>
          </p:txBody>
        </p:sp>
        <p:cxnSp>
          <p:nvCxnSpPr>
            <p:cNvPr id="73" name="Straight Arrow Connector 126">
              <a:extLst>
                <a:ext uri="{FF2B5EF4-FFF2-40B4-BE49-F238E27FC236}">
                  <a16:creationId xmlns:a16="http://schemas.microsoft.com/office/drawing/2014/main" id="{6B7DD045-A7D9-4016-8679-8920AE6B8DD4}"/>
                </a:ext>
              </a:extLst>
            </p:cNvPr>
            <p:cNvCxnSpPr>
              <a:cxnSpLocks noChangeShapeType="1"/>
              <a:stCxn id="74" idx="2"/>
            </p:cNvCxnSpPr>
            <p:nvPr/>
          </p:nvCxnSpPr>
          <p:spPr bwMode="auto">
            <a:xfrm>
              <a:off x="3935991" y="3072285"/>
              <a:ext cx="2" cy="247562"/>
            </a:xfrm>
            <a:prstGeom prst="straightConnector1">
              <a:avLst/>
            </a:prstGeom>
            <a:noFill/>
            <a:ln w="1905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Rectangle 127">
              <a:extLst>
                <a:ext uri="{FF2B5EF4-FFF2-40B4-BE49-F238E27FC236}">
                  <a16:creationId xmlns:a16="http://schemas.microsoft.com/office/drawing/2014/main" id="{1DE21741-9449-4D08-89FF-45DD1EE0F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905" y="2733282"/>
              <a:ext cx="572173" cy="339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1600" dirty="0"/>
                <a:t>max</a:t>
              </a:r>
              <a:endParaRPr lang="en-SG" sz="1600" dirty="0"/>
            </a:p>
          </p:txBody>
        </p:sp>
      </p:grpSp>
      <p:sp>
        <p:nvSpPr>
          <p:cNvPr id="75" name="Freeform 132">
            <a:extLst>
              <a:ext uri="{FF2B5EF4-FFF2-40B4-BE49-F238E27FC236}">
                <a16:creationId xmlns:a16="http://schemas.microsoft.com/office/drawing/2014/main" id="{7F53AE7C-9F57-4F49-B033-02A38B26286B}"/>
              </a:ext>
            </a:extLst>
          </p:cNvPr>
          <p:cNvSpPr>
            <a:spLocks/>
          </p:cNvSpPr>
          <p:nvPr/>
        </p:nvSpPr>
        <p:spPr bwMode="auto">
          <a:xfrm>
            <a:off x="1062009" y="5567068"/>
            <a:ext cx="1271315" cy="161925"/>
          </a:xfrm>
          <a:custGeom>
            <a:avLst/>
            <a:gdLst>
              <a:gd name="T0" fmla="*/ 0 w 646176"/>
              <a:gd name="T1" fmla="*/ 3 h 331216"/>
              <a:gd name="T2" fmla="*/ 0 w 646176"/>
              <a:gd name="T3" fmla="*/ 0 h 331216"/>
              <a:gd name="T4" fmla="*/ 0 w 646176"/>
              <a:gd name="T5" fmla="*/ 3 h 331216"/>
              <a:gd name="T6" fmla="*/ 0 60000 65536"/>
              <a:gd name="T7" fmla="*/ 0 60000 65536"/>
              <a:gd name="T8" fmla="*/ 0 60000 65536"/>
              <a:gd name="T9" fmla="*/ 0 w 646176"/>
              <a:gd name="T10" fmla="*/ 0 h 331216"/>
              <a:gd name="T11" fmla="*/ 646176 w 646176"/>
              <a:gd name="T12" fmla="*/ 331216 h 331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46176" h="331216">
                <a:moveTo>
                  <a:pt x="0" y="331216"/>
                </a:moveTo>
                <a:cubicBezTo>
                  <a:pt x="98552" y="167640"/>
                  <a:pt x="197104" y="4064"/>
                  <a:pt x="304800" y="2032"/>
                </a:cubicBezTo>
                <a:cubicBezTo>
                  <a:pt x="412496" y="0"/>
                  <a:pt x="529336" y="159512"/>
                  <a:pt x="646176" y="319024"/>
                </a:cubicBezTo>
              </a:path>
            </a:pathLst>
          </a:custGeom>
          <a:noFill/>
          <a:ln w="19050" cap="sq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BA809C-A3DB-1D2E-C447-F91AC09E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751063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To CS2030…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Modern Programming Paradigms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FBB40-42E6-4F74-9943-3A5A31E2871B}"/>
              </a:ext>
            </a:extLst>
          </p:cNvPr>
          <p:cNvSpPr txBox="1"/>
          <p:nvPr/>
        </p:nvSpPr>
        <p:spPr>
          <a:xfrm>
            <a:off x="1016465" y="5575289"/>
            <a:ext cx="3421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https://searchapparchitecture.techtarget.com/definition/object-oriented-programming-OOP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F468F-BAA5-45A6-BBA9-87C11B48A045}"/>
              </a:ext>
            </a:extLst>
          </p:cNvPr>
          <p:cNvSpPr txBox="1"/>
          <p:nvPr/>
        </p:nvSpPr>
        <p:spPr>
          <a:xfrm>
            <a:off x="4884256" y="5575289"/>
            <a:ext cx="4013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https://www.modernescpp.com/index.php/the-definition-of-functional-programming</a:t>
            </a:r>
            <a:endParaRPr lang="en-US" dirty="0"/>
          </a:p>
        </p:txBody>
      </p:sp>
      <p:pic>
        <p:nvPicPr>
          <p:cNvPr id="1028" name="Picture 4" descr="The Definition of Functional Programming - ModernesCpp.com">
            <a:extLst>
              <a:ext uri="{FF2B5EF4-FFF2-40B4-BE49-F238E27FC236}">
                <a16:creationId xmlns:a16="http://schemas.microsoft.com/office/drawing/2014/main" id="{91D52B31-8115-4670-B67D-8278A23C3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420" y="1823307"/>
            <a:ext cx="3577948" cy="365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A6AF059-763C-4660-B4D7-B7898E9D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65" y="1934887"/>
            <a:ext cx="3421117" cy="3498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3F5B59-1FA0-AEA6-EE1D-8094237A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73335696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To CS2040…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9A4CC2F-16B6-4E5B-A069-E6FF53282629}"/>
              </a:ext>
            </a:extLst>
          </p:cNvPr>
          <p:cNvSpPr txBox="1">
            <a:spLocks/>
          </p:cNvSpPr>
          <p:nvPr/>
        </p:nvSpPr>
        <p:spPr>
          <a:xfrm>
            <a:off x="587375" y="1187450"/>
            <a:ext cx="8292856" cy="5289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More about Data Structures and Algorithms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29BC31-74A0-4B0D-88DC-A9BA2C719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340" y="3465266"/>
            <a:ext cx="7400925" cy="27813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DDCC793-94DB-4CAF-A769-F2B762469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047" y="1825125"/>
            <a:ext cx="5893509" cy="152418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92DD4CD-F7FA-4041-AE0A-4D127950133A}"/>
              </a:ext>
            </a:extLst>
          </p:cNvPr>
          <p:cNvSpPr txBox="1"/>
          <p:nvPr/>
        </p:nvSpPr>
        <p:spPr>
          <a:xfrm>
            <a:off x="3421107" y="6292334"/>
            <a:ext cx="2538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https://visualgo.net/en/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43568E-772A-1A59-4F3E-830F9FD2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126978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668215" y="1402461"/>
            <a:ext cx="7772056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000" dirty="0"/>
              <a:t>All the best</a:t>
            </a:r>
            <a:br>
              <a:rPr lang="en-US" sz="6000" dirty="0"/>
            </a:br>
            <a:r>
              <a:rPr lang="en-US" sz="6000" dirty="0"/>
              <a:t> for your </a:t>
            </a:r>
            <a:br>
              <a:rPr lang="en-US" sz="6000" dirty="0"/>
            </a:br>
            <a:r>
              <a:rPr lang="en-US" sz="6000" dirty="0"/>
              <a:t>Final Assessments!</a:t>
            </a:r>
            <a:endParaRPr lang="en-US" sz="3200" dirty="0"/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0C7056-9605-E20C-151B-A8F29363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132</TotalTime>
  <Words>404</Words>
  <Application>Microsoft Office PowerPoint</Application>
  <PresentationFormat>On-screen Show (4:3)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Clarity</vt:lpstr>
      <vt:lpstr>PowerPoint Presentation</vt:lpstr>
      <vt:lpstr>Week 13: The Future</vt:lpstr>
      <vt:lpstr>Exam Matters</vt:lpstr>
      <vt:lpstr>Exam Matters</vt:lpstr>
      <vt:lpstr>Tips</vt:lpstr>
      <vt:lpstr>Tips</vt:lpstr>
      <vt:lpstr>Tips</vt:lpstr>
      <vt:lpstr>Help Session</vt:lpstr>
      <vt:lpstr>Consultations</vt:lpstr>
      <vt:lpstr>From CS1010…</vt:lpstr>
      <vt:lpstr>To CS2030…</vt:lpstr>
      <vt:lpstr>To CS2040…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2026-04-13T07:58:34Z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