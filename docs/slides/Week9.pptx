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33"/>
  </p:notesMasterIdLst>
  <p:handoutMasterIdLst>
    <p:handoutMasterId r:id="rId34"/>
  </p:handoutMasterIdLst>
  <p:sldIdLst>
    <p:sldId id="256" r:id="rId2"/>
    <p:sldId id="468" r:id="rId3"/>
    <p:sldId id="636" r:id="rId4"/>
    <p:sldId id="617" r:id="rId5"/>
    <p:sldId id="639" r:id="rId6"/>
    <p:sldId id="553" r:id="rId7"/>
    <p:sldId id="637" r:id="rId8"/>
    <p:sldId id="640" r:id="rId9"/>
    <p:sldId id="641" r:id="rId10"/>
    <p:sldId id="642" r:id="rId11"/>
    <p:sldId id="643" r:id="rId12"/>
    <p:sldId id="644" r:id="rId13"/>
    <p:sldId id="661" r:id="rId14"/>
    <p:sldId id="662" r:id="rId15"/>
    <p:sldId id="645" r:id="rId16"/>
    <p:sldId id="646" r:id="rId17"/>
    <p:sldId id="647" r:id="rId18"/>
    <p:sldId id="648" r:id="rId19"/>
    <p:sldId id="649" r:id="rId20"/>
    <p:sldId id="650" r:id="rId21"/>
    <p:sldId id="651" r:id="rId22"/>
    <p:sldId id="652" r:id="rId23"/>
    <p:sldId id="653" r:id="rId24"/>
    <p:sldId id="654" r:id="rId25"/>
    <p:sldId id="655" r:id="rId26"/>
    <p:sldId id="656" r:id="rId27"/>
    <p:sldId id="657" r:id="rId28"/>
    <p:sldId id="658" r:id="rId29"/>
    <p:sldId id="659" r:id="rId30"/>
    <p:sldId id="660" r:id="rId31"/>
    <p:sldId id="526" r:id="rId3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9F9FFF"/>
    <a:srgbClr val="66CCFF"/>
    <a:srgbClr val="6699FF"/>
    <a:srgbClr val="0000FF"/>
    <a:srgbClr val="FFFF99"/>
    <a:srgbClr val="00CCFF"/>
    <a:srgbClr val="0099FF"/>
    <a:srgbClr val="0066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008313-8A0C-4BD6-BA6F-8E0303586BF4}" v="218" dt="2026-03-17T03:48:19.2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536" autoAdjust="0"/>
    <p:restoredTop sz="96003" autoAdjust="0"/>
  </p:normalViewPr>
  <p:slideViewPr>
    <p:cSldViewPr snapToGrid="0">
      <p:cViewPr varScale="1">
        <p:scale>
          <a:sx n="113" d="100"/>
          <a:sy n="113" d="100"/>
        </p:scale>
        <p:origin x="643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modSld">
      <pc:chgData name="Zhao Jin" userId="cd05a825-544c-438a-9ba1-08e63db50b47" providerId="ADAL" clId="{5DF3A229-1965-414E-AF54-F4C37AC7DF68}" dt="2026-03-17T03:48:19.246" v="631"/>
      <pc:docMkLst>
        <pc:docMk/>
      </pc:docMkLst>
      <pc:sldChg chg="modSp mod">
        <pc:chgData name="Zhao Jin" userId="cd05a825-544c-438a-9ba1-08e63db50b47" providerId="ADAL" clId="{5DF3A229-1965-414E-AF54-F4C37AC7DF68}" dt="2026-03-16T08:56:09.194" v="96" actId="5793"/>
        <pc:sldMkLst>
          <pc:docMk/>
          <pc:sldMk cId="1067695719" sldId="526"/>
        </pc:sldMkLst>
        <pc:spChg chg="mod">
          <ac:chgData name="Zhao Jin" userId="cd05a825-544c-438a-9ba1-08e63db50b47" providerId="ADAL" clId="{5DF3A229-1965-414E-AF54-F4C37AC7DF68}" dt="2026-03-16T08:56:09.194" v="96" actId="5793"/>
          <ac:spMkLst>
            <pc:docMk/>
            <pc:sldMk cId="1067695719" sldId="526"/>
            <ac:spMk id="13" creationId="{00000000-0000-0000-0000-000000000000}"/>
          </ac:spMkLst>
        </pc:spChg>
      </pc:sldChg>
      <pc:sldChg chg="addSp modSp mod">
        <pc:chgData name="Zhao Jin" userId="cd05a825-544c-438a-9ba1-08e63db50b47" providerId="ADAL" clId="{5DF3A229-1965-414E-AF54-F4C37AC7DF68}" dt="2026-03-17T01:36:29.577" v="614" actId="1076"/>
        <pc:sldMkLst>
          <pc:docMk/>
          <pc:sldMk cId="1427618944" sldId="553"/>
        </pc:sldMkLst>
        <pc:spChg chg="add mod">
          <ac:chgData name="Zhao Jin" userId="cd05a825-544c-438a-9ba1-08e63db50b47" providerId="ADAL" clId="{5DF3A229-1965-414E-AF54-F4C37AC7DF68}" dt="2026-03-17T01:36:29.577" v="614" actId="1076"/>
          <ac:spMkLst>
            <pc:docMk/>
            <pc:sldMk cId="1427618944" sldId="553"/>
            <ac:spMk id="3" creationId="{7219F16A-9589-077B-CE18-A034618008DF}"/>
          </ac:spMkLst>
        </pc:spChg>
        <pc:spChg chg="mod">
          <ac:chgData name="Zhao Jin" userId="cd05a825-544c-438a-9ba1-08e63db50b47" providerId="ADAL" clId="{5DF3A229-1965-414E-AF54-F4C37AC7DF68}" dt="2026-03-17T01:24:33.289" v="323" actId="1076"/>
          <ac:spMkLst>
            <pc:docMk/>
            <pc:sldMk cId="1427618944" sldId="553"/>
            <ac:spMk id="51" creationId="{090D74B1-CF3A-4E44-A9AC-F1C0303D3547}"/>
          </ac:spMkLst>
        </pc:spChg>
      </pc:sldChg>
      <pc:sldChg chg="addSp delSp modSp mod delAnim">
        <pc:chgData name="Zhao Jin" userId="cd05a825-544c-438a-9ba1-08e63db50b47" providerId="ADAL" clId="{5DF3A229-1965-414E-AF54-F4C37AC7DF68}" dt="2026-03-17T01:29:30.910" v="427" actId="21"/>
        <pc:sldMkLst>
          <pc:docMk/>
          <pc:sldMk cId="3454948446" sldId="636"/>
        </pc:sldMkLst>
        <pc:spChg chg="mod topLvl">
          <ac:chgData name="Zhao Jin" userId="cd05a825-544c-438a-9ba1-08e63db50b47" providerId="ADAL" clId="{5DF3A229-1965-414E-AF54-F4C37AC7DF68}" dt="2026-03-17T01:20:28.447" v="321" actId="20577"/>
          <ac:spMkLst>
            <pc:docMk/>
            <pc:sldMk cId="3454948446" sldId="636"/>
            <ac:spMk id="217" creationId="{00000000-0000-0000-0000-000000000000}"/>
          </ac:spMkLst>
        </pc:spChg>
        <pc:grpChg chg="del mod">
          <ac:chgData name="Zhao Jin" userId="cd05a825-544c-438a-9ba1-08e63db50b47" providerId="ADAL" clId="{5DF3A229-1965-414E-AF54-F4C37AC7DF68}" dt="2026-03-17T01:20:05.952" v="300" actId="478"/>
          <ac:grpSpMkLst>
            <pc:docMk/>
            <pc:sldMk cId="3454948446" sldId="636"/>
            <ac:grpSpMk id="216" creationId="{00000000-0000-0000-0000-000000000000}"/>
          </ac:grpSpMkLst>
        </pc:grpChg>
        <pc:graphicFrameChg chg="del mod topLvl">
          <ac:chgData name="Zhao Jin" userId="cd05a825-544c-438a-9ba1-08e63db50b47" providerId="ADAL" clId="{5DF3A229-1965-414E-AF54-F4C37AC7DF68}" dt="2026-03-17T01:20:05.952" v="300" actId="478"/>
          <ac:graphicFrameMkLst>
            <pc:docMk/>
            <pc:sldMk cId="3454948446" sldId="636"/>
            <ac:graphicFrameMk id="218" creationId="{00000000-0000-0000-0000-000000000000}"/>
          </ac:graphicFrameMkLst>
        </pc:graphicFrameChg>
        <pc:picChg chg="add del mod">
          <ac:chgData name="Zhao Jin" userId="cd05a825-544c-438a-9ba1-08e63db50b47" providerId="ADAL" clId="{5DF3A229-1965-414E-AF54-F4C37AC7DF68}" dt="2026-03-17T01:29:30.910" v="427" actId="21"/>
          <ac:picMkLst>
            <pc:docMk/>
            <pc:sldMk cId="3454948446" sldId="636"/>
            <ac:picMk id="1026" creationId="{9A42E497-C97F-D792-5CB5-0D9A8993D06E}"/>
          </ac:picMkLst>
        </pc:picChg>
      </pc:sldChg>
      <pc:sldChg chg="addSp modSp mod">
        <pc:chgData name="Zhao Jin" userId="cd05a825-544c-438a-9ba1-08e63db50b47" providerId="ADAL" clId="{5DF3A229-1965-414E-AF54-F4C37AC7DF68}" dt="2026-03-17T01:36:58.759" v="623" actId="1036"/>
        <pc:sldMkLst>
          <pc:docMk/>
          <pc:sldMk cId="3737971943" sldId="637"/>
        </pc:sldMkLst>
        <pc:spChg chg="add mod">
          <ac:chgData name="Zhao Jin" userId="cd05a825-544c-438a-9ba1-08e63db50b47" providerId="ADAL" clId="{5DF3A229-1965-414E-AF54-F4C37AC7DF68}" dt="2026-03-17T01:36:58.759" v="623" actId="1036"/>
          <ac:spMkLst>
            <pc:docMk/>
            <pc:sldMk cId="3737971943" sldId="637"/>
            <ac:spMk id="36" creationId="{628E6AAD-D487-3CF6-80BF-C9163C8C8D49}"/>
          </ac:spMkLst>
        </pc:spChg>
      </pc:sldChg>
      <pc:sldChg chg="addSp modSp mod">
        <pc:chgData name="Zhao Jin" userId="cd05a825-544c-438a-9ba1-08e63db50b47" providerId="ADAL" clId="{5DF3A229-1965-414E-AF54-F4C37AC7DF68}" dt="2026-03-17T01:36:38.483" v="615" actId="1076"/>
        <pc:sldMkLst>
          <pc:docMk/>
          <pc:sldMk cId="1179750071" sldId="639"/>
        </pc:sldMkLst>
        <pc:spChg chg="add mod">
          <ac:chgData name="Zhao Jin" userId="cd05a825-544c-438a-9ba1-08e63db50b47" providerId="ADAL" clId="{5DF3A229-1965-414E-AF54-F4C37AC7DF68}" dt="2026-03-17T01:36:38.483" v="615" actId="1076"/>
          <ac:spMkLst>
            <pc:docMk/>
            <pc:sldMk cId="1179750071" sldId="639"/>
            <ac:spMk id="3" creationId="{B6E451B2-D615-238B-1ADE-33BC7958C048}"/>
          </ac:spMkLst>
        </pc:spChg>
        <pc:spChg chg="add mod">
          <ac:chgData name="Zhao Jin" userId="cd05a825-544c-438a-9ba1-08e63db50b47" providerId="ADAL" clId="{5DF3A229-1965-414E-AF54-F4C37AC7DF68}" dt="2026-03-17T01:35:18.169" v="593" actId="1076"/>
          <ac:spMkLst>
            <pc:docMk/>
            <pc:sldMk cId="1179750071" sldId="639"/>
            <ac:spMk id="4" creationId="{C29278DC-1A7A-C06F-2EEF-E8293E23CCB2}"/>
          </ac:spMkLst>
        </pc:spChg>
        <pc:spChg chg="add mod">
          <ac:chgData name="Zhao Jin" userId="cd05a825-544c-438a-9ba1-08e63db50b47" providerId="ADAL" clId="{5DF3A229-1965-414E-AF54-F4C37AC7DF68}" dt="2026-03-17T01:33:45.782" v="575" actId="20577"/>
          <ac:spMkLst>
            <pc:docMk/>
            <pc:sldMk cId="1179750071" sldId="639"/>
            <ac:spMk id="5" creationId="{AD07E90C-C698-8EAD-44AE-37B4642CA11C}"/>
          </ac:spMkLst>
        </pc:spChg>
        <pc:spChg chg="mod">
          <ac:chgData name="Zhao Jin" userId="cd05a825-544c-438a-9ba1-08e63db50b47" providerId="ADAL" clId="{5DF3A229-1965-414E-AF54-F4C37AC7DF68}" dt="2026-03-17T01:35:09.235" v="588" actId="20577"/>
          <ac:spMkLst>
            <pc:docMk/>
            <pc:sldMk cId="1179750071" sldId="639"/>
            <ac:spMk id="8" creationId="{00000000-0000-0000-0000-000000000000}"/>
          </ac:spMkLst>
        </pc:spChg>
        <pc:picChg chg="mod">
          <ac:chgData name="Zhao Jin" userId="cd05a825-544c-438a-9ba1-08e63db50b47" providerId="ADAL" clId="{5DF3A229-1965-414E-AF54-F4C37AC7DF68}" dt="2026-03-17T01:35:30.144" v="595" actId="1076"/>
          <ac:picMkLst>
            <pc:docMk/>
            <pc:sldMk cId="1179750071" sldId="639"/>
            <ac:picMk id="6" creationId="{3FF1EAAC-1241-1F2F-0390-4BEA02427AF9}"/>
          </ac:picMkLst>
        </pc:picChg>
        <pc:picChg chg="add mod">
          <ac:chgData name="Zhao Jin" userId="cd05a825-544c-438a-9ba1-08e63db50b47" providerId="ADAL" clId="{5DF3A229-1965-414E-AF54-F4C37AC7DF68}" dt="2026-03-17T01:35:12.963" v="590" actId="1076"/>
          <ac:picMkLst>
            <pc:docMk/>
            <pc:sldMk cId="1179750071" sldId="639"/>
            <ac:picMk id="10" creationId="{8C0F27AE-331E-FAF8-432B-C2D46FDCF085}"/>
          </ac:picMkLst>
        </pc:picChg>
        <pc:picChg chg="mod ord modCrop">
          <ac:chgData name="Zhao Jin" userId="cd05a825-544c-438a-9ba1-08e63db50b47" providerId="ADAL" clId="{5DF3A229-1965-414E-AF54-F4C37AC7DF68}" dt="2026-03-17T01:35:57.370" v="605" actId="1036"/>
          <ac:picMkLst>
            <pc:docMk/>
            <pc:sldMk cId="1179750071" sldId="639"/>
            <ac:picMk id="11" creationId="{A26498E6-AC6B-6D7F-7F43-754A8E49F466}"/>
          </ac:picMkLst>
        </pc:picChg>
      </pc:sldChg>
      <pc:sldChg chg="modSp modAnim">
        <pc:chgData name="Zhao Jin" userId="cd05a825-544c-438a-9ba1-08e63db50b47" providerId="ADAL" clId="{5DF3A229-1965-414E-AF54-F4C37AC7DF68}" dt="2026-03-16T09:18:00.252" v="295" actId="20577"/>
        <pc:sldMkLst>
          <pc:docMk/>
          <pc:sldMk cId="2535690228" sldId="644"/>
        </pc:sldMkLst>
        <pc:spChg chg="mod">
          <ac:chgData name="Zhao Jin" userId="cd05a825-544c-438a-9ba1-08e63db50b47" providerId="ADAL" clId="{5DF3A229-1965-414E-AF54-F4C37AC7DF68}" dt="2026-03-16T09:18:00.252" v="295" actId="20577"/>
          <ac:spMkLst>
            <pc:docMk/>
            <pc:sldMk cId="2535690228" sldId="644"/>
            <ac:spMk id="8" creationId="{00000000-0000-0000-0000-000000000000}"/>
          </ac:spMkLst>
        </pc:spChg>
      </pc:sldChg>
      <pc:sldChg chg="modSp mod modAnim">
        <pc:chgData name="Zhao Jin" userId="cd05a825-544c-438a-9ba1-08e63db50b47" providerId="ADAL" clId="{5DF3A229-1965-414E-AF54-F4C37AC7DF68}" dt="2026-03-17T03:48:19.246" v="631"/>
        <pc:sldMkLst>
          <pc:docMk/>
          <pc:sldMk cId="125843738" sldId="645"/>
        </pc:sldMkLst>
        <pc:spChg chg="mod">
          <ac:chgData name="Zhao Jin" userId="cd05a825-544c-438a-9ba1-08e63db50b47" providerId="ADAL" clId="{5DF3A229-1965-414E-AF54-F4C37AC7DF68}" dt="2026-03-16T09:17:15.257" v="265" actId="20577"/>
          <ac:spMkLst>
            <pc:docMk/>
            <pc:sldMk cId="125843738" sldId="645"/>
            <ac:spMk id="8" creationId="{00000000-0000-0000-0000-000000000000}"/>
          </ac:spMkLst>
        </pc:spChg>
      </pc:sldChg>
      <pc:sldChg chg="modAnim">
        <pc:chgData name="Zhao Jin" userId="cd05a825-544c-438a-9ba1-08e63db50b47" providerId="ADAL" clId="{5DF3A229-1965-414E-AF54-F4C37AC7DF68}" dt="2026-03-17T01:39:16.577" v="625"/>
        <pc:sldMkLst>
          <pc:docMk/>
          <pc:sldMk cId="4086644702" sldId="648"/>
        </pc:sldMkLst>
      </pc:sldChg>
      <pc:sldChg chg="modAnim">
        <pc:chgData name="Zhao Jin" userId="cd05a825-544c-438a-9ba1-08e63db50b47" providerId="ADAL" clId="{5DF3A229-1965-414E-AF54-F4C37AC7DF68}" dt="2026-03-17T01:39:57.269" v="627"/>
        <pc:sldMkLst>
          <pc:docMk/>
          <pc:sldMk cId="3504527826" sldId="650"/>
        </pc:sldMkLst>
      </pc:sldChg>
      <pc:sldChg chg="addAnim delAnim modAnim">
        <pc:chgData name="Zhao Jin" userId="cd05a825-544c-438a-9ba1-08e63db50b47" providerId="ADAL" clId="{5DF3A229-1965-414E-AF54-F4C37AC7DF68}" dt="2026-03-17T01:43:28.031" v="630"/>
        <pc:sldMkLst>
          <pc:docMk/>
          <pc:sldMk cId="310617255" sldId="656"/>
        </pc:sldMkLst>
      </pc:sldChg>
      <pc:sldChg chg="modSp mod">
        <pc:chgData name="Zhao Jin" userId="cd05a825-544c-438a-9ba1-08e63db50b47" providerId="ADAL" clId="{5DF3A229-1965-414E-AF54-F4C37AC7DF68}" dt="2026-03-16T09:15:32.135" v="161" actId="20577"/>
        <pc:sldMkLst>
          <pc:docMk/>
          <pc:sldMk cId="4048528062" sldId="661"/>
        </pc:sldMkLst>
        <pc:spChg chg="mod">
          <ac:chgData name="Zhao Jin" userId="cd05a825-544c-438a-9ba1-08e63db50b47" providerId="ADAL" clId="{5DF3A229-1965-414E-AF54-F4C37AC7DF68}" dt="2026-03-16T09:15:32.135" v="161" actId="20577"/>
          <ac:spMkLst>
            <pc:docMk/>
            <pc:sldMk cId="4048528062" sldId="661"/>
            <ac:spMk id="8" creationId="{067EC707-CA92-31E0-5578-565CCBA97DA9}"/>
          </ac:spMkLst>
        </pc:spChg>
      </pc:sldChg>
      <pc:sldChg chg="modSp">
        <pc:chgData name="Zhao Jin" userId="cd05a825-544c-438a-9ba1-08e63db50b47" providerId="ADAL" clId="{5DF3A229-1965-414E-AF54-F4C37AC7DF68}" dt="2026-03-16T09:02:57.256" v="104" actId="113"/>
        <pc:sldMkLst>
          <pc:docMk/>
          <pc:sldMk cId="3056809372" sldId="662"/>
        </pc:sldMkLst>
        <pc:spChg chg="mod">
          <ac:chgData name="Zhao Jin" userId="cd05a825-544c-438a-9ba1-08e63db50b47" providerId="ADAL" clId="{5DF3A229-1965-414E-AF54-F4C37AC7DF68}" dt="2026-03-16T09:02:57.256" v="104" actId="113"/>
          <ac:spMkLst>
            <pc:docMk/>
            <pc:sldMk cId="3056809372" sldId="662"/>
            <ac:spMk id="8" creationId="{1AD7AA60-0ECD-4720-6A39-AB80B66B2EA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3/17/2026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784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243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80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79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794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387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371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02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179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8862F-650E-2F01-29FD-A6B651E3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27DD0E6-5C87-DE1A-ACB0-6023CCAAE1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ACA7F14B-1AFB-FAC1-589A-8A589C78F6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E7E2D54-F27F-74D0-7B44-AC399E14D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272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E5B7B-20E6-5D8B-CE6E-42883671F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7C54382-8E39-C598-6207-C3839CA955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D68F19EF-B47D-8534-8799-A0AF494BED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524CE75-CEC5-8E40-97B9-F007F1050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256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827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243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49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093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9500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7849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81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4357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9016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7735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5887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9382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2831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5286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19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Multi-Dimensional Arrays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61EB5F8B-FE73-E122-263A-12C8C3E768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184B13-89A7-9AD7-34C1-4CD07B198E7F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19: Multi-Dimensional Arrays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Multi-Dimensional Arrays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Different types of 2D Arrays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Initializing 2D Arrays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Functions and 2D Arrays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95B993-871D-5F51-886C-80003696F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Multi-dimensional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Unit19 - </a:t>
            </a:r>
            <a:fld id="{F7EC234A-9094-4BB8-9EA4-75ECDA8A365B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50"/>
            <a:ext cx="7948612" cy="506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Examples:</a:t>
            </a:r>
            <a:endParaRPr lang="en-GB" b="1" dirty="0">
              <a:solidFill>
                <a:srgbClr val="0000FF"/>
              </a:solidFill>
            </a:endParaRPr>
          </a:p>
        </p:txBody>
      </p:sp>
      <p:grpSp>
        <p:nvGrpSpPr>
          <p:cNvPr id="70" name="Group 69"/>
          <p:cNvGrpSpPr/>
          <p:nvPr/>
        </p:nvGrpSpPr>
        <p:grpSpPr>
          <a:xfrm>
            <a:off x="4029308" y="1759885"/>
            <a:ext cx="4657492" cy="1899073"/>
            <a:chOff x="4029308" y="1759885"/>
            <a:chExt cx="4657492" cy="1899073"/>
          </a:xfrm>
        </p:grpSpPr>
        <p:grpSp>
          <p:nvGrpSpPr>
            <p:cNvPr id="71" name="Group 70"/>
            <p:cNvGrpSpPr/>
            <p:nvPr/>
          </p:nvGrpSpPr>
          <p:grpSpPr>
            <a:xfrm>
              <a:off x="4029308" y="1759885"/>
              <a:ext cx="4390792" cy="1560519"/>
              <a:chOff x="4029308" y="1759885"/>
              <a:chExt cx="4390792" cy="1560519"/>
            </a:xfrm>
          </p:grpSpPr>
          <p:sp>
            <p:nvSpPr>
              <p:cNvPr id="73" name="TextBox 72"/>
              <p:cNvSpPr txBox="1"/>
              <p:nvPr/>
            </p:nvSpPr>
            <p:spPr>
              <a:xfrm>
                <a:off x="4650059" y="1821440"/>
                <a:ext cx="3122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1</a:t>
                </a:r>
                <a:endParaRPr lang="en-SG" sz="1200" dirty="0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5118410" y="1821440"/>
                <a:ext cx="3122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2</a:t>
                </a:r>
                <a:endParaRPr lang="en-SG" sz="1200" dirty="0"/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5579327" y="1821440"/>
                <a:ext cx="3122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</a:t>
                </a:r>
                <a:endParaRPr lang="en-SG" sz="1200" dirty="0"/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7266879" y="1821440"/>
                <a:ext cx="468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30</a:t>
                </a:r>
                <a:endParaRPr lang="en-SG" sz="1200" dirty="0"/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7735230" y="1821440"/>
                <a:ext cx="468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31</a:t>
                </a:r>
                <a:endParaRPr lang="en-SG" sz="1200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4029308" y="2126239"/>
                <a:ext cx="468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Jan</a:t>
                </a:r>
                <a:endParaRPr lang="en-SG" sz="1200" dirty="0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4029308" y="2403238"/>
                <a:ext cx="468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Feb</a:t>
                </a:r>
                <a:endParaRPr lang="en-SG" sz="1200" dirty="0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4029308" y="3043405"/>
                <a:ext cx="468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Dec</a:t>
                </a:r>
                <a:endParaRPr lang="en-SG" sz="1200" dirty="0"/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6309732" y="1759885"/>
                <a:ext cx="4869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ym typeface="Symbol"/>
                  </a:rPr>
                  <a:t></a:t>
                </a:r>
                <a:endParaRPr lang="en-SG" sz="1600" b="1" dirty="0"/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4029308" y="2674073"/>
                <a:ext cx="4683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:</a:t>
                </a:r>
                <a:endParaRPr lang="en-SG" sz="1600" b="1" dirty="0"/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497659" y="2126239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32.1</a:t>
                </a:r>
                <a:endParaRPr lang="en-SG" sz="1200" dirty="0"/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4966010" y="2126239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31.8</a:t>
                </a:r>
                <a:endParaRPr lang="en-SG" sz="1200" dirty="0"/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426927" y="2126239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31.9</a:t>
                </a:r>
                <a:endParaRPr lang="en-SG" sz="1200" dirty="0"/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6309732" y="2476996"/>
                <a:ext cx="4869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ym typeface="Symbol"/>
                  </a:rPr>
                  <a:t></a:t>
                </a:r>
                <a:endParaRPr lang="en-SG" sz="1600" b="1" dirty="0"/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7192537" y="2126239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32.3</a:t>
                </a:r>
                <a:endParaRPr lang="en-SG" sz="1200" dirty="0"/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7660888" y="2126239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32.4</a:t>
                </a:r>
                <a:endParaRPr lang="en-SG" sz="1200" dirty="0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4497659" y="2403238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32.6</a:t>
                </a:r>
                <a:endParaRPr lang="en-SG" sz="1200" dirty="0"/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4966010" y="2403238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32.6</a:t>
                </a:r>
                <a:endParaRPr lang="en-SG" sz="1200" dirty="0"/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5426927" y="2403238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33.0</a:t>
                </a:r>
                <a:endParaRPr lang="en-SG" sz="1200" dirty="0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7192537" y="2403238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0</a:t>
                </a:r>
                <a:endParaRPr lang="en-SG" sz="1200" dirty="0"/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7660888" y="2403238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0</a:t>
                </a:r>
                <a:endParaRPr lang="en-SG" sz="1200" dirty="0"/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4497659" y="3029506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31.8</a:t>
                </a:r>
                <a:endParaRPr lang="en-SG" sz="1200" dirty="0"/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4966010" y="3029506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32.3</a:t>
                </a:r>
                <a:endParaRPr lang="en-SG" sz="1200" dirty="0"/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5426927" y="3029506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30.9</a:t>
                </a:r>
                <a:endParaRPr lang="en-SG" sz="1200" dirty="0"/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7192537" y="3029506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31.6</a:t>
                </a:r>
                <a:endParaRPr lang="en-SG" sz="1200" dirty="0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7660888" y="3029506"/>
                <a:ext cx="617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32.2</a:t>
                </a:r>
                <a:endParaRPr lang="en-SG" sz="1200" dirty="0"/>
              </a:p>
            </p:txBody>
          </p:sp>
          <p:cxnSp>
            <p:nvCxnSpPr>
              <p:cNvPr id="99" name="Straight Connector 98"/>
              <p:cNvCxnSpPr/>
              <p:nvPr/>
            </p:nvCxnSpPr>
            <p:spPr bwMode="auto">
              <a:xfrm>
                <a:off x="4029308" y="2098439"/>
                <a:ext cx="4390792" cy="0"/>
              </a:xfrm>
              <a:prstGeom prst="line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0" name="Straight Connector 99"/>
              <p:cNvCxnSpPr/>
              <p:nvPr/>
            </p:nvCxnSpPr>
            <p:spPr bwMode="auto">
              <a:xfrm>
                <a:off x="4497659" y="1821440"/>
                <a:ext cx="0" cy="1498964"/>
              </a:xfrm>
              <a:prstGeom prst="line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72" name="TextBox 71"/>
            <p:cNvSpPr txBox="1"/>
            <p:nvPr/>
          </p:nvSpPr>
          <p:spPr>
            <a:xfrm>
              <a:off x="4029308" y="3320404"/>
              <a:ext cx="46574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FF"/>
                  </a:solidFill>
                </a:rPr>
                <a:t>Daily temperatures: temperatures 12 x 31</a:t>
              </a:r>
              <a:endParaRPr lang="en-SG" sz="16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587891" y="3591808"/>
            <a:ext cx="8129318" cy="2825869"/>
            <a:chOff x="587891" y="3591808"/>
            <a:chExt cx="8129318" cy="2825869"/>
          </a:xfrm>
        </p:grpSpPr>
        <p:sp>
          <p:nvSpPr>
            <p:cNvPr id="102" name="TextBox 101"/>
            <p:cNvSpPr txBox="1"/>
            <p:nvPr/>
          </p:nvSpPr>
          <p:spPr>
            <a:xfrm>
              <a:off x="3098181" y="6079123"/>
              <a:ext cx="46574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FF"/>
                  </a:solidFill>
                </a:rPr>
                <a:t>Students’ lab marks: marks 4 x 5 x 3</a:t>
              </a:r>
              <a:endParaRPr lang="en-SG" sz="1600" dirty="0">
                <a:solidFill>
                  <a:srgbClr val="0000FF"/>
                </a:solidFill>
              </a:endParaRPr>
            </a:p>
          </p:txBody>
        </p:sp>
        <p:grpSp>
          <p:nvGrpSpPr>
            <p:cNvPr id="103" name="Group 102"/>
            <p:cNvGrpSpPr/>
            <p:nvPr/>
          </p:nvGrpSpPr>
          <p:grpSpPr>
            <a:xfrm>
              <a:off x="587891" y="3591808"/>
              <a:ext cx="8129318" cy="2656592"/>
              <a:chOff x="587891" y="3591808"/>
              <a:chExt cx="8129318" cy="2656592"/>
            </a:xfrm>
          </p:grpSpPr>
          <p:grpSp>
            <p:nvGrpSpPr>
              <p:cNvPr id="104" name="Group 103"/>
              <p:cNvGrpSpPr/>
              <p:nvPr/>
            </p:nvGrpSpPr>
            <p:grpSpPr>
              <a:xfrm>
                <a:off x="6604567" y="3930362"/>
                <a:ext cx="2112642" cy="1697628"/>
                <a:chOff x="936622" y="4550772"/>
                <a:chExt cx="2112642" cy="1697628"/>
              </a:xfrm>
            </p:grpSpPr>
            <p:sp>
              <p:nvSpPr>
                <p:cNvPr id="190" name="Rectangle 189"/>
                <p:cNvSpPr/>
                <p:nvPr/>
              </p:nvSpPr>
              <p:spPr bwMode="auto">
                <a:xfrm>
                  <a:off x="936622" y="4550772"/>
                  <a:ext cx="2112642" cy="169762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 cap="sq" cmpd="sng" algn="ctr">
                  <a:solidFill>
                    <a:srgbClr val="8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91" name="TextBox 190"/>
                <p:cNvSpPr txBox="1"/>
                <p:nvPr/>
              </p:nvSpPr>
              <p:spPr>
                <a:xfrm>
                  <a:off x="1551205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Ex1</a:t>
                  </a:r>
                  <a:endParaRPr lang="en-SG" sz="1100" dirty="0"/>
                </a:p>
              </p:txBody>
            </p:sp>
            <p:sp>
              <p:nvSpPr>
                <p:cNvPr id="192" name="TextBox 191"/>
                <p:cNvSpPr txBox="1"/>
                <p:nvPr/>
              </p:nvSpPr>
              <p:spPr>
                <a:xfrm>
                  <a:off x="2050558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Ex2</a:t>
                  </a:r>
                  <a:endParaRPr lang="en-SG" sz="1100" dirty="0"/>
                </a:p>
              </p:txBody>
            </p:sp>
            <p:sp>
              <p:nvSpPr>
                <p:cNvPr id="193" name="TextBox 192"/>
                <p:cNvSpPr txBox="1"/>
                <p:nvPr/>
              </p:nvSpPr>
              <p:spPr>
                <a:xfrm>
                  <a:off x="2549911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Ex3</a:t>
                  </a:r>
                  <a:endParaRPr lang="en-SG" sz="1100" dirty="0"/>
                </a:p>
              </p:txBody>
            </p:sp>
            <p:sp>
              <p:nvSpPr>
                <p:cNvPr id="194" name="TextBox 193"/>
                <p:cNvSpPr txBox="1"/>
                <p:nvPr/>
              </p:nvSpPr>
              <p:spPr>
                <a:xfrm>
                  <a:off x="936622" y="481238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Lab1</a:t>
                  </a:r>
                  <a:endParaRPr lang="en-SG" sz="1100" dirty="0"/>
                </a:p>
              </p:txBody>
            </p:sp>
            <p:sp>
              <p:nvSpPr>
                <p:cNvPr id="195" name="TextBox 194"/>
                <p:cNvSpPr txBox="1"/>
                <p:nvPr/>
              </p:nvSpPr>
              <p:spPr>
                <a:xfrm>
                  <a:off x="936622" y="507399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Lab2</a:t>
                  </a:r>
                  <a:endParaRPr lang="en-SG" sz="1100" dirty="0"/>
                </a:p>
              </p:txBody>
            </p:sp>
            <p:sp>
              <p:nvSpPr>
                <p:cNvPr id="196" name="TextBox 195"/>
                <p:cNvSpPr txBox="1"/>
                <p:nvPr/>
              </p:nvSpPr>
              <p:spPr>
                <a:xfrm>
                  <a:off x="936622" y="536638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Lab3</a:t>
                  </a:r>
                  <a:endParaRPr lang="en-SG" sz="1100" dirty="0"/>
                </a:p>
              </p:txBody>
            </p:sp>
            <p:sp>
              <p:nvSpPr>
                <p:cNvPr id="197" name="TextBox 196"/>
                <p:cNvSpPr txBox="1"/>
                <p:nvPr/>
              </p:nvSpPr>
              <p:spPr>
                <a:xfrm>
                  <a:off x="936622" y="562799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Lab4</a:t>
                  </a:r>
                  <a:endParaRPr lang="en-SG" sz="1100" dirty="0"/>
                </a:p>
              </p:txBody>
            </p:sp>
            <p:sp>
              <p:nvSpPr>
                <p:cNvPr id="198" name="TextBox 197"/>
                <p:cNvSpPr txBox="1"/>
                <p:nvPr/>
              </p:nvSpPr>
              <p:spPr>
                <a:xfrm>
                  <a:off x="1551205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52</a:t>
                  </a:r>
                  <a:endParaRPr lang="en-SG" sz="1100" dirty="0"/>
                </a:p>
              </p:txBody>
            </p:sp>
            <p:sp>
              <p:nvSpPr>
                <p:cNvPr id="199" name="TextBox 198"/>
                <p:cNvSpPr txBox="1"/>
                <p:nvPr/>
              </p:nvSpPr>
              <p:spPr>
                <a:xfrm>
                  <a:off x="2050558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50</a:t>
                  </a:r>
                  <a:endParaRPr lang="en-SG" sz="1100" dirty="0"/>
                </a:p>
              </p:txBody>
            </p:sp>
            <p:sp>
              <p:nvSpPr>
                <p:cNvPr id="200" name="TextBox 199"/>
                <p:cNvSpPr txBox="1"/>
                <p:nvPr/>
              </p:nvSpPr>
              <p:spPr>
                <a:xfrm>
                  <a:off x="2549911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45</a:t>
                  </a:r>
                  <a:endParaRPr lang="en-SG" sz="1100" dirty="0"/>
                </a:p>
              </p:txBody>
            </p:sp>
            <p:sp>
              <p:nvSpPr>
                <p:cNvPr id="201" name="TextBox 200"/>
                <p:cNvSpPr txBox="1"/>
                <p:nvPr/>
              </p:nvSpPr>
              <p:spPr>
                <a:xfrm>
                  <a:off x="1551205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57</a:t>
                  </a:r>
                  <a:endParaRPr lang="en-SG" sz="1100" dirty="0"/>
                </a:p>
              </p:txBody>
            </p:sp>
            <p:sp>
              <p:nvSpPr>
                <p:cNvPr id="202" name="TextBox 201"/>
                <p:cNvSpPr txBox="1"/>
                <p:nvPr/>
              </p:nvSpPr>
              <p:spPr>
                <a:xfrm>
                  <a:off x="2050558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60</a:t>
                  </a:r>
                  <a:endParaRPr lang="en-SG" sz="1100" dirty="0"/>
                </a:p>
              </p:txBody>
            </p:sp>
            <p:sp>
              <p:nvSpPr>
                <p:cNvPr id="203" name="TextBox 202"/>
                <p:cNvSpPr txBox="1"/>
                <p:nvPr/>
              </p:nvSpPr>
              <p:spPr>
                <a:xfrm>
                  <a:off x="2549911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63</a:t>
                  </a:r>
                  <a:endParaRPr lang="en-SG" sz="1100" dirty="0"/>
                </a:p>
              </p:txBody>
            </p:sp>
            <p:sp>
              <p:nvSpPr>
                <p:cNvPr id="204" name="TextBox 203"/>
                <p:cNvSpPr txBox="1"/>
                <p:nvPr/>
              </p:nvSpPr>
              <p:spPr>
                <a:xfrm>
                  <a:off x="1551205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52</a:t>
                  </a:r>
                  <a:endParaRPr lang="en-SG" sz="1100" dirty="0"/>
                </a:p>
              </p:txBody>
            </p:sp>
            <p:sp>
              <p:nvSpPr>
                <p:cNvPr id="205" name="TextBox 204"/>
                <p:cNvSpPr txBox="1"/>
                <p:nvPr/>
              </p:nvSpPr>
              <p:spPr>
                <a:xfrm>
                  <a:off x="2050558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59</a:t>
                  </a:r>
                  <a:endParaRPr lang="en-SG" sz="1100" dirty="0"/>
                </a:p>
              </p:txBody>
            </p:sp>
            <p:sp>
              <p:nvSpPr>
                <p:cNvPr id="206" name="TextBox 205"/>
                <p:cNvSpPr txBox="1"/>
                <p:nvPr/>
              </p:nvSpPr>
              <p:spPr>
                <a:xfrm>
                  <a:off x="2549911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66</a:t>
                  </a:r>
                  <a:endParaRPr lang="en-SG" sz="1100" dirty="0"/>
                </a:p>
              </p:txBody>
            </p:sp>
            <p:sp>
              <p:nvSpPr>
                <p:cNvPr id="207" name="TextBox 206"/>
                <p:cNvSpPr txBox="1"/>
                <p:nvPr/>
              </p:nvSpPr>
              <p:spPr>
                <a:xfrm>
                  <a:off x="1551205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33</a:t>
                  </a:r>
                  <a:endParaRPr lang="en-SG" sz="1100" dirty="0"/>
                </a:p>
              </p:txBody>
            </p:sp>
            <p:sp>
              <p:nvSpPr>
                <p:cNvPr id="208" name="TextBox 207"/>
                <p:cNvSpPr txBox="1"/>
                <p:nvPr/>
              </p:nvSpPr>
              <p:spPr>
                <a:xfrm>
                  <a:off x="2050558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42</a:t>
                  </a:r>
                  <a:endParaRPr lang="en-SG" sz="1100" dirty="0"/>
                </a:p>
              </p:txBody>
            </p:sp>
            <p:sp>
              <p:nvSpPr>
                <p:cNvPr id="209" name="TextBox 208"/>
                <p:cNvSpPr txBox="1"/>
                <p:nvPr/>
              </p:nvSpPr>
              <p:spPr>
                <a:xfrm>
                  <a:off x="2549911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37</a:t>
                  </a:r>
                  <a:endParaRPr lang="en-SG" sz="1100" dirty="0"/>
                </a:p>
              </p:txBody>
            </p:sp>
            <p:cxnSp>
              <p:nvCxnSpPr>
                <p:cNvPr id="210" name="Straight Connector 209"/>
                <p:cNvCxnSpPr/>
                <p:nvPr/>
              </p:nvCxnSpPr>
              <p:spPr bwMode="auto">
                <a:xfrm>
                  <a:off x="936622" y="4812382"/>
                  <a:ext cx="2112642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11" name="Straight Connector 210"/>
                <p:cNvCxnSpPr/>
                <p:nvPr/>
              </p:nvCxnSpPr>
              <p:spPr bwMode="auto">
                <a:xfrm>
                  <a:off x="1551205" y="4550772"/>
                  <a:ext cx="0" cy="1697628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212" name="TextBox 211"/>
                <p:cNvSpPr txBox="1"/>
                <p:nvPr/>
              </p:nvSpPr>
              <p:spPr>
                <a:xfrm>
                  <a:off x="936622" y="588960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Lab5</a:t>
                  </a:r>
                  <a:endParaRPr lang="en-SG" sz="1100" dirty="0"/>
                </a:p>
              </p:txBody>
            </p:sp>
            <p:sp>
              <p:nvSpPr>
                <p:cNvPr id="213" name="TextBox 212"/>
                <p:cNvSpPr txBox="1"/>
                <p:nvPr/>
              </p:nvSpPr>
              <p:spPr>
                <a:xfrm>
                  <a:off x="1551205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68</a:t>
                  </a:r>
                  <a:endParaRPr lang="en-SG" sz="1100" dirty="0"/>
                </a:p>
              </p:txBody>
            </p:sp>
            <p:sp>
              <p:nvSpPr>
                <p:cNvPr id="214" name="TextBox 213"/>
                <p:cNvSpPr txBox="1"/>
                <p:nvPr/>
              </p:nvSpPr>
              <p:spPr>
                <a:xfrm>
                  <a:off x="2050558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68</a:t>
                  </a:r>
                  <a:endParaRPr lang="en-SG" sz="1100" dirty="0"/>
                </a:p>
              </p:txBody>
            </p:sp>
            <p:sp>
              <p:nvSpPr>
                <p:cNvPr id="215" name="TextBox 214"/>
                <p:cNvSpPr txBox="1"/>
                <p:nvPr/>
              </p:nvSpPr>
              <p:spPr>
                <a:xfrm>
                  <a:off x="2549911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72</a:t>
                  </a:r>
                  <a:endParaRPr lang="en-SG" sz="1100" dirty="0"/>
                </a:p>
              </p:txBody>
            </p:sp>
          </p:grpSp>
          <p:sp>
            <p:nvSpPr>
              <p:cNvPr id="105" name="TextBox 104"/>
              <p:cNvSpPr txBox="1"/>
              <p:nvPr/>
            </p:nvSpPr>
            <p:spPr>
              <a:xfrm>
                <a:off x="6600850" y="3591808"/>
                <a:ext cx="7700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>
                    <a:solidFill>
                      <a:srgbClr val="800000"/>
                    </a:solidFill>
                  </a:rPr>
                  <a:t>Suise</a:t>
                </a:r>
                <a:endParaRPr lang="en-SG" sz="1600" dirty="0">
                  <a:solidFill>
                    <a:srgbClr val="800000"/>
                  </a:solidFill>
                </a:endParaRPr>
              </a:p>
            </p:txBody>
          </p:sp>
          <p:grpSp>
            <p:nvGrpSpPr>
              <p:cNvPr id="106" name="Group 105"/>
              <p:cNvGrpSpPr/>
              <p:nvPr/>
            </p:nvGrpSpPr>
            <p:grpSpPr>
              <a:xfrm>
                <a:off x="4636891" y="4049556"/>
                <a:ext cx="2112642" cy="1697628"/>
                <a:chOff x="936622" y="4550772"/>
                <a:chExt cx="2112642" cy="1697628"/>
              </a:xfrm>
            </p:grpSpPr>
            <p:sp>
              <p:nvSpPr>
                <p:cNvPr id="164" name="Rectangle 163"/>
                <p:cNvSpPr/>
                <p:nvPr/>
              </p:nvSpPr>
              <p:spPr bwMode="auto">
                <a:xfrm>
                  <a:off x="936622" y="4550772"/>
                  <a:ext cx="2112642" cy="169762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 cap="sq" cmpd="sng" algn="ctr">
                  <a:solidFill>
                    <a:srgbClr val="8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65" name="TextBox 164"/>
                <p:cNvSpPr txBox="1"/>
                <p:nvPr/>
              </p:nvSpPr>
              <p:spPr>
                <a:xfrm>
                  <a:off x="1551205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Ex1</a:t>
                  </a:r>
                  <a:endParaRPr lang="en-SG" sz="1100" dirty="0"/>
                </a:p>
              </p:txBody>
            </p:sp>
            <p:sp>
              <p:nvSpPr>
                <p:cNvPr id="166" name="TextBox 165"/>
                <p:cNvSpPr txBox="1"/>
                <p:nvPr/>
              </p:nvSpPr>
              <p:spPr>
                <a:xfrm>
                  <a:off x="2050558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Ex2</a:t>
                  </a:r>
                  <a:endParaRPr lang="en-SG" sz="1100" dirty="0"/>
                </a:p>
              </p:txBody>
            </p:sp>
            <p:sp>
              <p:nvSpPr>
                <p:cNvPr id="167" name="TextBox 166"/>
                <p:cNvSpPr txBox="1"/>
                <p:nvPr/>
              </p:nvSpPr>
              <p:spPr>
                <a:xfrm>
                  <a:off x="2549911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Ex3</a:t>
                  </a:r>
                  <a:endParaRPr lang="en-SG" sz="1100" dirty="0"/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936622" y="481238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Lab1</a:t>
                  </a:r>
                  <a:endParaRPr lang="en-SG" sz="1100" dirty="0"/>
                </a:p>
              </p:txBody>
            </p:sp>
            <p:sp>
              <p:nvSpPr>
                <p:cNvPr id="169" name="TextBox 168"/>
                <p:cNvSpPr txBox="1"/>
                <p:nvPr/>
              </p:nvSpPr>
              <p:spPr>
                <a:xfrm>
                  <a:off x="936622" y="507399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Lab2</a:t>
                  </a:r>
                  <a:endParaRPr lang="en-SG" sz="1100" dirty="0"/>
                </a:p>
              </p:txBody>
            </p:sp>
            <p:sp>
              <p:nvSpPr>
                <p:cNvPr id="170" name="TextBox 169"/>
                <p:cNvSpPr txBox="1"/>
                <p:nvPr/>
              </p:nvSpPr>
              <p:spPr>
                <a:xfrm>
                  <a:off x="936622" y="536638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Lab3</a:t>
                  </a:r>
                  <a:endParaRPr lang="en-SG" sz="1100" dirty="0"/>
                </a:p>
              </p:txBody>
            </p:sp>
            <p:sp>
              <p:nvSpPr>
                <p:cNvPr id="171" name="TextBox 170"/>
                <p:cNvSpPr txBox="1"/>
                <p:nvPr/>
              </p:nvSpPr>
              <p:spPr>
                <a:xfrm>
                  <a:off x="936622" y="562799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Lab4</a:t>
                  </a:r>
                  <a:endParaRPr lang="en-SG" sz="1100" dirty="0"/>
                </a:p>
              </p:txBody>
            </p:sp>
            <p:sp>
              <p:nvSpPr>
                <p:cNvPr id="172" name="TextBox 171"/>
                <p:cNvSpPr txBox="1"/>
                <p:nvPr/>
              </p:nvSpPr>
              <p:spPr>
                <a:xfrm>
                  <a:off x="1551205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79</a:t>
                  </a:r>
                  <a:endParaRPr lang="en-SG" sz="1100" dirty="0"/>
                </a:p>
              </p:txBody>
            </p:sp>
            <p:sp>
              <p:nvSpPr>
                <p:cNvPr id="173" name="TextBox 172"/>
                <p:cNvSpPr txBox="1"/>
                <p:nvPr/>
              </p:nvSpPr>
              <p:spPr>
                <a:xfrm>
                  <a:off x="2050558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75</a:t>
                  </a:r>
                  <a:endParaRPr lang="en-SG" sz="1100" dirty="0"/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2549911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66</a:t>
                  </a:r>
                  <a:endParaRPr lang="en-SG" sz="1100" dirty="0"/>
                </a:p>
              </p:txBody>
            </p:sp>
            <p:sp>
              <p:nvSpPr>
                <p:cNvPr id="175" name="TextBox 174"/>
                <p:cNvSpPr txBox="1"/>
                <p:nvPr/>
              </p:nvSpPr>
              <p:spPr>
                <a:xfrm>
                  <a:off x="1551205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90</a:t>
                  </a:r>
                  <a:endParaRPr lang="en-SG" sz="1100" dirty="0"/>
                </a:p>
              </p:txBody>
            </p:sp>
            <p:sp>
              <p:nvSpPr>
                <p:cNvPr id="176" name="TextBox 175"/>
                <p:cNvSpPr txBox="1"/>
                <p:nvPr/>
              </p:nvSpPr>
              <p:spPr>
                <a:xfrm>
                  <a:off x="2050558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83</a:t>
                  </a:r>
                  <a:endParaRPr lang="en-SG" sz="1100" dirty="0"/>
                </a:p>
              </p:txBody>
            </p:sp>
            <p:sp>
              <p:nvSpPr>
                <p:cNvPr id="177" name="TextBox 176"/>
                <p:cNvSpPr txBox="1"/>
                <p:nvPr/>
              </p:nvSpPr>
              <p:spPr>
                <a:xfrm>
                  <a:off x="2549911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77</a:t>
                  </a:r>
                  <a:endParaRPr lang="en-SG" sz="1100" dirty="0"/>
                </a:p>
              </p:txBody>
            </p:sp>
            <p:sp>
              <p:nvSpPr>
                <p:cNvPr id="178" name="TextBox 177"/>
                <p:cNvSpPr txBox="1"/>
                <p:nvPr/>
              </p:nvSpPr>
              <p:spPr>
                <a:xfrm>
                  <a:off x="1551205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81</a:t>
                  </a:r>
                  <a:endParaRPr lang="en-SG" sz="1100" dirty="0"/>
                </a:p>
              </p:txBody>
            </p:sp>
            <p:sp>
              <p:nvSpPr>
                <p:cNvPr id="179" name="TextBox 178"/>
                <p:cNvSpPr txBox="1"/>
                <p:nvPr/>
              </p:nvSpPr>
              <p:spPr>
                <a:xfrm>
                  <a:off x="2050558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73</a:t>
                  </a:r>
                  <a:endParaRPr lang="en-SG" sz="1100" dirty="0"/>
                </a:p>
              </p:txBody>
            </p:sp>
            <p:sp>
              <p:nvSpPr>
                <p:cNvPr id="180" name="TextBox 179"/>
                <p:cNvSpPr txBox="1"/>
                <p:nvPr/>
              </p:nvSpPr>
              <p:spPr>
                <a:xfrm>
                  <a:off x="2549911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79</a:t>
                  </a:r>
                  <a:endParaRPr lang="en-SG" sz="1100" dirty="0"/>
                </a:p>
              </p:txBody>
            </p:sp>
            <p:sp>
              <p:nvSpPr>
                <p:cNvPr id="181" name="TextBox 180"/>
                <p:cNvSpPr txBox="1"/>
                <p:nvPr/>
              </p:nvSpPr>
              <p:spPr>
                <a:xfrm>
                  <a:off x="1551205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58</a:t>
                  </a:r>
                  <a:endParaRPr lang="en-SG" sz="1100" dirty="0"/>
                </a:p>
              </p:txBody>
            </p:sp>
            <p:sp>
              <p:nvSpPr>
                <p:cNvPr id="182" name="TextBox 181"/>
                <p:cNvSpPr txBox="1"/>
                <p:nvPr/>
              </p:nvSpPr>
              <p:spPr>
                <a:xfrm>
                  <a:off x="2050558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64</a:t>
                  </a:r>
                  <a:endParaRPr lang="en-SG" sz="1100" dirty="0"/>
                </a:p>
              </p:txBody>
            </p:sp>
            <p:sp>
              <p:nvSpPr>
                <p:cNvPr id="183" name="TextBox 182"/>
                <p:cNvSpPr txBox="1"/>
                <p:nvPr/>
              </p:nvSpPr>
              <p:spPr>
                <a:xfrm>
                  <a:off x="2549911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52</a:t>
                  </a:r>
                  <a:endParaRPr lang="en-SG" sz="1100" dirty="0"/>
                </a:p>
              </p:txBody>
            </p:sp>
            <p:cxnSp>
              <p:nvCxnSpPr>
                <p:cNvPr id="184" name="Straight Connector 183"/>
                <p:cNvCxnSpPr/>
                <p:nvPr/>
              </p:nvCxnSpPr>
              <p:spPr bwMode="auto">
                <a:xfrm>
                  <a:off x="936622" y="4812382"/>
                  <a:ext cx="2112642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5" name="Straight Connector 184"/>
                <p:cNvCxnSpPr/>
                <p:nvPr/>
              </p:nvCxnSpPr>
              <p:spPr bwMode="auto">
                <a:xfrm>
                  <a:off x="1551205" y="4550772"/>
                  <a:ext cx="0" cy="1697628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86" name="TextBox 185"/>
                <p:cNvSpPr txBox="1"/>
                <p:nvPr/>
              </p:nvSpPr>
              <p:spPr>
                <a:xfrm>
                  <a:off x="936622" y="588960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Lab5</a:t>
                  </a:r>
                  <a:endParaRPr lang="en-SG" sz="1100" dirty="0"/>
                </a:p>
              </p:txBody>
            </p:sp>
            <p:sp>
              <p:nvSpPr>
                <p:cNvPr id="187" name="TextBox 186"/>
                <p:cNvSpPr txBox="1"/>
                <p:nvPr/>
              </p:nvSpPr>
              <p:spPr>
                <a:xfrm>
                  <a:off x="1551205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93</a:t>
                  </a:r>
                  <a:endParaRPr lang="en-SG" sz="1100" dirty="0"/>
                </a:p>
              </p:txBody>
            </p:sp>
            <p:sp>
              <p:nvSpPr>
                <p:cNvPr id="188" name="TextBox 187"/>
                <p:cNvSpPr txBox="1"/>
                <p:nvPr/>
              </p:nvSpPr>
              <p:spPr>
                <a:xfrm>
                  <a:off x="2050558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80</a:t>
                  </a:r>
                  <a:endParaRPr lang="en-SG" sz="1100" dirty="0"/>
                </a:p>
              </p:txBody>
            </p:sp>
            <p:sp>
              <p:nvSpPr>
                <p:cNvPr id="189" name="TextBox 188"/>
                <p:cNvSpPr txBox="1"/>
                <p:nvPr/>
              </p:nvSpPr>
              <p:spPr>
                <a:xfrm>
                  <a:off x="2549911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85</a:t>
                  </a:r>
                  <a:endParaRPr lang="en-SG" sz="1100" dirty="0"/>
                </a:p>
              </p:txBody>
            </p:sp>
          </p:grpSp>
          <p:grpSp>
            <p:nvGrpSpPr>
              <p:cNvPr id="107" name="Group 106"/>
              <p:cNvGrpSpPr/>
              <p:nvPr/>
            </p:nvGrpSpPr>
            <p:grpSpPr>
              <a:xfrm>
                <a:off x="2658002" y="4225178"/>
                <a:ext cx="2112642" cy="1697628"/>
                <a:chOff x="936622" y="4550772"/>
                <a:chExt cx="2112642" cy="1697628"/>
              </a:xfrm>
            </p:grpSpPr>
            <p:sp>
              <p:nvSpPr>
                <p:cNvPr id="138" name="Rectangle 137"/>
                <p:cNvSpPr/>
                <p:nvPr/>
              </p:nvSpPr>
              <p:spPr bwMode="auto">
                <a:xfrm>
                  <a:off x="936622" y="4550772"/>
                  <a:ext cx="2112642" cy="169762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 cap="sq" cmpd="sng" algn="ctr">
                  <a:solidFill>
                    <a:srgbClr val="8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39" name="TextBox 138"/>
                <p:cNvSpPr txBox="1"/>
                <p:nvPr/>
              </p:nvSpPr>
              <p:spPr>
                <a:xfrm>
                  <a:off x="1551205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Ex1</a:t>
                  </a:r>
                  <a:endParaRPr lang="en-SG" sz="1100" dirty="0"/>
                </a:p>
              </p:txBody>
            </p:sp>
            <p:sp>
              <p:nvSpPr>
                <p:cNvPr id="140" name="TextBox 139"/>
                <p:cNvSpPr txBox="1"/>
                <p:nvPr/>
              </p:nvSpPr>
              <p:spPr>
                <a:xfrm>
                  <a:off x="2050558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Ex2</a:t>
                  </a:r>
                  <a:endParaRPr lang="en-SG" sz="1100" dirty="0"/>
                </a:p>
              </p:txBody>
            </p:sp>
            <p:sp>
              <p:nvSpPr>
                <p:cNvPr id="141" name="TextBox 140"/>
                <p:cNvSpPr txBox="1"/>
                <p:nvPr/>
              </p:nvSpPr>
              <p:spPr>
                <a:xfrm>
                  <a:off x="2549911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Ex3</a:t>
                  </a:r>
                  <a:endParaRPr lang="en-SG" sz="1100" dirty="0"/>
                </a:p>
              </p:txBody>
            </p:sp>
            <p:sp>
              <p:nvSpPr>
                <p:cNvPr id="142" name="TextBox 141"/>
                <p:cNvSpPr txBox="1"/>
                <p:nvPr/>
              </p:nvSpPr>
              <p:spPr>
                <a:xfrm>
                  <a:off x="936622" y="481238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Lab1</a:t>
                  </a:r>
                  <a:endParaRPr lang="en-SG" sz="1100" dirty="0"/>
                </a:p>
              </p:txBody>
            </p:sp>
            <p:sp>
              <p:nvSpPr>
                <p:cNvPr id="143" name="TextBox 142"/>
                <p:cNvSpPr txBox="1"/>
                <p:nvPr/>
              </p:nvSpPr>
              <p:spPr>
                <a:xfrm>
                  <a:off x="936622" y="507399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Lab2</a:t>
                  </a:r>
                  <a:endParaRPr lang="en-SG" sz="1100" dirty="0"/>
                </a:p>
              </p:txBody>
            </p:sp>
            <p:sp>
              <p:nvSpPr>
                <p:cNvPr id="144" name="TextBox 143"/>
                <p:cNvSpPr txBox="1"/>
                <p:nvPr/>
              </p:nvSpPr>
              <p:spPr>
                <a:xfrm>
                  <a:off x="936622" y="536638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Lab3</a:t>
                  </a:r>
                  <a:endParaRPr lang="en-SG" sz="1100" dirty="0"/>
                </a:p>
              </p:txBody>
            </p:sp>
            <p:sp>
              <p:nvSpPr>
                <p:cNvPr id="145" name="TextBox 144"/>
                <p:cNvSpPr txBox="1"/>
                <p:nvPr/>
              </p:nvSpPr>
              <p:spPr>
                <a:xfrm>
                  <a:off x="936622" y="562799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Lab4</a:t>
                  </a:r>
                  <a:endParaRPr lang="en-SG" sz="1100" dirty="0"/>
                </a:p>
              </p:txBody>
            </p:sp>
            <p:sp>
              <p:nvSpPr>
                <p:cNvPr id="146" name="TextBox 145"/>
                <p:cNvSpPr txBox="1"/>
                <p:nvPr/>
              </p:nvSpPr>
              <p:spPr>
                <a:xfrm>
                  <a:off x="1551205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59</a:t>
                  </a:r>
                  <a:endParaRPr lang="en-SG" sz="1100" dirty="0"/>
                </a:p>
              </p:txBody>
            </p:sp>
            <p:sp>
              <p:nvSpPr>
                <p:cNvPr id="147" name="TextBox 146"/>
                <p:cNvSpPr txBox="1"/>
                <p:nvPr/>
              </p:nvSpPr>
              <p:spPr>
                <a:xfrm>
                  <a:off x="2050558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68</a:t>
                  </a:r>
                  <a:endParaRPr lang="en-SG" sz="1100" dirty="0"/>
                </a:p>
              </p:txBody>
            </p:sp>
            <p:sp>
              <p:nvSpPr>
                <p:cNvPr id="148" name="TextBox 147"/>
                <p:cNvSpPr txBox="1"/>
                <p:nvPr/>
              </p:nvSpPr>
              <p:spPr>
                <a:xfrm>
                  <a:off x="2549911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60</a:t>
                  </a:r>
                  <a:endParaRPr lang="en-SG" sz="1100" dirty="0"/>
                </a:p>
              </p:txBody>
            </p:sp>
            <p:sp>
              <p:nvSpPr>
                <p:cNvPr id="149" name="TextBox 148"/>
                <p:cNvSpPr txBox="1"/>
                <p:nvPr/>
              </p:nvSpPr>
              <p:spPr>
                <a:xfrm>
                  <a:off x="1551205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0</a:t>
                  </a:r>
                  <a:endParaRPr lang="en-SG" sz="1100" dirty="0"/>
                </a:p>
              </p:txBody>
            </p:sp>
            <p:sp>
              <p:nvSpPr>
                <p:cNvPr id="150" name="TextBox 149"/>
                <p:cNvSpPr txBox="1"/>
                <p:nvPr/>
              </p:nvSpPr>
              <p:spPr>
                <a:xfrm>
                  <a:off x="2050558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0</a:t>
                  </a:r>
                  <a:endParaRPr lang="en-SG" sz="1100" dirty="0"/>
                </a:p>
              </p:txBody>
            </p:sp>
            <p:sp>
              <p:nvSpPr>
                <p:cNvPr id="151" name="TextBox 150"/>
                <p:cNvSpPr txBox="1"/>
                <p:nvPr/>
              </p:nvSpPr>
              <p:spPr>
                <a:xfrm>
                  <a:off x="2549911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0</a:t>
                  </a:r>
                  <a:endParaRPr lang="en-SG" sz="1100" dirty="0"/>
                </a:p>
              </p:txBody>
            </p:sp>
            <p:sp>
              <p:nvSpPr>
                <p:cNvPr id="152" name="TextBox 151"/>
                <p:cNvSpPr txBox="1"/>
                <p:nvPr/>
              </p:nvSpPr>
              <p:spPr>
                <a:xfrm>
                  <a:off x="1551205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67</a:t>
                  </a:r>
                  <a:endParaRPr lang="en-SG" sz="1100" dirty="0"/>
                </a:p>
              </p:txBody>
            </p:sp>
            <p:sp>
              <p:nvSpPr>
                <p:cNvPr id="153" name="TextBox 152"/>
                <p:cNvSpPr txBox="1"/>
                <p:nvPr/>
              </p:nvSpPr>
              <p:spPr>
                <a:xfrm>
                  <a:off x="2050558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71</a:t>
                  </a:r>
                  <a:endParaRPr lang="en-SG" sz="1100" dirty="0"/>
                </a:p>
              </p:txBody>
            </p:sp>
            <p:sp>
              <p:nvSpPr>
                <p:cNvPr id="154" name="TextBox 153"/>
                <p:cNvSpPr txBox="1"/>
                <p:nvPr/>
              </p:nvSpPr>
              <p:spPr>
                <a:xfrm>
                  <a:off x="2549911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75</a:t>
                  </a:r>
                  <a:endParaRPr lang="en-SG" sz="1100" dirty="0"/>
                </a:p>
              </p:txBody>
            </p:sp>
            <p:sp>
              <p:nvSpPr>
                <p:cNvPr id="155" name="TextBox 154"/>
                <p:cNvSpPr txBox="1"/>
                <p:nvPr/>
              </p:nvSpPr>
              <p:spPr>
                <a:xfrm>
                  <a:off x="1551205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38</a:t>
                  </a:r>
                  <a:endParaRPr lang="en-SG" sz="1100" dirty="0"/>
                </a:p>
              </p:txBody>
            </p:sp>
            <p:sp>
              <p:nvSpPr>
                <p:cNvPr id="156" name="TextBox 155"/>
                <p:cNvSpPr txBox="1"/>
                <p:nvPr/>
              </p:nvSpPr>
              <p:spPr>
                <a:xfrm>
                  <a:off x="2050558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52</a:t>
                  </a:r>
                  <a:endParaRPr lang="en-SG" sz="1100" dirty="0"/>
                </a:p>
              </p:txBody>
            </p:sp>
            <p:sp>
              <p:nvSpPr>
                <p:cNvPr id="157" name="TextBox 156"/>
                <p:cNvSpPr txBox="1"/>
                <p:nvPr/>
              </p:nvSpPr>
              <p:spPr>
                <a:xfrm>
                  <a:off x="2549911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35</a:t>
                  </a:r>
                  <a:endParaRPr lang="en-SG" sz="1100" dirty="0"/>
                </a:p>
              </p:txBody>
            </p:sp>
            <p:cxnSp>
              <p:nvCxnSpPr>
                <p:cNvPr id="158" name="Straight Connector 157"/>
                <p:cNvCxnSpPr/>
                <p:nvPr/>
              </p:nvCxnSpPr>
              <p:spPr bwMode="auto">
                <a:xfrm>
                  <a:off x="936622" y="4812382"/>
                  <a:ext cx="2112642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59" name="Straight Connector 158"/>
                <p:cNvCxnSpPr/>
                <p:nvPr/>
              </p:nvCxnSpPr>
              <p:spPr bwMode="auto">
                <a:xfrm>
                  <a:off x="1551205" y="4550772"/>
                  <a:ext cx="0" cy="1697628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60" name="TextBox 159"/>
                <p:cNvSpPr txBox="1"/>
                <p:nvPr/>
              </p:nvSpPr>
              <p:spPr>
                <a:xfrm>
                  <a:off x="936622" y="588960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Lab5</a:t>
                  </a:r>
                  <a:endParaRPr lang="en-SG" sz="1100" dirty="0"/>
                </a:p>
              </p:txBody>
            </p:sp>
            <p:sp>
              <p:nvSpPr>
                <p:cNvPr id="161" name="TextBox 160"/>
                <p:cNvSpPr txBox="1"/>
                <p:nvPr/>
              </p:nvSpPr>
              <p:spPr>
                <a:xfrm>
                  <a:off x="1551205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78</a:t>
                  </a:r>
                  <a:endParaRPr lang="en-SG" sz="1100" dirty="0"/>
                </a:p>
              </p:txBody>
            </p:sp>
            <p:sp>
              <p:nvSpPr>
                <p:cNvPr id="162" name="TextBox 161"/>
                <p:cNvSpPr txBox="1"/>
                <p:nvPr/>
              </p:nvSpPr>
              <p:spPr>
                <a:xfrm>
                  <a:off x="2050558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86</a:t>
                  </a:r>
                  <a:endParaRPr lang="en-SG" sz="1100" dirty="0"/>
                </a:p>
              </p:txBody>
            </p:sp>
            <p:sp>
              <p:nvSpPr>
                <p:cNvPr id="163" name="TextBox 162"/>
                <p:cNvSpPr txBox="1"/>
                <p:nvPr/>
              </p:nvSpPr>
              <p:spPr>
                <a:xfrm>
                  <a:off x="2549911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82</a:t>
                  </a:r>
                  <a:endParaRPr lang="en-SG" sz="1100" dirty="0"/>
                </a:p>
              </p:txBody>
            </p:sp>
          </p:grpSp>
          <p:sp>
            <p:nvSpPr>
              <p:cNvPr id="108" name="TextBox 107"/>
              <p:cNvSpPr txBox="1"/>
              <p:nvPr/>
            </p:nvSpPr>
            <p:spPr>
              <a:xfrm>
                <a:off x="587891" y="4212218"/>
                <a:ext cx="7700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800000"/>
                    </a:solidFill>
                  </a:rPr>
                  <a:t>Emily</a:t>
                </a:r>
                <a:endParaRPr lang="en-SG" sz="1600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>
                <a:off x="2537947" y="3917401"/>
                <a:ext cx="7700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>
                    <a:solidFill>
                      <a:srgbClr val="800000"/>
                    </a:solidFill>
                  </a:rPr>
                  <a:t>Zass</a:t>
                </a:r>
                <a:endParaRPr lang="en-SG" sz="1600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4633174" y="3711002"/>
                <a:ext cx="7700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>
                    <a:solidFill>
                      <a:srgbClr val="800000"/>
                    </a:solidFill>
                  </a:rPr>
                  <a:t>Jerna</a:t>
                </a:r>
                <a:endParaRPr lang="en-SG" sz="1600" dirty="0">
                  <a:solidFill>
                    <a:srgbClr val="800000"/>
                  </a:solidFill>
                </a:endParaRPr>
              </a:p>
            </p:txBody>
          </p:sp>
          <p:grpSp>
            <p:nvGrpSpPr>
              <p:cNvPr id="111" name="Group 110"/>
              <p:cNvGrpSpPr/>
              <p:nvPr/>
            </p:nvGrpSpPr>
            <p:grpSpPr>
              <a:xfrm>
                <a:off x="760952" y="4550772"/>
                <a:ext cx="2112642" cy="1697628"/>
                <a:chOff x="936622" y="4550772"/>
                <a:chExt cx="2112642" cy="1697628"/>
              </a:xfrm>
            </p:grpSpPr>
            <p:sp>
              <p:nvSpPr>
                <p:cNvPr id="112" name="Rectangle 111"/>
                <p:cNvSpPr/>
                <p:nvPr/>
              </p:nvSpPr>
              <p:spPr bwMode="auto">
                <a:xfrm>
                  <a:off x="936622" y="4550772"/>
                  <a:ext cx="2112642" cy="169762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 cap="sq" cmpd="sng" algn="ctr">
                  <a:solidFill>
                    <a:srgbClr val="8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3" name="TextBox 112"/>
                <p:cNvSpPr txBox="1"/>
                <p:nvPr/>
              </p:nvSpPr>
              <p:spPr>
                <a:xfrm>
                  <a:off x="1551205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Ex1</a:t>
                  </a:r>
                  <a:endParaRPr lang="en-SG" sz="1100" dirty="0"/>
                </a:p>
              </p:txBody>
            </p:sp>
            <p:sp>
              <p:nvSpPr>
                <p:cNvPr id="114" name="TextBox 113"/>
                <p:cNvSpPr txBox="1"/>
                <p:nvPr/>
              </p:nvSpPr>
              <p:spPr>
                <a:xfrm>
                  <a:off x="2050558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Ex2</a:t>
                  </a:r>
                  <a:endParaRPr lang="en-SG" sz="1100" dirty="0"/>
                </a:p>
              </p:txBody>
            </p:sp>
            <p:sp>
              <p:nvSpPr>
                <p:cNvPr id="115" name="TextBox 114"/>
                <p:cNvSpPr txBox="1"/>
                <p:nvPr/>
              </p:nvSpPr>
              <p:spPr>
                <a:xfrm>
                  <a:off x="2549911" y="455077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Ex3</a:t>
                  </a:r>
                  <a:endParaRPr lang="en-SG" sz="1100" dirty="0"/>
                </a:p>
              </p:txBody>
            </p:sp>
            <p:sp>
              <p:nvSpPr>
                <p:cNvPr id="116" name="TextBox 115"/>
                <p:cNvSpPr txBox="1"/>
                <p:nvPr/>
              </p:nvSpPr>
              <p:spPr>
                <a:xfrm>
                  <a:off x="936622" y="481238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Lab1</a:t>
                  </a:r>
                  <a:endParaRPr lang="en-SG" sz="1100" dirty="0"/>
                </a:p>
              </p:txBody>
            </p:sp>
            <p:sp>
              <p:nvSpPr>
                <p:cNvPr id="117" name="TextBox 116"/>
                <p:cNvSpPr txBox="1"/>
                <p:nvPr/>
              </p:nvSpPr>
              <p:spPr>
                <a:xfrm>
                  <a:off x="936622" y="5073992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Lab2</a:t>
                  </a:r>
                  <a:endParaRPr lang="en-SG" sz="1100" dirty="0"/>
                </a:p>
              </p:txBody>
            </p:sp>
            <p:sp>
              <p:nvSpPr>
                <p:cNvPr id="118" name="TextBox 117"/>
                <p:cNvSpPr txBox="1"/>
                <p:nvPr/>
              </p:nvSpPr>
              <p:spPr>
                <a:xfrm>
                  <a:off x="936622" y="536638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Lab3</a:t>
                  </a:r>
                  <a:endParaRPr lang="en-SG" sz="1100" dirty="0"/>
                </a:p>
              </p:txBody>
            </p:sp>
            <p:sp>
              <p:nvSpPr>
                <p:cNvPr id="119" name="TextBox 118"/>
                <p:cNvSpPr txBox="1"/>
                <p:nvPr/>
              </p:nvSpPr>
              <p:spPr>
                <a:xfrm>
                  <a:off x="936622" y="562799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Lab4</a:t>
                  </a:r>
                  <a:endParaRPr lang="en-SG" sz="1100" dirty="0"/>
                </a:p>
              </p:txBody>
            </p:sp>
            <p:sp>
              <p:nvSpPr>
                <p:cNvPr id="120" name="TextBox 119"/>
                <p:cNvSpPr txBox="1"/>
                <p:nvPr/>
              </p:nvSpPr>
              <p:spPr>
                <a:xfrm>
                  <a:off x="1551205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76</a:t>
                  </a:r>
                  <a:endParaRPr lang="en-SG" sz="1100" dirty="0"/>
                </a:p>
              </p:txBody>
            </p:sp>
            <p:sp>
              <p:nvSpPr>
                <p:cNvPr id="121" name="TextBox 120"/>
                <p:cNvSpPr txBox="1"/>
                <p:nvPr/>
              </p:nvSpPr>
              <p:spPr>
                <a:xfrm>
                  <a:off x="2050558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80</a:t>
                  </a:r>
                  <a:endParaRPr lang="en-SG" sz="1100" dirty="0"/>
                </a:p>
              </p:txBody>
            </p:sp>
            <p:sp>
              <p:nvSpPr>
                <p:cNvPr id="122" name="TextBox 121"/>
                <p:cNvSpPr txBox="1"/>
                <p:nvPr/>
              </p:nvSpPr>
              <p:spPr>
                <a:xfrm>
                  <a:off x="2549911" y="481238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62</a:t>
                  </a:r>
                  <a:endParaRPr lang="en-SG" sz="1100" dirty="0"/>
                </a:p>
              </p:txBody>
            </p:sp>
            <p:sp>
              <p:nvSpPr>
                <p:cNvPr id="123" name="TextBox 122"/>
                <p:cNvSpPr txBox="1"/>
                <p:nvPr/>
              </p:nvSpPr>
              <p:spPr>
                <a:xfrm>
                  <a:off x="1551205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60</a:t>
                  </a:r>
                  <a:endParaRPr lang="en-SG" sz="1100" dirty="0"/>
                </a:p>
              </p:txBody>
            </p:sp>
            <p:sp>
              <p:nvSpPr>
                <p:cNvPr id="124" name="TextBox 123"/>
                <p:cNvSpPr txBox="1"/>
                <p:nvPr/>
              </p:nvSpPr>
              <p:spPr>
                <a:xfrm>
                  <a:off x="2050558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72</a:t>
                  </a:r>
                  <a:endParaRPr lang="en-SG" sz="1100" dirty="0"/>
                </a:p>
              </p:txBody>
            </p:sp>
            <p:sp>
              <p:nvSpPr>
                <p:cNvPr id="125" name="TextBox 124"/>
                <p:cNvSpPr txBox="1"/>
                <p:nvPr/>
              </p:nvSpPr>
              <p:spPr>
                <a:xfrm>
                  <a:off x="2549911" y="5073992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48</a:t>
                  </a:r>
                  <a:endParaRPr lang="en-SG" sz="1100" dirty="0"/>
                </a:p>
              </p:txBody>
            </p:sp>
            <p:sp>
              <p:nvSpPr>
                <p:cNvPr id="126" name="TextBox 125"/>
                <p:cNvSpPr txBox="1"/>
                <p:nvPr/>
              </p:nvSpPr>
              <p:spPr>
                <a:xfrm>
                  <a:off x="1551205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76</a:t>
                  </a:r>
                  <a:endParaRPr lang="en-SG" sz="1100" dirty="0"/>
                </a:p>
              </p:txBody>
            </p:sp>
            <p:sp>
              <p:nvSpPr>
                <p:cNvPr id="127" name="TextBox 126"/>
                <p:cNvSpPr txBox="1"/>
                <p:nvPr/>
              </p:nvSpPr>
              <p:spPr>
                <a:xfrm>
                  <a:off x="2050558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80</a:t>
                  </a:r>
                  <a:endParaRPr lang="en-SG" sz="1100" dirty="0"/>
                </a:p>
              </p:txBody>
            </p:sp>
            <p:sp>
              <p:nvSpPr>
                <p:cNvPr id="128" name="TextBox 127"/>
                <p:cNvSpPr txBox="1"/>
                <p:nvPr/>
              </p:nvSpPr>
              <p:spPr>
                <a:xfrm>
                  <a:off x="2549911" y="536638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62</a:t>
                  </a:r>
                  <a:endParaRPr lang="en-SG" sz="1100" dirty="0"/>
                </a:p>
              </p:txBody>
            </p:sp>
            <p:sp>
              <p:nvSpPr>
                <p:cNvPr id="129" name="TextBox 128"/>
                <p:cNvSpPr txBox="1"/>
                <p:nvPr/>
              </p:nvSpPr>
              <p:spPr>
                <a:xfrm>
                  <a:off x="1551205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60</a:t>
                  </a:r>
                  <a:endParaRPr lang="en-SG" sz="1100" dirty="0"/>
                </a:p>
              </p:txBody>
            </p:sp>
            <p:sp>
              <p:nvSpPr>
                <p:cNvPr id="130" name="TextBox 129"/>
                <p:cNvSpPr txBox="1"/>
                <p:nvPr/>
              </p:nvSpPr>
              <p:spPr>
                <a:xfrm>
                  <a:off x="2050558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72</a:t>
                  </a:r>
                  <a:endParaRPr lang="en-SG" sz="1100" dirty="0"/>
                </a:p>
              </p:txBody>
            </p:sp>
            <p:sp>
              <p:nvSpPr>
                <p:cNvPr id="131" name="TextBox 130"/>
                <p:cNvSpPr txBox="1"/>
                <p:nvPr/>
              </p:nvSpPr>
              <p:spPr>
                <a:xfrm>
                  <a:off x="2549911" y="562799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48</a:t>
                  </a:r>
                  <a:endParaRPr lang="en-SG" sz="1100" dirty="0"/>
                </a:p>
              </p:txBody>
            </p:sp>
            <p:cxnSp>
              <p:nvCxnSpPr>
                <p:cNvPr id="132" name="Straight Connector 131"/>
                <p:cNvCxnSpPr/>
                <p:nvPr/>
              </p:nvCxnSpPr>
              <p:spPr bwMode="auto">
                <a:xfrm>
                  <a:off x="936622" y="4812382"/>
                  <a:ext cx="2112642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3" name="Straight Connector 132"/>
                <p:cNvCxnSpPr/>
                <p:nvPr/>
              </p:nvCxnSpPr>
              <p:spPr bwMode="auto">
                <a:xfrm>
                  <a:off x="1551205" y="4550772"/>
                  <a:ext cx="0" cy="1697628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34" name="TextBox 133"/>
                <p:cNvSpPr txBox="1"/>
                <p:nvPr/>
              </p:nvSpPr>
              <p:spPr>
                <a:xfrm>
                  <a:off x="936622" y="5889600"/>
                  <a:ext cx="6690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Lab5</a:t>
                  </a:r>
                  <a:endParaRPr lang="en-SG" sz="1100" dirty="0"/>
                </a:p>
              </p:txBody>
            </p:sp>
            <p:sp>
              <p:nvSpPr>
                <p:cNvPr id="135" name="TextBox 134"/>
                <p:cNvSpPr txBox="1"/>
                <p:nvPr/>
              </p:nvSpPr>
              <p:spPr>
                <a:xfrm>
                  <a:off x="1551205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58</a:t>
                  </a:r>
                  <a:endParaRPr lang="en-SG" sz="1100" dirty="0"/>
                </a:p>
              </p:txBody>
            </p:sp>
            <p:sp>
              <p:nvSpPr>
                <p:cNvPr id="136" name="TextBox 135"/>
                <p:cNvSpPr txBox="1"/>
                <p:nvPr/>
              </p:nvSpPr>
              <p:spPr>
                <a:xfrm>
                  <a:off x="2050558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79</a:t>
                  </a:r>
                  <a:endParaRPr lang="en-SG" sz="1100" dirty="0"/>
                </a:p>
              </p:txBody>
            </p:sp>
            <p:sp>
              <p:nvSpPr>
                <p:cNvPr id="137" name="TextBox 136"/>
                <p:cNvSpPr txBox="1"/>
                <p:nvPr/>
              </p:nvSpPr>
              <p:spPr>
                <a:xfrm>
                  <a:off x="2549911" y="5889600"/>
                  <a:ext cx="4993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73</a:t>
                  </a:r>
                  <a:endParaRPr lang="en-SG" sz="1100" dirty="0"/>
                </a:p>
              </p:txBody>
            </p:sp>
          </p:grpSp>
        </p:grpSp>
      </p:grpSp>
      <p:sp>
        <p:nvSpPr>
          <p:cNvPr id="217" name="TextBox 216"/>
          <p:cNvSpPr txBox="1"/>
          <p:nvPr/>
        </p:nvSpPr>
        <p:spPr>
          <a:xfrm>
            <a:off x="1129990" y="3320404"/>
            <a:ext cx="1862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00FF"/>
                </a:solidFill>
              </a:rPr>
              <a:t>Tic Tac Toe: 3 x 3</a:t>
            </a:r>
            <a:endParaRPr lang="en-SG" sz="1600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DD5466-4CAE-A3EF-C128-EE09B609D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1026" name="Picture 2" descr="Tic-Tac-Toe -- from Wolfram MathWorld">
            <a:extLst>
              <a:ext uri="{FF2B5EF4-FFF2-40B4-BE49-F238E27FC236}">
                <a16:creationId xmlns:a16="http://schemas.microsoft.com/office/drawing/2014/main" id="{9A42E497-C97F-D792-5CB5-0D9A8993D0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1440722" y="2094233"/>
            <a:ext cx="1240790" cy="117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9484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Multi-dimensional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Unit19 - </a:t>
            </a:r>
            <a:fld id="{F7EC234A-9094-4BB8-9EA4-75ECDA8A365B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1371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In general, an array can have any number of dimensions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Example of a </a:t>
            </a:r>
            <a:r>
              <a:rPr lang="en-US" dirty="0"/>
              <a:t>Fixed-Length</a:t>
            </a:r>
            <a:r>
              <a:rPr lang="en-GB" dirty="0"/>
              <a:t> 2-dimensional (2D) array: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638" y="2616435"/>
            <a:ext cx="4264025" cy="13223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with 3 rows, 5 columns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9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= 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+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7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623888" y="4191990"/>
            <a:ext cx="7948612" cy="855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400" dirty="0"/>
              <a:t>Fixed-Length</a:t>
            </a:r>
            <a:r>
              <a:rPr lang="en-GB" sz="2400" dirty="0"/>
              <a:t> 2D Arrays are stored in </a:t>
            </a:r>
            <a:r>
              <a:rPr lang="en-GB" sz="2400" dirty="0">
                <a:solidFill>
                  <a:srgbClr val="0000FF"/>
                </a:solidFill>
              </a:rPr>
              <a:t>row-major order</a:t>
            </a:r>
          </a:p>
          <a:p>
            <a:pPr lvl="1" eaLnBrk="1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000" dirty="0"/>
              <a:t>That is, elements in row 0 comes before row 1, etc.</a:t>
            </a:r>
            <a:endParaRPr lang="en-GB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</a:pPr>
            <a:endParaRPr lang="en-GB" sz="2400" b="1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</a:pPr>
            <a:endParaRPr lang="en-GB" sz="2000" dirty="0">
              <a:solidFill>
                <a:srgbClr val="0000FF"/>
              </a:solidFill>
            </a:endParaRPr>
          </a:p>
        </p:txBody>
      </p:sp>
      <p:grpSp>
        <p:nvGrpSpPr>
          <p:cNvPr id="21" name="Group 51"/>
          <p:cNvGrpSpPr>
            <a:grpSpLocks/>
          </p:cNvGrpSpPr>
          <p:nvPr/>
        </p:nvGrpSpPr>
        <p:grpSpPr bwMode="auto">
          <a:xfrm>
            <a:off x="974725" y="5207476"/>
            <a:ext cx="7445375" cy="1027112"/>
            <a:chOff x="974271" y="5024846"/>
            <a:chExt cx="7445829" cy="1026226"/>
          </a:xfrm>
        </p:grpSpPr>
        <p:grpSp>
          <p:nvGrpSpPr>
            <p:cNvPr id="22" name="Group 44"/>
            <p:cNvGrpSpPr>
              <a:grpSpLocks/>
            </p:cNvGrpSpPr>
            <p:nvPr/>
          </p:nvGrpSpPr>
          <p:grpSpPr bwMode="auto">
            <a:xfrm>
              <a:off x="974271" y="5024846"/>
              <a:ext cx="7445829" cy="365760"/>
              <a:chOff x="974271" y="5024846"/>
              <a:chExt cx="7445829" cy="365760"/>
            </a:xfrm>
          </p:grpSpPr>
          <p:sp>
            <p:nvSpPr>
              <p:cNvPr id="29" name="TextBox 34"/>
              <p:cNvSpPr txBox="1">
                <a:spLocks noChangeArrowheads="1"/>
              </p:cNvSpPr>
              <p:nvPr/>
            </p:nvSpPr>
            <p:spPr bwMode="auto">
              <a:xfrm>
                <a:off x="974271" y="5024846"/>
                <a:ext cx="1005840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a[0][0]</a:t>
                </a:r>
                <a:endParaRPr lang="en-SG"/>
              </a:p>
            </p:txBody>
          </p:sp>
          <p:sp>
            <p:nvSpPr>
              <p:cNvPr id="30" name="TextBox 35"/>
              <p:cNvSpPr txBox="1">
                <a:spLocks noChangeArrowheads="1"/>
              </p:cNvSpPr>
              <p:nvPr/>
            </p:nvSpPr>
            <p:spPr bwMode="auto">
              <a:xfrm>
                <a:off x="1980111" y="5024846"/>
                <a:ext cx="470263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…</a:t>
                </a:r>
                <a:endParaRPr lang="en-SG"/>
              </a:p>
            </p:txBody>
          </p:sp>
          <p:sp>
            <p:nvSpPr>
              <p:cNvPr id="32" name="TextBox 36"/>
              <p:cNvSpPr txBox="1">
                <a:spLocks noChangeArrowheads="1"/>
              </p:cNvSpPr>
              <p:nvPr/>
            </p:nvSpPr>
            <p:spPr bwMode="auto">
              <a:xfrm>
                <a:off x="2450374" y="5024846"/>
                <a:ext cx="1005840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a[0][4]</a:t>
                </a:r>
                <a:endParaRPr lang="en-SG"/>
              </a:p>
            </p:txBody>
          </p:sp>
          <p:sp>
            <p:nvSpPr>
              <p:cNvPr id="33" name="TextBox 37"/>
              <p:cNvSpPr txBox="1">
                <a:spLocks noChangeArrowheads="1"/>
              </p:cNvSpPr>
              <p:nvPr/>
            </p:nvSpPr>
            <p:spPr bwMode="auto">
              <a:xfrm>
                <a:off x="3456214" y="5024846"/>
                <a:ext cx="1005840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a[1][0]</a:t>
                </a:r>
                <a:endParaRPr lang="en-SG"/>
              </a:p>
            </p:txBody>
          </p:sp>
          <p:sp>
            <p:nvSpPr>
              <p:cNvPr id="34" name="TextBox 38"/>
              <p:cNvSpPr txBox="1">
                <a:spLocks noChangeArrowheads="1"/>
              </p:cNvSpPr>
              <p:nvPr/>
            </p:nvSpPr>
            <p:spPr bwMode="auto">
              <a:xfrm>
                <a:off x="4462054" y="5024846"/>
                <a:ext cx="470263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…</a:t>
                </a:r>
                <a:endParaRPr lang="en-SG"/>
              </a:p>
            </p:txBody>
          </p:sp>
          <p:sp>
            <p:nvSpPr>
              <p:cNvPr id="35" name="TextBox 39"/>
              <p:cNvSpPr txBox="1">
                <a:spLocks noChangeArrowheads="1"/>
              </p:cNvSpPr>
              <p:nvPr/>
            </p:nvSpPr>
            <p:spPr bwMode="auto">
              <a:xfrm>
                <a:off x="4932317" y="5024846"/>
                <a:ext cx="1005840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a[1][4]</a:t>
                </a:r>
                <a:endParaRPr lang="en-SG"/>
              </a:p>
            </p:txBody>
          </p:sp>
          <p:sp>
            <p:nvSpPr>
              <p:cNvPr id="36" name="TextBox 40"/>
              <p:cNvSpPr txBox="1">
                <a:spLocks noChangeArrowheads="1"/>
              </p:cNvSpPr>
              <p:nvPr/>
            </p:nvSpPr>
            <p:spPr bwMode="auto">
              <a:xfrm>
                <a:off x="5938157" y="5024846"/>
                <a:ext cx="1005840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a[2][0]</a:t>
                </a:r>
                <a:endParaRPr lang="en-SG"/>
              </a:p>
            </p:txBody>
          </p:sp>
          <p:sp>
            <p:nvSpPr>
              <p:cNvPr id="37" name="TextBox 41"/>
              <p:cNvSpPr txBox="1">
                <a:spLocks noChangeArrowheads="1"/>
              </p:cNvSpPr>
              <p:nvPr/>
            </p:nvSpPr>
            <p:spPr bwMode="auto">
              <a:xfrm>
                <a:off x="6943997" y="5024846"/>
                <a:ext cx="470263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…</a:t>
                </a:r>
                <a:endParaRPr lang="en-SG"/>
              </a:p>
            </p:txBody>
          </p:sp>
          <p:sp>
            <p:nvSpPr>
              <p:cNvPr id="38" name="TextBox 42"/>
              <p:cNvSpPr txBox="1">
                <a:spLocks noChangeArrowheads="1"/>
              </p:cNvSpPr>
              <p:nvPr/>
            </p:nvSpPr>
            <p:spPr bwMode="auto">
              <a:xfrm>
                <a:off x="7414260" y="5024846"/>
                <a:ext cx="1005840" cy="3657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a[2][4]</a:t>
                </a:r>
                <a:endParaRPr lang="en-SG"/>
              </a:p>
            </p:txBody>
          </p:sp>
        </p:grpSp>
        <p:sp>
          <p:nvSpPr>
            <p:cNvPr id="23" name="TextBox 43"/>
            <p:cNvSpPr txBox="1">
              <a:spLocks noChangeArrowheads="1"/>
            </p:cNvSpPr>
            <p:nvPr/>
          </p:nvSpPr>
          <p:spPr bwMode="auto">
            <a:xfrm>
              <a:off x="1776802" y="5681740"/>
              <a:ext cx="94814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/>
                <a:t>row 0</a:t>
              </a:r>
              <a:endParaRPr lang="en-SG"/>
            </a:p>
          </p:txBody>
        </p:sp>
        <p:sp>
          <p:nvSpPr>
            <p:cNvPr id="24" name="TextBox 45"/>
            <p:cNvSpPr txBox="1">
              <a:spLocks noChangeArrowheads="1"/>
            </p:cNvSpPr>
            <p:nvPr/>
          </p:nvSpPr>
          <p:spPr bwMode="auto">
            <a:xfrm>
              <a:off x="4252078" y="5681740"/>
              <a:ext cx="94814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/>
                <a:t>row 1</a:t>
              </a:r>
              <a:endParaRPr lang="en-SG"/>
            </a:p>
          </p:txBody>
        </p:sp>
        <p:sp>
          <p:nvSpPr>
            <p:cNvPr id="25" name="TextBox 46"/>
            <p:cNvSpPr txBox="1">
              <a:spLocks noChangeArrowheads="1"/>
            </p:cNvSpPr>
            <p:nvPr/>
          </p:nvSpPr>
          <p:spPr bwMode="auto">
            <a:xfrm>
              <a:off x="6718805" y="5681740"/>
              <a:ext cx="94814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/>
                <a:t>row 2</a:t>
              </a:r>
              <a:endParaRPr lang="en-SG"/>
            </a:p>
          </p:txBody>
        </p:sp>
        <p:sp>
          <p:nvSpPr>
            <p:cNvPr id="26" name="Right Brace 47"/>
            <p:cNvSpPr>
              <a:spLocks/>
            </p:cNvSpPr>
            <p:nvPr/>
          </p:nvSpPr>
          <p:spPr bwMode="auto">
            <a:xfrm rot="5400000">
              <a:off x="2137117" y="4378718"/>
              <a:ext cx="227514" cy="2378529"/>
            </a:xfrm>
            <a:prstGeom prst="rightBrace">
              <a:avLst>
                <a:gd name="adj1" fmla="val 8325"/>
                <a:gd name="adj2" fmla="val 50000"/>
              </a:avLst>
            </a:prstGeom>
            <a:noFill/>
            <a:ln w="28575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7" name="Right Brace 49"/>
            <p:cNvSpPr>
              <a:spLocks/>
            </p:cNvSpPr>
            <p:nvPr/>
          </p:nvSpPr>
          <p:spPr bwMode="auto">
            <a:xfrm rot="5400000">
              <a:off x="4612393" y="4378718"/>
              <a:ext cx="227514" cy="2378529"/>
            </a:xfrm>
            <a:prstGeom prst="rightBrace">
              <a:avLst>
                <a:gd name="adj1" fmla="val 8325"/>
                <a:gd name="adj2" fmla="val 50000"/>
              </a:avLst>
            </a:prstGeom>
            <a:noFill/>
            <a:ln w="28575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8" name="Right Brace 50"/>
            <p:cNvSpPr>
              <a:spLocks/>
            </p:cNvSpPr>
            <p:nvPr/>
          </p:nvSpPr>
          <p:spPr bwMode="auto">
            <a:xfrm rot="5400000">
              <a:off x="7079120" y="4378718"/>
              <a:ext cx="227514" cy="2378529"/>
            </a:xfrm>
            <a:prstGeom prst="rightBrace">
              <a:avLst>
                <a:gd name="adj1" fmla="val 8325"/>
                <a:gd name="adj2" fmla="val 50000"/>
              </a:avLst>
            </a:prstGeom>
            <a:noFill/>
            <a:ln w="28575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9" name="Group 69"/>
          <p:cNvGrpSpPr/>
          <p:nvPr/>
        </p:nvGrpSpPr>
        <p:grpSpPr>
          <a:xfrm>
            <a:off x="5611813" y="2616435"/>
            <a:ext cx="2413000" cy="1165225"/>
            <a:chOff x="5611813" y="2749550"/>
            <a:chExt cx="2413000" cy="1165225"/>
          </a:xfrm>
        </p:grpSpPr>
        <p:grpSp>
          <p:nvGrpSpPr>
            <p:cNvPr id="40" name="Group 56"/>
            <p:cNvGrpSpPr/>
            <p:nvPr/>
          </p:nvGrpSpPr>
          <p:grpSpPr>
            <a:xfrm>
              <a:off x="5930457" y="3057154"/>
              <a:ext cx="2078130" cy="282123"/>
              <a:chOff x="5930457" y="3057154"/>
              <a:chExt cx="2078130" cy="282123"/>
            </a:xfrm>
          </p:grpSpPr>
          <p:sp>
            <p:nvSpPr>
              <p:cNvPr id="61" name="Rectangle 6"/>
              <p:cNvSpPr>
                <a:spLocks noChangeArrowheads="1"/>
              </p:cNvSpPr>
              <p:nvPr/>
            </p:nvSpPr>
            <p:spPr bwMode="auto">
              <a:xfrm>
                <a:off x="6346083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2" name="Rectangle 7"/>
              <p:cNvSpPr>
                <a:spLocks noChangeArrowheads="1"/>
              </p:cNvSpPr>
              <p:nvPr/>
            </p:nvSpPr>
            <p:spPr bwMode="auto">
              <a:xfrm>
                <a:off x="6761709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3" name="Rectangle 8"/>
              <p:cNvSpPr>
                <a:spLocks noChangeArrowheads="1"/>
              </p:cNvSpPr>
              <p:nvPr/>
            </p:nvSpPr>
            <p:spPr bwMode="auto">
              <a:xfrm>
                <a:off x="7177335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4" name="Rectangle 9"/>
              <p:cNvSpPr>
                <a:spLocks noChangeArrowheads="1"/>
              </p:cNvSpPr>
              <p:nvPr/>
            </p:nvSpPr>
            <p:spPr bwMode="auto">
              <a:xfrm>
                <a:off x="5930457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5" name="Rectangle 10"/>
              <p:cNvSpPr>
                <a:spLocks noChangeArrowheads="1"/>
              </p:cNvSpPr>
              <p:nvPr/>
            </p:nvSpPr>
            <p:spPr bwMode="auto">
              <a:xfrm>
                <a:off x="7592961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41" name="TextBox 24"/>
            <p:cNvSpPr txBox="1">
              <a:spLocks noChangeArrowheads="1"/>
            </p:cNvSpPr>
            <p:nvPr/>
          </p:nvSpPr>
          <p:spPr bwMode="auto">
            <a:xfrm>
              <a:off x="5930457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0</a:t>
              </a:r>
              <a:endParaRPr lang="en-SG" sz="1400"/>
            </a:p>
          </p:txBody>
        </p:sp>
        <p:sp>
          <p:nvSpPr>
            <p:cNvPr id="42" name="TextBox 25"/>
            <p:cNvSpPr txBox="1">
              <a:spLocks noChangeArrowheads="1"/>
            </p:cNvSpPr>
            <p:nvPr/>
          </p:nvSpPr>
          <p:spPr bwMode="auto">
            <a:xfrm>
              <a:off x="6290667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1</a:t>
              </a:r>
              <a:endParaRPr lang="en-SG" sz="1400"/>
            </a:p>
          </p:txBody>
        </p:sp>
        <p:sp>
          <p:nvSpPr>
            <p:cNvPr id="43" name="TextBox 26"/>
            <p:cNvSpPr txBox="1">
              <a:spLocks noChangeArrowheads="1"/>
            </p:cNvSpPr>
            <p:nvPr/>
          </p:nvSpPr>
          <p:spPr bwMode="auto">
            <a:xfrm>
              <a:off x="6761709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2</a:t>
              </a:r>
              <a:endParaRPr lang="en-SG" sz="1400"/>
            </a:p>
          </p:txBody>
        </p:sp>
        <p:sp>
          <p:nvSpPr>
            <p:cNvPr id="44" name="TextBox 27"/>
            <p:cNvSpPr txBox="1">
              <a:spLocks noChangeArrowheads="1"/>
            </p:cNvSpPr>
            <p:nvPr/>
          </p:nvSpPr>
          <p:spPr bwMode="auto">
            <a:xfrm>
              <a:off x="7138146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3</a:t>
              </a:r>
              <a:endParaRPr lang="en-SG" sz="1400"/>
            </a:p>
          </p:txBody>
        </p:sp>
        <p:sp>
          <p:nvSpPr>
            <p:cNvPr id="45" name="TextBox 28"/>
            <p:cNvSpPr txBox="1">
              <a:spLocks noChangeArrowheads="1"/>
            </p:cNvSpPr>
            <p:nvPr/>
          </p:nvSpPr>
          <p:spPr bwMode="auto">
            <a:xfrm>
              <a:off x="7609187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4</a:t>
              </a:r>
              <a:endParaRPr lang="en-SG" sz="1400"/>
            </a:p>
          </p:txBody>
        </p:sp>
        <p:sp>
          <p:nvSpPr>
            <p:cNvPr id="46" name="TextBox 29"/>
            <p:cNvSpPr txBox="1">
              <a:spLocks noChangeArrowheads="1"/>
            </p:cNvSpPr>
            <p:nvPr/>
          </p:nvSpPr>
          <p:spPr bwMode="auto">
            <a:xfrm>
              <a:off x="5611813" y="3057154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0</a:t>
              </a:r>
              <a:endParaRPr lang="en-SG" sz="1400"/>
            </a:p>
          </p:txBody>
        </p:sp>
        <p:sp>
          <p:nvSpPr>
            <p:cNvPr id="47" name="TextBox 30"/>
            <p:cNvSpPr txBox="1">
              <a:spLocks noChangeArrowheads="1"/>
            </p:cNvSpPr>
            <p:nvPr/>
          </p:nvSpPr>
          <p:spPr bwMode="auto">
            <a:xfrm>
              <a:off x="5611813" y="3325048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1</a:t>
              </a:r>
              <a:endParaRPr lang="en-SG" sz="1400"/>
            </a:p>
          </p:txBody>
        </p:sp>
        <p:sp>
          <p:nvSpPr>
            <p:cNvPr id="48" name="TextBox 31"/>
            <p:cNvSpPr txBox="1">
              <a:spLocks noChangeArrowheads="1"/>
            </p:cNvSpPr>
            <p:nvPr/>
          </p:nvSpPr>
          <p:spPr bwMode="auto">
            <a:xfrm>
              <a:off x="5611813" y="3607171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2</a:t>
              </a:r>
              <a:endParaRPr lang="en-SG" sz="1400"/>
            </a:p>
          </p:txBody>
        </p:sp>
        <p:grpSp>
          <p:nvGrpSpPr>
            <p:cNvPr id="49" name="Group 57"/>
            <p:cNvGrpSpPr/>
            <p:nvPr/>
          </p:nvGrpSpPr>
          <p:grpSpPr>
            <a:xfrm>
              <a:off x="5930457" y="3325048"/>
              <a:ext cx="2078130" cy="282123"/>
              <a:chOff x="5930457" y="3057154"/>
              <a:chExt cx="2078130" cy="282123"/>
            </a:xfrm>
          </p:grpSpPr>
          <p:sp>
            <p:nvSpPr>
              <p:cNvPr id="56" name="Rectangle 6"/>
              <p:cNvSpPr>
                <a:spLocks noChangeArrowheads="1"/>
              </p:cNvSpPr>
              <p:nvPr/>
            </p:nvSpPr>
            <p:spPr bwMode="auto">
              <a:xfrm>
                <a:off x="6346083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7" name="Rectangle 7"/>
              <p:cNvSpPr>
                <a:spLocks noChangeArrowheads="1"/>
              </p:cNvSpPr>
              <p:nvPr/>
            </p:nvSpPr>
            <p:spPr bwMode="auto">
              <a:xfrm>
                <a:off x="6761709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8" name="Rectangle 8"/>
              <p:cNvSpPr>
                <a:spLocks noChangeArrowheads="1"/>
              </p:cNvSpPr>
              <p:nvPr/>
            </p:nvSpPr>
            <p:spPr bwMode="auto">
              <a:xfrm>
                <a:off x="7177335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9" name="Rectangle 9"/>
              <p:cNvSpPr>
                <a:spLocks noChangeArrowheads="1"/>
              </p:cNvSpPr>
              <p:nvPr/>
            </p:nvSpPr>
            <p:spPr bwMode="auto">
              <a:xfrm>
                <a:off x="5930457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0" name="Rectangle 10"/>
              <p:cNvSpPr>
                <a:spLocks noChangeArrowheads="1"/>
              </p:cNvSpPr>
              <p:nvPr/>
            </p:nvSpPr>
            <p:spPr bwMode="auto">
              <a:xfrm>
                <a:off x="7592961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50" name="Group 63"/>
            <p:cNvGrpSpPr/>
            <p:nvPr/>
          </p:nvGrpSpPr>
          <p:grpSpPr>
            <a:xfrm>
              <a:off x="5930457" y="3607171"/>
              <a:ext cx="2078130" cy="282123"/>
              <a:chOff x="5930457" y="3057154"/>
              <a:chExt cx="2078130" cy="282123"/>
            </a:xfrm>
          </p:grpSpPr>
          <p:sp>
            <p:nvSpPr>
              <p:cNvPr id="51" name="Rectangle 6"/>
              <p:cNvSpPr>
                <a:spLocks noChangeArrowheads="1"/>
              </p:cNvSpPr>
              <p:nvPr/>
            </p:nvSpPr>
            <p:spPr bwMode="auto">
              <a:xfrm>
                <a:off x="6346083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2" name="Rectangle 7"/>
              <p:cNvSpPr>
                <a:spLocks noChangeArrowheads="1"/>
              </p:cNvSpPr>
              <p:nvPr/>
            </p:nvSpPr>
            <p:spPr bwMode="auto">
              <a:xfrm>
                <a:off x="6761709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3" name="Rectangle 8"/>
              <p:cNvSpPr>
                <a:spLocks noChangeArrowheads="1"/>
              </p:cNvSpPr>
              <p:nvPr/>
            </p:nvSpPr>
            <p:spPr bwMode="auto">
              <a:xfrm>
                <a:off x="7177335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4" name="Rectangle 9"/>
              <p:cNvSpPr>
                <a:spLocks noChangeArrowheads="1"/>
              </p:cNvSpPr>
              <p:nvPr/>
            </p:nvSpPr>
            <p:spPr bwMode="auto">
              <a:xfrm>
                <a:off x="5930457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5" name="Rectangle 10"/>
              <p:cNvSpPr>
                <a:spLocks noChangeArrowheads="1"/>
              </p:cNvSpPr>
              <p:nvPr/>
            </p:nvSpPr>
            <p:spPr bwMode="auto">
              <a:xfrm>
                <a:off x="7592961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</p:grpSp>
      </p:grpSp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6027439" y="2939933"/>
            <a:ext cx="252000" cy="252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>
                <a:solidFill>
                  <a:srgbClr val="800000"/>
                </a:solidFill>
              </a:rPr>
              <a:t>2</a:t>
            </a:r>
            <a:endParaRPr lang="en-SG" sz="1600" dirty="0">
              <a:solidFill>
                <a:srgbClr val="800000"/>
              </a:solidFill>
            </a:endParaRPr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7666996" y="3499537"/>
            <a:ext cx="252000" cy="252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>
                <a:solidFill>
                  <a:srgbClr val="800000"/>
                </a:solidFill>
              </a:rPr>
              <a:t>9</a:t>
            </a:r>
            <a:endParaRPr lang="en-SG" sz="1600" dirty="0">
              <a:solidFill>
                <a:srgbClr val="800000"/>
              </a:solidFill>
            </a:endParaRP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5938309" y="3191933"/>
            <a:ext cx="396000" cy="252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>
                <a:solidFill>
                  <a:srgbClr val="800000"/>
                </a:solidFill>
              </a:rPr>
              <a:t>16</a:t>
            </a:r>
            <a:endParaRPr lang="en-SG" sz="1600" dirty="0">
              <a:solidFill>
                <a:srgbClr val="80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34B116-F2FE-981B-1181-B01CDD32D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131287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66" grpId="0"/>
      <p:bldP spid="67" grpId="0"/>
      <p:bldP spid="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udget planner templates for personal use | AIA">
            <a:extLst>
              <a:ext uri="{FF2B5EF4-FFF2-40B4-BE49-F238E27FC236}">
                <a16:creationId xmlns:a16="http://schemas.microsoft.com/office/drawing/2014/main" id="{A26498E6-AC6B-6D7F-7F43-754A8E49F4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59" t="53572" r="13037" b="16850"/>
          <a:stretch>
            <a:fillRect/>
          </a:stretch>
        </p:blipFill>
        <p:spPr>
          <a:xfrm>
            <a:off x="846027" y="5317384"/>
            <a:ext cx="7649929" cy="1179891"/>
          </a:xfrm>
          <a:prstGeom prst="rect">
            <a:avLst/>
          </a:prstGeom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Different Types of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Fixed Length 2D Array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3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data with known dimensions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Tic-tac-toe 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Sudoku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Monthly income of 3 categories for a year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21EA87-6702-4532-BBFE-929F69F022C5}"/>
              </a:ext>
            </a:extLst>
          </p:cNvPr>
          <p:cNvSpPr txBox="1"/>
          <p:nvPr/>
        </p:nvSpPr>
        <p:spPr>
          <a:xfrm>
            <a:off x="1032928" y="1712309"/>
            <a:ext cx="7653872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with 10 rows, 20 columns</a:t>
            </a: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of 10 elements, each being an array of 20 elements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matrix[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9596DA-23D1-161B-3568-CC729E01B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451B2-D615-238B-1ADE-33BC7958C048}"/>
              </a:ext>
            </a:extLst>
          </p:cNvPr>
          <p:cNvSpPr txBox="1"/>
          <p:nvPr/>
        </p:nvSpPr>
        <p:spPr>
          <a:xfrm>
            <a:off x="2735788" y="3547648"/>
            <a:ext cx="693212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 x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278DC-1A7A-C06F-2EEF-E8293E23CCB2}"/>
              </a:ext>
            </a:extLst>
          </p:cNvPr>
          <p:cNvSpPr txBox="1"/>
          <p:nvPr/>
        </p:nvSpPr>
        <p:spPr>
          <a:xfrm>
            <a:off x="2735788" y="4288383"/>
            <a:ext cx="693212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9 x 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7E90C-C698-8EAD-44AE-37B4642CA11C}"/>
              </a:ext>
            </a:extLst>
          </p:cNvPr>
          <p:cNvSpPr txBox="1"/>
          <p:nvPr/>
        </p:nvSpPr>
        <p:spPr>
          <a:xfrm>
            <a:off x="6090920" y="5070254"/>
            <a:ext cx="85968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 x 12</a:t>
            </a:r>
          </a:p>
        </p:txBody>
      </p:sp>
      <p:pic>
        <p:nvPicPr>
          <p:cNvPr id="6" name="Picture 5" descr="How to Solve Sudoku Puzzles – Real Tips and Advice (Part 1 ...">
            <a:extLst>
              <a:ext uri="{FF2B5EF4-FFF2-40B4-BE49-F238E27FC236}">
                <a16:creationId xmlns:a16="http://schemas.microsoft.com/office/drawing/2014/main" id="{3FF1EAAC-1241-1F2F-0390-4BEA02427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910" y="3530817"/>
            <a:ext cx="1432979" cy="1432979"/>
          </a:xfrm>
          <a:prstGeom prst="rect">
            <a:avLst/>
          </a:prstGeom>
        </p:spPr>
      </p:pic>
      <p:pic>
        <p:nvPicPr>
          <p:cNvPr id="10" name="Picture 2" descr="Tic-Tac-Toe -- from Wolfram MathWorld">
            <a:extLst>
              <a:ext uri="{FF2B5EF4-FFF2-40B4-BE49-F238E27FC236}">
                <a16:creationId xmlns:a16="http://schemas.microsoft.com/office/drawing/2014/main" id="{8C0F27AE-331E-FAF8-432B-C2D46FDCF0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3755455" y="3511914"/>
            <a:ext cx="816545" cy="776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75007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Different Types of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Fixed Size Array of Dynamically Allocated Array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data with one unknown dimension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Gradebook of 10 assignments </a:t>
            </a:r>
            <a:br>
              <a:rPr lang="en-US" dirty="0"/>
            </a:br>
            <a:r>
              <a:rPr lang="en-US" dirty="0"/>
              <a:t>for some students.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D74B1-CF3A-4E44-A9AC-F1C0303D3547}"/>
              </a:ext>
            </a:extLst>
          </p:cNvPr>
          <p:cNvSpPr txBox="1"/>
          <p:nvPr/>
        </p:nvSpPr>
        <p:spPr>
          <a:xfrm>
            <a:off x="1032928" y="1688623"/>
            <a:ext cx="7653872" cy="28007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with 10 rows, Y columns</a:t>
            </a: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of 10 elements, each being an array of Y elements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*buckets[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read in the length of each subarray</a:t>
            </a:r>
          </a:p>
          <a:p>
            <a:pPr>
              <a:defRPr/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cs1010_read_size_t(); </a:t>
            </a:r>
          </a:p>
          <a:p>
            <a:pPr>
              <a:defRPr/>
            </a:pPr>
            <a:endParaRPr lang="en-US" sz="16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dynamically allocate each subarray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buckets[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6A2377-01AA-47A9-823F-09EED46E65DB}"/>
              </a:ext>
            </a:extLst>
          </p:cNvPr>
          <p:cNvSpPr txBox="1"/>
          <p:nvPr/>
        </p:nvSpPr>
        <p:spPr>
          <a:xfrm>
            <a:off x="6955788" y="2900896"/>
            <a:ext cx="2074215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Remember to free the allocated memory after use.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FCC16C-25A5-A68C-EAF8-B5A67A769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4" name="Group 56">
            <a:extLst>
              <a:ext uri="{FF2B5EF4-FFF2-40B4-BE49-F238E27FC236}">
                <a16:creationId xmlns:a16="http://schemas.microsoft.com/office/drawing/2014/main" id="{86F2AFA4-2789-5EB9-7E26-FFDC1DB02555}"/>
              </a:ext>
            </a:extLst>
          </p:cNvPr>
          <p:cNvGrpSpPr/>
          <p:nvPr/>
        </p:nvGrpSpPr>
        <p:grpSpPr>
          <a:xfrm>
            <a:off x="5958831" y="5589607"/>
            <a:ext cx="2078130" cy="182880"/>
            <a:chOff x="5930457" y="3057154"/>
            <a:chExt cx="2078130" cy="182880"/>
          </a:xfrm>
        </p:grpSpPr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id="{BC620E4E-128B-6DCB-27C3-53B48D266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C206CF41-71C7-519E-1128-D26823A9D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0" name="Rectangle 8">
              <a:extLst>
                <a:ext uri="{FF2B5EF4-FFF2-40B4-BE49-F238E27FC236}">
                  <a16:creationId xmlns:a16="http://schemas.microsoft.com/office/drawing/2014/main" id="{61412144-C487-E7A6-139B-8C0DBD372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335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1" name="Rectangle 9">
              <a:extLst>
                <a:ext uri="{FF2B5EF4-FFF2-40B4-BE49-F238E27FC236}">
                  <a16:creationId xmlns:a16="http://schemas.microsoft.com/office/drawing/2014/main" id="{4761760C-5170-66E0-5C07-B610EA2C3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2" name="Rectangle 10">
              <a:extLst>
                <a:ext uri="{FF2B5EF4-FFF2-40B4-BE49-F238E27FC236}">
                  <a16:creationId xmlns:a16="http://schemas.microsoft.com/office/drawing/2014/main" id="{9A45D445-C50D-F72F-935C-4757D4354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961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5" name="TextBox 24">
            <a:extLst>
              <a:ext uri="{FF2B5EF4-FFF2-40B4-BE49-F238E27FC236}">
                <a16:creationId xmlns:a16="http://schemas.microsoft.com/office/drawing/2014/main" id="{1C47A842-3128-BDD5-3CBE-764A510FA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8831" y="5236738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0</a:t>
            </a:r>
            <a:endParaRPr lang="en-SG" sz="1400" dirty="0"/>
          </a:p>
        </p:txBody>
      </p:sp>
      <p:sp>
        <p:nvSpPr>
          <p:cNvPr id="6" name="TextBox 25">
            <a:extLst>
              <a:ext uri="{FF2B5EF4-FFF2-40B4-BE49-F238E27FC236}">
                <a16:creationId xmlns:a16="http://schemas.microsoft.com/office/drawing/2014/main" id="{80A8E7C1-2B8B-73C2-E39B-694BA272E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4457" y="5243583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1</a:t>
            </a:r>
            <a:endParaRPr lang="en-SG" sz="1400" dirty="0"/>
          </a:p>
        </p:txBody>
      </p:sp>
      <p:sp>
        <p:nvSpPr>
          <p:cNvPr id="9" name="TextBox 26">
            <a:extLst>
              <a:ext uri="{FF2B5EF4-FFF2-40B4-BE49-F238E27FC236}">
                <a16:creationId xmlns:a16="http://schemas.microsoft.com/office/drawing/2014/main" id="{49336EDA-5E84-9AC7-CAAD-C3A763A88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0083" y="5236738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2</a:t>
            </a:r>
            <a:endParaRPr lang="en-SG" sz="1400" dirty="0"/>
          </a:p>
        </p:txBody>
      </p:sp>
      <p:sp>
        <p:nvSpPr>
          <p:cNvPr id="10" name="TextBox 27">
            <a:extLst>
              <a:ext uri="{FF2B5EF4-FFF2-40B4-BE49-F238E27FC236}">
                <a16:creationId xmlns:a16="http://schemas.microsoft.com/office/drawing/2014/main" id="{913E81D7-82A9-B094-6BAA-DDA721AF5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2732" y="5236738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/>
              <a:t>3</a:t>
            </a:r>
            <a:endParaRPr lang="en-SG" sz="1400"/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538B166F-C86C-81A7-8154-E4C8CD656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7561" y="5236738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/>
              <a:t>4</a:t>
            </a:r>
            <a:endParaRPr lang="en-SG" sz="1400"/>
          </a:p>
        </p:txBody>
      </p:sp>
      <p:grpSp>
        <p:nvGrpSpPr>
          <p:cNvPr id="16" name="Group 57">
            <a:extLst>
              <a:ext uri="{FF2B5EF4-FFF2-40B4-BE49-F238E27FC236}">
                <a16:creationId xmlns:a16="http://schemas.microsoft.com/office/drawing/2014/main" id="{A263C8FF-D230-B10A-1FE6-BB7EA7D0AF34}"/>
              </a:ext>
            </a:extLst>
          </p:cNvPr>
          <p:cNvGrpSpPr/>
          <p:nvPr/>
        </p:nvGrpSpPr>
        <p:grpSpPr>
          <a:xfrm>
            <a:off x="5958831" y="5839395"/>
            <a:ext cx="2078130" cy="182880"/>
            <a:chOff x="5930457" y="3057154"/>
            <a:chExt cx="2078130" cy="182880"/>
          </a:xfrm>
        </p:grpSpPr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1CE07743-6A8D-2EE8-58EB-DE96A6530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4" name="Rectangle 7">
              <a:extLst>
                <a:ext uri="{FF2B5EF4-FFF2-40B4-BE49-F238E27FC236}">
                  <a16:creationId xmlns:a16="http://schemas.microsoft.com/office/drawing/2014/main" id="{551D1537-8B84-FCCA-754F-F59EC5525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5" name="Rectangle 8">
              <a:extLst>
                <a:ext uri="{FF2B5EF4-FFF2-40B4-BE49-F238E27FC236}">
                  <a16:creationId xmlns:a16="http://schemas.microsoft.com/office/drawing/2014/main" id="{5ADF6AD0-E0E5-7B2A-CC61-76B2378C7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335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6" name="Rectangle 9">
              <a:extLst>
                <a:ext uri="{FF2B5EF4-FFF2-40B4-BE49-F238E27FC236}">
                  <a16:creationId xmlns:a16="http://schemas.microsoft.com/office/drawing/2014/main" id="{6CDC81ED-AEC8-A0DD-1D35-EAF5FBF7D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7" name="Rectangle 10">
              <a:extLst>
                <a:ext uri="{FF2B5EF4-FFF2-40B4-BE49-F238E27FC236}">
                  <a16:creationId xmlns:a16="http://schemas.microsoft.com/office/drawing/2014/main" id="{128A0E22-C614-45B4-833B-832C394F0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961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7" name="Group 63">
            <a:extLst>
              <a:ext uri="{FF2B5EF4-FFF2-40B4-BE49-F238E27FC236}">
                <a16:creationId xmlns:a16="http://schemas.microsoft.com/office/drawing/2014/main" id="{2D4DD5F0-13DF-7800-2DC5-632637C72CA6}"/>
              </a:ext>
            </a:extLst>
          </p:cNvPr>
          <p:cNvGrpSpPr/>
          <p:nvPr/>
        </p:nvGrpSpPr>
        <p:grpSpPr>
          <a:xfrm>
            <a:off x="5958831" y="6429336"/>
            <a:ext cx="2078130" cy="182880"/>
            <a:chOff x="5930457" y="3057154"/>
            <a:chExt cx="2078130" cy="182880"/>
          </a:xfrm>
        </p:grpSpPr>
        <p:sp>
          <p:nvSpPr>
            <p:cNvPr id="18" name="Rectangle 6">
              <a:extLst>
                <a:ext uri="{FF2B5EF4-FFF2-40B4-BE49-F238E27FC236}">
                  <a16:creationId xmlns:a16="http://schemas.microsoft.com/office/drawing/2014/main" id="{30A96F97-9D59-E11F-B7FD-16777D645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10E926C6-71B8-8945-5BDA-C5DAF92CA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480A255B-EE00-3A22-A2EF-2F998C96B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335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008547F2-C0B7-B026-AB67-BD231AE97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8E9C6F9F-BB08-756F-64E5-37AFB7173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961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6" name="Rectangle 9">
            <a:extLst>
              <a:ext uri="{FF2B5EF4-FFF2-40B4-BE49-F238E27FC236}">
                <a16:creationId xmlns:a16="http://schemas.microsoft.com/office/drawing/2014/main" id="{46CF9A0D-F398-A0AA-5AD9-62CB530C6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04" y="5544342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72CCB8D9-4B6B-CEDF-DB03-FE8B454BB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04" y="5812236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CAB163D2-76BC-20E0-2348-51B0FA7F0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04" y="6393124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A7CC85-388C-AF03-90F1-D0879F591E44}"/>
              </a:ext>
            </a:extLst>
          </p:cNvPr>
          <p:cNvSpPr txBox="1"/>
          <p:nvPr/>
        </p:nvSpPr>
        <p:spPr>
          <a:xfrm>
            <a:off x="5036463" y="5236652"/>
            <a:ext cx="1158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Buckets</a:t>
            </a:r>
            <a:endParaRPr lang="en-SG" sz="14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2761A1B-6D72-E88C-8365-95BA1D2F50D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2717" y="5685403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C8FD6D7-CD12-7052-7A12-B92C3634F37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2717" y="5939888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AC64DA-6C95-B626-1184-BC52CCE6387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21378" y="6534185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14341" name="TextBox 14340">
            <a:extLst>
              <a:ext uri="{FF2B5EF4-FFF2-40B4-BE49-F238E27FC236}">
                <a16:creationId xmlns:a16="http://schemas.microsoft.com/office/drawing/2014/main" id="{DA742702-A647-ECC1-4FDC-35DF1036912A}"/>
              </a:ext>
            </a:extLst>
          </p:cNvPr>
          <p:cNvSpPr txBox="1"/>
          <p:nvPr/>
        </p:nvSpPr>
        <p:spPr>
          <a:xfrm>
            <a:off x="8031007" y="5426584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4342" name="TextBox 14341">
            <a:extLst>
              <a:ext uri="{FF2B5EF4-FFF2-40B4-BE49-F238E27FC236}">
                <a16:creationId xmlns:a16="http://schemas.microsoft.com/office/drawing/2014/main" id="{3A266C08-9FDF-D448-8E53-F05DB0A1174D}"/>
              </a:ext>
            </a:extLst>
          </p:cNvPr>
          <p:cNvSpPr txBox="1"/>
          <p:nvPr/>
        </p:nvSpPr>
        <p:spPr>
          <a:xfrm>
            <a:off x="8031007" y="5681047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4343" name="TextBox 14342">
            <a:extLst>
              <a:ext uri="{FF2B5EF4-FFF2-40B4-BE49-F238E27FC236}">
                <a16:creationId xmlns:a16="http://schemas.microsoft.com/office/drawing/2014/main" id="{90A11762-426E-A2B1-4250-2A525D66F8F5}"/>
              </a:ext>
            </a:extLst>
          </p:cNvPr>
          <p:cNvSpPr txBox="1"/>
          <p:nvPr/>
        </p:nvSpPr>
        <p:spPr>
          <a:xfrm>
            <a:off x="8031007" y="6301183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4344" name="TextBox 14343">
            <a:extLst>
              <a:ext uri="{FF2B5EF4-FFF2-40B4-BE49-F238E27FC236}">
                <a16:creationId xmlns:a16="http://schemas.microsoft.com/office/drawing/2014/main" id="{809236CB-EB20-BAA7-D3E0-332100EF343C}"/>
              </a:ext>
            </a:extLst>
          </p:cNvPr>
          <p:cNvSpPr txBox="1"/>
          <p:nvPr/>
        </p:nvSpPr>
        <p:spPr>
          <a:xfrm>
            <a:off x="5213565" y="5998527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4345" name="TextBox 25">
            <a:extLst>
              <a:ext uri="{FF2B5EF4-FFF2-40B4-BE49-F238E27FC236}">
                <a16:creationId xmlns:a16="http://schemas.microsoft.com/office/drawing/2014/main" id="{07C9E0F2-7ACA-FE02-557F-9C8F2E4FA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2271" y="5795916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1</a:t>
            </a:r>
            <a:endParaRPr lang="en-SG" sz="1400" dirty="0"/>
          </a:p>
        </p:txBody>
      </p:sp>
      <p:sp>
        <p:nvSpPr>
          <p:cNvPr id="14346" name="TextBox 25">
            <a:extLst>
              <a:ext uri="{FF2B5EF4-FFF2-40B4-BE49-F238E27FC236}">
                <a16:creationId xmlns:a16="http://schemas.microsoft.com/office/drawing/2014/main" id="{A8FEC6EA-B207-1214-F0EF-A6DDE4A9D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3211" y="5531577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0</a:t>
            </a:r>
            <a:endParaRPr lang="en-SG" sz="1400" dirty="0"/>
          </a:p>
        </p:txBody>
      </p:sp>
      <p:sp>
        <p:nvSpPr>
          <p:cNvPr id="14347" name="TextBox 28">
            <a:extLst>
              <a:ext uri="{FF2B5EF4-FFF2-40B4-BE49-F238E27FC236}">
                <a16:creationId xmlns:a16="http://schemas.microsoft.com/office/drawing/2014/main" id="{1F30A0C3-63A2-EC07-44BF-C18805994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7939" y="6393124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9</a:t>
            </a:r>
            <a:endParaRPr lang="en-SG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9F16A-9589-077B-CE18-A034618008DF}"/>
              </a:ext>
            </a:extLst>
          </p:cNvPr>
          <p:cNvSpPr txBox="1"/>
          <p:nvPr/>
        </p:nvSpPr>
        <p:spPr>
          <a:xfrm>
            <a:off x="1299306" y="5865713"/>
            <a:ext cx="85721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10 x ?</a:t>
            </a:r>
          </a:p>
        </p:txBody>
      </p:sp>
    </p:spTree>
    <p:extLst>
      <p:ext uri="{BB962C8B-B14F-4D97-AF65-F5344CB8AC3E}">
        <p14:creationId xmlns:p14="http://schemas.microsoft.com/office/powerpoint/2010/main" val="142761894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Different Types of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Dynamically Size 2D Array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data with flexible dimensions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Matrix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D74B1-CF3A-4E44-A9AC-F1C0303D3547}"/>
              </a:ext>
            </a:extLst>
          </p:cNvPr>
          <p:cNvSpPr txBox="1"/>
          <p:nvPr/>
        </p:nvSpPr>
        <p:spPr>
          <a:xfrm>
            <a:off x="1032928" y="1740175"/>
            <a:ext cx="7653872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with X rows, Y columns</a:t>
            </a: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of X elements, each being an array of Y elements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**canvas;</a:t>
            </a:r>
          </a:p>
          <a:p>
            <a:pPr>
              <a:defRPr/>
            </a:pPr>
            <a:endParaRPr lang="en-US" sz="1600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read in number of rows and columns</a:t>
            </a:r>
          </a:p>
          <a:p>
            <a:pPr>
              <a:defRPr/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cs1010_read_size_t();</a:t>
            </a:r>
          </a:p>
          <a:p>
            <a:pPr>
              <a:defRPr/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cs1010_read_size_t();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canvas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*));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canvas[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A7F404-20E5-4345-BE6A-452E3CAABE34}"/>
              </a:ext>
            </a:extLst>
          </p:cNvPr>
          <p:cNvSpPr txBox="1"/>
          <p:nvPr/>
        </p:nvSpPr>
        <p:spPr>
          <a:xfrm>
            <a:off x="6845157" y="2576124"/>
            <a:ext cx="2070243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Remember to free the subarrays before the array.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720A2A-9262-B960-A35C-4564B1A0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3" name="Group 56">
            <a:extLst>
              <a:ext uri="{FF2B5EF4-FFF2-40B4-BE49-F238E27FC236}">
                <a16:creationId xmlns:a16="http://schemas.microsoft.com/office/drawing/2014/main" id="{15A317AC-CA66-72FF-A436-651E6233F420}"/>
              </a:ext>
            </a:extLst>
          </p:cNvPr>
          <p:cNvGrpSpPr/>
          <p:nvPr/>
        </p:nvGrpSpPr>
        <p:grpSpPr>
          <a:xfrm>
            <a:off x="6545288" y="5744386"/>
            <a:ext cx="2078130" cy="182880"/>
            <a:chOff x="5930457" y="3057154"/>
            <a:chExt cx="2078130" cy="182880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46E536A8-BFDF-7A19-B2E5-550CA4993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F56C58B1-45E9-B6D6-BBFB-A4EC04FDC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1FA2EC78-9CC9-DAD5-A7D3-582634516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335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EE45F0-B44C-1183-5E49-5E501D4DB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84292D-EFA7-140F-0D53-BF9F11E39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961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3" name="TextBox 24">
            <a:extLst>
              <a:ext uri="{FF2B5EF4-FFF2-40B4-BE49-F238E27FC236}">
                <a16:creationId xmlns:a16="http://schemas.microsoft.com/office/drawing/2014/main" id="{90D0C94C-45B7-DCD8-A8AE-62B1FDA0C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288" y="5391517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0</a:t>
            </a:r>
            <a:endParaRPr lang="en-SG" sz="1400" dirty="0"/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38FCC328-E594-9272-D23E-7DFF4C724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0914" y="5398362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1</a:t>
            </a:r>
            <a:endParaRPr lang="en-SG" sz="1400" dirty="0"/>
          </a:p>
        </p:txBody>
      </p:sp>
      <p:sp>
        <p:nvSpPr>
          <p:cNvPr id="15" name="TextBox 26">
            <a:extLst>
              <a:ext uri="{FF2B5EF4-FFF2-40B4-BE49-F238E27FC236}">
                <a16:creationId xmlns:a16="http://schemas.microsoft.com/office/drawing/2014/main" id="{23FCA529-2A7B-3A99-0CEF-8F3BA2C18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6540" y="5391517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2</a:t>
            </a:r>
            <a:endParaRPr lang="en-SG" sz="1400" dirty="0"/>
          </a:p>
        </p:txBody>
      </p:sp>
      <p:sp>
        <p:nvSpPr>
          <p:cNvPr id="16" name="TextBox 27">
            <a:extLst>
              <a:ext uri="{FF2B5EF4-FFF2-40B4-BE49-F238E27FC236}">
                <a16:creationId xmlns:a16="http://schemas.microsoft.com/office/drawing/2014/main" id="{146F7A18-4091-1B81-402D-8FB29C556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9189" y="5391517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/>
              <a:t>3</a:t>
            </a:r>
            <a:endParaRPr lang="en-SG" sz="1400"/>
          </a:p>
        </p:txBody>
      </p:sp>
      <p:sp>
        <p:nvSpPr>
          <p:cNvPr id="17" name="TextBox 28">
            <a:extLst>
              <a:ext uri="{FF2B5EF4-FFF2-40B4-BE49-F238E27FC236}">
                <a16:creationId xmlns:a16="http://schemas.microsoft.com/office/drawing/2014/main" id="{6A0A27D9-14E9-CB0C-87C0-0801CC14F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4018" y="5391517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/>
              <a:t>4</a:t>
            </a:r>
            <a:endParaRPr lang="en-SG" sz="1400"/>
          </a:p>
        </p:txBody>
      </p:sp>
      <p:grpSp>
        <p:nvGrpSpPr>
          <p:cNvPr id="18" name="Group 57">
            <a:extLst>
              <a:ext uri="{FF2B5EF4-FFF2-40B4-BE49-F238E27FC236}">
                <a16:creationId xmlns:a16="http://schemas.microsoft.com/office/drawing/2014/main" id="{CE8E7D9E-3EF7-A4D2-32C6-AF31DB93FBD3}"/>
              </a:ext>
            </a:extLst>
          </p:cNvPr>
          <p:cNvGrpSpPr/>
          <p:nvPr/>
        </p:nvGrpSpPr>
        <p:grpSpPr>
          <a:xfrm>
            <a:off x="6545288" y="5994174"/>
            <a:ext cx="2078130" cy="182880"/>
            <a:chOff x="5930457" y="3057154"/>
            <a:chExt cx="2078130" cy="182880"/>
          </a:xfrm>
        </p:grpSpPr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CB4BB077-9653-D0D8-051B-C9474B7BB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8DEBED8B-63BF-DB75-7F73-4CF57B076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FA283363-8AD9-EBA8-1410-E6D5E3BB9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335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60A9B4AF-F1F6-F643-0061-3DFDCF46A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3" name="Rectangle 10">
              <a:extLst>
                <a:ext uri="{FF2B5EF4-FFF2-40B4-BE49-F238E27FC236}">
                  <a16:creationId xmlns:a16="http://schemas.microsoft.com/office/drawing/2014/main" id="{16FAD2C5-E77B-1FAE-6A39-366163DFD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961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4" name="Group 63">
            <a:extLst>
              <a:ext uri="{FF2B5EF4-FFF2-40B4-BE49-F238E27FC236}">
                <a16:creationId xmlns:a16="http://schemas.microsoft.com/office/drawing/2014/main" id="{00528340-20C7-205C-D40D-50E268447C91}"/>
              </a:ext>
            </a:extLst>
          </p:cNvPr>
          <p:cNvGrpSpPr/>
          <p:nvPr/>
        </p:nvGrpSpPr>
        <p:grpSpPr>
          <a:xfrm>
            <a:off x="6545288" y="6285354"/>
            <a:ext cx="2078130" cy="182880"/>
            <a:chOff x="5930457" y="3057154"/>
            <a:chExt cx="2078130" cy="182880"/>
          </a:xfrm>
        </p:grpSpPr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3B261805-C5F3-8707-B1EF-462D086B6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148BEB3F-7119-B888-EAFD-D94CB4447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7" name="Rectangle 8">
              <a:extLst>
                <a:ext uri="{FF2B5EF4-FFF2-40B4-BE49-F238E27FC236}">
                  <a16:creationId xmlns:a16="http://schemas.microsoft.com/office/drawing/2014/main" id="{EB7E9245-2A47-BC41-B917-B08F27739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335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8" name="Rectangle 9">
              <a:extLst>
                <a:ext uri="{FF2B5EF4-FFF2-40B4-BE49-F238E27FC236}">
                  <a16:creationId xmlns:a16="http://schemas.microsoft.com/office/drawing/2014/main" id="{B75CE5F7-A2F5-E5DE-4BD0-092903A82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8038F736-04B5-6E81-05A6-599B09D49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2961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0" name="Rectangle 9">
            <a:extLst>
              <a:ext uri="{FF2B5EF4-FFF2-40B4-BE49-F238E27FC236}">
                <a16:creationId xmlns:a16="http://schemas.microsoft.com/office/drawing/2014/main" id="{9EFF6127-4174-B233-7C44-D3540AF99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1361" y="5699121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1C601F18-3DDB-E5EC-D6BB-645091035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1361" y="5967015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21A99729-6236-2FC6-6092-9995C20AB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1361" y="6249142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83F65A-E372-58C4-2741-F0251C4F1D21}"/>
              </a:ext>
            </a:extLst>
          </p:cNvPr>
          <p:cNvSpPr txBox="1"/>
          <p:nvPr/>
        </p:nvSpPr>
        <p:spPr>
          <a:xfrm>
            <a:off x="5622920" y="5391431"/>
            <a:ext cx="1158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Buckets</a:t>
            </a:r>
            <a:endParaRPr lang="en-SG" sz="1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93D9C6D-68C8-E06F-4C92-84C4430C93B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79174" y="5840182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5AB2F65-765E-F869-BEE9-561F553BB44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79174" y="6094667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74C5FB8-DAE1-55FD-C495-8A36AAAAE2B3}"/>
              </a:ext>
            </a:extLst>
          </p:cNvPr>
          <p:cNvSpPr txBox="1"/>
          <p:nvPr/>
        </p:nvSpPr>
        <p:spPr>
          <a:xfrm>
            <a:off x="8617464" y="5581363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413036-8F0D-400F-ACDA-C0525ABB4919}"/>
              </a:ext>
            </a:extLst>
          </p:cNvPr>
          <p:cNvSpPr txBox="1"/>
          <p:nvPr/>
        </p:nvSpPr>
        <p:spPr>
          <a:xfrm>
            <a:off x="8617464" y="5835826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AEAE3-EA2C-E6B6-4C80-08342EBF8A76}"/>
              </a:ext>
            </a:extLst>
          </p:cNvPr>
          <p:cNvSpPr txBox="1"/>
          <p:nvPr/>
        </p:nvSpPr>
        <p:spPr>
          <a:xfrm>
            <a:off x="8617464" y="6157201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034F8B-8496-C8BD-08DB-D17D7A5F50C3}"/>
              </a:ext>
            </a:extLst>
          </p:cNvPr>
          <p:cNvSpPr txBox="1"/>
          <p:nvPr/>
        </p:nvSpPr>
        <p:spPr>
          <a:xfrm>
            <a:off x="5783610" y="6416474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1CAF557D-F0B8-B04D-C6C4-F9A74214B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8728" y="5950695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1</a:t>
            </a:r>
            <a:endParaRPr lang="en-SG" sz="1400" dirty="0"/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1F0770BC-065F-2626-1C36-C56EF481E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9668" y="5686356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0</a:t>
            </a:r>
            <a:endParaRPr lang="en-SG" sz="1400" dirty="0"/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2EB1AA69-92F3-F6E4-AAB7-438D7D587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2502" y="6240089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2</a:t>
            </a:r>
            <a:endParaRPr lang="en-SG" sz="14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A12C628-934D-3A6B-A2B8-2AC2F2980E2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79174" y="6380437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8E6AAD-D487-3CF6-80BF-C9163C8C8D49}"/>
              </a:ext>
            </a:extLst>
          </p:cNvPr>
          <p:cNvSpPr txBox="1"/>
          <p:nvPr/>
        </p:nvSpPr>
        <p:spPr>
          <a:xfrm>
            <a:off x="2147526" y="5738212"/>
            <a:ext cx="697274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? x ?</a:t>
            </a:r>
          </a:p>
        </p:txBody>
      </p:sp>
    </p:spTree>
    <p:extLst>
      <p:ext uri="{BB962C8B-B14F-4D97-AF65-F5344CB8AC3E}">
        <p14:creationId xmlns:p14="http://schemas.microsoft.com/office/powerpoint/2010/main" val="373797194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Different Types of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Jagged arrays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Good for data with unusual dimensions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Half square</a:t>
            </a: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D74B1-CF3A-4E44-A9AC-F1C0303D3547}"/>
              </a:ext>
            </a:extLst>
          </p:cNvPr>
          <p:cNvSpPr txBox="1"/>
          <p:nvPr/>
        </p:nvSpPr>
        <p:spPr>
          <a:xfrm>
            <a:off x="1032928" y="1740175"/>
            <a:ext cx="7653872" cy="18158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with 10 rows, varying number of columns</a:t>
            </a: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of 10 elements, each being an array of varying size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half_square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endParaRPr lang="en-US" sz="1600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half_square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91CDFC-AF3B-E7C3-4102-2746FA379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AAFBD7-524A-A1E7-4039-5D9E1B7D6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491" y="4703238"/>
            <a:ext cx="415626" cy="182880"/>
          </a:xfrm>
          <a:prstGeom prst="rect">
            <a:avLst/>
          </a:prstGeom>
          <a:solidFill>
            <a:schemeClr val="bg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Box 24">
            <a:extLst>
              <a:ext uri="{FF2B5EF4-FFF2-40B4-BE49-F238E27FC236}">
                <a16:creationId xmlns:a16="http://schemas.microsoft.com/office/drawing/2014/main" id="{B4EDC8E2-726A-BF61-3161-239E4400B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3491" y="4350369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0</a:t>
            </a:r>
            <a:endParaRPr lang="en-SG" sz="1400" dirty="0"/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B1C1239B-CEBF-CFF8-33C9-CF60849A6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117" y="4357214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1</a:t>
            </a:r>
            <a:endParaRPr lang="en-SG" sz="1400" dirty="0"/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EF12498-98A9-5E31-6699-F13498CC7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4743" y="4350369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2</a:t>
            </a:r>
            <a:endParaRPr lang="en-SG" sz="1400" dirty="0"/>
          </a:p>
        </p:txBody>
      </p:sp>
      <p:grpSp>
        <p:nvGrpSpPr>
          <p:cNvPr id="23" name="Group 57">
            <a:extLst>
              <a:ext uri="{FF2B5EF4-FFF2-40B4-BE49-F238E27FC236}">
                <a16:creationId xmlns:a16="http://schemas.microsoft.com/office/drawing/2014/main" id="{F0BDAFD9-84C5-DB7A-FFF7-F14D13EC6074}"/>
              </a:ext>
            </a:extLst>
          </p:cNvPr>
          <p:cNvGrpSpPr/>
          <p:nvPr/>
        </p:nvGrpSpPr>
        <p:grpSpPr>
          <a:xfrm>
            <a:off x="3973491" y="4953026"/>
            <a:ext cx="831252" cy="182880"/>
            <a:chOff x="5930457" y="3057154"/>
            <a:chExt cx="831252" cy="182880"/>
          </a:xfrm>
        </p:grpSpPr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F0E7F1B0-56E0-2E14-6720-DC603AAC1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7" name="Rectangle 9">
              <a:extLst>
                <a:ext uri="{FF2B5EF4-FFF2-40B4-BE49-F238E27FC236}">
                  <a16:creationId xmlns:a16="http://schemas.microsoft.com/office/drawing/2014/main" id="{7F648517-5F85-F80B-DD77-6F5379AD1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9" name="Group 63">
            <a:extLst>
              <a:ext uri="{FF2B5EF4-FFF2-40B4-BE49-F238E27FC236}">
                <a16:creationId xmlns:a16="http://schemas.microsoft.com/office/drawing/2014/main" id="{237440B2-CB60-FCBD-22EA-4BF64BE6DF07}"/>
              </a:ext>
            </a:extLst>
          </p:cNvPr>
          <p:cNvGrpSpPr/>
          <p:nvPr/>
        </p:nvGrpSpPr>
        <p:grpSpPr>
          <a:xfrm>
            <a:off x="3973491" y="5244206"/>
            <a:ext cx="1246878" cy="182880"/>
            <a:chOff x="5930457" y="3057154"/>
            <a:chExt cx="1246878" cy="182880"/>
          </a:xfrm>
        </p:grpSpPr>
        <p:sp>
          <p:nvSpPr>
            <p:cNvPr id="30" name="Rectangle 6">
              <a:extLst>
                <a:ext uri="{FF2B5EF4-FFF2-40B4-BE49-F238E27FC236}">
                  <a16:creationId xmlns:a16="http://schemas.microsoft.com/office/drawing/2014/main" id="{40F1304C-179F-D790-CA1A-D9A08F721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083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1" name="Rectangle 7">
              <a:extLst>
                <a:ext uri="{FF2B5EF4-FFF2-40B4-BE49-F238E27FC236}">
                  <a16:creationId xmlns:a16="http://schemas.microsoft.com/office/drawing/2014/main" id="{278A4D9C-0076-B2FA-90E5-DF664D48D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709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3" name="Rectangle 9">
              <a:extLst>
                <a:ext uri="{FF2B5EF4-FFF2-40B4-BE49-F238E27FC236}">
                  <a16:creationId xmlns:a16="http://schemas.microsoft.com/office/drawing/2014/main" id="{639FBF3A-77B4-291F-9609-EB3F0E159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0457" y="3057154"/>
              <a:ext cx="415626" cy="182880"/>
            </a:xfrm>
            <a:prstGeom prst="rect">
              <a:avLst/>
            </a:prstGeom>
            <a:solidFill>
              <a:schemeClr val="bg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5" name="Rectangle 9">
            <a:extLst>
              <a:ext uri="{FF2B5EF4-FFF2-40B4-BE49-F238E27FC236}">
                <a16:creationId xmlns:a16="http://schemas.microsoft.com/office/drawing/2014/main" id="{129A72FD-43D2-DC10-22FC-9FFB59630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564" y="4657973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5F99A8D0-40AA-3CFF-367E-7C866F81D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564" y="4925867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E41F41A7-643B-2B28-A756-19BB1275C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564" y="5207994"/>
            <a:ext cx="415626" cy="282123"/>
          </a:xfrm>
          <a:prstGeom prst="rect">
            <a:avLst/>
          </a:prstGeom>
          <a:solidFill>
            <a:srgbClr val="9F9FFF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5F3288-7554-D33F-8ACB-5D3247AB433F}"/>
              </a:ext>
            </a:extLst>
          </p:cNvPr>
          <p:cNvSpPr txBox="1"/>
          <p:nvPr/>
        </p:nvSpPr>
        <p:spPr>
          <a:xfrm>
            <a:off x="3051123" y="4350283"/>
            <a:ext cx="1158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Buckets</a:t>
            </a:r>
            <a:endParaRPr lang="en-SG" sz="14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9AC984B-9E3E-EBBD-CF19-EE14B0F759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07377" y="4799034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5151EBA-3F54-D287-B891-A6B6F2180A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07377" y="5053519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44" name="TextBox 25">
            <a:extLst>
              <a:ext uri="{FF2B5EF4-FFF2-40B4-BE49-F238E27FC236}">
                <a16:creationId xmlns:a16="http://schemas.microsoft.com/office/drawing/2014/main" id="{64077622-7459-93D6-CCD2-F7B60054C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6931" y="4909547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1</a:t>
            </a:r>
            <a:endParaRPr lang="en-SG" sz="1400" dirty="0"/>
          </a:p>
        </p:txBody>
      </p:sp>
      <p:sp>
        <p:nvSpPr>
          <p:cNvPr id="45" name="TextBox 25">
            <a:extLst>
              <a:ext uri="{FF2B5EF4-FFF2-40B4-BE49-F238E27FC236}">
                <a16:creationId xmlns:a16="http://schemas.microsoft.com/office/drawing/2014/main" id="{94E38E82-4EF9-93C3-9C57-A4D6982AB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7871" y="4645208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0</a:t>
            </a:r>
            <a:endParaRPr lang="en-SG" sz="1400" dirty="0"/>
          </a:p>
        </p:txBody>
      </p:sp>
      <p:sp>
        <p:nvSpPr>
          <p:cNvPr id="46" name="TextBox 28">
            <a:extLst>
              <a:ext uri="{FF2B5EF4-FFF2-40B4-BE49-F238E27FC236}">
                <a16:creationId xmlns:a16="http://schemas.microsoft.com/office/drawing/2014/main" id="{4430E437-2F4B-10D8-42F8-C7B29F71A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705" y="5198941"/>
            <a:ext cx="415626" cy="30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/>
              <a:t>2</a:t>
            </a:r>
            <a:endParaRPr lang="en-SG" sz="1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B6DAC1C-91C3-E1A4-C64F-4DC54F9AB00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07377" y="5339289"/>
            <a:ext cx="773927" cy="0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30D2F7D-5061-062C-81E6-8B1E54E1AC1B}"/>
              </a:ext>
            </a:extLst>
          </p:cNvPr>
          <p:cNvSpPr txBox="1"/>
          <p:nvPr/>
        </p:nvSpPr>
        <p:spPr>
          <a:xfrm>
            <a:off x="3186315" y="5365777"/>
            <a:ext cx="41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6230114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Using initializers (Fixed-length 2D arrays only)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Using loops with assignment statements (All types of 2D arrays)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Initializing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994932" y="1677173"/>
            <a:ext cx="3138380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matrix[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},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},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0B3E19-4DA7-438D-917E-EFF23F09F022}"/>
              </a:ext>
            </a:extLst>
          </p:cNvPr>
          <p:cNvSpPr txBox="1"/>
          <p:nvPr/>
        </p:nvSpPr>
        <p:spPr>
          <a:xfrm>
            <a:off x="994931" y="4165164"/>
            <a:ext cx="5423975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matrix[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j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j &lt;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j +=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matrix[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][j] =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j;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F96A38-987C-4C97-AB5A-73E1E22BD429}"/>
              </a:ext>
            </a:extLst>
          </p:cNvPr>
          <p:cNvSpPr/>
          <p:nvPr/>
        </p:nvSpPr>
        <p:spPr>
          <a:xfrm>
            <a:off x="6767388" y="445562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6764DB-3C24-4821-93F4-AD6F9E8789E3}"/>
              </a:ext>
            </a:extLst>
          </p:cNvPr>
          <p:cNvSpPr/>
          <p:nvPr/>
        </p:nvSpPr>
        <p:spPr>
          <a:xfrm>
            <a:off x="6767387" y="490768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1F942C-0A84-410E-B22C-3095ABAC9B4D}"/>
              </a:ext>
            </a:extLst>
          </p:cNvPr>
          <p:cNvSpPr/>
          <p:nvPr/>
        </p:nvSpPr>
        <p:spPr>
          <a:xfrm>
            <a:off x="7229724" y="490768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5A92CA-7019-47E4-8517-3B82F7C7A516}"/>
              </a:ext>
            </a:extLst>
          </p:cNvPr>
          <p:cNvSpPr/>
          <p:nvPr/>
        </p:nvSpPr>
        <p:spPr>
          <a:xfrm>
            <a:off x="6767387" y="535974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D35F89-9AF1-4DF1-8FFE-6733BCD97B51}"/>
              </a:ext>
            </a:extLst>
          </p:cNvPr>
          <p:cNvSpPr/>
          <p:nvPr/>
        </p:nvSpPr>
        <p:spPr>
          <a:xfrm>
            <a:off x="7229723" y="535974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803FEC-36F7-405B-A6B6-66CED66EB1A2}"/>
              </a:ext>
            </a:extLst>
          </p:cNvPr>
          <p:cNvSpPr/>
          <p:nvPr/>
        </p:nvSpPr>
        <p:spPr>
          <a:xfrm>
            <a:off x="7692060" y="535974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8F3DBF-39EA-4D02-8E85-31E9FC9C1867}"/>
              </a:ext>
            </a:extLst>
          </p:cNvPr>
          <p:cNvSpPr/>
          <p:nvPr/>
        </p:nvSpPr>
        <p:spPr>
          <a:xfrm>
            <a:off x="7227593" y="4455619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812930-20AB-4D9E-9287-AD26D5F93130}"/>
              </a:ext>
            </a:extLst>
          </p:cNvPr>
          <p:cNvSpPr/>
          <p:nvPr/>
        </p:nvSpPr>
        <p:spPr>
          <a:xfrm>
            <a:off x="7687748" y="4455618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8FF0DC-131C-4D99-A560-45D6E381C8F3}"/>
              </a:ext>
            </a:extLst>
          </p:cNvPr>
          <p:cNvSpPr/>
          <p:nvPr/>
        </p:nvSpPr>
        <p:spPr>
          <a:xfrm>
            <a:off x="7687747" y="4912465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1EB351-8070-4A46-8B67-6CDEEA366488}"/>
              </a:ext>
            </a:extLst>
          </p:cNvPr>
          <p:cNvSpPr txBox="1"/>
          <p:nvPr/>
        </p:nvSpPr>
        <p:spPr>
          <a:xfrm>
            <a:off x="4533954" y="1666481"/>
            <a:ext cx="415284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matrix[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{{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}};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BD85BE-E87C-42A7-9574-9EB580C46B05}"/>
              </a:ext>
            </a:extLst>
          </p:cNvPr>
          <p:cNvSpPr txBox="1"/>
          <p:nvPr/>
        </p:nvSpPr>
        <p:spPr>
          <a:xfrm>
            <a:off x="5394892" y="2138193"/>
            <a:ext cx="2465508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Shortcut for initializing everything to 0.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01EF41-1D0C-AFE4-D0C0-3E2629562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72390127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Functions and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Functions that takes in one row of a 2D array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Actual function call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994931" y="1677173"/>
            <a:ext cx="7561693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bar(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matrix_row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 .. }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bar(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matrix_row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[]) { ..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0B3E19-4DA7-438D-917E-EFF23F09F022}"/>
              </a:ext>
            </a:extLst>
          </p:cNvPr>
          <p:cNvSpPr txBox="1"/>
          <p:nvPr/>
        </p:nvSpPr>
        <p:spPr>
          <a:xfrm>
            <a:off x="994932" y="3429000"/>
            <a:ext cx="276541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matrix[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bar(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matrix[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786C6C-68B0-4656-974B-6145FAE8A001}"/>
              </a:ext>
            </a:extLst>
          </p:cNvPr>
          <p:cNvSpPr txBox="1"/>
          <p:nvPr/>
        </p:nvSpPr>
        <p:spPr>
          <a:xfrm>
            <a:off x="5589143" y="2767725"/>
            <a:ext cx="2559926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Same as functions that takes in a 1D array.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C81370-6D72-39A3-26BE-8AECDE5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8900606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Functions and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Functions that takes the whole 2D array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Actual function call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Note: The first method is only for Fixed Length 2D Array since the number of columns must be known at the time of coding.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994931" y="1713227"/>
            <a:ext cx="7017385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qux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matrix[][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]) { .. }</a:t>
            </a:r>
          </a:p>
          <a:p>
            <a:pPr>
              <a:defRPr/>
            </a:pPr>
            <a:endParaRPr lang="en-US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qux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*matrix[]) { .. }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qux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**matrix) { ..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0B3E19-4DA7-438D-917E-EFF23F09F022}"/>
              </a:ext>
            </a:extLst>
          </p:cNvPr>
          <p:cNvSpPr txBox="1"/>
          <p:nvPr/>
        </p:nvSpPr>
        <p:spPr>
          <a:xfrm>
            <a:off x="994932" y="4775441"/>
            <a:ext cx="315582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qux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matrix);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9793-9DAF-455E-9ECE-ADA362859F53}"/>
              </a:ext>
            </a:extLst>
          </p:cNvPr>
          <p:cNvSpPr txBox="1"/>
          <p:nvPr/>
        </p:nvSpPr>
        <p:spPr>
          <a:xfrm>
            <a:off x="6696058" y="2164637"/>
            <a:ext cx="2184174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Cannot be omitted.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2969267-7504-4232-A6BD-1ADE3283C58E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4572000" y="2164637"/>
            <a:ext cx="2124058" cy="18466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EEF3D5-AA88-6E57-0C54-37D27719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51432755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/>
              <a:t>Tic-Tac-Toe</a:t>
            </a: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0 / 1 / 2 </a:t>
            </a:r>
            <a:r>
              <a:rPr lang="en-US" dirty="0">
                <a:sym typeface="Wingdings" panose="05000000000000000000" pitchFamily="2" charset="2"/>
              </a:rPr>
              <a:t> empty, player 1, player 2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Who wins?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How to check a </a:t>
            </a:r>
            <a:r>
              <a:rPr lang="en-US" b="1" dirty="0">
                <a:solidFill>
                  <a:srgbClr val="7030A0"/>
                </a:solidFill>
              </a:rPr>
              <a:t>row</a:t>
            </a:r>
            <a:r>
              <a:rPr lang="en-US" dirty="0"/>
              <a:t>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E.g., top row is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],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],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2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a specific row (</a:t>
            </a:r>
            <a:r>
              <a:rPr lang="en-US" dirty="0">
                <a:solidFill>
                  <a:srgbClr val="7030A0"/>
                </a:solidFill>
              </a:rPr>
              <a:t>r</a:t>
            </a:r>
            <a:r>
              <a:rPr lang="en-US" dirty="0"/>
              <a:t> from 0~2), check whether board[</a:t>
            </a:r>
            <a:r>
              <a:rPr lang="en-US" dirty="0">
                <a:solidFill>
                  <a:srgbClr val="7030A0"/>
                </a:solidFill>
              </a:rPr>
              <a:t>r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r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 &amp;&amp;  board[</a:t>
            </a:r>
            <a:r>
              <a:rPr lang="en-US" dirty="0">
                <a:solidFill>
                  <a:srgbClr val="7030A0"/>
                </a:solidFill>
              </a:rPr>
              <a:t>r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r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2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Problem Solving with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EEF3D5-AA88-6E57-0C54-37D27719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98220C-DA80-DC4C-0E81-A3100D9F5CBD}"/>
              </a:ext>
            </a:extLst>
          </p:cNvPr>
          <p:cNvSpPr/>
          <p:nvPr/>
        </p:nvSpPr>
        <p:spPr>
          <a:xfrm>
            <a:off x="7167138" y="132158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2D05BE-6F34-6FA0-5E9B-4A0B8764CB9F}"/>
              </a:ext>
            </a:extLst>
          </p:cNvPr>
          <p:cNvSpPr/>
          <p:nvPr/>
        </p:nvSpPr>
        <p:spPr>
          <a:xfrm>
            <a:off x="7167137" y="177365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231C3F-4D98-725F-28B3-B78CEBB33C4E}"/>
              </a:ext>
            </a:extLst>
          </p:cNvPr>
          <p:cNvSpPr/>
          <p:nvPr/>
        </p:nvSpPr>
        <p:spPr>
          <a:xfrm>
            <a:off x="7629474" y="177365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B0D81E-1FDB-0B49-94CD-7125F020C9FF}"/>
              </a:ext>
            </a:extLst>
          </p:cNvPr>
          <p:cNvSpPr/>
          <p:nvPr/>
        </p:nvSpPr>
        <p:spPr>
          <a:xfrm>
            <a:off x="7167137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57F357-B4B2-71F9-48F8-0EAF5CA6F507}"/>
              </a:ext>
            </a:extLst>
          </p:cNvPr>
          <p:cNvSpPr/>
          <p:nvPr/>
        </p:nvSpPr>
        <p:spPr>
          <a:xfrm>
            <a:off x="7629473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1DE561-2A9A-B0F3-2BF5-C282559E7F11}"/>
              </a:ext>
            </a:extLst>
          </p:cNvPr>
          <p:cNvSpPr/>
          <p:nvPr/>
        </p:nvSpPr>
        <p:spPr>
          <a:xfrm>
            <a:off x="8091810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7B6166-8005-EDB5-8C4F-8CC2CD640025}"/>
              </a:ext>
            </a:extLst>
          </p:cNvPr>
          <p:cNvSpPr/>
          <p:nvPr/>
        </p:nvSpPr>
        <p:spPr>
          <a:xfrm>
            <a:off x="7636396" y="132158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F1FF0B-598C-FD15-F6B5-0F4018577D94}"/>
              </a:ext>
            </a:extLst>
          </p:cNvPr>
          <p:cNvSpPr/>
          <p:nvPr/>
        </p:nvSpPr>
        <p:spPr>
          <a:xfrm>
            <a:off x="8096551" y="1321585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C8CD87-7244-7028-57B4-3A381BB5635D}"/>
              </a:ext>
            </a:extLst>
          </p:cNvPr>
          <p:cNvSpPr/>
          <p:nvPr/>
        </p:nvSpPr>
        <p:spPr>
          <a:xfrm>
            <a:off x="8096550" y="1778432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0906334-8EF3-318C-18A6-A0B5DBBA7FE9}"/>
              </a:ext>
            </a:extLst>
          </p:cNvPr>
          <p:cNvGrpSpPr/>
          <p:nvPr/>
        </p:nvGrpSpPr>
        <p:grpSpPr>
          <a:xfrm>
            <a:off x="6795152" y="1380491"/>
            <a:ext cx="298480" cy="1263724"/>
            <a:chOff x="806240" y="4496468"/>
            <a:chExt cx="298480" cy="126372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27BA71-BD69-8DEE-9B85-A9038F7CB37E}"/>
                </a:ext>
              </a:extLst>
            </p:cNvPr>
            <p:cNvSpPr txBox="1"/>
            <p:nvPr/>
          </p:nvSpPr>
          <p:spPr>
            <a:xfrm>
              <a:off x="806240" y="4934608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1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52C4F4C-AC1B-362D-022C-F0A049E14DC9}"/>
                </a:ext>
              </a:extLst>
            </p:cNvPr>
            <p:cNvSpPr txBox="1"/>
            <p:nvPr/>
          </p:nvSpPr>
          <p:spPr>
            <a:xfrm>
              <a:off x="806240" y="4496468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0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C711C2D-B207-DFAD-6139-B7F215DCEFAD}"/>
                </a:ext>
              </a:extLst>
            </p:cNvPr>
            <p:cNvSpPr txBox="1"/>
            <p:nvPr/>
          </p:nvSpPr>
          <p:spPr>
            <a:xfrm>
              <a:off x="806240" y="5390860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2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28" name="Group 61">
            <a:extLst>
              <a:ext uri="{FF2B5EF4-FFF2-40B4-BE49-F238E27FC236}">
                <a16:creationId xmlns:a16="http://schemas.microsoft.com/office/drawing/2014/main" id="{F39E6CAD-5AC9-545A-3447-5DCFF6348EE9}"/>
              </a:ext>
            </a:extLst>
          </p:cNvPr>
          <p:cNvGrpSpPr/>
          <p:nvPr/>
        </p:nvGrpSpPr>
        <p:grpSpPr>
          <a:xfrm>
            <a:off x="7235730" y="969256"/>
            <a:ext cx="1239466" cy="369332"/>
            <a:chOff x="1104720" y="4034803"/>
            <a:chExt cx="1239466" cy="369332"/>
          </a:xfrm>
          <a:noFill/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4922918-D101-7D6F-01A1-6A9AA0C1A983}"/>
                </a:ext>
              </a:extLst>
            </p:cNvPr>
            <p:cNvSpPr txBox="1"/>
            <p:nvPr/>
          </p:nvSpPr>
          <p:spPr>
            <a:xfrm>
              <a:off x="1104720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0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37AF548-9A4F-896B-B03F-684823EC7B12}"/>
                </a:ext>
              </a:extLst>
            </p:cNvPr>
            <p:cNvSpPr txBox="1"/>
            <p:nvPr/>
          </p:nvSpPr>
          <p:spPr>
            <a:xfrm>
              <a:off x="1548053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1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81DC32F-8402-8193-4E07-674CBCD4A227}"/>
                </a:ext>
              </a:extLst>
            </p:cNvPr>
            <p:cNvSpPr txBox="1"/>
            <p:nvPr/>
          </p:nvSpPr>
          <p:spPr>
            <a:xfrm>
              <a:off x="2045706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2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56902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1E44-8D8D-43CE-C036-0346CA648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067EC707-CA92-31E0-5578-565CCBA97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Tic-Tac-Toe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0 / 1 / 2 </a:t>
            </a:r>
            <a:r>
              <a:rPr lang="en-US" dirty="0">
                <a:sym typeface="Wingdings" panose="05000000000000000000" pitchFamily="2" charset="2"/>
              </a:rPr>
              <a:t> empty, player 1, player 2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Who wins?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How to check a </a:t>
            </a:r>
            <a:r>
              <a:rPr lang="en-US" b="1" dirty="0">
                <a:solidFill>
                  <a:srgbClr val="006600"/>
                </a:solidFill>
              </a:rPr>
              <a:t>column</a:t>
            </a:r>
            <a:r>
              <a:rPr lang="en-US" dirty="0"/>
              <a:t>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E.g., left column is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],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], board[</a:t>
            </a:r>
            <a:r>
              <a:rPr lang="en-US" dirty="0">
                <a:solidFill>
                  <a:srgbClr val="7030A0"/>
                </a:solidFill>
              </a:rPr>
              <a:t>2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a specific column (</a:t>
            </a:r>
            <a:r>
              <a:rPr lang="en-US" dirty="0">
                <a:solidFill>
                  <a:srgbClr val="006600"/>
                </a:solidFill>
              </a:rPr>
              <a:t>c</a:t>
            </a:r>
            <a:r>
              <a:rPr lang="en-US" dirty="0"/>
              <a:t> from 0~2), check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c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c</a:t>
            </a:r>
            <a:r>
              <a:rPr lang="en-US" dirty="0"/>
              <a:t>] &amp;&amp;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c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2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c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0E46C0B1-D643-8FE1-2DB5-71914859D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Problem Solving with 2D arrays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D3085-9692-F0D0-A37E-6BD64A46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13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C7DCFE54-BD66-41D2-156D-F3F3849F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FDC4F8-7200-2E66-5058-EE11BDA9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742645-849D-F0BD-746F-EBE25488DADF}"/>
              </a:ext>
            </a:extLst>
          </p:cNvPr>
          <p:cNvSpPr/>
          <p:nvPr/>
        </p:nvSpPr>
        <p:spPr>
          <a:xfrm>
            <a:off x="7167138" y="132158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D474E4-8C2A-C81F-2CDF-25119A41A3E3}"/>
              </a:ext>
            </a:extLst>
          </p:cNvPr>
          <p:cNvSpPr/>
          <p:nvPr/>
        </p:nvSpPr>
        <p:spPr>
          <a:xfrm>
            <a:off x="7167137" y="177365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C138CA-C624-A336-5686-7754678A7D98}"/>
              </a:ext>
            </a:extLst>
          </p:cNvPr>
          <p:cNvSpPr/>
          <p:nvPr/>
        </p:nvSpPr>
        <p:spPr>
          <a:xfrm>
            <a:off x="7629474" y="177365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32EE42-3650-2844-7A3E-4DEB7FF0D167}"/>
              </a:ext>
            </a:extLst>
          </p:cNvPr>
          <p:cNvSpPr/>
          <p:nvPr/>
        </p:nvSpPr>
        <p:spPr>
          <a:xfrm>
            <a:off x="7167137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BD1E2B-B93F-9996-BDC3-7ACCF598F9D4}"/>
              </a:ext>
            </a:extLst>
          </p:cNvPr>
          <p:cNvSpPr/>
          <p:nvPr/>
        </p:nvSpPr>
        <p:spPr>
          <a:xfrm>
            <a:off x="7629473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D05394-489F-CC00-4145-B135EA2ED68A}"/>
              </a:ext>
            </a:extLst>
          </p:cNvPr>
          <p:cNvSpPr/>
          <p:nvPr/>
        </p:nvSpPr>
        <p:spPr>
          <a:xfrm>
            <a:off x="8091810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DEFBC2-9FE4-CFEB-B903-EE838FC22E53}"/>
              </a:ext>
            </a:extLst>
          </p:cNvPr>
          <p:cNvSpPr/>
          <p:nvPr/>
        </p:nvSpPr>
        <p:spPr>
          <a:xfrm>
            <a:off x="7636396" y="132158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B78F0B-9A1D-6744-322E-3A9AA625C386}"/>
              </a:ext>
            </a:extLst>
          </p:cNvPr>
          <p:cNvSpPr/>
          <p:nvPr/>
        </p:nvSpPr>
        <p:spPr>
          <a:xfrm>
            <a:off x="8096551" y="1321585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A27DF-06CF-9E3E-9E10-D041AB25B0B0}"/>
              </a:ext>
            </a:extLst>
          </p:cNvPr>
          <p:cNvSpPr/>
          <p:nvPr/>
        </p:nvSpPr>
        <p:spPr>
          <a:xfrm>
            <a:off x="8096550" y="1778432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EC4C02A-37DB-4775-EAB4-00814F460FD8}"/>
              </a:ext>
            </a:extLst>
          </p:cNvPr>
          <p:cNvGrpSpPr/>
          <p:nvPr/>
        </p:nvGrpSpPr>
        <p:grpSpPr>
          <a:xfrm>
            <a:off x="6795152" y="1380491"/>
            <a:ext cx="298480" cy="1263724"/>
            <a:chOff x="806240" y="4496468"/>
            <a:chExt cx="298480" cy="126372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1059E5F-B568-D7DF-B26E-08B80008E7BC}"/>
                </a:ext>
              </a:extLst>
            </p:cNvPr>
            <p:cNvSpPr txBox="1"/>
            <p:nvPr/>
          </p:nvSpPr>
          <p:spPr>
            <a:xfrm>
              <a:off x="806240" y="4934608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1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0ACFD53-CA75-B053-61AF-04800984E985}"/>
                </a:ext>
              </a:extLst>
            </p:cNvPr>
            <p:cNvSpPr txBox="1"/>
            <p:nvPr/>
          </p:nvSpPr>
          <p:spPr>
            <a:xfrm>
              <a:off x="806240" y="4496468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0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84FB844-A634-5DF6-9ACB-A0D6A658D424}"/>
                </a:ext>
              </a:extLst>
            </p:cNvPr>
            <p:cNvSpPr txBox="1"/>
            <p:nvPr/>
          </p:nvSpPr>
          <p:spPr>
            <a:xfrm>
              <a:off x="806240" y="5390860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2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28" name="Group 61">
            <a:extLst>
              <a:ext uri="{FF2B5EF4-FFF2-40B4-BE49-F238E27FC236}">
                <a16:creationId xmlns:a16="http://schemas.microsoft.com/office/drawing/2014/main" id="{73820376-95F3-DFCF-C572-7EAFC9E34FA3}"/>
              </a:ext>
            </a:extLst>
          </p:cNvPr>
          <p:cNvGrpSpPr/>
          <p:nvPr/>
        </p:nvGrpSpPr>
        <p:grpSpPr>
          <a:xfrm>
            <a:off x="7235730" y="969256"/>
            <a:ext cx="1239466" cy="369332"/>
            <a:chOff x="1104720" y="4034803"/>
            <a:chExt cx="1239466" cy="369332"/>
          </a:xfrm>
          <a:noFill/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27DF767-DBDA-FFC6-A7C1-738B53536CAB}"/>
                </a:ext>
              </a:extLst>
            </p:cNvPr>
            <p:cNvSpPr txBox="1"/>
            <p:nvPr/>
          </p:nvSpPr>
          <p:spPr>
            <a:xfrm>
              <a:off x="1104720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0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3FB80AB-EC4B-A370-596D-25E218853E9E}"/>
                </a:ext>
              </a:extLst>
            </p:cNvPr>
            <p:cNvSpPr txBox="1"/>
            <p:nvPr/>
          </p:nvSpPr>
          <p:spPr>
            <a:xfrm>
              <a:off x="1548053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1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96CFBD5-564B-4224-5DB5-DE98ACEB6B8E}"/>
                </a:ext>
              </a:extLst>
            </p:cNvPr>
            <p:cNvSpPr txBox="1"/>
            <p:nvPr/>
          </p:nvSpPr>
          <p:spPr>
            <a:xfrm>
              <a:off x="2045706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2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852806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90A75-2470-6D78-925B-33E50C38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AD7AA60-0ECD-4720-6A39-AB80B66B2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Tic-Tac-Toe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0 / 1 / 2 </a:t>
            </a:r>
            <a:r>
              <a:rPr lang="en-US" dirty="0">
                <a:sym typeface="Wingdings" panose="05000000000000000000" pitchFamily="2" charset="2"/>
              </a:rPr>
              <a:t> empty, player 1, player 2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Who wins?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How to check </a:t>
            </a:r>
            <a:r>
              <a:rPr lang="en-US" b="1" dirty="0">
                <a:solidFill>
                  <a:srgbClr val="006600"/>
                </a:solidFill>
              </a:rPr>
              <a:t>diagonals</a:t>
            </a:r>
            <a:r>
              <a:rPr lang="en-US" dirty="0"/>
              <a:t>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E.g., left diagonal is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],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], board[</a:t>
            </a:r>
            <a:r>
              <a:rPr lang="en-US" dirty="0">
                <a:solidFill>
                  <a:srgbClr val="7030A0"/>
                </a:solidFill>
              </a:rPr>
              <a:t>2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2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the left diagonal, check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 &amp;&amp;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2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2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the right diagonal, check board[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2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 &amp;&amp; board[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1</a:t>
            </a:r>
            <a:r>
              <a:rPr lang="en-US" dirty="0"/>
              <a:t>] == board[</a:t>
            </a:r>
            <a:r>
              <a:rPr lang="en-US" dirty="0">
                <a:solidFill>
                  <a:srgbClr val="7030A0"/>
                </a:solidFill>
              </a:rPr>
              <a:t>2</a:t>
            </a:r>
            <a:r>
              <a:rPr lang="en-US" dirty="0"/>
              <a:t>][</a:t>
            </a:r>
            <a:r>
              <a:rPr lang="en-US" dirty="0">
                <a:solidFill>
                  <a:srgbClr val="006600"/>
                </a:solidFill>
              </a:rPr>
              <a:t>0</a:t>
            </a:r>
            <a:r>
              <a:rPr lang="en-US" dirty="0"/>
              <a:t>]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What happens if the board is larger?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302F924C-2CF6-A842-D894-07D3A2D4E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Problem Solving with 2D arrays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215D9-1435-7872-9025-7738F948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14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8B3DB57D-74A0-2442-01FE-841B16A205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2D48DB-89A2-F04A-3799-B72CD3799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4007AF-0A95-3F3E-5E4A-38DEE1041316}"/>
              </a:ext>
            </a:extLst>
          </p:cNvPr>
          <p:cNvSpPr/>
          <p:nvPr/>
        </p:nvSpPr>
        <p:spPr>
          <a:xfrm>
            <a:off x="7167138" y="1321587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740F7A-9A15-F89B-FACB-71C762C1D393}"/>
              </a:ext>
            </a:extLst>
          </p:cNvPr>
          <p:cNvSpPr/>
          <p:nvPr/>
        </p:nvSpPr>
        <p:spPr>
          <a:xfrm>
            <a:off x="7167137" y="177365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F39C6D-B7FF-F372-3108-008093DCE235}"/>
              </a:ext>
            </a:extLst>
          </p:cNvPr>
          <p:cNvSpPr/>
          <p:nvPr/>
        </p:nvSpPr>
        <p:spPr>
          <a:xfrm>
            <a:off x="7629474" y="1773650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A51EA0-B260-6858-073E-2EA4F2BBD55B}"/>
              </a:ext>
            </a:extLst>
          </p:cNvPr>
          <p:cNvSpPr/>
          <p:nvPr/>
        </p:nvSpPr>
        <p:spPr>
          <a:xfrm>
            <a:off x="7167137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F25BCD-98C5-FCB3-EE21-E71A9965A1C4}"/>
              </a:ext>
            </a:extLst>
          </p:cNvPr>
          <p:cNvSpPr/>
          <p:nvPr/>
        </p:nvSpPr>
        <p:spPr>
          <a:xfrm>
            <a:off x="7629473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ED66EC-08ED-B348-5D3F-E3C31795CC48}"/>
              </a:ext>
            </a:extLst>
          </p:cNvPr>
          <p:cNvSpPr/>
          <p:nvPr/>
        </p:nvSpPr>
        <p:spPr>
          <a:xfrm>
            <a:off x="8091810" y="2225713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916194-5887-11FF-7222-543B3F440DD7}"/>
              </a:ext>
            </a:extLst>
          </p:cNvPr>
          <p:cNvSpPr/>
          <p:nvPr/>
        </p:nvSpPr>
        <p:spPr>
          <a:xfrm>
            <a:off x="7636396" y="1321586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B827C5-869C-24ED-0DA2-E4D3DD99D7AE}"/>
              </a:ext>
            </a:extLst>
          </p:cNvPr>
          <p:cNvSpPr/>
          <p:nvPr/>
        </p:nvSpPr>
        <p:spPr>
          <a:xfrm>
            <a:off x="8096551" y="1321585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340345-C269-F8F9-312E-1F15E19D9812}"/>
              </a:ext>
            </a:extLst>
          </p:cNvPr>
          <p:cNvSpPr/>
          <p:nvPr/>
        </p:nvSpPr>
        <p:spPr>
          <a:xfrm>
            <a:off x="8096550" y="1778432"/>
            <a:ext cx="462337" cy="452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7FA459-F1B8-DA99-2676-65C5FE293603}"/>
              </a:ext>
            </a:extLst>
          </p:cNvPr>
          <p:cNvGrpSpPr/>
          <p:nvPr/>
        </p:nvGrpSpPr>
        <p:grpSpPr>
          <a:xfrm>
            <a:off x="6795152" y="1380491"/>
            <a:ext cx="298480" cy="1263724"/>
            <a:chOff x="806240" y="4496468"/>
            <a:chExt cx="298480" cy="126372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1324D5C-9EA9-8FD6-6E08-CE6B97975F29}"/>
                </a:ext>
              </a:extLst>
            </p:cNvPr>
            <p:cNvSpPr txBox="1"/>
            <p:nvPr/>
          </p:nvSpPr>
          <p:spPr>
            <a:xfrm>
              <a:off x="806240" y="4934608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1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97F5A1A-4FF9-CB74-9412-5CCCC6FA3CF5}"/>
                </a:ext>
              </a:extLst>
            </p:cNvPr>
            <p:cNvSpPr txBox="1"/>
            <p:nvPr/>
          </p:nvSpPr>
          <p:spPr>
            <a:xfrm>
              <a:off x="806240" y="4496468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0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4E61A92-9BE7-21A0-2181-91FEF4FFDD95}"/>
                </a:ext>
              </a:extLst>
            </p:cNvPr>
            <p:cNvSpPr txBox="1"/>
            <p:nvPr/>
          </p:nvSpPr>
          <p:spPr>
            <a:xfrm>
              <a:off x="806240" y="5390860"/>
              <a:ext cx="298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2</a:t>
              </a:r>
              <a:endParaRPr lang="en-SG" b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19" name="Group 61">
            <a:extLst>
              <a:ext uri="{FF2B5EF4-FFF2-40B4-BE49-F238E27FC236}">
                <a16:creationId xmlns:a16="http://schemas.microsoft.com/office/drawing/2014/main" id="{6C2AF298-ECD7-489D-09AB-A9AD0BCFC0EF}"/>
              </a:ext>
            </a:extLst>
          </p:cNvPr>
          <p:cNvGrpSpPr/>
          <p:nvPr/>
        </p:nvGrpSpPr>
        <p:grpSpPr>
          <a:xfrm>
            <a:off x="7235730" y="969256"/>
            <a:ext cx="1239466" cy="369332"/>
            <a:chOff x="1104720" y="4034803"/>
            <a:chExt cx="1239466" cy="369332"/>
          </a:xfrm>
          <a:noFill/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F5EEBE-2E4E-648C-AA11-32193000D0AD}"/>
                </a:ext>
              </a:extLst>
            </p:cNvPr>
            <p:cNvSpPr txBox="1"/>
            <p:nvPr/>
          </p:nvSpPr>
          <p:spPr>
            <a:xfrm>
              <a:off x="1104720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0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03974D4-C644-19D3-9D10-9E9093D7D8EE}"/>
                </a:ext>
              </a:extLst>
            </p:cNvPr>
            <p:cNvSpPr txBox="1"/>
            <p:nvPr/>
          </p:nvSpPr>
          <p:spPr>
            <a:xfrm>
              <a:off x="1548053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1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943758B-86E0-0BAF-78CE-F1E7F41B794C}"/>
                </a:ext>
              </a:extLst>
            </p:cNvPr>
            <p:cNvSpPr txBox="1"/>
            <p:nvPr/>
          </p:nvSpPr>
          <p:spPr>
            <a:xfrm>
              <a:off x="2045706" y="4034803"/>
              <a:ext cx="2984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6600"/>
                  </a:solidFill>
                </a:rPr>
                <a:t>2</a:t>
              </a:r>
              <a:endParaRPr lang="en-SG" b="1" dirty="0">
                <a:solidFill>
                  <a:srgbClr val="0066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68093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157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Class enrolment 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 err="1"/>
              <a:t>enrol</a:t>
            </a:r>
            <a:r>
              <a:rPr lang="en-US" dirty="0"/>
              <a:t>[</a:t>
            </a:r>
            <a:r>
              <a:rPr lang="en-US" b="1" dirty="0"/>
              <a:t>c</a:t>
            </a:r>
            <a:r>
              <a:rPr lang="en-US" dirty="0"/>
              <a:t>][</a:t>
            </a:r>
            <a:r>
              <a:rPr lang="en-US" b="1" dirty="0"/>
              <a:t>s</a:t>
            </a:r>
            <a:r>
              <a:rPr lang="en-US" dirty="0"/>
              <a:t>] indicates whether student </a:t>
            </a:r>
            <a:r>
              <a:rPr lang="en-US" b="1" dirty="0"/>
              <a:t>s</a:t>
            </a:r>
            <a:r>
              <a:rPr lang="en-US" dirty="0"/>
              <a:t> is enrolled in class </a:t>
            </a:r>
            <a:r>
              <a:rPr lang="en-US" b="1" dirty="0"/>
              <a:t>c</a:t>
            </a:r>
            <a:r>
              <a:rPr lang="en-US" dirty="0"/>
              <a:t>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1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Which classes are the most popular?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Sum each </a:t>
            </a:r>
            <a:r>
              <a:rPr lang="en-US" dirty="0">
                <a:solidFill>
                  <a:srgbClr val="7030A0"/>
                </a:solidFill>
              </a:rPr>
              <a:t>row</a:t>
            </a:r>
            <a:r>
              <a:rPr lang="en-US" dirty="0"/>
              <a:t> and find max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Which students are not enrolled to any class?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Check for all zeros in a column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Sum each </a:t>
            </a:r>
            <a:r>
              <a:rPr lang="en-US" dirty="0">
                <a:solidFill>
                  <a:srgbClr val="006600"/>
                </a:solidFill>
              </a:rPr>
              <a:t>column</a:t>
            </a:r>
            <a:r>
              <a:rPr lang="en-US" dirty="0"/>
              <a:t> and find zero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Problem Solving with 2D arrays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EEF3D5-AA88-6E57-0C54-37D27719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9" name="Group 90">
            <a:extLst>
              <a:ext uri="{FF2B5EF4-FFF2-40B4-BE49-F238E27FC236}">
                <a16:creationId xmlns:a16="http://schemas.microsoft.com/office/drawing/2014/main" id="{6F99A66F-C7D0-3B9C-19FA-153B1854096B}"/>
              </a:ext>
            </a:extLst>
          </p:cNvPr>
          <p:cNvGrpSpPr/>
          <p:nvPr/>
        </p:nvGrpSpPr>
        <p:grpSpPr>
          <a:xfrm>
            <a:off x="1357773" y="2510819"/>
            <a:ext cx="2387840" cy="998785"/>
            <a:chOff x="3200400" y="4232434"/>
            <a:chExt cx="2387840" cy="99878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20B6041-A13B-C066-9871-9253002FBA6B}"/>
                </a:ext>
              </a:extLst>
            </p:cNvPr>
            <p:cNvSpPr txBox="1"/>
            <p:nvPr/>
          </p:nvSpPr>
          <p:spPr>
            <a:xfrm>
              <a:off x="320040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DAA8D56-EACA-23CC-8695-612039A69A35}"/>
                </a:ext>
              </a:extLst>
            </p:cNvPr>
            <p:cNvSpPr txBox="1"/>
            <p:nvPr/>
          </p:nvSpPr>
          <p:spPr>
            <a:xfrm>
              <a:off x="349888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BB8CEFF-5FEE-59F2-1653-6C197FBE2614}"/>
                </a:ext>
              </a:extLst>
            </p:cNvPr>
            <p:cNvSpPr txBox="1"/>
            <p:nvPr/>
          </p:nvSpPr>
          <p:spPr>
            <a:xfrm>
              <a:off x="320040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84CFDDD-CE2D-3BB0-7608-9FC4CB86E0CF}"/>
                </a:ext>
              </a:extLst>
            </p:cNvPr>
            <p:cNvSpPr txBox="1"/>
            <p:nvPr/>
          </p:nvSpPr>
          <p:spPr>
            <a:xfrm>
              <a:off x="349888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9C853BC-AF8A-8517-DD48-0464925EFAAB}"/>
                </a:ext>
              </a:extLst>
            </p:cNvPr>
            <p:cNvSpPr txBox="1"/>
            <p:nvPr/>
          </p:nvSpPr>
          <p:spPr>
            <a:xfrm>
              <a:off x="379736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4DE74C2-100F-2656-A33E-422948465F9A}"/>
                </a:ext>
              </a:extLst>
            </p:cNvPr>
            <p:cNvSpPr txBox="1"/>
            <p:nvPr/>
          </p:nvSpPr>
          <p:spPr>
            <a:xfrm>
              <a:off x="409584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6EFB5C5-14BC-3441-B7D3-C8B2B0EF76B2}"/>
                </a:ext>
              </a:extLst>
            </p:cNvPr>
            <p:cNvSpPr txBox="1"/>
            <p:nvPr/>
          </p:nvSpPr>
          <p:spPr>
            <a:xfrm>
              <a:off x="379736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621C54D-9ABD-39E3-6EC2-7C641A8DCD3F}"/>
                </a:ext>
              </a:extLst>
            </p:cNvPr>
            <p:cNvSpPr txBox="1"/>
            <p:nvPr/>
          </p:nvSpPr>
          <p:spPr>
            <a:xfrm>
              <a:off x="409584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22BBACC-9A42-084B-8555-2FAA37D27C96}"/>
                </a:ext>
              </a:extLst>
            </p:cNvPr>
            <p:cNvSpPr txBox="1"/>
            <p:nvPr/>
          </p:nvSpPr>
          <p:spPr>
            <a:xfrm>
              <a:off x="320040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E72676D-574C-BEF6-D282-C42F04F6AC76}"/>
                </a:ext>
              </a:extLst>
            </p:cNvPr>
            <p:cNvSpPr txBox="1"/>
            <p:nvPr/>
          </p:nvSpPr>
          <p:spPr>
            <a:xfrm>
              <a:off x="349888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F25B0D3-D5D3-F09C-7030-E85848EE0FD8}"/>
                </a:ext>
              </a:extLst>
            </p:cNvPr>
            <p:cNvSpPr txBox="1"/>
            <p:nvPr/>
          </p:nvSpPr>
          <p:spPr>
            <a:xfrm>
              <a:off x="379736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A6ED88E-433B-5F39-B288-6786820A7233}"/>
                </a:ext>
              </a:extLst>
            </p:cNvPr>
            <p:cNvSpPr txBox="1"/>
            <p:nvPr/>
          </p:nvSpPr>
          <p:spPr>
            <a:xfrm>
              <a:off x="409584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F365D73-C657-33A2-97A8-9656E0210DEB}"/>
                </a:ext>
              </a:extLst>
            </p:cNvPr>
            <p:cNvSpPr txBox="1"/>
            <p:nvPr/>
          </p:nvSpPr>
          <p:spPr>
            <a:xfrm>
              <a:off x="439432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CA121CB-8B40-68D2-D370-AA2303CCD760}"/>
                </a:ext>
              </a:extLst>
            </p:cNvPr>
            <p:cNvSpPr txBox="1"/>
            <p:nvPr/>
          </p:nvSpPr>
          <p:spPr>
            <a:xfrm>
              <a:off x="469280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E8421AD-21DB-60FA-AEDF-A2F9EC9DF759}"/>
                </a:ext>
              </a:extLst>
            </p:cNvPr>
            <p:cNvSpPr txBox="1"/>
            <p:nvPr/>
          </p:nvSpPr>
          <p:spPr>
            <a:xfrm>
              <a:off x="439432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36C15D8-327F-D95F-502C-F9F7BD8F1C2F}"/>
                </a:ext>
              </a:extLst>
            </p:cNvPr>
            <p:cNvSpPr txBox="1"/>
            <p:nvPr/>
          </p:nvSpPr>
          <p:spPr>
            <a:xfrm>
              <a:off x="469280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5FD649C-7944-A0FF-EC22-AFE4ACFE1F68}"/>
                </a:ext>
              </a:extLst>
            </p:cNvPr>
            <p:cNvSpPr txBox="1"/>
            <p:nvPr/>
          </p:nvSpPr>
          <p:spPr>
            <a:xfrm>
              <a:off x="499128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9ABC911-418B-A7F1-D6F3-5F3069F67FA0}"/>
                </a:ext>
              </a:extLst>
            </p:cNvPr>
            <p:cNvSpPr txBox="1"/>
            <p:nvPr/>
          </p:nvSpPr>
          <p:spPr>
            <a:xfrm>
              <a:off x="5289760" y="4232434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9F572AB-352D-6D37-56D8-E0AD5C5EA6C7}"/>
                </a:ext>
              </a:extLst>
            </p:cNvPr>
            <p:cNvSpPr txBox="1"/>
            <p:nvPr/>
          </p:nvSpPr>
          <p:spPr>
            <a:xfrm>
              <a:off x="499128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3F99F90-FCCD-E5A3-EF1C-897A33AFBBE5}"/>
                </a:ext>
              </a:extLst>
            </p:cNvPr>
            <p:cNvSpPr txBox="1"/>
            <p:nvPr/>
          </p:nvSpPr>
          <p:spPr>
            <a:xfrm>
              <a:off x="5289760" y="4554111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8AFDBED-186F-FF9B-3E4E-A484515265BF}"/>
                </a:ext>
              </a:extLst>
            </p:cNvPr>
            <p:cNvSpPr txBox="1"/>
            <p:nvPr/>
          </p:nvSpPr>
          <p:spPr>
            <a:xfrm>
              <a:off x="439432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87EA582-E80B-2CB5-BDD2-E75180DF366B}"/>
                </a:ext>
              </a:extLst>
            </p:cNvPr>
            <p:cNvSpPr txBox="1"/>
            <p:nvPr/>
          </p:nvSpPr>
          <p:spPr>
            <a:xfrm>
              <a:off x="469280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56546E0-0567-C77D-60A9-4E1383A747E7}"/>
                </a:ext>
              </a:extLst>
            </p:cNvPr>
            <p:cNvSpPr txBox="1"/>
            <p:nvPr/>
          </p:nvSpPr>
          <p:spPr>
            <a:xfrm>
              <a:off x="499128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  <a:endParaRPr lang="en-SG" sz="16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1965795-598C-8D42-D361-ECF75470158F}"/>
                </a:ext>
              </a:extLst>
            </p:cNvPr>
            <p:cNvSpPr txBox="1"/>
            <p:nvPr/>
          </p:nvSpPr>
          <p:spPr>
            <a:xfrm>
              <a:off x="5289760" y="4892665"/>
              <a:ext cx="29848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  <a:endParaRPr lang="en-SG" sz="16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423887-3D7C-E51C-CA5E-93CEE7CC54CD}"/>
              </a:ext>
            </a:extLst>
          </p:cNvPr>
          <p:cNvGrpSpPr/>
          <p:nvPr/>
        </p:nvGrpSpPr>
        <p:grpSpPr>
          <a:xfrm>
            <a:off x="1059293" y="2510819"/>
            <a:ext cx="298480" cy="984885"/>
            <a:chOff x="806240" y="4496468"/>
            <a:chExt cx="298480" cy="98488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2FC4CAB-885B-01DD-7CA5-7A4A82971585}"/>
                </a:ext>
              </a:extLst>
            </p:cNvPr>
            <p:cNvSpPr txBox="1"/>
            <p:nvPr/>
          </p:nvSpPr>
          <p:spPr>
            <a:xfrm>
              <a:off x="806240" y="4835022"/>
              <a:ext cx="2984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</a:t>
              </a:r>
              <a:endParaRPr lang="en-SG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162C2FD-C9D6-012D-6F8A-E10B77B03F8C}"/>
                </a:ext>
              </a:extLst>
            </p:cNvPr>
            <p:cNvSpPr txBox="1"/>
            <p:nvPr/>
          </p:nvSpPr>
          <p:spPr>
            <a:xfrm>
              <a:off x="806240" y="4496468"/>
              <a:ext cx="2984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0</a:t>
              </a:r>
              <a:endParaRPr lang="en-SG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55A4F71-FBA9-6D09-817D-772BF4C0674B}"/>
                </a:ext>
              </a:extLst>
            </p:cNvPr>
            <p:cNvSpPr txBox="1"/>
            <p:nvPr/>
          </p:nvSpPr>
          <p:spPr>
            <a:xfrm>
              <a:off x="806240" y="5173576"/>
              <a:ext cx="2984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</a:t>
              </a:r>
              <a:endParaRPr lang="en-SG" sz="1400" b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13" name="Group 61">
            <a:extLst>
              <a:ext uri="{FF2B5EF4-FFF2-40B4-BE49-F238E27FC236}">
                <a16:creationId xmlns:a16="http://schemas.microsoft.com/office/drawing/2014/main" id="{5EA01D5E-252F-4BB0-4930-7E7CC69ED1AD}"/>
              </a:ext>
            </a:extLst>
          </p:cNvPr>
          <p:cNvGrpSpPr/>
          <p:nvPr/>
        </p:nvGrpSpPr>
        <p:grpSpPr>
          <a:xfrm>
            <a:off x="1357773" y="2203042"/>
            <a:ext cx="2387840" cy="307777"/>
            <a:chOff x="1104720" y="4034803"/>
            <a:chExt cx="2387840" cy="307777"/>
          </a:xfrm>
          <a:noFill/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27584A-8B37-4DDD-D1F1-CDEEAAE294A3}"/>
                </a:ext>
              </a:extLst>
            </p:cNvPr>
            <p:cNvSpPr txBox="1"/>
            <p:nvPr/>
          </p:nvSpPr>
          <p:spPr>
            <a:xfrm>
              <a:off x="110472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0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8DB76C6-8CF5-EEAE-3458-B5D5134173F1}"/>
                </a:ext>
              </a:extLst>
            </p:cNvPr>
            <p:cNvSpPr txBox="1"/>
            <p:nvPr/>
          </p:nvSpPr>
          <p:spPr>
            <a:xfrm>
              <a:off x="140320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1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6DFF19-A9EE-2CDE-DE0E-8A254CFA155B}"/>
                </a:ext>
              </a:extLst>
            </p:cNvPr>
            <p:cNvSpPr txBox="1"/>
            <p:nvPr/>
          </p:nvSpPr>
          <p:spPr>
            <a:xfrm>
              <a:off x="170168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2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0BA84A7-EFC0-4BEE-0BF7-7A653824A11C}"/>
                </a:ext>
              </a:extLst>
            </p:cNvPr>
            <p:cNvSpPr txBox="1"/>
            <p:nvPr/>
          </p:nvSpPr>
          <p:spPr>
            <a:xfrm>
              <a:off x="200016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3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EC434E-21B0-2353-8557-E0037DBF4A71}"/>
                </a:ext>
              </a:extLst>
            </p:cNvPr>
            <p:cNvSpPr txBox="1"/>
            <p:nvPr/>
          </p:nvSpPr>
          <p:spPr>
            <a:xfrm>
              <a:off x="229864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4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A44C58-CAE4-C28F-4FB5-F8D48E1C8B11}"/>
                </a:ext>
              </a:extLst>
            </p:cNvPr>
            <p:cNvSpPr txBox="1"/>
            <p:nvPr/>
          </p:nvSpPr>
          <p:spPr>
            <a:xfrm>
              <a:off x="259712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5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FB2D5D-850A-E0D4-F5DB-6A55857A62AD}"/>
                </a:ext>
              </a:extLst>
            </p:cNvPr>
            <p:cNvSpPr txBox="1"/>
            <p:nvPr/>
          </p:nvSpPr>
          <p:spPr>
            <a:xfrm>
              <a:off x="289560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6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678B402-96CC-B429-3E5A-AB868CF2DEDE}"/>
                </a:ext>
              </a:extLst>
            </p:cNvPr>
            <p:cNvSpPr txBox="1"/>
            <p:nvPr/>
          </p:nvSpPr>
          <p:spPr>
            <a:xfrm>
              <a:off x="3194080" y="4034803"/>
              <a:ext cx="29848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7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8437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20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Efficiency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069FF181-1464-623A-2669-FCA28C9C60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94B235-D0B4-AB15-F68B-3C4E3A41BD3F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22: Efficiency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Good Habits for Writing Efficient Code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Time Complexity Analysis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A75DF3-26D8-88A7-7036-1C4929F4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F8416-2A86-1692-657E-A0DB83E9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54817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0000FF"/>
                </a:solidFill>
              </a:rPr>
              <a:t>Good Habits for Writing Efficient Code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1371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800" dirty="0"/>
              <a:t>No redundant work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400" dirty="0"/>
              <a:t>Do only what is necessary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382CE6-82FA-4AB3-92A7-7E274C3F89FD}"/>
              </a:ext>
            </a:extLst>
          </p:cNvPr>
          <p:cNvSpPr txBox="1"/>
          <p:nvPr/>
        </p:nvSpPr>
        <p:spPr>
          <a:xfrm>
            <a:off x="1013878" y="2376881"/>
            <a:ext cx="5249270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%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BA1797-F87E-4AEF-B309-49140ECBA55F}"/>
              </a:ext>
            </a:extLst>
          </p:cNvPr>
          <p:cNvSpPr txBox="1"/>
          <p:nvPr/>
        </p:nvSpPr>
        <p:spPr>
          <a:xfrm>
            <a:off x="3584435" y="4168676"/>
            <a:ext cx="5357425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sqrt(n);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%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false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F56917-1B8B-478F-8FFC-174C0AEBC478}"/>
              </a:ext>
            </a:extLst>
          </p:cNvPr>
          <p:cNvSpPr/>
          <p:nvPr/>
        </p:nvSpPr>
        <p:spPr>
          <a:xfrm>
            <a:off x="3382295" y="2864177"/>
            <a:ext cx="1396181" cy="31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E5C5741-59DA-4D4C-ABD1-AAFD00BCF15A}"/>
              </a:ext>
            </a:extLst>
          </p:cNvPr>
          <p:cNvSpPr/>
          <p:nvPr/>
        </p:nvSpPr>
        <p:spPr>
          <a:xfrm>
            <a:off x="5943598" y="4667108"/>
            <a:ext cx="1676401" cy="31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7DCFF1E-C7C1-4234-9A2E-27DE8F6027BD}"/>
              </a:ext>
            </a:extLst>
          </p:cNvPr>
          <p:cNvSpPr txBox="1"/>
          <p:nvPr/>
        </p:nvSpPr>
        <p:spPr>
          <a:xfrm>
            <a:off x="7249389" y="5322838"/>
            <a:ext cx="143741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is more efficient!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64B7307-8B9C-4DF9-A30D-13917EC95682}"/>
              </a:ext>
            </a:extLst>
          </p:cNvPr>
          <p:cNvSpPr txBox="1"/>
          <p:nvPr/>
        </p:nvSpPr>
        <p:spPr>
          <a:xfrm>
            <a:off x="5284468" y="3322211"/>
            <a:ext cx="299466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100 seconds vs 3 seconds on </a:t>
            </a:r>
            <a:r>
              <a:rPr lang="en-US" dirty="0" err="1"/>
              <a:t>is_prime</a:t>
            </a:r>
            <a:r>
              <a:rPr lang="en-US" dirty="0"/>
              <a:t>(10000000001)!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C473E-4552-55DF-7FB6-9FC7D2975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F96C6-982A-FC95-EC41-6569A7C0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447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1" grpId="0" animBg="1"/>
      <p:bldP spid="74" grpId="0" animBg="1"/>
      <p:bldP spid="7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0000FF"/>
                </a:solidFill>
              </a:rPr>
              <a:t>Good Habits for Writing Efficient Code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1"/>
            <a:ext cx="7948612" cy="55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Why only check up to sqrt(n) instead of n-1?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If there is a factor k </a:t>
            </a:r>
            <a:r>
              <a:rPr lang="en-US" b="1" dirty="0"/>
              <a:t>greater than sqrt(n)</a:t>
            </a:r>
            <a:r>
              <a:rPr lang="en-US" dirty="0"/>
              <a:t>, n / k is also a factor, which it is </a:t>
            </a:r>
            <a:r>
              <a:rPr lang="en-US" b="1" dirty="0"/>
              <a:t>less than sqrt(n)</a:t>
            </a:r>
            <a:r>
              <a:rPr lang="en-US" dirty="0"/>
              <a:t>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>
                <a:sym typeface="Wingdings" panose="05000000000000000000" pitchFamily="2" charset="2"/>
              </a:rPr>
              <a:t>If t</a:t>
            </a:r>
            <a:r>
              <a:rPr lang="en-US" dirty="0"/>
              <a:t>here are no factors up to sqrt(n), there cannot be any factors bigger than sqrt(n).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It is safe to only check up to sqrt(n).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Example: Let say n = 18, sqrt(n) ~= 4.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If there is a factor greater than 4 (e.g., 9)…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n / k (i.e., 18 / 9 = 2) is also a factor, which is less than 4.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It is safe to only check up to 4.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E82CFC-3C04-D7AB-C0D8-3F9C4390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6D48DE-EE3F-BDAC-498E-FBC0DAA5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19057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0000FF"/>
                </a:solidFill>
              </a:rPr>
              <a:t>Good Habits for Writing Efficient Code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29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800" dirty="0"/>
              <a:t>No duplicates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400" dirty="0"/>
              <a:t>Do NOT repeat work.</a:t>
            </a:r>
          </a:p>
          <a:p>
            <a:pPr marL="274320" lvl="1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sz="12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800" dirty="0"/>
              <a:t>Example 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400" dirty="0"/>
              <a:t>Compute the range of a list of k numbers.</a:t>
            </a:r>
          </a:p>
          <a:p>
            <a:pPr marL="274320" lvl="1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6C8EB-4657-4E37-BE88-8AB646F0F86F}"/>
              </a:ext>
            </a:extLst>
          </p:cNvPr>
          <p:cNvSpPr txBox="1"/>
          <p:nvPr/>
        </p:nvSpPr>
        <p:spPr>
          <a:xfrm>
            <a:off x="1303471" y="3663490"/>
            <a:ext cx="6531271" cy="138499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74320" lvl="1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400" dirty="0"/>
              <a:t>Solution 1</a:t>
            </a:r>
          </a:p>
          <a:p>
            <a:pPr marL="54864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000" dirty="0"/>
              <a:t>Go through the list </a:t>
            </a:r>
            <a:r>
              <a:rPr lang="en-GB" sz="2000" dirty="0">
                <a:solidFill>
                  <a:srgbClr val="0000FF"/>
                </a:solidFill>
              </a:rPr>
              <a:t>once</a:t>
            </a:r>
            <a:r>
              <a:rPr lang="en-GB" sz="2000" dirty="0"/>
              <a:t> to compute the maximum</a:t>
            </a:r>
          </a:p>
          <a:p>
            <a:pPr marL="54864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000" dirty="0"/>
              <a:t>Go through the list </a:t>
            </a:r>
            <a:r>
              <a:rPr lang="en-GB" sz="2000" dirty="0">
                <a:solidFill>
                  <a:srgbClr val="0000FF"/>
                </a:solidFill>
              </a:rPr>
              <a:t>(again) </a:t>
            </a:r>
            <a:r>
              <a:rPr lang="en-GB" sz="2000" dirty="0"/>
              <a:t>to compute the minimum</a:t>
            </a:r>
          </a:p>
          <a:p>
            <a:pPr marL="54864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000" dirty="0"/>
              <a:t>Compute maximum – minimum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20F974-1539-439B-8444-97209D6BF886}"/>
              </a:ext>
            </a:extLst>
          </p:cNvPr>
          <p:cNvSpPr txBox="1"/>
          <p:nvPr/>
        </p:nvSpPr>
        <p:spPr>
          <a:xfrm>
            <a:off x="1309258" y="5150835"/>
            <a:ext cx="6525484" cy="138499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74320" lvl="1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400" dirty="0"/>
              <a:t>Solution 2</a:t>
            </a:r>
          </a:p>
          <a:p>
            <a:pPr marL="54864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000" dirty="0"/>
              <a:t>Go through the list </a:t>
            </a:r>
            <a:r>
              <a:rPr lang="en-GB" sz="2000" dirty="0">
                <a:solidFill>
                  <a:srgbClr val="0000FF"/>
                </a:solidFill>
              </a:rPr>
              <a:t>once</a:t>
            </a:r>
            <a:r>
              <a:rPr lang="en-GB" sz="2000" dirty="0"/>
              <a:t> to compute </a:t>
            </a:r>
            <a:r>
              <a:rPr lang="en-GB" sz="2000" dirty="0">
                <a:solidFill>
                  <a:srgbClr val="0000FF"/>
                </a:solidFill>
              </a:rPr>
              <a:t>both the maximum and the minimum</a:t>
            </a:r>
            <a:r>
              <a:rPr lang="en-GB" sz="2000" dirty="0"/>
              <a:t> at the same time</a:t>
            </a:r>
          </a:p>
          <a:p>
            <a:pPr marL="54864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sz="2000" dirty="0"/>
              <a:t>Compute maximum – minimum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4C85C7-E968-4CC2-A469-7DF4A3FAAEB6}"/>
              </a:ext>
            </a:extLst>
          </p:cNvPr>
          <p:cNvSpPr txBox="1"/>
          <p:nvPr/>
        </p:nvSpPr>
        <p:spPr>
          <a:xfrm>
            <a:off x="7275368" y="5520166"/>
            <a:ext cx="143741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is more efficient!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F8E797-D73D-175A-734D-C27ED14F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0110B9-DC76-75AE-3F37-84FA803F4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5278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0000FF"/>
                </a:solidFill>
              </a:rPr>
              <a:t>Good Habits for Writing Efficient Code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29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800" dirty="0"/>
              <a:t>No duplicates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400" dirty="0"/>
              <a:t>Do NOT repeat work.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12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800" dirty="0"/>
              <a:t>Example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400" dirty="0"/>
          </a:p>
          <a:p>
            <a:pPr marL="274320" lvl="1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2EA7A4-8C3C-447D-A2A2-DBC0FFF13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778" y="1533345"/>
            <a:ext cx="6847147" cy="3791310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EA978FDC-5B4D-4AD9-895E-8DC327E71261}"/>
              </a:ext>
            </a:extLst>
          </p:cNvPr>
          <p:cNvSpPr txBox="1"/>
          <p:nvPr/>
        </p:nvSpPr>
        <p:spPr>
          <a:xfrm>
            <a:off x="4184893" y="4798218"/>
            <a:ext cx="4570918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764681-DB93-4CD2-B34B-FFC399020F05}"/>
              </a:ext>
            </a:extLst>
          </p:cNvPr>
          <p:cNvSpPr txBox="1"/>
          <p:nvPr/>
        </p:nvSpPr>
        <p:spPr>
          <a:xfrm>
            <a:off x="1187096" y="5577662"/>
            <a:ext cx="228219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iterative version is more efficient!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C2B836-F1CB-BC1D-836F-C1A9DEFEB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DA467-FAF2-23E5-50C7-C208A9DD8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56821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Time Complexity Analysis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The Naïve approach: Count the number of steps required for an input n…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12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Example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7 steps per iteration: </a:t>
            </a:r>
            <a:r>
              <a:rPr lang="en-GB" b="1" dirty="0"/>
              <a:t>1</a:t>
            </a:r>
            <a:r>
              <a:rPr lang="en-GB" dirty="0"/>
              <a:t> comparison + </a:t>
            </a:r>
            <a:r>
              <a:rPr lang="en-GB" b="1" dirty="0"/>
              <a:t>2</a:t>
            </a:r>
            <a:r>
              <a:rPr lang="en-GB" dirty="0"/>
              <a:t> additions + </a:t>
            </a:r>
            <a:r>
              <a:rPr lang="en-GB" b="1" dirty="0"/>
              <a:t>4</a:t>
            </a:r>
            <a:r>
              <a:rPr lang="en-GB" dirty="0"/>
              <a:t> assignments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n – 2 iterations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2 extra steps: 1 assignment (initialization) + 1 comparison (final check of condition).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7n – 12 in total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AFFBA73-AAEB-4C10-ABCA-A7B7BA817286}"/>
              </a:ext>
            </a:extLst>
          </p:cNvPr>
          <p:cNvSpPr txBox="1"/>
          <p:nvPr/>
        </p:nvSpPr>
        <p:spPr>
          <a:xfrm>
            <a:off x="1015666" y="2965260"/>
            <a:ext cx="4491516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!= n;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first =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second = third;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third = first +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83A8B9D5-9262-4877-BC20-04CFCCBC2B6E}"/>
              </a:ext>
            </a:extLst>
          </p:cNvPr>
          <p:cNvSpPr txBox="1"/>
          <p:nvPr/>
        </p:nvSpPr>
        <p:spPr>
          <a:xfrm>
            <a:off x="3262918" y="6107668"/>
            <a:ext cx="4488527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Too detailed and not particularly useful…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0CCC5-D7EC-44D8-909F-0E26CCF787E7}"/>
              </a:ext>
            </a:extLst>
          </p:cNvPr>
          <p:cNvSpPr txBox="1"/>
          <p:nvPr/>
        </p:nvSpPr>
        <p:spPr>
          <a:xfrm>
            <a:off x="5394061" y="3165314"/>
            <a:ext cx="1817230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key loop in the iterative version of fib.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8546EB-3E12-D609-C235-C3711D0E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9D669-877F-73CA-6319-FA15DC54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21377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Time 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3"/>
              <p:cNvSpPr txBox="1">
                <a:spLocks noChangeArrowheads="1"/>
              </p:cNvSpPr>
              <p:nvPr/>
            </p:nvSpPr>
            <p:spPr>
              <a:xfrm>
                <a:off x="471488" y="1289049"/>
                <a:ext cx="8443912" cy="542347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88720" indent="-13716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55448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r>
                  <a:rPr lang="en-GB" dirty="0"/>
                  <a:t>A better approach: Focus on </a:t>
                </a:r>
                <a:r>
                  <a:rPr lang="en-GB" dirty="0">
                    <a:solidFill>
                      <a:srgbClr val="0000FF"/>
                    </a:solidFill>
                  </a:rPr>
                  <a:t>the order of growth</a:t>
                </a:r>
                <a:r>
                  <a:rPr lang="en-GB" dirty="0"/>
                  <a:t> and the worst-case scenario.</a:t>
                </a:r>
              </a:p>
              <a:p>
                <a:pPr marL="457200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endParaRPr lang="en-GB" dirty="0"/>
              </a:p>
              <a:p>
                <a:pPr marL="457200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r>
                  <a:rPr lang="en-GB" dirty="0"/>
                  <a:t>Order of growth: How quickly does the number of steps grow with respect to n?</a:t>
                </a:r>
              </a:p>
              <a:p>
                <a:pPr marL="731520" lvl="1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r>
                  <a:rPr lang="en-GB" dirty="0"/>
                  <a:t>1 &lt; log n &lt;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dirty="0"/>
                  <a:t> &lt; n &lt; n</a:t>
                </a:r>
                <a:r>
                  <a:rPr lang="en-GB" baseline="30000" dirty="0"/>
                  <a:t>2</a:t>
                </a:r>
                <a:r>
                  <a:rPr lang="en-GB" dirty="0"/>
                  <a:t> &lt; n</a:t>
                </a:r>
                <a:r>
                  <a:rPr lang="en-GB" baseline="30000" dirty="0"/>
                  <a:t>3</a:t>
                </a:r>
                <a:r>
                  <a:rPr lang="en-GB" dirty="0"/>
                  <a:t> &lt; … &lt; 2</a:t>
                </a:r>
                <a:r>
                  <a:rPr lang="en-GB" baseline="30000" dirty="0"/>
                  <a:t>n</a:t>
                </a:r>
                <a:r>
                  <a:rPr lang="en-GB" dirty="0"/>
                  <a:t> &lt; 3</a:t>
                </a:r>
                <a:r>
                  <a:rPr lang="en-GB" baseline="30000" dirty="0"/>
                  <a:t>n</a:t>
                </a:r>
                <a:endParaRPr lang="en-GB" dirty="0"/>
              </a:p>
              <a:p>
                <a:pPr marL="0" indent="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None/>
                </a:pPr>
                <a:endParaRPr lang="en-GB" dirty="0"/>
              </a:p>
              <a:p>
                <a:pPr marL="457200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r>
                  <a:rPr lang="en-GB" dirty="0"/>
                  <a:t>Big O-notations: O(1) &lt; O(log n) &lt; 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dirty="0"/>
                  <a:t>) &lt; O(n) &lt; O(n</a:t>
                </a:r>
                <a:r>
                  <a:rPr lang="en-GB" baseline="30000" dirty="0"/>
                  <a:t>2</a:t>
                </a:r>
                <a:r>
                  <a:rPr lang="en-GB" dirty="0"/>
                  <a:t>) &lt; O(n</a:t>
                </a:r>
                <a:r>
                  <a:rPr lang="en-GB" baseline="30000" dirty="0"/>
                  <a:t>3</a:t>
                </a:r>
                <a:r>
                  <a:rPr lang="en-GB" dirty="0"/>
                  <a:t>) &lt; … &lt; O(2</a:t>
                </a:r>
                <a:r>
                  <a:rPr lang="en-GB" baseline="30000" dirty="0"/>
                  <a:t>n</a:t>
                </a:r>
                <a:r>
                  <a:rPr lang="en-GB" dirty="0"/>
                  <a:t>) &lt; O(3</a:t>
                </a:r>
                <a:r>
                  <a:rPr lang="en-GB" baseline="30000" dirty="0"/>
                  <a:t>n</a:t>
                </a:r>
                <a:r>
                  <a:rPr lang="en-GB" dirty="0"/>
                  <a:t>)</a:t>
                </a:r>
              </a:p>
              <a:p>
                <a:pPr marL="731520" lvl="1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r>
                  <a:rPr lang="en-GB" dirty="0"/>
                  <a:t>An algorithm takes O(n) time for the input n ~= The number of operations grows no </a:t>
                </a:r>
                <a:r>
                  <a:rPr lang="en-GB"/>
                  <a:t>faster than n </a:t>
                </a:r>
                <a:r>
                  <a:rPr lang="en-GB" dirty="0"/>
                  <a:t>(i.e., linearly).</a:t>
                </a:r>
              </a:p>
              <a:p>
                <a:pPr marL="274320" lvl="1" indent="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None/>
                </a:pPr>
                <a:endParaRPr lang="en-GB" dirty="0"/>
              </a:p>
              <a:p>
                <a:pPr marL="457200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endParaRPr lang="en-GB" dirty="0"/>
              </a:p>
              <a:p>
                <a:pPr marL="731520" lvl="1" indent="-45720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  <a:buFont typeface="Wingdings" pitchFamily="2" charset="2"/>
                  <a:buChar char="§"/>
                </a:pPr>
                <a:endParaRPr lang="en-GB" dirty="0"/>
              </a:p>
            </p:txBody>
          </p:sp>
        </mc:Choice>
        <mc:Fallback xmlns="">
          <p:sp>
            <p:nvSpPr>
              <p:cNvPr id="69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1289049"/>
                <a:ext cx="8443912" cy="5423477"/>
              </a:xfrm>
              <a:prstGeom prst="rect">
                <a:avLst/>
              </a:prstGeom>
              <a:blipFill>
                <a:blip r:embed="rId3"/>
                <a:stretch>
                  <a:fillRect l="-938" t="-787" r="-180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B64CD9-30F1-AFD7-4637-3D53211FE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E2E7E8-1230-CA3C-9468-C73BAF53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6939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Time Complexity Analysis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 better approach: Focus on </a:t>
            </a:r>
            <a:r>
              <a:rPr lang="en-GB" dirty="0">
                <a:solidFill>
                  <a:srgbClr val="0000FF"/>
                </a:solidFill>
              </a:rPr>
              <a:t>the order of growth </a:t>
            </a:r>
            <a:r>
              <a:rPr lang="en-GB" dirty="0"/>
              <a:t>and the worst-case scenario.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Example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Initial computation: 7n – 12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>
                <a:sym typeface="Wingdings" panose="05000000000000000000" pitchFamily="2" charset="2"/>
              </a:rPr>
              <a:t>Drop constants and keep only the term with the highest rate of growth. 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Final result: O(n)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AFFBA73-AAEB-4C10-ABCA-A7B7BA817286}"/>
              </a:ext>
            </a:extLst>
          </p:cNvPr>
          <p:cNvSpPr txBox="1"/>
          <p:nvPr/>
        </p:nvSpPr>
        <p:spPr>
          <a:xfrm>
            <a:off x="1261472" y="2677348"/>
            <a:ext cx="4491516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!= n;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first =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second = third;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third = first +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B74532-2646-FD78-437A-3D32116CD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14DFCF-2CF1-8D66-D5C9-68F4453B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520278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Time Complexity Analysis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 better approach: Focus on the order of growth and </a:t>
            </a:r>
            <a:r>
              <a:rPr lang="en-GB" dirty="0">
                <a:solidFill>
                  <a:srgbClr val="0000FF"/>
                </a:solidFill>
              </a:rPr>
              <a:t>the worst-case scenario</a:t>
            </a:r>
            <a:r>
              <a:rPr lang="en-GB" dirty="0"/>
              <a:t>.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Best / worst-case scenario: The input that leads to the minimal / maximum computation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The best case is usually trivial so we should focus on worst case.</a:t>
            </a:r>
            <a:r>
              <a:rPr lang="en-GB" b="1" dirty="0"/>
              <a:t> </a:t>
            </a:r>
            <a:r>
              <a:rPr lang="en-GB" dirty="0"/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852CB8-E721-0AE2-9A6E-3F60B8BB7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6F706-63D9-C501-DF45-DD4F9F98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08470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Time Complexity Analysis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 better approach: Focus on the order of growth and the </a:t>
            </a:r>
            <a:r>
              <a:rPr lang="en-GB" dirty="0">
                <a:solidFill>
                  <a:srgbClr val="0000FF"/>
                </a:solidFill>
              </a:rPr>
              <a:t>worst-case scenario</a:t>
            </a:r>
            <a:r>
              <a:rPr lang="en-GB" dirty="0"/>
              <a:t>.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Example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BD86B-E14A-44AC-BFF9-0E84C3CD8A92}"/>
              </a:ext>
            </a:extLst>
          </p:cNvPr>
          <p:cNvSpPr txBox="1"/>
          <p:nvPr/>
        </p:nvSpPr>
        <p:spPr>
          <a:xfrm>
            <a:off x="1013878" y="2662019"/>
            <a:ext cx="5249270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%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DAE2F8-91CC-42A9-9F08-A2CB7884BB4F}"/>
              </a:ext>
            </a:extLst>
          </p:cNvPr>
          <p:cNvSpPr txBox="1"/>
          <p:nvPr/>
        </p:nvSpPr>
        <p:spPr>
          <a:xfrm>
            <a:off x="3584435" y="4453814"/>
            <a:ext cx="5357425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sqrt(n);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%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false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EFE947-730A-4EF3-82CB-A3F101E6D172}"/>
              </a:ext>
            </a:extLst>
          </p:cNvPr>
          <p:cNvSpPr/>
          <p:nvPr/>
        </p:nvSpPr>
        <p:spPr>
          <a:xfrm>
            <a:off x="3382295" y="3149315"/>
            <a:ext cx="1396181" cy="31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1F6D12-2380-4370-B223-2337A573F1C0}"/>
              </a:ext>
            </a:extLst>
          </p:cNvPr>
          <p:cNvSpPr/>
          <p:nvPr/>
        </p:nvSpPr>
        <p:spPr>
          <a:xfrm>
            <a:off x="5943598" y="4952246"/>
            <a:ext cx="1676401" cy="31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381BA-EAF8-47AB-91D9-6F294A733F6A}"/>
              </a:ext>
            </a:extLst>
          </p:cNvPr>
          <p:cNvSpPr txBox="1"/>
          <p:nvPr/>
        </p:nvSpPr>
        <p:spPr>
          <a:xfrm>
            <a:off x="7249389" y="5607976"/>
            <a:ext cx="143741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is more efficient!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707D11-2221-4B70-A383-BC6518A42A05}"/>
              </a:ext>
            </a:extLst>
          </p:cNvPr>
          <p:cNvSpPr txBox="1"/>
          <p:nvPr/>
        </p:nvSpPr>
        <p:spPr>
          <a:xfrm>
            <a:off x="6403072" y="2682811"/>
            <a:ext cx="1438338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Best case: </a:t>
            </a:r>
          </a:p>
          <a:p>
            <a:r>
              <a:rPr lang="en-US" dirty="0"/>
              <a:t>Both O(1)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E02B8D-D2D3-44AF-B2F0-E85171B024BF}"/>
                  </a:ext>
                </a:extLst>
              </p:cNvPr>
              <p:cNvSpPr txBox="1"/>
              <p:nvPr/>
            </p:nvSpPr>
            <p:spPr>
              <a:xfrm>
                <a:off x="6427469" y="3498622"/>
                <a:ext cx="1438338" cy="649409"/>
              </a:xfrm>
              <a:prstGeom prst="rect">
                <a:avLst/>
              </a:prstGeom>
              <a:solidFill>
                <a:srgbClr val="FFFF99"/>
              </a:solidFill>
              <a:ln w="127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Worst case: </a:t>
                </a:r>
                <a:br>
                  <a:rPr lang="en-US" dirty="0"/>
                </a:br>
                <a:r>
                  <a:rPr lang="en-US" dirty="0"/>
                  <a:t>O(n) vs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E02B8D-D2D3-44AF-B2F0-E85171B02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469" y="3498622"/>
                <a:ext cx="1438338" cy="649409"/>
              </a:xfrm>
              <a:prstGeom prst="rect">
                <a:avLst/>
              </a:prstGeom>
              <a:blipFill>
                <a:blip r:embed="rId3"/>
                <a:stretch>
                  <a:fillRect l="-2941" t="-4630" r="-4202" b="-13889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91B833-F8AE-0CE6-65E2-935CA07F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79E8A8-9F88-0E94-4E91-0E64FA41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172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Draw a rectangle given the dimensions m and n.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BD86B-E14A-44AC-BFF9-0E84C3CD8A92}"/>
              </a:ext>
            </a:extLst>
          </p:cNvPr>
          <p:cNvSpPr txBox="1"/>
          <p:nvPr/>
        </p:nvSpPr>
        <p:spPr>
          <a:xfrm>
            <a:off x="1013878" y="1786948"/>
            <a:ext cx="7658634" cy="37856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draw_line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*first,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*mid,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*last)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cs1010_print_string(first); 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for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j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j &lt; m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j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cs1010_print_string(mid);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cs1010_println_string(last);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draw_rectangle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draw_line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(m, TOP_LEFT, HORIZONTAL, TOP_RIGHT);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draw_line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(m, VERTICAL, " ", VERTICAL);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draw_line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(m, BOTTOM_LEFT, HORIZONTAL, BOTTOM_RIGHT);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FD17B-C03F-4569-B6EC-EFB5F751521E}"/>
              </a:ext>
            </a:extLst>
          </p:cNvPr>
          <p:cNvSpPr txBox="1"/>
          <p:nvPr/>
        </p:nvSpPr>
        <p:spPr>
          <a:xfrm>
            <a:off x="533400" y="1786948"/>
            <a:ext cx="533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  <a:p>
            <a:r>
              <a:rPr lang="en-US" sz="1600" dirty="0"/>
              <a:t>2</a:t>
            </a:r>
          </a:p>
          <a:p>
            <a:r>
              <a:rPr lang="en-US" sz="1600" dirty="0"/>
              <a:t>3</a:t>
            </a:r>
          </a:p>
          <a:p>
            <a:r>
              <a:rPr lang="en-US" sz="1600" dirty="0"/>
              <a:t>4</a:t>
            </a:r>
          </a:p>
          <a:p>
            <a:r>
              <a:rPr lang="en-US" sz="1600" dirty="0"/>
              <a:t>5</a:t>
            </a:r>
          </a:p>
          <a:p>
            <a:r>
              <a:rPr lang="en-US" sz="1600" dirty="0"/>
              <a:t>6</a:t>
            </a:r>
          </a:p>
          <a:p>
            <a:r>
              <a:rPr lang="en-US" sz="1600" dirty="0"/>
              <a:t>7</a:t>
            </a:r>
          </a:p>
          <a:p>
            <a:r>
              <a:rPr lang="en-US" sz="1600" dirty="0"/>
              <a:t>8</a:t>
            </a:r>
          </a:p>
          <a:p>
            <a:r>
              <a:rPr lang="en-US" sz="1600" dirty="0"/>
              <a:t>9</a:t>
            </a:r>
          </a:p>
          <a:p>
            <a:r>
              <a:rPr lang="en-US" sz="1600" dirty="0"/>
              <a:t>10</a:t>
            </a:r>
          </a:p>
          <a:p>
            <a:r>
              <a:rPr lang="en-US" sz="1600" dirty="0"/>
              <a:t>11</a:t>
            </a:r>
          </a:p>
          <a:p>
            <a:r>
              <a:rPr lang="en-US" sz="1600" dirty="0"/>
              <a:t>12</a:t>
            </a:r>
          </a:p>
          <a:p>
            <a:r>
              <a:rPr lang="en-US" sz="1600" dirty="0"/>
              <a:t>13</a:t>
            </a:r>
          </a:p>
          <a:p>
            <a:r>
              <a:rPr lang="en-US" sz="1600" dirty="0"/>
              <a:t>14</a:t>
            </a:r>
          </a:p>
          <a:p>
            <a:r>
              <a:rPr lang="en-US" sz="1600" dirty="0"/>
              <a:t>15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BA822D-D86A-8F48-2372-DDDCC824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68FB0-0C7C-1E13-B31A-687B12DE3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11B96-3D3C-FDB7-B1AC-935A82E7055E}"/>
              </a:ext>
            </a:extLst>
          </p:cNvPr>
          <p:cNvSpPr txBox="1"/>
          <p:nvPr/>
        </p:nvSpPr>
        <p:spPr>
          <a:xfrm>
            <a:off x="6584786" y="2328913"/>
            <a:ext cx="1429154" cy="1200329"/>
          </a:xfrm>
          <a:prstGeom prst="rect">
            <a:avLst/>
          </a:prstGeom>
          <a:noFill/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┏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━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━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━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┓</a:t>
            </a:r>
            <a:r>
              <a:rPr lang="en-US" dirty="0"/>
              <a:t>      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┃              ┃ ┃              ┃</a:t>
            </a:r>
            <a:endParaRPr lang="en-US" dirty="0"/>
          </a:p>
          <a:p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┗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━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━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 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━</a:t>
            </a:r>
            <a:r>
              <a:rPr lang="en-SG" sz="400" b="0" i="0" dirty="0">
                <a:solidFill>
                  <a:srgbClr val="000000"/>
                </a:solidFill>
                <a:effectLst/>
                <a:latin typeface="STIXGeneral"/>
              </a:rPr>
              <a:t>.</a:t>
            </a:r>
            <a:r>
              <a:rPr lang="en-SG" b="0" i="0" dirty="0">
                <a:solidFill>
                  <a:srgbClr val="000000"/>
                </a:solidFill>
                <a:effectLst/>
                <a:latin typeface="STIXGeneral"/>
              </a:rPr>
              <a:t>┛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E11EC5-02EE-3A82-060A-3B95967A6224}"/>
              </a:ext>
            </a:extLst>
          </p:cNvPr>
          <p:cNvSpPr txBox="1"/>
          <p:nvPr/>
        </p:nvSpPr>
        <p:spPr>
          <a:xfrm>
            <a:off x="7393709" y="3729873"/>
            <a:ext cx="95358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O(n*m)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0F8DDB-327E-C3BA-2D2F-C802B307D768}"/>
              </a:ext>
            </a:extLst>
          </p:cNvPr>
          <p:cNvSpPr txBox="1"/>
          <p:nvPr/>
        </p:nvSpPr>
        <p:spPr>
          <a:xfrm>
            <a:off x="1025312" y="5747333"/>
            <a:ext cx="714996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each </a:t>
            </a:r>
            <a:r>
              <a:rPr lang="en-US" dirty="0" err="1"/>
              <a:t>draw_line</a:t>
            </a:r>
            <a:r>
              <a:rPr lang="en-US" dirty="0"/>
              <a:t>(): (1 step + (m-2) iterations of 1 step + 1 step) = 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ED72F2-9E0C-B475-6FBF-569B736F0125}"/>
              </a:ext>
            </a:extLst>
          </p:cNvPr>
          <p:cNvSpPr txBox="1"/>
          <p:nvPr/>
        </p:nvSpPr>
        <p:spPr>
          <a:xfrm>
            <a:off x="1025312" y="6229929"/>
            <a:ext cx="714996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draw_rectangle</a:t>
            </a:r>
            <a:r>
              <a:rPr lang="en-US" dirty="0"/>
              <a:t>(): (1 + n-2 + 1) calls to </a:t>
            </a:r>
            <a:r>
              <a:rPr lang="en-US" dirty="0" err="1"/>
              <a:t>draw_line</a:t>
            </a:r>
            <a:r>
              <a:rPr lang="en-US" dirty="0"/>
              <a:t>() with m = n * m</a:t>
            </a:r>
          </a:p>
        </p:txBody>
      </p:sp>
    </p:spTree>
    <p:extLst>
      <p:ext uri="{BB962C8B-B14F-4D97-AF65-F5344CB8AC3E}">
        <p14:creationId xmlns:p14="http://schemas.microsoft.com/office/powerpoint/2010/main" val="117549751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502444" y="1330054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Recursive find max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8F04A1-C1ED-4C1D-ACD8-E3204A79F658}"/>
              </a:ext>
            </a:extLst>
          </p:cNvPr>
          <p:cNvSpPr txBox="1"/>
          <p:nvPr/>
        </p:nvSpPr>
        <p:spPr>
          <a:xfrm>
            <a:off x="990600" y="1782395"/>
            <a:ext cx="6957708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find_max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long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list[],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start,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end){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(start &gt;= end –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list[start];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mid = (start + end) /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left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find_max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(list, start, mid);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right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find_max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(list, mid, end);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(left &gt;= right)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left;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 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return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right;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8C804-5F83-10E4-9FC9-51850499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212F30-7948-F2EF-CB28-E5CB634D4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pic>
        <p:nvPicPr>
          <p:cNvPr id="14340" name="Picture 14339">
            <a:extLst>
              <a:ext uri="{FF2B5EF4-FFF2-40B4-BE49-F238E27FC236}">
                <a16:creationId xmlns:a16="http://schemas.microsoft.com/office/drawing/2014/main" id="{39DAFD10-1524-FCBC-7D12-150F3FE6A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501" y="3767869"/>
            <a:ext cx="7372541" cy="2857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817D02-839C-C41B-5B7F-DAA3AFA70FA8}"/>
              </a:ext>
            </a:extLst>
          </p:cNvPr>
          <p:cNvSpPr txBox="1"/>
          <p:nvPr/>
        </p:nvSpPr>
        <p:spPr>
          <a:xfrm>
            <a:off x="6989988" y="3020008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E7CAD3-94C4-8143-D95D-937A37BD9BDA}"/>
              </a:ext>
            </a:extLst>
          </p:cNvPr>
          <p:cNvGrpSpPr/>
          <p:nvPr/>
        </p:nvGrpSpPr>
        <p:grpSpPr>
          <a:xfrm>
            <a:off x="5099859" y="406878"/>
            <a:ext cx="2776059" cy="1313956"/>
            <a:chOff x="5686454" y="362668"/>
            <a:chExt cx="2798977" cy="12791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53934F-596D-B4A8-0B17-A9D4DB0F0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86454" y="362668"/>
              <a:ext cx="2798977" cy="92414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058F13A-AA24-BC02-7940-21036CE4CF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6020" t="13310"/>
            <a:stretch/>
          </p:blipFill>
          <p:spPr>
            <a:xfrm>
              <a:off x="6102314" y="1261354"/>
              <a:ext cx="2041022" cy="3804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4654036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Fibonacci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1F0774-9E07-46B8-A5FB-60FD63749D63}"/>
              </a:ext>
            </a:extLst>
          </p:cNvPr>
          <p:cNvSpPr txBox="1"/>
          <p:nvPr/>
        </p:nvSpPr>
        <p:spPr>
          <a:xfrm>
            <a:off x="4184893" y="4798218"/>
            <a:ext cx="4040897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A2A543-62F1-481B-B73E-83642BA87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76" y="1533345"/>
            <a:ext cx="6847147" cy="37913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08F04A1-C1ED-4C1D-ACD8-E3204A79F658}"/>
              </a:ext>
            </a:extLst>
          </p:cNvPr>
          <p:cNvSpPr txBox="1"/>
          <p:nvPr/>
        </p:nvSpPr>
        <p:spPr>
          <a:xfrm>
            <a:off x="4184894" y="4798218"/>
            <a:ext cx="4614050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3406AC-A314-402A-88B1-3102B81D5035}"/>
              </a:ext>
            </a:extLst>
          </p:cNvPr>
          <p:cNvSpPr txBox="1"/>
          <p:nvPr/>
        </p:nvSpPr>
        <p:spPr>
          <a:xfrm>
            <a:off x="7231528" y="5324655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O(2</a:t>
            </a:r>
            <a:r>
              <a:rPr lang="en-US" baseline="30000" dirty="0"/>
              <a:t>n</a:t>
            </a:r>
            <a:r>
              <a:rPr lang="en-US" dirty="0"/>
              <a:t>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8C804-5F83-10E4-9FC9-51850499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212F30-7948-F2EF-CB28-E5CB634D4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20D8AE-B8FB-5698-97D2-2B513EFBA4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85" t="6799" r="3519" b="2215"/>
          <a:stretch/>
        </p:blipFill>
        <p:spPr>
          <a:xfrm>
            <a:off x="5697473" y="840044"/>
            <a:ext cx="2913127" cy="151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780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 err="1"/>
              <a:t>Collatz</a:t>
            </a: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BD86B-E14A-44AC-BFF9-0E84C3CD8A92}"/>
              </a:ext>
            </a:extLst>
          </p:cNvPr>
          <p:cNvSpPr txBox="1"/>
          <p:nvPr/>
        </p:nvSpPr>
        <p:spPr>
          <a:xfrm>
            <a:off x="1013878" y="1786948"/>
            <a:ext cx="765863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count_num_of_steps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!= 1)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collatz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(n);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1;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FD17B-C03F-4569-B6EC-EFB5F751521E}"/>
              </a:ext>
            </a:extLst>
          </p:cNvPr>
          <p:cNvSpPr txBox="1"/>
          <p:nvPr/>
        </p:nvSpPr>
        <p:spPr>
          <a:xfrm>
            <a:off x="533400" y="1786948"/>
            <a:ext cx="533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  <a:p>
            <a:r>
              <a:rPr lang="en-US" sz="1600" dirty="0"/>
              <a:t>2</a:t>
            </a:r>
          </a:p>
          <a:p>
            <a:r>
              <a:rPr lang="en-US" sz="1600" dirty="0"/>
              <a:t>3</a:t>
            </a:r>
          </a:p>
          <a:p>
            <a:r>
              <a:rPr lang="en-US" sz="1600" dirty="0"/>
              <a:t>4</a:t>
            </a:r>
          </a:p>
          <a:p>
            <a:r>
              <a:rPr lang="en-US" sz="1600" dirty="0"/>
              <a:t>5</a:t>
            </a:r>
          </a:p>
          <a:p>
            <a:r>
              <a:rPr lang="en-US" sz="1600" dirty="0"/>
              <a:t>6</a:t>
            </a:r>
          </a:p>
          <a:p>
            <a:r>
              <a:rPr lang="en-US" sz="1600" dirty="0"/>
              <a:t>7</a:t>
            </a:r>
          </a:p>
          <a:p>
            <a:r>
              <a:rPr lang="en-US" sz="1600" dirty="0"/>
              <a:t>8</a:t>
            </a:r>
          </a:p>
          <a:p>
            <a:r>
              <a:rPr lang="en-US" sz="1600" dirty="0"/>
              <a:t>9</a:t>
            </a:r>
          </a:p>
          <a:p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787AA3-700B-4734-8B9A-7FBF290B7FCC}"/>
              </a:ext>
            </a:extLst>
          </p:cNvPr>
          <p:cNvSpPr txBox="1"/>
          <p:nvPr/>
        </p:nvSpPr>
        <p:spPr>
          <a:xfrm>
            <a:off x="4165767" y="2756444"/>
            <a:ext cx="4211318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O(??) since the loop may not terminate.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7AB68-CAF4-C1F6-F754-BE616B325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ED66C-37A8-EE94-190E-AFF76FACC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25682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8: due </a:t>
            </a:r>
            <a:r>
              <a:rPr lang="en-US" sz="2000" dirty="0">
                <a:solidFill>
                  <a:srgbClr val="0000FF"/>
                </a:solidFill>
              </a:rPr>
              <a:t>20 Mar, 2pm </a:t>
            </a:r>
            <a:r>
              <a:rPr lang="en-US" sz="2000" dirty="0"/>
              <a:t>(extended due to PE1)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9: due </a:t>
            </a:r>
            <a:r>
              <a:rPr lang="en-US" sz="2000" dirty="0">
                <a:solidFill>
                  <a:srgbClr val="0000FF"/>
                </a:solidFill>
              </a:rPr>
              <a:t>24 Mar, 2pm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 Set 19-20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Exercises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Exercise 4 due </a:t>
            </a:r>
            <a:r>
              <a:rPr lang="en-US" sz="2000" dirty="0">
                <a:solidFill>
                  <a:srgbClr val="0000FF"/>
                </a:solidFill>
              </a:rPr>
              <a:t>20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Mar, 2pm </a:t>
            </a:r>
            <a:r>
              <a:rPr lang="en-US" sz="2000" dirty="0"/>
              <a:t>(extended due to PE1)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Exercise 5 due </a:t>
            </a:r>
            <a:r>
              <a:rPr lang="en-US" sz="2000" dirty="0">
                <a:solidFill>
                  <a:srgbClr val="0000FF"/>
                </a:solidFill>
              </a:rPr>
              <a:t>24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Mar, 2pm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000" dirty="0">
              <a:solidFill>
                <a:srgbClr val="0000FF"/>
              </a:solidFill>
            </a:endParaRP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D564BB-E3AB-0C77-EBAA-0582DBE7D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99174B-82E6-5C70-C4E4-EB6BF5D6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Unit20 - </a:t>
            </a:r>
            <a:fld id="{2E4790E1-2590-4AEE-892D-AB46A7688113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14461</TotalTime>
  <Words>3462</Words>
  <Application>Microsoft Office PowerPoint</Application>
  <PresentationFormat>On-screen Show (4:3)</PresentationFormat>
  <Paragraphs>890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STIXGeneral</vt:lpstr>
      <vt:lpstr>Arial</vt:lpstr>
      <vt:lpstr>Calibri</vt:lpstr>
      <vt:lpstr>Cambria Math</vt:lpstr>
      <vt:lpstr>Courier New</vt:lpstr>
      <vt:lpstr>Symbol</vt:lpstr>
      <vt:lpstr>Times New Roman</vt:lpstr>
      <vt:lpstr>Wingdings</vt:lpstr>
      <vt:lpstr>Clarity</vt:lpstr>
      <vt:lpstr>PowerPoint Presentation</vt:lpstr>
      <vt:lpstr>Unit 19: Multi-Dimensional Arrays</vt:lpstr>
      <vt:lpstr>Multi-dimensional Arrays</vt:lpstr>
      <vt:lpstr>Multi-dimensional Arrays</vt:lpstr>
      <vt:lpstr>Different Types of 2D Arrays</vt:lpstr>
      <vt:lpstr>Different Types of 2D Arrays</vt:lpstr>
      <vt:lpstr>Different Types of 2D Arrays</vt:lpstr>
      <vt:lpstr>Different Types of 2D Arrays</vt:lpstr>
      <vt:lpstr>Initializing Arrays</vt:lpstr>
      <vt:lpstr>Functions and 2D arrays</vt:lpstr>
      <vt:lpstr>Functions and 2D arrays</vt:lpstr>
      <vt:lpstr>Problem Solving with 2D arrays</vt:lpstr>
      <vt:lpstr>Problem Solving with 2D arrays</vt:lpstr>
      <vt:lpstr>Problem Solving with 2D arrays</vt:lpstr>
      <vt:lpstr>Problem Solving with 2D arrays</vt:lpstr>
      <vt:lpstr>PowerPoint Presentation</vt:lpstr>
      <vt:lpstr>Unit 22: Efficiency</vt:lpstr>
      <vt:lpstr>Good Habits for Writing Efficient Code</vt:lpstr>
      <vt:lpstr>Good Habits for Writing Efficient Code</vt:lpstr>
      <vt:lpstr>Good Habits for Writing Efficient Code</vt:lpstr>
      <vt:lpstr>Good Habits for Writing Efficient Code</vt:lpstr>
      <vt:lpstr>Time Complexity Analysis</vt:lpstr>
      <vt:lpstr>Time Complexity Analysis</vt:lpstr>
      <vt:lpstr>Time Complexity Analysis</vt:lpstr>
      <vt:lpstr>Time Complexity Analysis</vt:lpstr>
      <vt:lpstr>Time Complexity Analysis</vt:lpstr>
      <vt:lpstr>More examples</vt:lpstr>
      <vt:lpstr>More examples</vt:lpstr>
      <vt:lpstr>More examples</vt:lpstr>
      <vt:lpstr>More examples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1541</cp:revision>
  <cp:lastPrinted>2014-06-20T04:24:53Z</cp:lastPrinted>
  <dcterms:created xsi:type="dcterms:W3CDTF">1998-09-05T15:03:32Z</dcterms:created>
  <dcterms:modified xsi:type="dcterms:W3CDTF">2026-03-17T03:48:20Z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