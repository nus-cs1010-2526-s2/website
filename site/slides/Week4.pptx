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>
  <p:sldMasterIdLst>
    <p:sldMasterId id="2147485087" r:id="rId1"/>
  </p:sldMasterIdLst>
  <p:notesMasterIdLst>
    <p:notesMasterId r:id="rId46"/>
  </p:notesMasterIdLst>
  <p:handoutMasterIdLst>
    <p:handoutMasterId r:id="rId47"/>
  </p:handoutMasterIdLst>
  <p:sldIdLst>
    <p:sldId id="256" r:id="rId2"/>
    <p:sldId id="468" r:id="rId3"/>
    <p:sldId id="504" r:id="rId4"/>
    <p:sldId id="593" r:id="rId5"/>
    <p:sldId id="594" r:id="rId6"/>
    <p:sldId id="571" r:id="rId7"/>
    <p:sldId id="572" r:id="rId8"/>
    <p:sldId id="574" r:id="rId9"/>
    <p:sldId id="552" r:id="rId10"/>
    <p:sldId id="553" r:id="rId11"/>
    <p:sldId id="554" r:id="rId12"/>
    <p:sldId id="555" r:id="rId13"/>
    <p:sldId id="589" r:id="rId14"/>
    <p:sldId id="559" r:id="rId15"/>
    <p:sldId id="592" r:id="rId16"/>
    <p:sldId id="545" r:id="rId17"/>
    <p:sldId id="562" r:id="rId18"/>
    <p:sldId id="567" r:id="rId19"/>
    <p:sldId id="569" r:id="rId20"/>
    <p:sldId id="557" r:id="rId21"/>
    <p:sldId id="588" r:id="rId22"/>
    <p:sldId id="570" r:id="rId23"/>
    <p:sldId id="524" r:id="rId24"/>
    <p:sldId id="563" r:id="rId25"/>
    <p:sldId id="564" r:id="rId26"/>
    <p:sldId id="565" r:id="rId27"/>
    <p:sldId id="575" r:id="rId28"/>
    <p:sldId id="576" r:id="rId29"/>
    <p:sldId id="551" r:id="rId30"/>
    <p:sldId id="587" r:id="rId31"/>
    <p:sldId id="590" r:id="rId32"/>
    <p:sldId id="578" r:id="rId33"/>
    <p:sldId id="560" r:id="rId34"/>
    <p:sldId id="561" r:id="rId35"/>
    <p:sldId id="579" r:id="rId36"/>
    <p:sldId id="580" r:id="rId37"/>
    <p:sldId id="581" r:id="rId38"/>
    <p:sldId id="582" r:id="rId39"/>
    <p:sldId id="583" r:id="rId40"/>
    <p:sldId id="584" r:id="rId41"/>
    <p:sldId id="585" r:id="rId42"/>
    <p:sldId id="586" r:id="rId43"/>
    <p:sldId id="591" r:id="rId44"/>
    <p:sldId id="526" r:id="rId45"/>
  </p:sldIdLst>
  <p:sldSz cx="9144000" cy="6858000" type="screen4x3"/>
  <p:notesSz cx="7010400" cy="9296400"/>
  <p:embeddedFontLst>
    <p:embeddedFont>
      <p:font typeface="Garamond" panose="02020404030301010803" pitchFamily="18" charset="0"/>
      <p:regular r:id="rId48"/>
      <p:bold r:id="rId49"/>
      <p:italic r:id="rId50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FFFF99"/>
    <a:srgbClr val="00CCFF"/>
    <a:srgbClr val="0099FF"/>
    <a:srgbClr val="6699FF"/>
    <a:srgbClr val="0066FF"/>
    <a:srgbClr val="CCFFCC"/>
    <a:srgbClr val="00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B56B2-0AC9-419B-98B8-F2427D5261EE}" v="61" dt="2026-02-09T04:24:05.317"/>
    <p1510:client id="{0E204528-26D7-4103-8B75-616A575D54A4}" v="39" dt="2026-02-10T01:27:16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536" autoAdjust="0"/>
    <p:restoredTop sz="96003" autoAdjust="0"/>
  </p:normalViewPr>
  <p:slideViewPr>
    <p:cSldViewPr snapToGrid="0">
      <p:cViewPr varScale="1">
        <p:scale>
          <a:sx n="100" d="100"/>
          <a:sy n="100" d="100"/>
        </p:scale>
        <p:origin x="14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font" Target="fonts/font3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custSel modSld">
      <pc:chgData name="Zhao Jin" userId="cd05a825-544c-438a-9ba1-08e63db50b47" providerId="ADAL" clId="{5DF3A229-1965-414E-AF54-F4C37AC7DF68}" dt="2026-02-10T01:27:20.258" v="110" actId="207"/>
      <pc:docMkLst>
        <pc:docMk/>
      </pc:docMkLst>
      <pc:sldChg chg="modSp">
        <pc:chgData name="Zhao Jin" userId="cd05a825-544c-438a-9ba1-08e63db50b47" providerId="ADAL" clId="{5DF3A229-1965-414E-AF54-F4C37AC7DF68}" dt="2026-02-09T06:06:49.626" v="27" actId="20577"/>
        <pc:sldMkLst>
          <pc:docMk/>
          <pc:sldMk cId="243231529" sldId="563"/>
        </pc:sldMkLst>
        <pc:spChg chg="mod">
          <ac:chgData name="Zhao Jin" userId="cd05a825-544c-438a-9ba1-08e63db50b47" providerId="ADAL" clId="{5DF3A229-1965-414E-AF54-F4C37AC7DF68}" dt="2026-02-09T06:06:49.626" v="27" actId="20577"/>
          <ac:spMkLst>
            <pc:docMk/>
            <pc:sldMk cId="243231529" sldId="563"/>
            <ac:spMk id="15" creationId="{00000000-0000-0000-0000-000000000000}"/>
          </ac:spMkLst>
        </pc:spChg>
      </pc:sldChg>
      <pc:sldChg chg="modSp modAnim">
        <pc:chgData name="Zhao Jin" userId="cd05a825-544c-438a-9ba1-08e63db50b47" providerId="ADAL" clId="{5DF3A229-1965-414E-AF54-F4C37AC7DF68}" dt="2026-02-09T06:07:05.481" v="58" actId="20577"/>
        <pc:sldMkLst>
          <pc:docMk/>
          <pc:sldMk cId="29094273" sldId="564"/>
        </pc:sldMkLst>
        <pc:spChg chg="mod">
          <ac:chgData name="Zhao Jin" userId="cd05a825-544c-438a-9ba1-08e63db50b47" providerId="ADAL" clId="{5DF3A229-1965-414E-AF54-F4C37AC7DF68}" dt="2026-02-09T06:07:05.481" v="58" actId="20577"/>
          <ac:spMkLst>
            <pc:docMk/>
            <pc:sldMk cId="29094273" sldId="564"/>
            <ac:spMk id="15" creationId="{A575D17D-3536-460E-088D-619F54BF1ECF}"/>
          </ac:spMkLst>
        </pc:spChg>
      </pc:sldChg>
      <pc:sldChg chg="modSp mod">
        <pc:chgData name="Zhao Jin" userId="cd05a825-544c-438a-9ba1-08e63db50b47" providerId="ADAL" clId="{5DF3A229-1965-414E-AF54-F4C37AC7DF68}" dt="2026-02-09T06:07:23.818" v="79" actId="20577"/>
        <pc:sldMkLst>
          <pc:docMk/>
          <pc:sldMk cId="4003524798" sldId="565"/>
        </pc:sldMkLst>
        <pc:spChg chg="mod">
          <ac:chgData name="Zhao Jin" userId="cd05a825-544c-438a-9ba1-08e63db50b47" providerId="ADAL" clId="{5DF3A229-1965-414E-AF54-F4C37AC7DF68}" dt="2026-02-09T06:07:23.818" v="79" actId="20577"/>
          <ac:spMkLst>
            <pc:docMk/>
            <pc:sldMk cId="4003524798" sldId="565"/>
            <ac:spMk id="15" creationId="{F746E238-A1EF-3DEC-227A-53382854B07D}"/>
          </ac:spMkLst>
        </pc:spChg>
      </pc:sldChg>
      <pc:sldChg chg="modSp mod">
        <pc:chgData name="Zhao Jin" userId="cd05a825-544c-438a-9ba1-08e63db50b47" providerId="ADAL" clId="{5DF3A229-1965-414E-AF54-F4C37AC7DF68}" dt="2026-02-10T01:27:20.258" v="110" actId="207"/>
        <pc:sldMkLst>
          <pc:docMk/>
          <pc:sldMk cId="3194704825" sldId="591"/>
        </pc:sldMkLst>
        <pc:spChg chg="mod">
          <ac:chgData name="Zhao Jin" userId="cd05a825-544c-438a-9ba1-08e63db50b47" providerId="ADAL" clId="{5DF3A229-1965-414E-AF54-F4C37AC7DF68}" dt="2026-02-10T01:27:20.258" v="110" actId="207"/>
          <ac:spMkLst>
            <pc:docMk/>
            <pc:sldMk cId="3194704825" sldId="591"/>
            <ac:spMk id="13" creationId="{11FE8A1E-D5F0-27BC-233F-FE7290546998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modSld">
      <pc:chgData name="Zhao Jin" userId="cd05a825-544c-438a-9ba1-08e63db50b47" providerId="ADAL" clId="{7346625B-7E8F-4E9B-A9F0-94C1DD70E907}" dt="2026-02-09T07:20:03.703" v="71" actId="20577"/>
      <pc:docMkLst>
        <pc:docMk/>
      </pc:docMkLst>
      <pc:sldChg chg="modSp mod">
        <pc:chgData name="Zhao Jin" userId="cd05a825-544c-438a-9ba1-08e63db50b47" providerId="ADAL" clId="{7346625B-7E8F-4E9B-A9F0-94C1DD70E907}" dt="2026-02-09T07:20:03.703" v="71" actId="20577"/>
        <pc:sldMkLst>
          <pc:docMk/>
          <pc:sldMk cId="1067695719" sldId="526"/>
        </pc:sldMkLst>
        <pc:spChg chg="mod">
          <ac:chgData name="Zhao Jin" userId="cd05a825-544c-438a-9ba1-08e63db50b47" providerId="ADAL" clId="{7346625B-7E8F-4E9B-A9F0-94C1DD70E907}" dt="2026-02-09T07:20:03.703" v="71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7346625B-7E8F-4E9B-A9F0-94C1DD70E907}" dt="2026-02-09T04:22:34.731" v="59" actId="20577"/>
        <pc:sldMkLst>
          <pc:docMk/>
          <pc:sldMk cId="1659983766" sldId="554"/>
        </pc:sldMkLst>
        <pc:spChg chg="mod">
          <ac:chgData name="Zhao Jin" userId="cd05a825-544c-438a-9ba1-08e63db50b47" providerId="ADAL" clId="{7346625B-7E8F-4E9B-A9F0-94C1DD70E907}" dt="2026-02-09T04:22:34.731" v="59" actId="20577"/>
          <ac:spMkLst>
            <pc:docMk/>
            <pc:sldMk cId="1659983766" sldId="554"/>
            <ac:spMk id="49" creationId="{21EEE82A-4DB6-1D4F-9A03-5951F440FE93}"/>
          </ac:spMkLst>
        </pc:spChg>
      </pc:sldChg>
      <pc:sldChg chg="modSp mod">
        <pc:chgData name="Zhao Jin" userId="cd05a825-544c-438a-9ba1-08e63db50b47" providerId="ADAL" clId="{7346625B-7E8F-4E9B-A9F0-94C1DD70E907}" dt="2026-02-09T04:24:05.317" v="61" actId="207"/>
        <pc:sldMkLst>
          <pc:docMk/>
          <pc:sldMk cId="182578491" sldId="559"/>
        </pc:sldMkLst>
        <pc:spChg chg="mod">
          <ac:chgData name="Zhao Jin" userId="cd05a825-544c-438a-9ba1-08e63db50b47" providerId="ADAL" clId="{7346625B-7E8F-4E9B-A9F0-94C1DD70E907}" dt="2026-02-09T04:24:05.317" v="61" actId="207"/>
          <ac:spMkLst>
            <pc:docMk/>
            <pc:sldMk cId="182578491" sldId="559"/>
            <ac:spMk id="28" creationId="{206BF097-CD0C-4B25-AF09-C35109612BC3}"/>
          </ac:spMkLst>
        </pc:spChg>
        <pc:spChg chg="mod">
          <ac:chgData name="Zhao Jin" userId="cd05a825-544c-438a-9ba1-08e63db50b47" providerId="ADAL" clId="{7346625B-7E8F-4E9B-A9F0-94C1DD70E907}" dt="2026-02-09T04:24:01.921" v="60" actId="207"/>
          <ac:spMkLst>
            <pc:docMk/>
            <pc:sldMk cId="182578491" sldId="559"/>
            <ac:spMk id="49" creationId="{21EEE82A-4DB6-1D4F-9A03-5951F440FE93}"/>
          </ac:spMkLst>
        </pc:spChg>
        <pc:picChg chg="mod">
          <ac:chgData name="Zhao Jin" userId="cd05a825-544c-438a-9ba1-08e63db50b47" providerId="ADAL" clId="{7346625B-7E8F-4E9B-A9F0-94C1DD70E907}" dt="2026-02-09T04:03:43.287" v="51" actId="167"/>
          <ac:picMkLst>
            <pc:docMk/>
            <pc:sldMk cId="182578491" sldId="559"/>
            <ac:picMk id="1026" creationId="{F8944A42-B2D9-76AF-B07D-1AA4828E88A9}"/>
          </ac:picMkLst>
        </pc:picChg>
      </pc:sldChg>
      <pc:sldChg chg="modSp mod">
        <pc:chgData name="Zhao Jin" userId="cd05a825-544c-438a-9ba1-08e63db50b47" providerId="ADAL" clId="{7346625B-7E8F-4E9B-A9F0-94C1DD70E907}" dt="2026-02-09T07:19:47.241" v="66" actId="20577"/>
        <pc:sldMkLst>
          <pc:docMk/>
          <pc:sldMk cId="3194704825" sldId="591"/>
        </pc:sldMkLst>
        <pc:spChg chg="mod">
          <ac:chgData name="Zhao Jin" userId="cd05a825-544c-438a-9ba1-08e63db50b47" providerId="ADAL" clId="{7346625B-7E8F-4E9B-A9F0-94C1DD70E907}" dt="2026-02-09T07:19:47.241" v="66" actId="20577"/>
          <ac:spMkLst>
            <pc:docMk/>
            <pc:sldMk cId="3194704825" sldId="591"/>
            <ac:spMk id="13" creationId="{11FE8A1E-D5F0-27BC-233F-FE72905469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2/10/2026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180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60E-DD70-B4F3-3A67-5DF3B3A3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1DBE1E3-1EBE-FEA1-55D6-2EF152796A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4547BC9-7AB2-09CB-32F1-DA447F4E93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84A135A-68F4-D54C-9FF7-57195E946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175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25FB7-100F-CF5B-4276-0948659F1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E9349E9-5A13-7298-745F-E9BB3484E6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DFE1E11-7540-902E-DC90-694CF80A8C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A792C712-5E18-20BF-883A-3828C3BC4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639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2AF3-C3A3-E8D4-4D58-EF63D79A1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2D7E9F1-850C-66C2-ED5F-6685046990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5F6C22D-5D86-DDF9-3A71-840A861066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26DBEF6-A7A0-5FE7-DCFB-4FF56EB43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297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FE221-4576-81D4-7A4A-4A25AEAB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BBB535B8-611E-B406-01B6-E4140D0451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5147B54-7E65-7514-23AB-281BB54C3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805B91F-4362-EE64-624E-9DDB88761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461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19DB8-0CC0-36ED-16F3-ABA006E45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8220CB43-5AF6-803B-06FA-CDD93A1A5AA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9DF63CC-C89E-0691-80CE-713F678D3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9DC7762-FF46-6D02-28D4-FACFE2EB6C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3678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45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428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02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6427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8387-0512-7B67-8310-589874A7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AE08D09-D5B4-B22A-B0DA-3F091207D16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B5DB467-0827-4642-EB36-BE04D6EBB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C4107ED-3020-DF51-3D33-557B06CFA2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807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623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12598-A760-E130-9CC0-BD935771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8AAF29D-B388-9409-2C3A-5AF36EDA65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6BC2E41-C415-8A59-B599-41A62061A5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7BBBF4A-7842-2C6A-9870-20B4F5340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12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13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82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6B14-6B46-3FF2-80CA-B73C3E77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CABEFD5-280C-CDB5-5AC6-59547A4184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2EDD05D-8A7F-5A11-3CED-98F073FA9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F000983A-AC76-39E2-CC1A-ABB027CC3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33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CE92B-8307-5D44-41FA-C50AF7B11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90A1C59-63A1-9B87-C162-8783AE1DFE6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F99659F-B61F-B063-4519-D25420E25F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97FDC7A-C2AE-4D1A-9289-9C88C039D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075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206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B2D9-6B01-40A6-8D3E-02135D1B9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05CD435-DF4E-4B27-DA51-D4273F255E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C516B496-5B75-CFC0-4FB4-9AE621D069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1CD11F6-85EC-7B71-990F-D8343BC41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42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A1FC9-4F9D-9867-42AB-791C1D11D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B10C1FC-EB75-A328-CE51-C63341258F1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B37A2D4-978F-CA14-CFE0-FDFAC6F058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1340D8AD-6B81-D699-1F91-45AB07B7C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435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310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58986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95A7-99EC-4982-98F7-51752642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3DBD9BE-9518-9D74-D47C-F53315D2EB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7DD60AC-3D25-EBA1-FE6A-982ACCDA43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39E7C5CA-6703-05D4-B9F4-972D7029B4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965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A434-B051-E495-0C85-B00E8760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2313472-4C6B-BA70-46F8-A1950A670D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389A3DE0-EAFA-43BA-A4E7-E69D6DBEC7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3FE863D-B447-9F55-FF3C-F2553AC35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399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012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D8DC-5690-02D5-D324-280BBE64C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D6F2841-76AE-13DE-C2BC-9FE1396914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1462C06-67F1-2771-1EC4-F5DC594DA7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3E785E6-E81C-1D55-000C-2F7316521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0563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C187-2855-62BC-72BB-8A337D42F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02317E0C-5662-FA8A-4ACD-6CB826DCA5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D012369-27C5-AD45-633F-ED2BF5D314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2F6D4A7-6ADA-EA53-7B8E-7820025D94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14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443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4104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23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36695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209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3440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496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2179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6254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D730-D93F-4018-589F-ED23B2197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F4A9FEB-0941-29DF-77C2-7337111DB2E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6A194C8-66CD-D7F9-2B53-886DFE2FDA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7307884-442E-2480-D8A7-04CA469D1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351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Unit8 -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8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Conditional Statements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77A47660-E43D-F471-3C17-9B00E26D0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0EFCE1F-24C9-8366-EE83-9063A5770FE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8: Conditional Statements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Sequential / Non-sequential Control Flow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if-else Statements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Skipping </a:t>
            </a:r>
            <a:r>
              <a:rPr lang="en-GB" sz="2800" i="1" dirty="0">
                <a:latin typeface="+mj-lt"/>
              </a:rPr>
              <a:t>else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Conditional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Nested if-else Statements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>
                <a:latin typeface="+mj-lt"/>
              </a:rPr>
              <a:t>if-(else-if-)else… Statements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49EF9-6C20-3B9F-EF4A-7175486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9FE1AE-3086-5CD5-7822-7256D6AC2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Sequential Control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D5577D-EA29-1125-B805-B3B5632D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D4EB1F-59CF-D662-8413-5265EA747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B96F2195-2780-84E7-B546-F7BD15A31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integers (width/length/height)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000" dirty="0"/>
              <a:t> the surface area and the diagonal</a:t>
            </a: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 </a:t>
            </a:r>
            <a:r>
              <a:rPr lang="en-US" sz="2400" dirty="0"/>
              <a:t>1 integer (surface) and 1 real number (diagonal)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the surface area and the diagonal</a:t>
            </a:r>
            <a:endParaRPr lang="en-US" sz="2400" i="1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</p:txBody>
      </p:sp>
      <p:pic>
        <p:nvPicPr>
          <p:cNvPr id="14337" name="Picture 2" descr="cuboid">
            <a:extLst>
              <a:ext uri="{FF2B5EF4-FFF2-40B4-BE49-F238E27FC236}">
                <a16:creationId xmlns:a16="http://schemas.microsoft.com/office/drawing/2014/main" id="{D293A2AC-E778-437B-BA92-2727B731B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720" y="174037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223279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C622-19B6-3076-5854-6B53AA711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5070490-126B-D196-0B69-DC44A9ED3C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Control Structures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8F293-DDE8-844D-66C2-7D1CD1AE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24CAB7-9521-A602-AED0-0D4D495AD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3C36EEC-0289-6F20-E928-C4B3D7D2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-184511" b="48791"/>
          <a:stretch>
            <a:fillRect/>
          </a:stretch>
        </p:blipFill>
        <p:spPr>
          <a:xfrm>
            <a:off x="6000500" y="5178551"/>
            <a:ext cx="3895223" cy="78865"/>
          </a:xfrm>
          <a:prstGeom prst="rect">
            <a:avLst/>
          </a:prstGeom>
        </p:spPr>
      </p:pic>
      <p:sp>
        <p:nvSpPr>
          <p:cNvPr id="29" name="HighlightBackgroundShapeeee31423-879f-470c-ac44-148c4404b3a6">
            <a:extLst>
              <a:ext uri="{FF2B5EF4-FFF2-40B4-BE49-F238E27FC236}">
                <a16:creationId xmlns:a16="http://schemas.microsoft.com/office/drawing/2014/main" id="{9538F4B2-74CA-0FB7-B3FF-B033B3095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Sequence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After step X, do step Y.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Selection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If … then … else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Repetition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Keep going as long as ...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30" name="Picture 2" descr="flowchart">
            <a:extLst>
              <a:ext uri="{FF2B5EF4-FFF2-40B4-BE49-F238E27FC236}">
                <a16:creationId xmlns:a16="http://schemas.microsoft.com/office/drawing/2014/main" id="{A2B42D4A-F85F-F981-8FB1-5B6F3BFA3F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45" r="82551" b="30058"/>
          <a:stretch>
            <a:fillRect/>
          </a:stretch>
        </p:blipFill>
        <p:spPr bwMode="auto">
          <a:xfrm>
            <a:off x="6436419" y="1202055"/>
            <a:ext cx="1027105" cy="16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 descr="flowchart">
            <a:extLst>
              <a:ext uri="{FF2B5EF4-FFF2-40B4-BE49-F238E27FC236}">
                <a16:creationId xmlns:a16="http://schemas.microsoft.com/office/drawing/2014/main" id="{E2819C33-C89D-580F-F1E0-299ECB0097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4" t="37840" b="13213"/>
          <a:stretch>
            <a:fillRect/>
          </a:stretch>
        </p:blipFill>
        <p:spPr bwMode="auto">
          <a:xfrm>
            <a:off x="5297835" y="3076584"/>
            <a:ext cx="3152776" cy="10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flowchart">
            <a:extLst>
              <a:ext uri="{FF2B5EF4-FFF2-40B4-BE49-F238E27FC236}">
                <a16:creationId xmlns:a16="http://schemas.microsoft.com/office/drawing/2014/main" id="{30083CDD-3AED-D374-2EB6-58E6F0D5D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1395" b="5963"/>
          <a:stretch>
            <a:fillRect/>
          </a:stretch>
        </p:blipFill>
        <p:spPr bwMode="auto">
          <a:xfrm>
            <a:off x="4990850" y="4453508"/>
            <a:ext cx="4058696" cy="165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291D5409-25BD-5AFA-D98B-3288B0991CE8}"/>
              </a:ext>
            </a:extLst>
          </p:cNvPr>
          <p:cNvSpPr/>
          <p:nvPr/>
        </p:nvSpPr>
        <p:spPr>
          <a:xfrm>
            <a:off x="6337322" y="5509897"/>
            <a:ext cx="2419744" cy="119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6BD74BB-EB92-AEED-4F21-1AF50F55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-184511" b="48791"/>
          <a:stretch>
            <a:fillRect/>
          </a:stretch>
        </p:blipFill>
        <p:spPr>
          <a:xfrm>
            <a:off x="6000500" y="5178551"/>
            <a:ext cx="3895223" cy="7886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5D41EF0-65B0-A048-7080-C4498F8DCE77}"/>
              </a:ext>
            </a:extLst>
          </p:cNvPr>
          <p:cNvSpPr/>
          <p:nvPr/>
        </p:nvSpPr>
        <p:spPr>
          <a:xfrm>
            <a:off x="6002651" y="4918530"/>
            <a:ext cx="2084639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776E19-67E6-05E3-C929-90AB5F0C4EF5}"/>
              </a:ext>
            </a:extLst>
          </p:cNvPr>
          <p:cNvSpPr/>
          <p:nvPr/>
        </p:nvSpPr>
        <p:spPr>
          <a:xfrm>
            <a:off x="7425928" y="5057575"/>
            <a:ext cx="779291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0B0949-62FB-F9EB-10A6-0789C0A63AC0}"/>
              </a:ext>
            </a:extLst>
          </p:cNvPr>
          <p:cNvSpPr/>
          <p:nvPr/>
        </p:nvSpPr>
        <p:spPr>
          <a:xfrm>
            <a:off x="6322357" y="5267517"/>
            <a:ext cx="393058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FAAE80F-B63F-E574-DC63-A42FEFBDA9A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" r="54726" b="42025"/>
          <a:stretch>
            <a:fillRect/>
          </a:stretch>
        </p:blipFill>
        <p:spPr>
          <a:xfrm flipV="1">
            <a:off x="7402928" y="5244144"/>
            <a:ext cx="845025" cy="45719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18EF377-B9D7-CE81-43E9-E48405E0AA1B}"/>
              </a:ext>
            </a:extLst>
          </p:cNvPr>
          <p:cNvSpPr/>
          <p:nvPr/>
        </p:nvSpPr>
        <p:spPr>
          <a:xfrm>
            <a:off x="6035138" y="4966917"/>
            <a:ext cx="604368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5BA049E-DC34-DC26-8C27-DF7416D2EE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" r="61585" b="42022"/>
          <a:stretch>
            <a:fillRect/>
          </a:stretch>
        </p:blipFill>
        <p:spPr>
          <a:xfrm flipV="1">
            <a:off x="5978818" y="5241762"/>
            <a:ext cx="717008" cy="457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DA673AE-C98F-8BFC-06B7-2801C7066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512" y="4965572"/>
            <a:ext cx="728004" cy="55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24507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E0C2E-C8B9-6F4C-E554-0CED4E2F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F1BDB8-4614-7F18-BA4A-2DAAEC710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5DF39-B428-19BE-38F4-F192DEF81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105D92-27F7-51A3-5A5E-0A194C1E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5B158-D824-5EBF-3F26-44ACFE3FC9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81" r="8195"/>
          <a:stretch>
            <a:fillRect/>
          </a:stretch>
        </p:blipFill>
        <p:spPr>
          <a:xfrm>
            <a:off x="666378" y="1219200"/>
            <a:ext cx="4296698" cy="2697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567818-D88F-A28D-70E1-C900AAD0D0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983" y="2661694"/>
            <a:ext cx="4459417" cy="390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78680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C3D6A-B3AC-C25B-55A6-67DA03BC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E987993-DE1D-F29E-7138-D50B0A096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A8A51-84C3-56B9-D3CD-65307634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E63065-D1D2-FCEB-780B-3BFBFEAC3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8C8FADF7-440E-7D9D-B20D-0E5311E63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+ 1 integers (width/length/height + option)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9B7372-8C6B-8AF8-BB66-D5B1960E17A9}"/>
              </a:ext>
            </a:extLst>
          </p:cNvPr>
          <p:cNvSpPr/>
          <p:nvPr/>
        </p:nvSpPr>
        <p:spPr>
          <a:xfrm>
            <a:off x="1217574" y="4808553"/>
            <a:ext cx="3426854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6F2BA9-4BCD-7037-9769-3A11561911B0}"/>
              </a:ext>
            </a:extLst>
          </p:cNvPr>
          <p:cNvCxnSpPr/>
          <p:nvPr/>
        </p:nvCxnSpPr>
        <p:spPr>
          <a:xfrm>
            <a:off x="8436610" y="10581640"/>
            <a:ext cx="0" cy="18929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00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FBCAF-04C1-63A3-64E2-E42467259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2EBEC03-983B-55ED-9299-62840F847E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2FBF01-6F6D-AFA7-BD28-BA60AF17D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E545E79-5DAD-90DD-6526-B27A409B7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C99AD5EF-7BE8-E019-671B-ACFAF4461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</a:t>
            </a:r>
            <a:r>
              <a:rPr lang="en-US" sz="2400" dirty="0"/>
              <a:t>the surface area and / or the diagonal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1 or 3</a:t>
            </a:r>
            <a:r>
              <a:rPr lang="en-US" sz="2000" dirty="0"/>
              <a:t>, compute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2 or 3</a:t>
            </a:r>
            <a:r>
              <a:rPr lang="en-US" sz="2000" dirty="0"/>
              <a:t>, compute the diagonal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6FB297-27BB-D777-36EE-F1D7E58A446C}"/>
              </a:ext>
            </a:extLst>
          </p:cNvPr>
          <p:cNvSpPr/>
          <p:nvPr/>
        </p:nvSpPr>
        <p:spPr>
          <a:xfrm>
            <a:off x="1806047" y="4417510"/>
            <a:ext cx="3031701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26D4A9-2D15-6187-A105-CCDEE29EE418}"/>
              </a:ext>
            </a:extLst>
          </p:cNvPr>
          <p:cNvSpPr/>
          <p:nvPr/>
        </p:nvSpPr>
        <p:spPr>
          <a:xfrm>
            <a:off x="1806048" y="4944355"/>
            <a:ext cx="3031701" cy="4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11060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15F94-C3CD-5126-DB64-E71AE74F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BE07AF-FA80-24C4-AA32-FBE3BBE5A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5E9FEB-B21B-B06B-A897-F386AE4E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8C12D-4361-3F3A-D750-8E8DB7B6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HighlightTextShape201406241503265130">
            <a:extLst>
              <a:ext uri="{FF2B5EF4-FFF2-40B4-BE49-F238E27FC236}">
                <a16:creationId xmlns:a16="http://schemas.microsoft.com/office/drawing/2014/main" id="{8B3A83A3-62BC-8F53-408A-ACBF3977E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/ or the diagonal of a cuboid </a:t>
            </a:r>
            <a:r>
              <a:rPr lang="en-US" sz="2800" dirty="0">
                <a:solidFill>
                  <a:srgbClr val="FF0000"/>
                </a:solidFill>
              </a:rPr>
              <a:t>depending on user input</a:t>
            </a:r>
            <a:r>
              <a:rPr lang="en-US" sz="2800" dirty="0"/>
              <a:t>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dirty="0"/>
              <a:t> for surface area,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r>
              <a:rPr lang="en-US" sz="2400" dirty="0"/>
              <a:t> for diagonal, 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 for both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>
                <a:solidFill>
                  <a:srgbClr val="0000FF"/>
                </a:solidFill>
              </a:rPr>
              <a:t>Output</a:t>
            </a:r>
            <a:r>
              <a:rPr lang="en-US" sz="2400"/>
              <a:t> 1 integer </a:t>
            </a:r>
            <a:r>
              <a:rPr lang="en-US" sz="2400" dirty="0"/>
              <a:t>(surface</a:t>
            </a:r>
            <a:r>
              <a:rPr lang="en-US" sz="2400"/>
              <a:t>) and/or </a:t>
            </a:r>
            <a:r>
              <a:rPr lang="en-US" sz="2400" dirty="0"/>
              <a:t>1 real number (diagonal)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1 or 3</a:t>
            </a:r>
            <a:r>
              <a:rPr lang="en-US" sz="2000" dirty="0"/>
              <a:t>, print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FF0000"/>
                </a:solidFill>
              </a:rPr>
              <a:t>If option selected is 2 or 3</a:t>
            </a:r>
            <a:r>
              <a:rPr lang="en-US" sz="2000" dirty="0"/>
              <a:t>, print the diagonal</a:t>
            </a: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0555273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Another example: Base case or Recursive case?</a:t>
            </a:r>
            <a:endParaRPr lang="en-US" sz="2000" dirty="0">
              <a:solidFill>
                <a:srgbClr val="C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420099" y="1852783"/>
            <a:ext cx="8460132" cy="384463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379BD-DA40-0922-7292-64A82E91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5A2696-602E-4B28-E682-BEEFD8AC8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42219493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Non-Sequential Control Flow (Selection)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92856" cy="1415073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Another example: Base case or Recursive case?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E05674-68A2-0D4E-8B47-F7A2C6A6B76F}"/>
              </a:ext>
            </a:extLst>
          </p:cNvPr>
          <p:cNvSpPr txBox="1"/>
          <p:nvPr/>
        </p:nvSpPr>
        <p:spPr>
          <a:xfrm>
            <a:off x="587376" y="1766793"/>
            <a:ext cx="5405462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factorial(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answer 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answer = n * factorial(n -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answer;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0D94-825A-D54F-ACF5-EA46D72634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" r="9109"/>
          <a:stretch/>
        </p:blipFill>
        <p:spPr>
          <a:xfrm>
            <a:off x="3268394" y="4068298"/>
            <a:ext cx="5852160" cy="2659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D3315-263F-4198-BFCC-BA1CE3299DFA}"/>
              </a:ext>
            </a:extLst>
          </p:cNvPr>
          <p:cNvSpPr txBox="1"/>
          <p:nvPr/>
        </p:nvSpPr>
        <p:spPr>
          <a:xfrm>
            <a:off x="184939" y="1782559"/>
            <a:ext cx="6933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BEFA9-D925-2021-8217-3B6D5396A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747273-A5E0-BC9B-BB16-A947FBED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42761894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375" y="4081150"/>
            <a:ext cx="6669296" cy="203132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&lt;logical expression&gt;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)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buFont typeface="Wingdings" pitchFamily="2" charset="2"/>
              <a:buNone/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“true block”: statements to be executed if </a:t>
            </a:r>
            <a:br>
              <a:rPr lang="en-SG" b="1" dirty="0">
                <a:latin typeface="Courier New" pitchFamily="49" charset="0"/>
                <a:cs typeface="Courier New" pitchFamily="49" charset="0"/>
              </a:rPr>
            </a:br>
            <a:r>
              <a:rPr lang="en-SG" b="1" dirty="0">
                <a:latin typeface="Courier New" pitchFamily="49" charset="0"/>
                <a:cs typeface="Courier New" pitchFamily="49" charset="0"/>
              </a:rPr>
              <a:t>   the expression is </a:t>
            </a:r>
            <a:r>
              <a:rPr lang="en-SG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true</a:t>
            </a:r>
          </a:p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SG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 {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176213" lvl="1">
              <a:defRPr/>
            </a:pPr>
            <a:r>
              <a:rPr lang="en-SG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SG" b="1" dirty="0">
                <a:latin typeface="Courier New" pitchFamily="49" charset="0"/>
                <a:cs typeface="Courier New" pitchFamily="49" charset="0"/>
              </a:rPr>
              <a:t>“false block”: statements to be executed if    </a:t>
            </a:r>
            <a:br>
              <a:rPr lang="en-SG" b="1" dirty="0">
                <a:latin typeface="Courier New" pitchFamily="49" charset="0"/>
                <a:cs typeface="Courier New" pitchFamily="49" charset="0"/>
              </a:rPr>
            </a:br>
            <a:r>
              <a:rPr lang="en-SG" b="1" dirty="0">
                <a:latin typeface="Courier New" pitchFamily="49" charset="0"/>
                <a:cs typeface="Courier New" pitchFamily="49" charset="0"/>
              </a:rPr>
              <a:t>   the expression is </a:t>
            </a:r>
            <a:r>
              <a:rPr lang="en-SG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false</a:t>
            </a:r>
            <a:endParaRPr lang="en-SG" b="1" dirty="0">
              <a:latin typeface="Courier New" pitchFamily="49" charset="0"/>
              <a:cs typeface="Courier New" pitchFamily="49" charset="0"/>
            </a:endParaRPr>
          </a:p>
          <a:p>
            <a:pPr marL="176213" lvl="1">
              <a:buFont typeface="Wingdings" pitchFamily="2" charset="2"/>
              <a:buNone/>
              <a:defRPr/>
            </a:pPr>
            <a:r>
              <a:rPr lang="en-SG" b="1" dirty="0">
                <a:latin typeface="Courier New" pitchFamily="49" charset="0"/>
                <a:cs typeface="Courier New" pitchFamily="49" charset="0"/>
              </a:rPr>
              <a:t>}</a:t>
            </a:r>
            <a:r>
              <a:rPr lang="en-SG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31" name="Group 53"/>
          <p:cNvGrpSpPr>
            <a:grpSpLocks/>
          </p:cNvGrpSpPr>
          <p:nvPr/>
        </p:nvGrpSpPr>
        <p:grpSpPr bwMode="auto">
          <a:xfrm>
            <a:off x="6503987" y="2395720"/>
            <a:ext cx="2411413" cy="1556313"/>
            <a:chOff x="6445623" y="3191438"/>
            <a:chExt cx="2411506" cy="1556403"/>
          </a:xfrm>
        </p:grpSpPr>
        <p:sp>
          <p:nvSpPr>
            <p:cNvPr id="32" name="Flowchart: Decision 31"/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3" name="Straight Arrow Connector 33"/>
            <p:cNvCxnSpPr>
              <a:cxnSpLocks noChangeShapeType="1"/>
              <a:endCxn id="32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4" name="TextBox 34"/>
            <p:cNvSpPr txBox="1">
              <a:spLocks noChangeArrowheads="1"/>
            </p:cNvSpPr>
            <p:nvPr/>
          </p:nvSpPr>
          <p:spPr bwMode="auto">
            <a:xfrm>
              <a:off x="7319683" y="3662083"/>
              <a:ext cx="71269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 err="1"/>
                <a:t>exp</a:t>
              </a:r>
              <a:r>
                <a:rPr lang="en-US" sz="1200" i="1" dirty="0"/>
                <a:t>?</a:t>
              </a:r>
              <a:endParaRPr lang="en-SG" sz="1200" i="1" dirty="0"/>
            </a:p>
          </p:txBody>
        </p:sp>
        <p:cxnSp>
          <p:nvCxnSpPr>
            <p:cNvPr id="35" name="Straight Connector 35"/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" name="Straight Arrow Connector 36"/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7" name="Flowchart: Process 36"/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38" name="TextBox 38"/>
            <p:cNvSpPr txBox="1">
              <a:spLocks noChangeArrowheads="1"/>
            </p:cNvSpPr>
            <p:nvPr/>
          </p:nvSpPr>
          <p:spPr bwMode="auto">
            <a:xfrm>
              <a:off x="6719047" y="357243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39" name="TextBox 39"/>
            <p:cNvSpPr txBox="1">
              <a:spLocks noChangeArrowheads="1"/>
            </p:cNvSpPr>
            <p:nvPr/>
          </p:nvSpPr>
          <p:spPr bwMode="auto">
            <a:xfrm>
              <a:off x="8095129" y="3563471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40" name="Straight Arrow Connector 40"/>
            <p:cNvCxnSpPr>
              <a:cxnSpLocks noChangeShapeType="1"/>
            </p:cNvCxnSpPr>
            <p:nvPr/>
          </p:nvCxnSpPr>
          <p:spPr bwMode="auto">
            <a:xfrm flipH="1">
              <a:off x="7696821" y="4522697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1" name="Straight Connector 41"/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2" name="Straight Arrow Connector 42"/>
            <p:cNvCxnSpPr>
              <a:cxnSpLocks noChangeShapeType="1"/>
            </p:cNvCxnSpPr>
            <p:nvPr/>
          </p:nvCxnSpPr>
          <p:spPr bwMode="auto">
            <a:xfrm>
              <a:off x="6822141" y="4509247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3" name="Straight Connector 43"/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4" name="Straight Arrow Connector 47"/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45" name="Flowchart: Process 44"/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6" name="Straight Connector 49"/>
            <p:cNvCxnSpPr>
              <a:cxnSpLocks noChangeShapeType="1"/>
            </p:cNvCxnSpPr>
            <p:nvPr/>
          </p:nvCxnSpPr>
          <p:spPr bwMode="auto">
            <a:xfrm rot="5400000">
              <a:off x="8390965" y="4450977"/>
              <a:ext cx="17929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7" name="Straight Arrow Connector 51"/>
            <p:cNvCxnSpPr>
              <a:cxnSpLocks noChangeShapeType="1"/>
            </p:cNvCxnSpPr>
            <p:nvPr/>
          </p:nvCxnSpPr>
          <p:spPr bwMode="auto">
            <a:xfrm rot="10800000">
              <a:off x="7664824" y="4531659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5" y="1302555"/>
            <a:ext cx="5447665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answer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50" name="Content Placeholder 5">
            <a:extLst>
              <a:ext uri="{FF2B5EF4-FFF2-40B4-BE49-F238E27FC236}">
                <a16:creationId xmlns:a16="http://schemas.microsoft.com/office/drawing/2014/main" id="{6A68E681-1A88-9040-8F49-07716663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3452348"/>
            <a:ext cx="8229600" cy="497181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Syntax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C83F43-A406-1CE9-CF6D-8F910FBE7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90E042-9818-E9EF-F802-25A73ABB7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5998376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5" y="1386963"/>
            <a:ext cx="260800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F43FC8C1-7270-804E-9F1F-0B4AED0CE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985285"/>
            <a:ext cx="8229600" cy="320167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(Simple) Logical expressions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 </a:t>
            </a:r>
            <a:r>
              <a:rPr lang="en-US" sz="2400" dirty="0" err="1"/>
              <a:t>comp_op</a:t>
            </a:r>
            <a:r>
              <a:rPr lang="en-US" sz="2400" dirty="0"/>
              <a:t> &lt;exp&gt;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&lt;exp&gt;: math expressions, variables, values, function calls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 err="1"/>
              <a:t>comp_op</a:t>
            </a:r>
            <a:r>
              <a:rPr lang="en-US" sz="2400" dirty="0"/>
              <a:t>: ==, !=, &gt;, &gt;=, &lt;, &lt;=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Examples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&lt;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3</a:t>
            </a:r>
            <a:r>
              <a:rPr lang="en-US" sz="2400" b="1" dirty="0">
                <a:latin typeface="Courier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5</a:t>
            </a:r>
            <a:r>
              <a:rPr lang="en-US" sz="2400" b="1" dirty="0">
                <a:latin typeface="Courier" pitchFamily="2" charset="0"/>
              </a:rPr>
              <a:t> &gt; n, n %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!=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0</a:t>
            </a:r>
            <a:r>
              <a:rPr lang="en-US" sz="2400" b="1" dirty="0">
                <a:latin typeface="Courier" pitchFamily="2" charset="0"/>
              </a:rPr>
              <a:t>, </a:t>
            </a:r>
            <a:br>
              <a:rPr lang="en-US" sz="2400" b="1" dirty="0">
                <a:latin typeface="Courier" pitchFamily="2" charset="0"/>
              </a:rPr>
            </a:br>
            <a:r>
              <a:rPr lang="en-US" sz="2400" b="1" dirty="0">
                <a:latin typeface="Courier" pitchFamily="2" charset="0"/>
              </a:rPr>
              <a:t>n == </a:t>
            </a:r>
            <a:r>
              <a:rPr lang="en-US" altLang="zh-CN" sz="2400" b="1" dirty="0">
                <a:latin typeface="Courier" pitchFamily="2" charset="0"/>
              </a:rPr>
              <a:t>square(x)</a:t>
            </a:r>
            <a:r>
              <a:rPr lang="en-US" sz="2400" b="1" dirty="0">
                <a:latin typeface="Courier" pitchFamily="2" charset="0"/>
              </a:rPr>
              <a:t>…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C9442-9D8E-199B-2D0A-4A43EBA2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1B160A-A9E4-654D-4086-1A032D33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26823825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2DD10-DC05-1D11-6A0B-BCC834099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61809EB-5647-0047-5A48-1167A64895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A8049926-5CDA-026F-E4DA-B77B11504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328286"/>
            <a:ext cx="8229600" cy="3858673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 Mistakes</a:t>
            </a: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9F7285-C8C7-8E85-61C5-8F1DCAE8C22B}"/>
              </a:ext>
            </a:extLst>
          </p:cNvPr>
          <p:cNvSpPr txBox="1"/>
          <p:nvPr/>
        </p:nvSpPr>
        <p:spPr>
          <a:xfrm>
            <a:off x="705655" y="4269083"/>
            <a:ext cx="5233132" cy="10156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0.0000000000000000000049</a:t>
            </a: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0.0000000000000000000051</a:t>
            </a:r>
            <a:r>
              <a:rPr lang="en-US" sz="2000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0.0000000000000000000100</a:t>
            </a:r>
            <a:r>
              <a:rPr lang="en-US" sz="20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9B5801-BF4A-1160-C1E7-97E4CA9192EE}"/>
              </a:ext>
            </a:extLst>
          </p:cNvPr>
          <p:cNvSpPr txBox="1"/>
          <p:nvPr/>
        </p:nvSpPr>
        <p:spPr>
          <a:xfrm>
            <a:off x="5738185" y="5108906"/>
            <a:ext cx="3274580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expression is false since not all real numbers can be represented accurately.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C9432-7644-2491-6A7E-554073E9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B7F6DCE-9AC2-1C3A-A12B-2958FC65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3DD06-20C4-7DD3-ECFF-66D599203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85" y="4386594"/>
            <a:ext cx="362361" cy="4900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4C351E-DA02-A443-8515-857077895051}"/>
              </a:ext>
            </a:extLst>
          </p:cNvPr>
          <p:cNvSpPr txBox="1"/>
          <p:nvPr/>
        </p:nvSpPr>
        <p:spPr>
          <a:xfrm>
            <a:off x="705655" y="1986423"/>
            <a:ext cx="240452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D5355-0C55-2E48-9F4B-AB4FC9100A05}"/>
              </a:ext>
            </a:extLst>
          </p:cNvPr>
          <p:cNvSpPr txBox="1"/>
          <p:nvPr/>
        </p:nvSpPr>
        <p:spPr>
          <a:xfrm>
            <a:off x="3893915" y="1986423"/>
            <a:ext cx="3132693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</a:t>
            </a:r>
            <a:r>
              <a:rPr lang="en-US" b="1" dirty="0"/>
              <a:t>assigns</a:t>
            </a:r>
            <a:r>
              <a:rPr lang="en-US" dirty="0"/>
              <a:t> 0 to </a:t>
            </a:r>
            <a:r>
              <a:rPr lang="en-US"/>
              <a:t>n instead.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64FA4-5498-40C2-AC55-7C820DE312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269" y="1896501"/>
            <a:ext cx="362361" cy="4900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B8C0DD-2610-48AA-A2F1-A9AE4DD922BA}"/>
              </a:ext>
            </a:extLst>
          </p:cNvPr>
          <p:cNvSpPr txBox="1"/>
          <p:nvPr/>
        </p:nvSpPr>
        <p:spPr>
          <a:xfrm>
            <a:off x="705655" y="2713364"/>
            <a:ext cx="5233132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&gt;=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US" altLang="zh-CN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handle positive values…</a:t>
            </a:r>
            <a:endParaRPr lang="en-US" sz="2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B1E9B-C6E8-4DE8-871E-C214A3D77F45}"/>
              </a:ext>
            </a:extLst>
          </p:cNvPr>
          <p:cNvSpPr txBox="1"/>
          <p:nvPr/>
        </p:nvSpPr>
        <p:spPr>
          <a:xfrm>
            <a:off x="5738185" y="3082696"/>
            <a:ext cx="3274580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&gt; should be used instead…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03F3F5-F567-2C2E-3BE7-04E3E9B0B0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006" y="2744142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523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6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owchart">
            <a:extLst>
              <a:ext uri="{FF2B5EF4-FFF2-40B4-BE49-F238E27FC236}">
                <a16:creationId xmlns:a16="http://schemas.microsoft.com/office/drawing/2014/main" id="{F8944A42-B2D9-76AF-B07D-1AA4828E8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4" t="23674" r="23454" b="18265"/>
          <a:stretch/>
        </p:blipFill>
        <p:spPr bwMode="auto">
          <a:xfrm>
            <a:off x="4245712" y="1315138"/>
            <a:ext cx="4157776" cy="1727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Skipping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else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6" y="1302555"/>
            <a:ext cx="3754849" cy="17543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 = -v;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flip the sign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???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nothing to do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cs1010_println_long(v);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6BF097-CD0C-4B25-AF09-C35109612BC3}"/>
              </a:ext>
            </a:extLst>
          </p:cNvPr>
          <p:cNvSpPr txBox="1"/>
          <p:nvPr/>
        </p:nvSpPr>
        <p:spPr>
          <a:xfrm>
            <a:off x="437953" y="4144444"/>
            <a:ext cx="3904272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v = -v;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flip the sign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cs1010_println_long(v);</a:t>
            </a:r>
          </a:p>
        </p:txBody>
      </p:sp>
      <p:grpSp>
        <p:nvGrpSpPr>
          <p:cNvPr id="29" name="Group 52">
            <a:extLst>
              <a:ext uri="{FF2B5EF4-FFF2-40B4-BE49-F238E27FC236}">
                <a16:creationId xmlns:a16="http://schemas.microsoft.com/office/drawing/2014/main" id="{9E869CF5-5422-464C-A5AD-90C40AC515C1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801120"/>
            <a:ext cx="1787525" cy="1573212"/>
            <a:chOff x="6817659" y="820273"/>
            <a:chExt cx="1788459" cy="1573303"/>
          </a:xfrm>
        </p:grpSpPr>
        <p:sp>
          <p:nvSpPr>
            <p:cNvPr id="30" name="Flowchart: Decision 29">
              <a:extLst>
                <a:ext uri="{FF2B5EF4-FFF2-40B4-BE49-F238E27FC236}">
                  <a16:creationId xmlns:a16="http://schemas.microsoft.com/office/drawing/2014/main" id="{7234A59B-0C32-4225-9BF4-845F54818682}"/>
                </a:ext>
              </a:extLst>
            </p:cNvPr>
            <p:cNvSpPr/>
            <p:nvPr/>
          </p:nvSpPr>
          <p:spPr bwMode="auto">
            <a:xfrm>
              <a:off x="7476815" y="1196532"/>
              <a:ext cx="1129303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8" name="Straight Arrow Connector 13">
              <a:extLst>
                <a:ext uri="{FF2B5EF4-FFF2-40B4-BE49-F238E27FC236}">
                  <a16:creationId xmlns:a16="http://schemas.microsoft.com/office/drawing/2014/main" id="{19C9E3C2-8918-4348-A091-C253CA95276A}"/>
                </a:ext>
              </a:extLst>
            </p:cNvPr>
            <p:cNvCxnSpPr>
              <a:cxnSpLocks noChangeShapeType="1"/>
              <a:endCxn id="30" idx="0"/>
            </p:cNvCxnSpPr>
            <p:nvPr/>
          </p:nvCxnSpPr>
          <p:spPr bwMode="auto">
            <a:xfrm rot="5400000">
              <a:off x="7853086" y="1008530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51" name="TextBox 16">
              <a:extLst>
                <a:ext uri="{FF2B5EF4-FFF2-40B4-BE49-F238E27FC236}">
                  <a16:creationId xmlns:a16="http://schemas.microsoft.com/office/drawing/2014/main" id="{A1BABC06-E437-4B15-AEF6-CDFC9B9E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1719" y="1290918"/>
              <a:ext cx="7126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exp?</a:t>
              </a:r>
              <a:endParaRPr lang="en-SG" sz="1200" i="1" dirty="0"/>
            </a:p>
          </p:txBody>
        </p:sp>
        <p:cxnSp>
          <p:nvCxnSpPr>
            <p:cNvPr id="52" name="Straight Connector 19">
              <a:extLst>
                <a:ext uri="{FF2B5EF4-FFF2-40B4-BE49-F238E27FC236}">
                  <a16:creationId xmlns:a16="http://schemas.microsoft.com/office/drawing/2014/main" id="{94324BD0-8BBD-4BC5-8957-1BA389B01E57}"/>
                </a:ext>
              </a:extLst>
            </p:cNvPr>
            <p:cNvCxnSpPr>
              <a:cxnSpLocks noChangeShapeType="1"/>
              <a:stCxn id="30" idx="1"/>
            </p:cNvCxnSpPr>
            <p:nvPr/>
          </p:nvCxnSpPr>
          <p:spPr bwMode="auto">
            <a:xfrm rot="10800000">
              <a:off x="7207625" y="1438836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3" name="Straight Arrow Connector 21">
              <a:extLst>
                <a:ext uri="{FF2B5EF4-FFF2-40B4-BE49-F238E27FC236}">
                  <a16:creationId xmlns:a16="http://schemas.microsoft.com/office/drawing/2014/main" id="{EF33DD42-CCBC-42CE-A0AC-83D11C28ED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00047" y="1532964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946F9809-F788-4E2B-972F-38A908522CFB}"/>
                </a:ext>
              </a:extLst>
            </p:cNvPr>
            <p:cNvSpPr/>
            <p:nvPr/>
          </p:nvSpPr>
          <p:spPr bwMode="auto">
            <a:xfrm>
              <a:off x="6817659" y="1653758"/>
              <a:ext cx="752868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55" name="TextBox 24">
              <a:extLst>
                <a:ext uri="{FF2B5EF4-FFF2-40B4-BE49-F238E27FC236}">
                  <a16:creationId xmlns:a16="http://schemas.microsoft.com/office/drawing/2014/main" id="{B1BE3EB9-64B8-4756-A4A5-C442B56C5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084" y="1147482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56" name="TextBox 25">
              <a:extLst>
                <a:ext uri="{FF2B5EF4-FFF2-40B4-BE49-F238E27FC236}">
                  <a16:creationId xmlns:a16="http://schemas.microsoft.com/office/drawing/2014/main" id="{1C1A26CE-18B7-42A5-BBEF-0572FF1D6C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177" y="1716741"/>
              <a:ext cx="59371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E4960835-B76E-476E-B973-A5E96C1CCA62}"/>
                </a:ext>
              </a:extLst>
            </p:cNvPr>
            <p:cNvCxnSpPr>
              <a:cxnSpLocks noChangeShapeType="1"/>
              <a:stCxn id="30" idx="2"/>
            </p:cNvCxnSpPr>
            <p:nvPr/>
          </p:nvCxnSpPr>
          <p:spPr bwMode="auto">
            <a:xfrm rot="5400000">
              <a:off x="7684995" y="2037229"/>
              <a:ext cx="699246" cy="1344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58" name="Straight Connector 29">
              <a:extLst>
                <a:ext uri="{FF2B5EF4-FFF2-40B4-BE49-F238E27FC236}">
                  <a16:creationId xmlns:a16="http://schemas.microsoft.com/office/drawing/2014/main" id="{AE2C6753-7EF0-42E0-B4A9-E162D01D3DB4}"/>
                </a:ext>
              </a:extLst>
            </p:cNvPr>
            <p:cNvCxnSpPr>
              <a:cxnSpLocks noChangeShapeType="1"/>
              <a:stCxn id="54" idx="2"/>
            </p:cNvCxnSpPr>
            <p:nvPr/>
          </p:nvCxnSpPr>
          <p:spPr bwMode="auto">
            <a:xfrm rot="5400000">
              <a:off x="7113495" y="2070847"/>
              <a:ext cx="161364" cy="1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9" name="Straight Arrow Connector 31">
              <a:extLst>
                <a:ext uri="{FF2B5EF4-FFF2-40B4-BE49-F238E27FC236}">
                  <a16:creationId xmlns:a16="http://schemas.microsoft.com/office/drawing/2014/main" id="{CBBC3FB1-8D56-4941-850C-B56253BAB8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94177" y="2138082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" name="Arrow: Down 3">
            <a:extLst>
              <a:ext uri="{FF2B5EF4-FFF2-40B4-BE49-F238E27FC236}">
                <a16:creationId xmlns:a16="http://schemas.microsoft.com/office/drawing/2014/main" id="{89BDF917-D9DB-4127-94A6-281CEDB201A4}"/>
              </a:ext>
            </a:extLst>
          </p:cNvPr>
          <p:cNvSpPr/>
          <p:nvPr/>
        </p:nvSpPr>
        <p:spPr>
          <a:xfrm>
            <a:off x="1910476" y="3235996"/>
            <a:ext cx="713352" cy="565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66084-FE75-A713-875C-1B7C19CF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46374C-7F92-F9EC-32DF-2CACE0CD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BF8873-784C-3D3D-078D-AC9D4EA614AB}"/>
              </a:ext>
            </a:extLst>
          </p:cNvPr>
          <p:cNvSpPr/>
          <p:nvPr/>
        </p:nvSpPr>
        <p:spPr>
          <a:xfrm>
            <a:off x="5153312" y="1604728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v &lt; 0?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9E60C6-947F-E974-E248-30974618878C}"/>
              </a:ext>
            </a:extLst>
          </p:cNvPr>
          <p:cNvSpPr/>
          <p:nvPr/>
        </p:nvSpPr>
        <p:spPr>
          <a:xfrm>
            <a:off x="5153312" y="2558607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set v to -v</a:t>
            </a:r>
            <a:endParaRPr lang="en-SG" sz="16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B70797-3D34-15C4-4F0B-5BBC24394DCD}"/>
              </a:ext>
            </a:extLst>
          </p:cNvPr>
          <p:cNvSpPr/>
          <p:nvPr/>
        </p:nvSpPr>
        <p:spPr>
          <a:xfrm>
            <a:off x="7024701" y="1604728"/>
            <a:ext cx="828675" cy="2769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print v</a:t>
            </a:r>
            <a:endParaRPr lang="en-SG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784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28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5B9D-6974-6336-20FB-068DE123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39F93C9-A96A-4B85-9494-B529FF3C3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FCFC424-20FA-1124-1586-4E8DFE24E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9" name="[TextBox 14]">
            <a:extLst>
              <a:ext uri="{FF2B5EF4-FFF2-40B4-BE49-F238E27FC236}">
                <a16:creationId xmlns:a16="http://schemas.microsoft.com/office/drawing/2014/main" id="{E740EB4A-BFB5-19F2-3002-05788BFAD121}"/>
              </a:ext>
            </a:extLst>
          </p:cNvPr>
          <p:cNvSpPr txBox="1"/>
          <p:nvPr/>
        </p:nvSpPr>
        <p:spPr>
          <a:xfrm>
            <a:off x="648121" y="1733797"/>
            <a:ext cx="439615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GB" sz="1600" b="1" dirty="0" err="1">
                <a:solidFill>
                  <a:schemeClr val="tx1"/>
                </a:solidFill>
                <a:latin typeface="Courier New" pitchFamily="49" charset="0"/>
              </a:rPr>
              <a:t>compute_max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num1, </a:t>
            </a:r>
            <a:b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               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num2) {</a:t>
            </a:r>
            <a:b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61F7B414-12EC-A5B5-85F4-E70466744A57}"/>
              </a:ext>
            </a:extLst>
          </p:cNvPr>
          <p:cNvSpPr txBox="1">
            <a:spLocks/>
          </p:cNvSpPr>
          <p:nvPr/>
        </p:nvSpPr>
        <p:spPr>
          <a:xfrm>
            <a:off x="587375" y="5125020"/>
            <a:ext cx="8364120" cy="1106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wrong with this function?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the correct logic?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7950B-7BF5-3B4A-7D1A-4B6B6D4DF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6826C-A06F-F46A-B296-789DEEE3A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28F33D-AB3B-A1E3-C971-9A573E33537C}"/>
              </a:ext>
            </a:extLst>
          </p:cNvPr>
          <p:cNvSpPr/>
          <p:nvPr/>
        </p:nvSpPr>
        <p:spPr>
          <a:xfrm>
            <a:off x="1028700" y="2752725"/>
            <a:ext cx="2305050" cy="1476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[TextBox 14]">
            <a:extLst>
              <a:ext uri="{FF2B5EF4-FFF2-40B4-BE49-F238E27FC236}">
                <a16:creationId xmlns:a16="http://schemas.microsoft.com/office/drawing/2014/main" id="{18FF495B-EF8C-46B1-BAF5-26225ACE1ABA}"/>
              </a:ext>
            </a:extLst>
          </p:cNvPr>
          <p:cNvSpPr txBox="1"/>
          <p:nvPr/>
        </p:nvSpPr>
        <p:spPr>
          <a:xfrm>
            <a:off x="5319661" y="1756215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&gt;=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  <p:sp>
        <p:nvSpPr>
          <p:cNvPr id="6" name="[TextBox 14]">
            <a:extLst>
              <a:ext uri="{FF2B5EF4-FFF2-40B4-BE49-F238E27FC236}">
                <a16:creationId xmlns:a16="http://schemas.microsoft.com/office/drawing/2014/main" id="{E5DAE8D6-648B-9E6C-0FFD-2EFB83426A7E}"/>
              </a:ext>
            </a:extLst>
          </p:cNvPr>
          <p:cNvSpPr txBox="1"/>
          <p:nvPr/>
        </p:nvSpPr>
        <p:spPr>
          <a:xfrm>
            <a:off x="5319660" y="3438296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&gt;=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  <p:sp>
        <p:nvSpPr>
          <p:cNvPr id="11" name="[TextBox 14]">
            <a:extLst>
              <a:ext uri="{FF2B5EF4-FFF2-40B4-BE49-F238E27FC236}">
                <a16:creationId xmlns:a16="http://schemas.microsoft.com/office/drawing/2014/main" id="{E91B98F9-B6BE-B32C-F018-DA940ADBCE27}"/>
              </a:ext>
            </a:extLst>
          </p:cNvPr>
          <p:cNvSpPr txBox="1"/>
          <p:nvPr/>
        </p:nvSpPr>
        <p:spPr>
          <a:xfrm>
            <a:off x="5319659" y="5128388"/>
            <a:ext cx="3024239" cy="15696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   if</a:t>
            </a:r>
            <a:r>
              <a:rPr lang="en-GB" sz="1600" b="1" dirty="0">
                <a:latin typeface="Courier New" pitchFamily="49" charset="0"/>
              </a:rPr>
              <a:t> (num1 &gt;=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&gt;=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</p:txBody>
      </p:sp>
    </p:spTree>
    <p:extLst>
      <p:ext uri="{BB962C8B-B14F-4D97-AF65-F5344CB8AC3E}">
        <p14:creationId xmlns:p14="http://schemas.microsoft.com/office/powerpoint/2010/main" val="36053656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9" name="[TextBox 14]"/>
          <p:cNvSpPr txBox="1"/>
          <p:nvPr/>
        </p:nvSpPr>
        <p:spPr>
          <a:xfrm>
            <a:off x="648121" y="1733797"/>
            <a:ext cx="4396154" cy="32932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</a:t>
            </a:r>
            <a:r>
              <a:rPr lang="en-GB" sz="1600" b="1" dirty="0" err="1">
                <a:solidFill>
                  <a:schemeClr val="tx1"/>
                </a:solidFill>
                <a:latin typeface="Courier New" pitchFamily="49" charset="0"/>
              </a:rPr>
              <a:t>compute_max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(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num1, </a:t>
            </a:r>
            <a:b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               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 num2) {</a:t>
            </a:r>
            <a:b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</a:b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long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return</a:t>
            </a:r>
            <a:r>
              <a:rPr lang="en-GB" sz="1600" b="1" dirty="0">
                <a:latin typeface="Courier New" pitchFamily="49" charset="0"/>
              </a:rPr>
              <a:t> max;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}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016A8A5-E9D1-453F-88AF-4D42231AA134}"/>
              </a:ext>
            </a:extLst>
          </p:cNvPr>
          <p:cNvSpPr txBox="1">
            <a:spLocks/>
          </p:cNvSpPr>
          <p:nvPr/>
        </p:nvSpPr>
        <p:spPr>
          <a:xfrm>
            <a:off x="587375" y="5125020"/>
            <a:ext cx="8364120" cy="11069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wrong with this function?</a:t>
            </a:r>
          </a:p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What is the correct logic?</a:t>
            </a:r>
          </a:p>
        </p:txBody>
      </p:sp>
      <p:sp>
        <p:nvSpPr>
          <p:cNvPr id="10" name="[TextBox 14]">
            <a:extLst>
              <a:ext uri="{FF2B5EF4-FFF2-40B4-BE49-F238E27FC236}">
                <a16:creationId xmlns:a16="http://schemas.microsoft.com/office/drawing/2014/main" id="{853A051E-3941-42AF-BD7D-94D3E7AB0C47}"/>
              </a:ext>
            </a:extLst>
          </p:cNvPr>
          <p:cNvSpPr txBox="1"/>
          <p:nvPr/>
        </p:nvSpPr>
        <p:spPr>
          <a:xfrm>
            <a:off x="5319662" y="3244147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GB" sz="1600" b="1" dirty="0">
                <a:latin typeface="Courier New" pitchFamily="49" charset="0"/>
              </a:rPr>
              <a:t>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(num2 &gt; num1){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D26C9-1571-4C0F-BDB2-495AE0B0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22DFB-39C5-3CD2-0968-2711583D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2" name="[TextBox 14]">
            <a:extLst>
              <a:ext uri="{FF2B5EF4-FFF2-40B4-BE49-F238E27FC236}">
                <a16:creationId xmlns:a16="http://schemas.microsoft.com/office/drawing/2014/main" id="{C430BB25-D09F-A523-35D9-970C4CEE73F3}"/>
              </a:ext>
            </a:extLst>
          </p:cNvPr>
          <p:cNvSpPr txBox="1"/>
          <p:nvPr/>
        </p:nvSpPr>
        <p:spPr>
          <a:xfrm>
            <a:off x="5319662" y="1742505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  <a:r>
              <a:rPr lang="en-GB" sz="1600" b="1" dirty="0">
                <a:latin typeface="Courier New" pitchFamily="49" charset="0"/>
              </a:rPr>
              <a:t> {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   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AEDB5-9B50-3563-1ABB-065030304271}"/>
              </a:ext>
            </a:extLst>
          </p:cNvPr>
          <p:cNvSpPr/>
          <p:nvPr/>
        </p:nvSpPr>
        <p:spPr>
          <a:xfrm>
            <a:off x="1028700" y="2752725"/>
            <a:ext cx="2305050" cy="1476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89011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Conditional Operators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1"/>
            <a:ext cx="8381999" cy="546346"/>
          </a:xfrm>
        </p:spPr>
        <p:txBody>
          <a:bodyPr>
            <a:noAutofit/>
          </a:bodyPr>
          <a:lstStyle/>
          <a:p>
            <a:pPr marL="347663" indent="-347663">
              <a:spcBef>
                <a:spcPts val="12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out of 2 integers.</a:t>
            </a:r>
          </a:p>
        </p:txBody>
      </p:sp>
      <p:sp>
        <p:nvSpPr>
          <p:cNvPr id="11" name="[TextBox 14]">
            <a:extLst>
              <a:ext uri="{FF2B5EF4-FFF2-40B4-BE49-F238E27FC236}">
                <a16:creationId xmlns:a16="http://schemas.microsoft.com/office/drawing/2014/main" id="{BC839910-3DED-4F3B-ACBB-949AD3823840}"/>
              </a:ext>
            </a:extLst>
          </p:cNvPr>
          <p:cNvSpPr txBox="1"/>
          <p:nvPr/>
        </p:nvSpPr>
        <p:spPr>
          <a:xfrm>
            <a:off x="991440" y="1771080"/>
            <a:ext cx="2706353" cy="13234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	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if</a:t>
            </a:r>
            <a:r>
              <a:rPr lang="en-GB" sz="1600" b="1" dirty="0">
                <a:latin typeface="Courier New" pitchFamily="49" charset="0"/>
              </a:rPr>
              <a:t> (num1 &gt; num2){</a:t>
            </a:r>
            <a:br>
              <a:rPr lang="en-GB" sz="1600" b="1" dirty="0">
                <a:latin typeface="Courier New" pitchFamily="49" charset="0"/>
              </a:rPr>
            </a:br>
            <a:r>
              <a:rPr lang="en-GB" sz="1600" b="1" dirty="0">
                <a:latin typeface="Courier New" pitchFamily="49" charset="0"/>
              </a:rPr>
              <a:t>		max = num1;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 </a:t>
            </a:r>
            <a:r>
              <a:rPr lang="en-GB" sz="1600" b="1" dirty="0">
                <a:solidFill>
                  <a:srgbClr val="0000FF"/>
                </a:solidFill>
                <a:latin typeface="Courier New" pitchFamily="49" charset="0"/>
              </a:rPr>
              <a:t>else</a:t>
            </a:r>
            <a:r>
              <a:rPr lang="en-GB" sz="1600" b="1" dirty="0">
                <a:latin typeface="Courier New" pitchFamily="49" charset="0"/>
              </a:rPr>
              <a:t> {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   max = num2;</a:t>
            </a:r>
          </a:p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latin typeface="Courier New" pitchFamily="49" charset="0"/>
              </a:rPr>
              <a:t>   }</a:t>
            </a:r>
          </a:p>
        </p:txBody>
      </p:sp>
      <p:sp>
        <p:nvSpPr>
          <p:cNvPr id="10" name="[TextBox 14]">
            <a:extLst>
              <a:ext uri="{FF2B5EF4-FFF2-40B4-BE49-F238E27FC236}">
                <a16:creationId xmlns:a16="http://schemas.microsoft.com/office/drawing/2014/main" id="{5FC71EA0-86D0-4839-B226-F2F72C7F52C6}"/>
              </a:ext>
            </a:extLst>
          </p:cNvPr>
          <p:cNvSpPr txBox="1"/>
          <p:nvPr/>
        </p:nvSpPr>
        <p:spPr>
          <a:xfrm>
            <a:off x="3931107" y="2228280"/>
            <a:ext cx="4822368" cy="3385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>
              <a:spcBef>
                <a:spcPts val="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tabLst>
                <a:tab pos="344488" algn="l"/>
                <a:tab pos="688975" algn="l"/>
              </a:tabLst>
              <a:defRPr/>
            </a:pPr>
            <a:r>
              <a:rPr lang="en-GB" sz="1600" b="1" dirty="0">
                <a:solidFill>
                  <a:schemeClr val="tx1"/>
                </a:solidFill>
                <a:latin typeface="Courier New" pitchFamily="49" charset="0"/>
              </a:rPr>
              <a:t>	max = (num1 &gt; num2) ? num1 : num2;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EB4DC09-7671-4533-8E46-5F36009B0FDA}"/>
              </a:ext>
            </a:extLst>
          </p:cNvPr>
          <p:cNvSpPr txBox="1">
            <a:spLocks/>
          </p:cNvSpPr>
          <p:nvPr/>
        </p:nvSpPr>
        <p:spPr>
          <a:xfrm>
            <a:off x="587375" y="3269070"/>
            <a:ext cx="8229600" cy="497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7663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Syntax</a:t>
            </a:r>
          </a:p>
          <a:p>
            <a:pPr marL="274320" lvl="1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Arial" pitchFamily="34" charset="0"/>
              <a:buNone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6B4139-5576-4648-BE53-3803BE78ABCA}"/>
              </a:ext>
            </a:extLst>
          </p:cNvPr>
          <p:cNvSpPr txBox="1"/>
          <p:nvPr/>
        </p:nvSpPr>
        <p:spPr>
          <a:xfrm>
            <a:off x="991439" y="3850463"/>
            <a:ext cx="6936709" cy="36933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6213" lvl="1">
              <a:buFont typeface="Wingdings" pitchFamily="2" charset="2"/>
              <a:buNone/>
              <a:defRPr/>
            </a:pPr>
            <a:r>
              <a:rPr lang="fr-FR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condition ? </a:t>
            </a:r>
            <a:r>
              <a:rPr lang="fr-FR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fr-FR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expression : false expression;</a:t>
            </a:r>
            <a:endParaRPr lang="en-SG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673DD5-CAF2-E0AF-80F5-6050DBA3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43B27-A567-1E2F-6A64-FD56F8BC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39484572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AD887-C23F-563B-49F2-72C30C05C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69A1BA-CFA8-D38A-2510-9868463B5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86EB76E-8972-112A-3FD0-55B15C8E1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7793"/>
          </a:xfrm>
        </p:spPr>
        <p:txBody>
          <a:bodyPr>
            <a:normAutofit/>
          </a:bodyPr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possible solution: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8 or higher </a:t>
            </a:r>
            <a:r>
              <a:rPr lang="en-US" sz="2200" dirty="0">
                <a:sym typeface="Wingdings" panose="05000000000000000000" pitchFamily="2" charset="2"/>
              </a:rPr>
              <a:t></a:t>
            </a:r>
            <a:r>
              <a:rPr lang="en-US" sz="2200" dirty="0"/>
              <a:t> print A</a:t>
            </a:r>
            <a:br>
              <a:rPr lang="en-US" sz="2200" dirty="0"/>
            </a:b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8 but 5 or higher </a:t>
            </a:r>
            <a:r>
              <a:rPr lang="en-US" sz="2200" dirty="0">
                <a:sym typeface="Wingdings" panose="05000000000000000000" pitchFamily="2" charset="2"/>
              </a:rPr>
              <a:t> print B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5 but 3 or higher </a:t>
            </a:r>
            <a:r>
              <a:rPr lang="en-US" sz="2200" dirty="0">
                <a:sym typeface="Wingdings" panose="05000000000000000000" pitchFamily="2" charset="2"/>
              </a:rPr>
              <a:t> print C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800" dirty="0"/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200" dirty="0"/>
              <a:t>if score is less than 3 </a:t>
            </a:r>
            <a:r>
              <a:rPr lang="en-US" sz="2200" dirty="0">
                <a:sym typeface="Wingdings" panose="05000000000000000000" pitchFamily="2" charset="2"/>
              </a:rPr>
              <a:t> print D</a:t>
            </a:r>
            <a:endParaRPr lang="en-US" sz="22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A7CBF9-702A-8A1C-8F1A-66A39C51B19E}"/>
              </a:ext>
            </a:extLst>
          </p:cNvPr>
          <p:cNvGraphicFramePr>
            <a:graphicFrameLocks noGrp="1"/>
          </p:cNvGraphicFramePr>
          <p:nvPr/>
        </p:nvGraphicFramePr>
        <p:xfrm>
          <a:off x="1288729" y="1697534"/>
          <a:ext cx="456946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641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8 but 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Less than 5 but 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C008E-ECE7-E1F4-6080-36A01547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849E8-D55F-F537-E8B3-5B00F700E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A9129-2588-49DC-6598-DA2FF38CBA25}"/>
              </a:ext>
            </a:extLst>
          </p:cNvPr>
          <p:cNvSpPr txBox="1"/>
          <p:nvPr/>
        </p:nvSpPr>
        <p:spPr>
          <a:xfrm>
            <a:off x="6832108" y="3916346"/>
            <a:ext cx="1791318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Completely </a:t>
            </a:r>
            <a:br>
              <a:rPr lang="en-US" dirty="0"/>
            </a:br>
            <a:r>
              <a:rPr lang="en-US" dirty="0"/>
              <a:t>separate steps!</a:t>
            </a:r>
          </a:p>
        </p:txBody>
      </p:sp>
    </p:spTree>
    <p:extLst>
      <p:ext uri="{BB962C8B-B14F-4D97-AF65-F5344CB8AC3E}">
        <p14:creationId xmlns:p14="http://schemas.microsoft.com/office/powerpoint/2010/main" val="378753636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8485-6EBF-16E9-C42D-8D5FDB21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276D9C6-768A-175A-D599-0FC56A81C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B878E5A2-7A16-6D89-475F-1B7E840D7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4EF1126-F3BB-7C9A-1A37-24E855E25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9387"/>
              </p:ext>
            </p:extLst>
          </p:nvPr>
        </p:nvGraphicFramePr>
        <p:xfrm>
          <a:off x="1288729" y="1735623"/>
          <a:ext cx="5403733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3182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59908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  <a:gridCol w="1715784">
                  <a:extLst>
                    <a:ext uri="{9D8B030D-6E8A-4147-A177-3AD203B41FA5}">
                      <a16:colId xmlns:a16="http://schemas.microsoft.com/office/drawing/2014/main" val="3062032141"/>
                    </a:ext>
                  </a:extLst>
                </a:gridCol>
                <a:gridCol w="584859">
                  <a:extLst>
                    <a:ext uri="{9D8B030D-6E8A-4147-A177-3AD203B41FA5}">
                      <a16:colId xmlns:a16="http://schemas.microsoft.com/office/drawing/2014/main" val="2308904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Less than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509AECE-E0F6-B5AE-DC30-02C7A1EE9B98}"/>
              </a:ext>
            </a:extLst>
          </p:cNvPr>
          <p:cNvSpPr txBox="1"/>
          <p:nvPr/>
        </p:nvSpPr>
        <p:spPr>
          <a:xfrm>
            <a:off x="6925723" y="2059636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With nesting.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8CB81-E6CB-F470-9F69-DF89833D5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29A1C-A53F-C329-BBFB-D07D96F1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74484379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Nested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DD0F7-7371-46CC-B55A-367690ADD30F}"/>
              </a:ext>
            </a:extLst>
          </p:cNvPr>
          <p:cNvSpPr txBox="1"/>
          <p:nvPr/>
        </p:nvSpPr>
        <p:spPr>
          <a:xfrm>
            <a:off x="844357" y="1725915"/>
            <a:ext cx="337471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08AE3-B4F6-C6DD-7E4F-8174C24C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763E00-B2C1-93C5-ADE8-8CA0CCDC8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DD7B5-EE5E-FD48-702D-45185258A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429" y="4572001"/>
            <a:ext cx="4864998" cy="176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2174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6C438-B880-7630-FD69-EA0D5180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8DD1065-8664-9917-A5E6-CA4316921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More than 2 possibilities?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9FE7601-84D7-71DE-3897-7B41A928A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57ECF6-94F5-CC1B-D7DF-0FD878DC3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89134"/>
              </p:ext>
            </p:extLst>
          </p:nvPr>
        </p:nvGraphicFramePr>
        <p:xfrm>
          <a:off x="1288729" y="1832261"/>
          <a:ext cx="347726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719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Score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Letter Grade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8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5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>
                          <a:effectLst/>
                        </a:rPr>
                        <a:t>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  <a:r>
                        <a:rPr lang="en-US" b="0" dirty="0">
                          <a:effectLst/>
                        </a:rPr>
                        <a:t> 3 or higher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C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B10B840-52FD-3B78-EB94-2D38038FDBA4}"/>
              </a:ext>
            </a:extLst>
          </p:cNvPr>
          <p:cNvSpPr txBox="1"/>
          <p:nvPr/>
        </p:nvSpPr>
        <p:spPr>
          <a:xfrm>
            <a:off x="6925723" y="2483786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No nesting.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05FB0-6161-AC8F-09F0-24A6FE4A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1C0C66-9F62-001D-93D7-ADD68F4E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160024743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6CCD-5BD0-3F40-85DF-64AF459EF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58258-CF14-EFEE-B514-A09E96D9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003274-6B59-EA89-7D41-359F84A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BE436596-8C05-DA48-87CF-051C2AD4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CCB561-3612-A9DA-CD00-FE6AF1BF30E6}"/>
              </a:ext>
            </a:extLst>
          </p:cNvPr>
          <p:cNvSpPr txBox="1"/>
          <p:nvPr/>
        </p:nvSpPr>
        <p:spPr>
          <a:xfrm>
            <a:off x="844357" y="1725915"/>
            <a:ext cx="4109480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00909227-27A6-6E8C-587C-612BC6F39A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if-(else-if-)else</a:t>
            </a:r>
            <a:r>
              <a:rPr lang="en-GB" sz="3600" dirty="0">
                <a:solidFill>
                  <a:srgbClr val="0000FF"/>
                </a:solidFill>
              </a:rPr>
              <a:t>… Statements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06496-B5B0-AD63-6FA1-A84654B4F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69" y="4260834"/>
            <a:ext cx="3499407" cy="19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9126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Print the CS1010 activity based on </a:t>
            </a:r>
            <a:r>
              <a:rPr lang="en-US" sz="2400" dirty="0">
                <a:solidFill>
                  <a:srgbClr val="0000FF"/>
                </a:solidFill>
              </a:rPr>
              <a:t>day </a:t>
            </a:r>
            <a:r>
              <a:rPr lang="en-US" sz="2400" dirty="0"/>
              <a:t>(1/2/3/4/5) and </a:t>
            </a:r>
            <a:r>
              <a:rPr lang="en-US" sz="2400" dirty="0">
                <a:solidFill>
                  <a:srgbClr val="0000FF"/>
                </a:solidFill>
              </a:rPr>
              <a:t>time </a:t>
            </a:r>
            <a:r>
              <a:rPr lang="en-US" sz="2400" dirty="0"/>
              <a:t>(1000/1100/…)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E.g., 1 and 1000 </a:t>
            </a:r>
            <a:r>
              <a:rPr lang="en-US" sz="2000" dirty="0">
                <a:sym typeface="Wingdings" panose="05000000000000000000" pitchFamily="2" charset="2"/>
              </a:rPr>
              <a:t> output "T", </a:t>
            </a:r>
            <a:r>
              <a:rPr lang="en-US" sz="2000" dirty="0"/>
              <a:t>2 and 1100 </a:t>
            </a:r>
            <a:r>
              <a:rPr lang="en-US" sz="2000" dirty="0">
                <a:sym typeface="Wingdings" panose="05000000000000000000" pitchFamily="2" charset="2"/>
              </a:rPr>
              <a:t> output "L",</a:t>
            </a:r>
            <a:br>
              <a:rPr lang="en-US" sz="2000" dirty="0">
                <a:sym typeface="Wingdings" panose="05000000000000000000" pitchFamily="2" charset="2"/>
              </a:rPr>
            </a:br>
            <a:r>
              <a:rPr lang="en-US" sz="2000" dirty="0">
                <a:sym typeface="Wingdings" panose="05000000000000000000" pitchFamily="2" charset="2"/>
              </a:rPr>
              <a:t>        5 and 1200  output "-"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Work out two sets of logic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Logic 1: Based on one input first and then the other.</a:t>
            </a:r>
            <a:endParaRPr lang="en-US" sz="2000" dirty="0"/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Logic 2: Based on both inputs together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178820"/>
              </p:ext>
            </p:extLst>
          </p:nvPr>
        </p:nvGraphicFramePr>
        <p:xfrm>
          <a:off x="356909" y="2904642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9ED0E-32AC-40F6-9CD9-B15EEBDC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F275CB-CEEF-09E8-F3FD-18FF7548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75173622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ym typeface="Wingdings" panose="05000000000000000000" pitchFamily="2" charset="2"/>
              </a:rPr>
              <a:t>Logic 1: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day</a:t>
            </a:r>
            <a:r>
              <a:rPr lang="en-US" sz="2000" dirty="0">
                <a:sym typeface="Wingdings" panose="05000000000000000000" pitchFamily="2" charset="2"/>
              </a:rPr>
              <a:t> is 3 or higher  output "-".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1 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time </a:t>
            </a:r>
            <a:r>
              <a:rPr lang="en-US" sz="2000" dirty="0">
                <a:sym typeface="Wingdings" panose="05000000000000000000" pitchFamily="2" charset="2"/>
              </a:rPr>
              <a:t>is before 1400  …</a:t>
            </a:r>
          </a:p>
          <a:p>
            <a:pPr marL="1714500" lvl="3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 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 …</a:t>
            </a:r>
          </a:p>
          <a:p>
            <a:pPr lvl="2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00372"/>
              </p:ext>
            </p:extLst>
          </p:nvPr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6DB7EC-293D-1116-113A-EE58E3C59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952C4A-B09C-2BC2-DC8A-E88B6601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2315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5E338-8D0D-6C6A-5B57-5C728B96B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9C8D923-E032-8407-5DC4-4A74B5336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A575D17D-3536-460E-088D-619F54BF1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Logic 2:</a:t>
            </a: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1 </a:t>
            </a:r>
            <a:r>
              <a:rPr lang="en-US" sz="2000" b="1" dirty="0">
                <a:sym typeface="Wingdings" panose="05000000000000000000" pitchFamily="2" charset="2"/>
              </a:rPr>
              <a:t>AND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time</a:t>
            </a:r>
            <a:r>
              <a:rPr lang="en-US" sz="2000" dirty="0">
                <a:sym typeface="Wingdings" panose="05000000000000000000" pitchFamily="2" charset="2"/>
              </a:rPr>
              <a:t> is before 1400  output "T".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Otherwise, if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day</a:t>
            </a:r>
            <a:r>
              <a:rPr lang="en-US" sz="2000" dirty="0">
                <a:sym typeface="Wingdings" panose="05000000000000000000" pitchFamily="2" charset="2"/>
              </a:rPr>
              <a:t> equals 2 </a:t>
            </a:r>
            <a:r>
              <a:rPr lang="en-US" sz="2000" b="1" dirty="0">
                <a:sym typeface="Wingdings" panose="05000000000000000000" pitchFamily="2" charset="2"/>
              </a:rPr>
              <a:t>AND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time</a:t>
            </a:r>
            <a:r>
              <a:rPr lang="en-US" sz="2000" dirty="0">
                <a:sym typeface="Wingdings" panose="05000000000000000000" pitchFamily="2" charset="2"/>
              </a:rPr>
              <a:t> is before 1200  output "L".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Otherwise, output "-"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BD1561-945E-69C6-C809-5E24BABB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ED28AD-CF77-BFA2-2B08-3681CF39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C839AA9-CEBE-9FDE-8FE5-5647C6E2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057625"/>
              </p:ext>
            </p:extLst>
          </p:nvPr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42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D54F7-6F91-E9C6-6D08-71A467E2A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864DA0-78E9-93B1-166C-263248CFF6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Exercise: CS1010 Activity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F746E238-A1EF-3DEC-227A-53382854B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ym typeface="Wingdings" panose="05000000000000000000" pitchFamily="2" charset="2"/>
              </a:rPr>
              <a:t>Alternative Logic 1: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if</a:t>
            </a:r>
            <a:r>
              <a:rPr lang="en-US" sz="2000" dirty="0">
                <a:solidFill>
                  <a:srgbClr val="0000FF"/>
                </a:solidFill>
                <a:sym typeface="Wingdings" panose="05000000000000000000" pitchFamily="2" charset="2"/>
              </a:rPr>
              <a:t> </a:t>
            </a:r>
            <a:r>
              <a:rPr lang="en-US" sz="2000">
                <a:solidFill>
                  <a:srgbClr val="0000FF"/>
                </a:solidFill>
                <a:sym typeface="Wingdings" panose="05000000000000000000" pitchFamily="2" charset="2"/>
              </a:rPr>
              <a:t>time</a:t>
            </a:r>
            <a:r>
              <a:rPr lang="en-US" sz="2000">
                <a:sym typeface="Wingdings" panose="05000000000000000000" pitchFamily="2" charset="2"/>
              </a:rPr>
              <a:t> after 1400…</a:t>
            </a: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Otherwise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ym typeface="Wingdings" panose="05000000000000000000" pitchFamily="2" charset="2"/>
              </a:rPr>
              <a:t>…</a:t>
            </a:r>
          </a:p>
          <a:p>
            <a:pPr lvl="2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39A80160-8CDC-48F4-0ECE-145CDFBD2E20}"/>
              </a:ext>
            </a:extLst>
          </p:cNvPr>
          <p:cNvGraphicFramePr>
            <a:graphicFrameLocks noGrp="1"/>
          </p:cNvGraphicFramePr>
          <p:nvPr/>
        </p:nvGraphicFramePr>
        <p:xfrm>
          <a:off x="356909" y="4453928"/>
          <a:ext cx="8580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1775F3-4D85-81C2-BC59-0B32277F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Unit8 - </a:t>
            </a:r>
            <a:fld id="{2E4790E1-2590-4AEE-892D-AB46A768811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B7A2DB-2EF1-286E-570C-E9E397A4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0352479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9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Logical Expressions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131E007D-C673-C94E-397F-FDD11D532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11ECCA-0FF9-D9B0-A075-8FBC35D05D46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9: Logical Expressions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Boolean Values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Logical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Short-Circuit Evaluation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28</a:t>
            </a:fld>
            <a:endParaRPr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F35A4F-C8D8-6165-C084-029DAD656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2157431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29</a:t>
            </a:fld>
            <a:endParaRPr sz="1200" dirty="0"/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All logical expressions evaluate to Boolean values </a:t>
            </a:r>
            <a:r>
              <a:rPr lang="en-SG" dirty="0">
                <a:solidFill>
                  <a:srgbClr val="0000FF"/>
                </a:solidFill>
              </a:rPr>
              <a:t>true</a:t>
            </a:r>
            <a:r>
              <a:rPr lang="en-SG" dirty="0"/>
              <a:t> or </a:t>
            </a:r>
            <a:r>
              <a:rPr lang="en-SG" dirty="0">
                <a:solidFill>
                  <a:srgbClr val="0000FF"/>
                </a:solidFill>
              </a:rPr>
              <a:t>false</a:t>
            </a:r>
            <a:r>
              <a:rPr lang="en-SG" dirty="0"/>
              <a:t>.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1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Such values can be stored in / returned as a </a:t>
            </a:r>
            <a:r>
              <a:rPr lang="en-SG" dirty="0">
                <a:solidFill>
                  <a:srgbClr val="0000FF"/>
                </a:solidFill>
              </a:rPr>
              <a:t>bool </a:t>
            </a:r>
            <a:r>
              <a:rPr lang="en-SG" dirty="0"/>
              <a:t>variable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3BFE6D-F9A1-F59A-ABD5-A036B19F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318D0-6DEE-69A5-0A15-62AA653F78D5}"/>
              </a:ext>
            </a:extLst>
          </p:cNvPr>
          <p:cNvSpPr txBox="1"/>
          <p:nvPr/>
        </p:nvSpPr>
        <p:spPr>
          <a:xfrm>
            <a:off x="958850" y="2812657"/>
            <a:ext cx="7791450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bool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 != y; // evaluates to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or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different values."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the same value."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67501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4BDE0-106E-1037-B2F6-B6E8981A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DDC7FD4-BDF2-883D-F3C2-AAC287C5A3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97FAB-7150-F5A2-3C76-C4BDAFE4F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30</a:t>
            </a:fld>
            <a:endParaRPr sz="120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70165A59-6BD3-85B1-CAE7-AB63B0DF10C5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Mathematically, any expression that evaluates to…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Any non-zero value</a:t>
            </a:r>
            <a:r>
              <a:rPr lang="en-US" dirty="0"/>
              <a:t> is </a:t>
            </a:r>
            <a:r>
              <a:rPr lang="en-US" dirty="0">
                <a:solidFill>
                  <a:srgbClr val="0000FF"/>
                </a:solidFill>
              </a:rPr>
              <a:t>true</a:t>
            </a:r>
            <a:endParaRPr lang="en-US" dirty="0"/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0 </a:t>
            </a:r>
            <a:r>
              <a:rPr lang="en-US" dirty="0"/>
              <a:t>is </a:t>
            </a:r>
            <a:r>
              <a:rPr lang="en-US" dirty="0">
                <a:solidFill>
                  <a:srgbClr val="0000FF"/>
                </a:solidFill>
              </a:rPr>
              <a:t>false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535305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B1072-3BEE-F43A-C490-D398E036CCCB}"/>
              </a:ext>
            </a:extLst>
          </p:cNvPr>
          <p:cNvSpPr txBox="1"/>
          <p:nvPr/>
        </p:nvSpPr>
        <p:spPr>
          <a:xfrm>
            <a:off x="968593" y="3147316"/>
            <a:ext cx="7791450" cy="258532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long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 - y;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   store different values."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   store the same value."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EE6433-3350-9785-102A-D2C864BB4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9578593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B3538-DA97-E3C0-11C6-6A9D7910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7E78B17-7497-06A0-ED5D-E6322BF66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95990-CEF2-EED0-DCDB-50D0D20A5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31</a:t>
            </a:fld>
            <a:endParaRPr sz="1200" dirty="0"/>
          </a:p>
        </p:txBody>
      </p:sp>
      <p:sp>
        <p:nvSpPr>
          <p:cNvPr id="49" name="Rectangle 3">
            <a:extLst>
              <a:ext uri="{FF2B5EF4-FFF2-40B4-BE49-F238E27FC236}">
                <a16:creationId xmlns:a16="http://schemas.microsoft.com/office/drawing/2014/main" id="{825CC811-2C14-A9B3-C5C0-BCA858FBD1A2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Mathematically, any expression that evaluates to…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true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1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00FF"/>
                </a:solidFill>
              </a:rPr>
              <a:t>false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n-US" dirty="0">
                <a:solidFill>
                  <a:srgbClr val="C00000"/>
                </a:solidFill>
              </a:rPr>
              <a:t>0</a:t>
            </a:r>
          </a:p>
          <a:p>
            <a:pPr marL="809625" lvl="1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1000" dirty="0"/>
          </a:p>
          <a:p>
            <a:pPr marL="535305" indent="-411163" fontAlgn="auto"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F91877-0BB3-2658-FDDA-8185BBC3E8BD}"/>
              </a:ext>
            </a:extLst>
          </p:cNvPr>
          <p:cNvSpPr txBox="1"/>
          <p:nvPr/>
        </p:nvSpPr>
        <p:spPr>
          <a:xfrm>
            <a:off x="968593" y="3147316"/>
            <a:ext cx="779145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one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&gt;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zero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cs1010_println_long(one);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cs1010_println_long(zero);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1AB9B3B-BFB9-9182-A12B-2AF85BB3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8BCD4-36CD-6F11-10FE-AC3E7C0052AE}"/>
              </a:ext>
            </a:extLst>
          </p:cNvPr>
          <p:cNvSpPr txBox="1"/>
          <p:nvPr/>
        </p:nvSpPr>
        <p:spPr>
          <a:xfrm>
            <a:off x="7023624" y="4162979"/>
            <a:ext cx="1040352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Output: </a:t>
            </a:r>
          </a:p>
          <a:p>
            <a:r>
              <a:rPr lang="en-US" dirty="0"/>
              <a:t>1</a:t>
            </a:r>
          </a:p>
          <a:p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88988995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Logical Operators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32</a:t>
            </a:fld>
            <a:endParaRPr sz="1200" dirty="0"/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>
          <a:xfrm>
            <a:off x="352425" y="1248509"/>
            <a:ext cx="8397875" cy="554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&amp;&amp;</a:t>
            </a:r>
            <a:r>
              <a:rPr lang="en-US" dirty="0"/>
              <a:t> (and), </a:t>
            </a:r>
            <a:r>
              <a:rPr lang="en-US" dirty="0">
                <a:solidFill>
                  <a:srgbClr val="C00000"/>
                </a:solidFill>
              </a:rPr>
              <a:t>||</a:t>
            </a:r>
            <a:r>
              <a:rPr lang="en-US" dirty="0"/>
              <a:t> (or), </a:t>
            </a:r>
            <a:r>
              <a:rPr lang="en-US" dirty="0">
                <a:solidFill>
                  <a:srgbClr val="C00000"/>
                </a:solidFill>
              </a:rPr>
              <a:t>!</a:t>
            </a:r>
            <a:r>
              <a:rPr lang="en-US" dirty="0"/>
              <a:t> (not) 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For creating complex logical expression</a:t>
            </a:r>
            <a:endParaRPr lang="en-SG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Example: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Gen Z is the generation of people who was born </a:t>
            </a:r>
            <a:r>
              <a:rPr lang="en-US" sz="1800" dirty="0">
                <a:highlight>
                  <a:srgbClr val="FFFF00"/>
                </a:highlight>
              </a:rPr>
              <a:t>between 1995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</a:rPr>
              <a:t> and </a:t>
            </a:r>
            <a:r>
              <a:rPr lang="en-US" sz="1800" dirty="0">
                <a:highlight>
                  <a:srgbClr val="FFFF00"/>
                </a:highlight>
              </a:rPr>
              <a:t>2005</a:t>
            </a:r>
            <a:r>
              <a:rPr lang="en-US" sz="1800" dirty="0"/>
              <a:t>…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 &gt;= 1995) 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&amp;&amp;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&lt;= 2005)</a:t>
            </a:r>
            <a:endParaRPr lang="en-US" sz="1800" dirty="0">
              <a:highlight>
                <a:srgbClr val="FFFF00"/>
              </a:highlight>
            </a:endParaRPr>
          </a:p>
        </p:txBody>
      </p:sp>
      <p:graphicFrame>
        <p:nvGraphicFramePr>
          <p:cNvPr id="9" name="Group 44"/>
          <p:cNvGraphicFramePr>
            <a:graphicFrameLocks noGrp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368098665"/>
              </p:ext>
            </p:extLst>
          </p:nvPr>
        </p:nvGraphicFramePr>
        <p:xfrm>
          <a:off x="847725" y="2241086"/>
          <a:ext cx="4638675" cy="16764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&amp;&amp;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||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!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8AD567E-83F5-299C-1EAB-E07662D49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082920116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Common Mistake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33</a:t>
            </a:fld>
            <a:endParaRPr sz="1200" dirty="0"/>
          </a:p>
        </p:txBody>
      </p:sp>
      <p:sp>
        <p:nvSpPr>
          <p:cNvPr id="49" name="[Rectangle 3]"/>
          <p:cNvSpPr txBox="1">
            <a:spLocks noChangeArrowheads="1"/>
          </p:cNvSpPr>
          <p:nvPr/>
        </p:nvSpPr>
        <p:spPr>
          <a:xfrm>
            <a:off x="352425" y="1255363"/>
            <a:ext cx="8627802" cy="5405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What is wrong with this code?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cs typeface="Courier New" pitchFamily="49" charset="0"/>
              </a:rPr>
              <a:t>The expression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2005 </a:t>
            </a:r>
            <a:r>
              <a:rPr lang="en-US" sz="2000" dirty="0">
                <a:latin typeface="+mj-lt"/>
                <a:cs typeface="Courier New" pitchFamily="49" charset="0"/>
              </a:rPr>
              <a:t>is equivalent to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</a:b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((1995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) &lt;= </a:t>
            </a: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2005)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  <a:latin typeface="+mj-lt"/>
                <a:cs typeface="Courier New" pitchFamily="49" charset="0"/>
              </a:rPr>
              <a:t>(1995</a:t>
            </a:r>
            <a:r>
              <a:rPr lang="en-US" sz="2000" dirty="0">
                <a:latin typeface="+mj-lt"/>
                <a:cs typeface="Courier New" pitchFamily="49" charset="0"/>
              </a:rPr>
              <a:t> &lt;= </a:t>
            </a:r>
            <a:r>
              <a:rPr lang="en-US" sz="2000" dirty="0" err="1">
                <a:latin typeface="+mj-lt"/>
                <a:cs typeface="Courier New" pitchFamily="49" charset="0"/>
              </a:rPr>
              <a:t>birth_year</a:t>
            </a:r>
            <a:r>
              <a:rPr lang="en-US" sz="2000" dirty="0">
                <a:latin typeface="+mj-lt"/>
                <a:cs typeface="Courier New" pitchFamily="49" charset="0"/>
              </a:rPr>
              <a:t>) gives 1 or 0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>
                <a:latin typeface="+mj-lt"/>
                <a:cs typeface="Courier New" pitchFamily="49" charset="0"/>
              </a:rPr>
              <a:t>1 or 0 is always less than 2005!</a:t>
            </a:r>
            <a:endParaRPr lang="en-US" sz="2000" b="1" dirty="0">
              <a:solidFill>
                <a:srgbClr val="C00000"/>
              </a:solidFill>
              <a:latin typeface="+mj-lt"/>
              <a:cs typeface="Courier New" pitchFamily="49" charset="0"/>
            </a:endParaRP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sz="2000" b="1" dirty="0">
              <a:solidFill>
                <a:srgbClr val="C00000"/>
              </a:solidFill>
              <a:latin typeface="+mj-lt"/>
              <a:cs typeface="Courier New" pitchFamily="49" charset="0"/>
            </a:endParaRP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186" y="1790070"/>
            <a:ext cx="6696669" cy="203132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1995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2005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"You are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from Generation Z."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"You are NOT </a:t>
            </a:r>
            <a:b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                        from Generation Z."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tabLst>
                <a:tab pos="457200" algn="l"/>
              </a:tabLst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51ED5-915D-4A62-A770-99134B5B5D96}"/>
              </a:ext>
            </a:extLst>
          </p:cNvPr>
          <p:cNvSpPr/>
          <p:nvPr/>
        </p:nvSpPr>
        <p:spPr>
          <a:xfrm>
            <a:off x="352424" y="4131129"/>
            <a:ext cx="7419975" cy="19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1840BD-9445-ABC3-FDE5-B7BD1E31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42E30F-676C-4C9A-E96B-F9A5C2B51F5E}"/>
              </a:ext>
            </a:extLst>
          </p:cNvPr>
          <p:cNvSpPr txBox="1"/>
          <p:nvPr/>
        </p:nvSpPr>
        <p:spPr>
          <a:xfrm>
            <a:off x="776186" y="4348501"/>
            <a:ext cx="6696669" cy="369332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tabLst>
                <a:tab pos="457200" algn="l"/>
              </a:tabLst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…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1995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 &amp;&amp;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birth_year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&lt;=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2005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)…</a:t>
            </a:r>
          </a:p>
        </p:txBody>
      </p:sp>
    </p:spTree>
    <p:extLst>
      <p:ext uri="{BB962C8B-B14F-4D97-AF65-F5344CB8AC3E}">
        <p14:creationId xmlns:p14="http://schemas.microsoft.com/office/powerpoint/2010/main" val="2400482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Short-Circuit Evaluation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Unit9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34</a:t>
            </a:fld>
            <a:endParaRPr sz="1200" dirty="0"/>
          </a:p>
        </p:txBody>
      </p:sp>
      <p:sp>
        <p:nvSpPr>
          <p:cNvPr id="49" name="[Rectangle 3]"/>
          <p:cNvSpPr txBox="1">
            <a:spLocks noChangeArrowheads="1"/>
          </p:cNvSpPr>
          <p:nvPr/>
        </p:nvSpPr>
        <p:spPr>
          <a:xfrm>
            <a:off x="352425" y="1248508"/>
            <a:ext cx="8562975" cy="5323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&amp;&amp;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false</a:t>
            </a:r>
            <a:r>
              <a:rPr lang="en-US" kern="0" dirty="0"/>
              <a:t>, skip evaluating expr2 and return false immediately, as the result will always be false.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Example: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  &gt;= 1995)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&amp;&amp;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birth_year</a:t>
            </a:r>
            <a:r>
              <a:rPr lang="en-US" dirty="0">
                <a:sym typeface="Wingdings" panose="05000000000000000000" pitchFamily="2" charset="2"/>
              </a:rPr>
              <a:t> &lt;= 2005)</a:t>
            </a: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kern="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||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true</a:t>
            </a:r>
            <a:r>
              <a:rPr lang="en-US" kern="0" dirty="0"/>
              <a:t>, skip evaluating expr2 and return true immediately, as the result will always be true.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birth_year</a:t>
            </a:r>
            <a:r>
              <a:rPr lang="en-US" dirty="0">
                <a:highlight>
                  <a:srgbClr val="FFFF00"/>
                </a:highlight>
              </a:rPr>
              <a:t> &lt; 1995)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|| </a:t>
            </a:r>
            <a:r>
              <a:rPr lang="en-US" dirty="0"/>
              <a:t>(</a:t>
            </a:r>
            <a:r>
              <a:rPr lang="en-US" dirty="0" err="1"/>
              <a:t>birth_year</a:t>
            </a:r>
            <a:r>
              <a:rPr lang="en-US" dirty="0"/>
              <a:t> &gt; 2005)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Make things faster in some cases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r>
              <a:rPr lang="en-US" dirty="0"/>
              <a:t> &amp;&amp; </a:t>
            </a:r>
            <a:r>
              <a:rPr lang="en-US" dirty="0" err="1"/>
              <a:t>is_prime</a:t>
            </a:r>
            <a:r>
              <a:rPr lang="en-US" dirty="0"/>
              <a:t>(number) VS</a:t>
            </a:r>
          </a:p>
          <a:p>
            <a:pPr marL="274320" lvl="1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dirty="0"/>
              <a:t>                     </a:t>
            </a:r>
            <a:r>
              <a:rPr lang="en-US" dirty="0" err="1"/>
              <a:t>is_prime</a:t>
            </a:r>
            <a:r>
              <a:rPr lang="en-US" dirty="0"/>
              <a:t>(number) &amp;&amp;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4824" y="2919743"/>
            <a:ext cx="8397875" cy="2024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88E3580-7504-D6AC-6C96-048D01FF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98677148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10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Assertion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4C936BDA-375A-5A1D-70DC-537510ABFC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A26F32-962A-3983-9542-EA246E8E9F0F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>
                <a:solidFill>
                  <a:srgbClr val="0000FF"/>
                </a:solidFill>
              </a:rPr>
              <a:t>Unit 10: </a:t>
            </a:r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Assertion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De Morgan's Law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36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5CD2CA-7221-B93E-3038-6FBF2BC4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60227757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37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2794240"/>
          </a:xfrm>
        </p:spPr>
        <p:txBody>
          <a:bodyPr>
            <a:normAutofit lnSpcReduction="10000"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A logical expression that must be always (i.e., regardless of input) true for the program to be correct.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 be written anywhere in the code and checked automatically (e.g., using assert() from </a:t>
            </a:r>
            <a:r>
              <a:rPr lang="en-US" dirty="0" err="1"/>
              <a:t>assert.h</a:t>
            </a:r>
            <a:r>
              <a:rPr lang="en-US" dirty="0"/>
              <a:t>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Useful for ensuring the algorithm is correctly translated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942258" y="3970726"/>
            <a:ext cx="7519833" cy="25545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1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1}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s-ES" sz="2000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2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2}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s-ES" sz="2000" b="1" dirty="0">
              <a:solidFill>
                <a:srgbClr val="0000FF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 //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Code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Step 3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// {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that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dirty="0" err="1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must</a:t>
            </a:r>
            <a:r>
              <a:rPr lang="es-ES" sz="2000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be true after Step 3}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E2491A-7FAA-7A6A-84A4-65F83CF0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22689896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38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Important: Write assertions based on your </a:t>
            </a:r>
            <a:r>
              <a:rPr lang="en-US" dirty="0">
                <a:solidFill>
                  <a:srgbClr val="C00000"/>
                </a:solidFill>
              </a:rPr>
              <a:t>algorithm</a:t>
            </a:r>
            <a:r>
              <a:rPr lang="en-US" dirty="0"/>
              <a:t>, not your </a:t>
            </a:r>
            <a:r>
              <a:rPr lang="en-US" dirty="0">
                <a:solidFill>
                  <a:srgbClr val="C00000"/>
                </a:solidFill>
              </a:rPr>
              <a:t>code</a:t>
            </a:r>
            <a:r>
              <a:rPr lang="en-US" dirty="0"/>
              <a:t>!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1039914" y="2976254"/>
            <a:ext cx="5048680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&gt; y) &amp;&amp; (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&lt;= y</a:t>
            </a:r>
            <a:r>
              <a:rPr lang="en-SG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== y)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9" name="Group 53">
            <a:extLst>
              <a:ext uri="{FF2B5EF4-FFF2-40B4-BE49-F238E27FC236}">
                <a16:creationId xmlns:a16="http://schemas.microsoft.com/office/drawing/2014/main" id="{37416115-CEE5-4CFE-A531-47FECA5A527E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3358933"/>
            <a:ext cx="2411413" cy="1537336"/>
            <a:chOff x="6445623" y="3191438"/>
            <a:chExt cx="2411506" cy="1537425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08836371-BB3C-4342-87C0-77D5EBA6FCC3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11" name="Straight Arrow Connector 33">
              <a:extLst>
                <a:ext uri="{FF2B5EF4-FFF2-40B4-BE49-F238E27FC236}">
                  <a16:creationId xmlns:a16="http://schemas.microsoft.com/office/drawing/2014/main" id="{5375CFEE-B18D-4AF5-A183-92F82A04AB95}"/>
                </a:ext>
              </a:extLst>
            </p:cNvPr>
            <p:cNvCxnSpPr>
              <a:cxnSpLocks noChangeShapeType="1"/>
              <a:endCxn id="10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5" name="Straight Connector 35">
              <a:extLst>
                <a:ext uri="{FF2B5EF4-FFF2-40B4-BE49-F238E27FC236}">
                  <a16:creationId xmlns:a16="http://schemas.microsoft.com/office/drawing/2014/main" id="{73C893A1-DD8E-4E4E-83CC-5A89F4ACC0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7" name="Straight Arrow Connector 36">
              <a:extLst>
                <a:ext uri="{FF2B5EF4-FFF2-40B4-BE49-F238E27FC236}">
                  <a16:creationId xmlns:a16="http://schemas.microsoft.com/office/drawing/2014/main" id="{963E351B-1BA8-47E3-A16D-9B4E0D46A4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BF92340A-905F-46DA-BF56-C9F60F2D7CAA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19" name="TextBox 38">
              <a:extLst>
                <a:ext uri="{FF2B5EF4-FFF2-40B4-BE49-F238E27FC236}">
                  <a16:creationId xmlns:a16="http://schemas.microsoft.com/office/drawing/2014/main" id="{03D1309A-A066-4C86-8100-4C6992A03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20" name="TextBox 39">
              <a:extLst>
                <a:ext uri="{FF2B5EF4-FFF2-40B4-BE49-F238E27FC236}">
                  <a16:creationId xmlns:a16="http://schemas.microsoft.com/office/drawing/2014/main" id="{2CC8D76A-5525-4CC9-B0A0-BFD852C2A1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21" name="Straight Arrow Connector 40">
              <a:extLst>
                <a:ext uri="{FF2B5EF4-FFF2-40B4-BE49-F238E27FC236}">
                  <a16:creationId xmlns:a16="http://schemas.microsoft.com/office/drawing/2014/main" id="{AE62E0C0-4E46-4362-A2F9-068AFC7EF8B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2" name="Straight Connector 41">
              <a:extLst>
                <a:ext uri="{FF2B5EF4-FFF2-40B4-BE49-F238E27FC236}">
                  <a16:creationId xmlns:a16="http://schemas.microsoft.com/office/drawing/2014/main" id="{FD4006F1-C86A-4664-97FF-A2B28453F4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3" name="Straight Arrow Connector 42">
              <a:extLst>
                <a:ext uri="{FF2B5EF4-FFF2-40B4-BE49-F238E27FC236}">
                  <a16:creationId xmlns:a16="http://schemas.microsoft.com/office/drawing/2014/main" id="{429DDC02-367B-4646-8F3E-B1B1574788C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24" name="Straight Connector 43">
              <a:extLst>
                <a:ext uri="{FF2B5EF4-FFF2-40B4-BE49-F238E27FC236}">
                  <a16:creationId xmlns:a16="http://schemas.microsoft.com/office/drawing/2014/main" id="{573B404F-ADCF-4858-B7CA-9FB5E9D857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5" name="Straight Arrow Connector 47">
              <a:extLst>
                <a:ext uri="{FF2B5EF4-FFF2-40B4-BE49-F238E27FC236}">
                  <a16:creationId xmlns:a16="http://schemas.microsoft.com/office/drawing/2014/main" id="{22621656-7BC3-43FB-A4C5-515AB8EA21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6" name="Flowchart: Process 25">
              <a:extLst>
                <a:ext uri="{FF2B5EF4-FFF2-40B4-BE49-F238E27FC236}">
                  <a16:creationId xmlns:a16="http://schemas.microsoft.com/office/drawing/2014/main" id="{D5940203-D294-4EA2-BA43-5CB057899C1D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27" name="Straight Connector 49">
              <a:extLst>
                <a:ext uri="{FF2B5EF4-FFF2-40B4-BE49-F238E27FC236}">
                  <a16:creationId xmlns:a16="http://schemas.microsoft.com/office/drawing/2014/main" id="{F529B452-3C49-4035-BB64-802C226955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8" name="Straight Arrow Connector 51">
              <a:extLst>
                <a:ext uri="{FF2B5EF4-FFF2-40B4-BE49-F238E27FC236}">
                  <a16:creationId xmlns:a16="http://schemas.microsoft.com/office/drawing/2014/main" id="{7E3D8EF6-8416-445A-B46B-1F3F04F0AE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555F53-FD37-B421-4779-62F79C101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959984611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Important: Write assertions based on your </a:t>
            </a:r>
            <a:r>
              <a:rPr lang="en-US" dirty="0">
                <a:solidFill>
                  <a:srgbClr val="C00000"/>
                </a:solidFill>
              </a:rPr>
              <a:t>algorithm</a:t>
            </a:r>
            <a:r>
              <a:rPr lang="en-US" dirty="0"/>
              <a:t>, not your </a:t>
            </a:r>
            <a:r>
              <a:rPr lang="en-US" dirty="0">
                <a:solidFill>
                  <a:srgbClr val="C00000"/>
                </a:solidFill>
              </a:rPr>
              <a:t>code</a:t>
            </a:r>
            <a:r>
              <a:rPr lang="en-US" dirty="0"/>
              <a:t>!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39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1039913" y="2976254"/>
            <a:ext cx="5073891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 &gt; y)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&gt; y) &amp;&amp; (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&lt;= y</a:t>
            </a:r>
            <a:r>
              <a:rPr lang="en-SG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== y)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9A9D89E-ED7E-83C7-66A1-FBF6E2E7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grpSp>
        <p:nvGrpSpPr>
          <p:cNvPr id="3" name="Group 53">
            <a:extLst>
              <a:ext uri="{FF2B5EF4-FFF2-40B4-BE49-F238E27FC236}">
                <a16:creationId xmlns:a16="http://schemas.microsoft.com/office/drawing/2014/main" id="{A4B1E7ED-444E-65CA-6B47-63587A78E8D9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3358933"/>
            <a:ext cx="2411413" cy="1537336"/>
            <a:chOff x="6445623" y="3191438"/>
            <a:chExt cx="2411506" cy="1537425"/>
          </a:xfrm>
        </p:grpSpPr>
        <p:sp>
          <p:nvSpPr>
            <p:cNvPr id="4" name="Flowchart: Decision 3">
              <a:extLst>
                <a:ext uri="{FF2B5EF4-FFF2-40B4-BE49-F238E27FC236}">
                  <a16:creationId xmlns:a16="http://schemas.microsoft.com/office/drawing/2014/main" id="{0FD6E0D9-2FDF-9730-A146-B535D3B4F770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5" name="Straight Arrow Connector 33">
              <a:extLst>
                <a:ext uri="{FF2B5EF4-FFF2-40B4-BE49-F238E27FC236}">
                  <a16:creationId xmlns:a16="http://schemas.microsoft.com/office/drawing/2014/main" id="{CA210FE5-4997-BC8F-A07A-D125CF7FA7FF}"/>
                </a:ext>
              </a:extLst>
            </p:cNvPr>
            <p:cNvCxnSpPr>
              <a:cxnSpLocks noChangeShapeType="1"/>
              <a:endCxn id="4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6" name="Straight Connector 35">
              <a:extLst>
                <a:ext uri="{FF2B5EF4-FFF2-40B4-BE49-F238E27FC236}">
                  <a16:creationId xmlns:a16="http://schemas.microsoft.com/office/drawing/2014/main" id="{44874913-F340-F2C6-C44D-485CD2C749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8" name="Straight Arrow Connector 36">
              <a:extLst>
                <a:ext uri="{FF2B5EF4-FFF2-40B4-BE49-F238E27FC236}">
                  <a16:creationId xmlns:a16="http://schemas.microsoft.com/office/drawing/2014/main" id="{5A307302-CA6E-0A8C-688C-6EC3BBDD52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F667D191-013D-D86B-6E05-C44FE3842916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14" name="TextBox 38">
              <a:extLst>
                <a:ext uri="{FF2B5EF4-FFF2-40B4-BE49-F238E27FC236}">
                  <a16:creationId xmlns:a16="http://schemas.microsoft.com/office/drawing/2014/main" id="{197CE863-6484-DCE1-1425-53AC38FB3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29" name="TextBox 39">
              <a:extLst>
                <a:ext uri="{FF2B5EF4-FFF2-40B4-BE49-F238E27FC236}">
                  <a16:creationId xmlns:a16="http://schemas.microsoft.com/office/drawing/2014/main" id="{93DDCECD-81F2-FDB9-39B0-AC37CD03B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31" name="Straight Arrow Connector 40">
              <a:extLst>
                <a:ext uri="{FF2B5EF4-FFF2-40B4-BE49-F238E27FC236}">
                  <a16:creationId xmlns:a16="http://schemas.microsoft.com/office/drawing/2014/main" id="{9CF90E05-ACCB-6526-436B-BE894E2918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2" name="Straight Connector 41">
              <a:extLst>
                <a:ext uri="{FF2B5EF4-FFF2-40B4-BE49-F238E27FC236}">
                  <a16:creationId xmlns:a16="http://schemas.microsoft.com/office/drawing/2014/main" id="{04173FB7-CD45-7AA3-8DAE-1102C37FA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" name="Straight Arrow Connector 42">
              <a:extLst>
                <a:ext uri="{FF2B5EF4-FFF2-40B4-BE49-F238E27FC236}">
                  <a16:creationId xmlns:a16="http://schemas.microsoft.com/office/drawing/2014/main" id="{3B75B619-FEAC-0EFE-D57F-1C4820A48A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4" name="Straight Connector 43">
              <a:extLst>
                <a:ext uri="{FF2B5EF4-FFF2-40B4-BE49-F238E27FC236}">
                  <a16:creationId xmlns:a16="http://schemas.microsoft.com/office/drawing/2014/main" id="{D9BF39EB-0508-0EF1-5264-0B104F2206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Arrow Connector 47">
              <a:extLst>
                <a:ext uri="{FF2B5EF4-FFF2-40B4-BE49-F238E27FC236}">
                  <a16:creationId xmlns:a16="http://schemas.microsoft.com/office/drawing/2014/main" id="{4BAFF74A-81C2-3855-FE34-0D6B09231E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72F53E7B-BFA5-512C-3E6E-052EE1527BD0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7" name="Straight Connector 49">
              <a:extLst>
                <a:ext uri="{FF2B5EF4-FFF2-40B4-BE49-F238E27FC236}">
                  <a16:creationId xmlns:a16="http://schemas.microsoft.com/office/drawing/2014/main" id="{611A1807-EE83-CD39-F8D4-E0953D6528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Arrow Connector 51">
              <a:extLst>
                <a:ext uri="{FF2B5EF4-FFF2-40B4-BE49-F238E27FC236}">
                  <a16:creationId xmlns:a16="http://schemas.microsoft.com/office/drawing/2014/main" id="{565A25FF-B4F3-2E7F-88DA-E8F294D02F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4088633470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Print a letter grade based on a score</a:t>
            </a: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10" y="1726566"/>
            <a:ext cx="6984000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&gt;=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&lt;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8) &amp;&amp; (score &gt;= 5)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5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5) &amp;&amp; (score &gt;= 3)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3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735B7-962E-09AB-FB08-D6760B24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86031-1B1D-6DCB-FF72-0F2619652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109" y="4759692"/>
            <a:ext cx="4075999" cy="18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0163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C70A47A0-816F-405E-B986-DCD3BF78F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Problem: Print a letter grade based on a score</a:t>
            </a:r>
            <a:endParaRPr lang="en-US" sz="32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Example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41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096CE0-F283-4186-90FF-7C54FF151885}"/>
              </a:ext>
            </a:extLst>
          </p:cNvPr>
          <p:cNvSpPr txBox="1"/>
          <p:nvPr/>
        </p:nvSpPr>
        <p:spPr>
          <a:xfrm>
            <a:off x="815509" y="1726566"/>
            <a:ext cx="6988578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&gt;=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score &lt; 8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8) &amp;&amp; (score &gt;= 5)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5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(score &gt;= </a:t>
            </a:r>
            <a:r>
              <a:rPr lang="es-E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(score &lt; 5) &amp;&amp; (score &gt;= 3)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s-E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</a:t>
            </a: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score &lt; 3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CC06E-60FF-5F80-94B9-CF4328B10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481A7-C55F-2D72-2BE3-602566F39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109" y="4759692"/>
            <a:ext cx="4075999" cy="18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94307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De Morgan's Law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sz="1200" dirty="0"/>
              <a:t> - </a:t>
            </a:r>
            <a:fld id="{F7EC234A-9094-4BB8-9EA4-75ECDA8A365B}" type="slidenum">
              <a:rPr sz="1200" smtClean="0"/>
              <a:pPr>
                <a:defRPr/>
              </a:pPr>
              <a:t>42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279424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&amp;&amp;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||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||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&amp;&amp;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Help to quickly write the assertion for false block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45AA11-5681-47FB-AA94-C76223DE9352}"/>
              </a:ext>
            </a:extLst>
          </p:cNvPr>
          <p:cNvSpPr txBox="1"/>
          <p:nvPr/>
        </p:nvSpPr>
        <p:spPr>
          <a:xfrm>
            <a:off x="973949" y="2997774"/>
            <a:ext cx="6526445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  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82F03C-3D9A-47CF-8FA6-851312B9155C}"/>
              </a:ext>
            </a:extLst>
          </p:cNvPr>
          <p:cNvSpPr txBox="1"/>
          <p:nvPr/>
        </p:nvSpPr>
        <p:spPr>
          <a:xfrm>
            <a:off x="973947" y="515265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C2A383-CC54-46C5-88B7-8AA206CA370C}"/>
              </a:ext>
            </a:extLst>
          </p:cNvPr>
          <p:cNvSpPr txBox="1"/>
          <p:nvPr/>
        </p:nvSpPr>
        <p:spPr>
          <a:xfrm>
            <a:off x="973947" y="594491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05DE2A-8801-EAF6-A362-6A79DD22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EB29D67A-E1FB-B8A1-FFED-05798E6A90A4}"/>
              </a:ext>
            </a:extLst>
          </p:cNvPr>
          <p:cNvSpPr/>
          <p:nvPr/>
        </p:nvSpPr>
        <p:spPr>
          <a:xfrm>
            <a:off x="4028792" y="4734962"/>
            <a:ext cx="208230" cy="4176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28C1099F-1121-70FE-4A9C-B34BE7EF3CFA}"/>
              </a:ext>
            </a:extLst>
          </p:cNvPr>
          <p:cNvSpPr/>
          <p:nvPr/>
        </p:nvSpPr>
        <p:spPr>
          <a:xfrm>
            <a:off x="4028792" y="5780795"/>
            <a:ext cx="208230" cy="1823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360410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01C2-0F58-0112-DFB2-B5954A043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D1A8138-87C2-A6EE-4E42-495214EB3B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72B9F4C-050C-0420-A447-3C9FAF4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43</a:t>
            </a:fld>
            <a:endParaRPr dirty="0"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83BCC7D4-DC09-668D-163E-53A5F352B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E8234953-2A54-F851-564E-CB9505AA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11FE8A1E-D5F0-27BC-233F-FE729054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4: 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  <a:r>
              <a:rPr lang="en-US" sz="2000" dirty="0"/>
              <a:t> (extended due to PE0)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8/9/10 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Due </a:t>
            </a:r>
            <a:r>
              <a:rPr lang="en-US" sz="2000" dirty="0">
                <a:solidFill>
                  <a:srgbClr val="0000FF"/>
                </a:solidFill>
              </a:rPr>
              <a:t>13 Feb, 2pm </a:t>
            </a:r>
            <a:r>
              <a:rPr lang="en-US" sz="2000" dirty="0"/>
              <a:t>(extended due to PE0)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1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77B992-3DC2-2F08-F0C4-692311AE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19470482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dirty="0"/>
              <a:t>Unit10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44</a:t>
            </a:fld>
            <a:endParaRPr dirty="0"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PE0 preparation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PE login procedure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Past year questions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1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Survey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Timing for makeup lecture in Week 6: due </a:t>
            </a:r>
            <a:r>
              <a:rPr lang="en-US" sz="2000" dirty="0">
                <a:solidFill>
                  <a:srgbClr val="0000FF"/>
                </a:solidFill>
              </a:rPr>
              <a:t>13 Feb, 2pm</a:t>
            </a: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1B70FD-CEB1-90E7-7889-01A5A1BBC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18738</TotalTime>
  <Words>3585</Words>
  <Application>Microsoft Office PowerPoint</Application>
  <PresentationFormat>On-screen Show (4:3)</PresentationFormat>
  <Paragraphs>924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Courier</vt:lpstr>
      <vt:lpstr>Courier New</vt:lpstr>
      <vt:lpstr>Arial</vt:lpstr>
      <vt:lpstr>Calibri</vt:lpstr>
      <vt:lpstr>Garamond</vt:lpstr>
      <vt:lpstr>Wingdings</vt:lpstr>
      <vt:lpstr>Times New Roman</vt:lpstr>
      <vt:lpstr>Clarity</vt:lpstr>
      <vt:lpstr>PowerPoint Presentation</vt:lpstr>
      <vt:lpstr>Unit 8: Conditional Statements</vt:lpstr>
      <vt:lpstr>Sequential Control Flow</vt:lpstr>
      <vt:lpstr>Control Structures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Non-Sequential Control Flow (Selection)</vt:lpstr>
      <vt:lpstr>if-else Statements</vt:lpstr>
      <vt:lpstr>if-else Statements</vt:lpstr>
      <vt:lpstr>if-else Statements</vt:lpstr>
      <vt:lpstr>Skipping else</vt:lpstr>
      <vt:lpstr>Pop Quiz</vt:lpstr>
      <vt:lpstr>Pop Quiz</vt:lpstr>
      <vt:lpstr>Conditional Operators</vt:lpstr>
      <vt:lpstr>More than 2 possibilities?</vt:lpstr>
      <vt:lpstr>More than 2 possibilities?</vt:lpstr>
      <vt:lpstr>Nested if-else Statements </vt:lpstr>
      <vt:lpstr>More than 2 possibilities?</vt:lpstr>
      <vt:lpstr>if-(else-if-)else… Statements </vt:lpstr>
      <vt:lpstr>Exercise: CS1010 Activity</vt:lpstr>
      <vt:lpstr>Exercise: CS1010 Activity</vt:lpstr>
      <vt:lpstr>Exercise: CS1010 Activity</vt:lpstr>
      <vt:lpstr>Exercise: CS1010 Activity</vt:lpstr>
      <vt:lpstr>PowerPoint Presentation</vt:lpstr>
      <vt:lpstr>Unit 9: Logical Expressions</vt:lpstr>
      <vt:lpstr>Boolean Values</vt:lpstr>
      <vt:lpstr>Boolean Values</vt:lpstr>
      <vt:lpstr>Boolean Values</vt:lpstr>
      <vt:lpstr>Logical Operators</vt:lpstr>
      <vt:lpstr>Common Mistake</vt:lpstr>
      <vt:lpstr>Short-Circuit Evaluation</vt:lpstr>
      <vt:lpstr>PowerPoint Presentation</vt:lpstr>
      <vt:lpstr>Unit 10: Assertion</vt:lpstr>
      <vt:lpstr>Assertion</vt:lpstr>
      <vt:lpstr>Example 1</vt:lpstr>
      <vt:lpstr>Example 1</vt:lpstr>
      <vt:lpstr>Example 2</vt:lpstr>
      <vt:lpstr>Example 2</vt:lpstr>
      <vt:lpstr>De Morgan's Law</vt:lpstr>
      <vt:lpstr>Homework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1542</cp:revision>
  <cp:lastPrinted>2014-06-20T04:24:53Z</cp:lastPrinted>
  <dcterms:created xsi:type="dcterms:W3CDTF">1998-09-05T15:03:32Z</dcterms:created>
  <dcterms:modified xsi:type="dcterms:W3CDTF">2026-02-10T01:27:22Z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