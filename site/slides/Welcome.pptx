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9"/>
  </p:notesMasterIdLst>
  <p:handoutMasterIdLst>
    <p:handoutMasterId r:id="rId20"/>
  </p:handoutMasterIdLst>
  <p:sldIdLst>
    <p:sldId id="256" r:id="rId2"/>
    <p:sldId id="519" r:id="rId3"/>
    <p:sldId id="520" r:id="rId4"/>
    <p:sldId id="531" r:id="rId5"/>
    <p:sldId id="474" r:id="rId6"/>
    <p:sldId id="533" r:id="rId7"/>
    <p:sldId id="522" r:id="rId8"/>
    <p:sldId id="534" r:id="rId9"/>
    <p:sldId id="523" r:id="rId10"/>
    <p:sldId id="528" r:id="rId11"/>
    <p:sldId id="526" r:id="rId12"/>
    <p:sldId id="527" r:id="rId13"/>
    <p:sldId id="529" r:id="rId14"/>
    <p:sldId id="530" r:id="rId15"/>
    <p:sldId id="471" r:id="rId16"/>
    <p:sldId id="525" r:id="rId17"/>
    <p:sldId id="511" r:id="rId1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4B400"/>
    <a:srgbClr val="FFFFFF"/>
    <a:srgbClr val="DDDDFF"/>
    <a:srgbClr val="CCCCFF"/>
    <a:srgbClr val="003399"/>
    <a:srgbClr val="000099"/>
    <a:srgbClr val="FFCC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D86C2D-31D6-4131-B091-50BA658A81EB}" v="78" dt="2026-01-13T01:05:24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9" autoAdjust="0"/>
    <p:restoredTop sz="84490" autoAdjust="0"/>
  </p:normalViewPr>
  <p:slideViewPr>
    <p:cSldViewPr snapToGrid="0">
      <p:cViewPr>
        <p:scale>
          <a:sx n="75" d="100"/>
          <a:sy n="75" d="100"/>
        </p:scale>
        <p:origin x="1932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40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redo custSel addSld delSld modSld">
      <pc:chgData name="Zhao Jin" userId="cd05a825-544c-438a-9ba1-08e63db50b47" providerId="ADAL" clId="{5DF3A229-1965-414E-AF54-F4C37AC7DF68}" dt="2026-01-13T01:05:30.255" v="1465"/>
      <pc:docMkLst>
        <pc:docMk/>
      </pc:docMkLst>
      <pc:sldChg chg="addSp delSp modSp mod">
        <pc:chgData name="Zhao Jin" userId="cd05a825-544c-438a-9ba1-08e63db50b47" providerId="ADAL" clId="{5DF3A229-1965-414E-AF54-F4C37AC7DF68}" dt="2026-01-02T07:06:41.971" v="1161" actId="20577"/>
        <pc:sldMkLst>
          <pc:docMk/>
          <pc:sldMk cId="3113268795" sldId="471"/>
        </pc:sldMkLst>
        <pc:spChg chg="mod">
          <ac:chgData name="Zhao Jin" userId="cd05a825-544c-438a-9ba1-08e63db50b47" providerId="ADAL" clId="{5DF3A229-1965-414E-AF54-F4C37AC7DF68}" dt="2026-01-02T07:06:41.971" v="1161" actId="20577"/>
          <ac:spMkLst>
            <pc:docMk/>
            <pc:sldMk cId="3113268795" sldId="471"/>
            <ac:spMk id="1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02T07:04:54.528" v="1147" actId="3626"/>
          <ac:spMkLst>
            <pc:docMk/>
            <pc:sldMk cId="3113268795" sldId="471"/>
            <ac:spMk id="14" creationId="{00000000-0000-0000-0000-000000000000}"/>
          </ac:spMkLst>
        </pc:spChg>
        <pc:picChg chg="add mod">
          <ac:chgData name="Zhao Jin" userId="cd05a825-544c-438a-9ba1-08e63db50b47" providerId="ADAL" clId="{5DF3A229-1965-414E-AF54-F4C37AC7DF68}" dt="2026-01-02T07:06:02.449" v="1155" actId="1076"/>
          <ac:picMkLst>
            <pc:docMk/>
            <pc:sldMk cId="3113268795" sldId="471"/>
            <ac:picMk id="6" creationId="{4B287B2D-B395-F399-672C-E929D22A1D6C}"/>
          </ac:picMkLst>
        </pc:picChg>
      </pc:sldChg>
      <pc:sldChg chg="addSp delSp modSp mod delAnim">
        <pc:chgData name="Zhao Jin" userId="cd05a825-544c-438a-9ba1-08e63db50b47" providerId="ADAL" clId="{5DF3A229-1965-414E-AF54-F4C37AC7DF68}" dt="2026-01-13T00:59:31.014" v="1178" actId="20577"/>
        <pc:sldMkLst>
          <pc:docMk/>
          <pc:sldMk cId="259430249" sldId="519"/>
        </pc:sldMkLst>
        <pc:spChg chg="mod">
          <ac:chgData name="Zhao Jin" userId="cd05a825-544c-438a-9ba1-08e63db50b47" providerId="ADAL" clId="{5DF3A229-1965-414E-AF54-F4C37AC7DF68}" dt="2026-01-13T00:59:31.014" v="1178" actId="20577"/>
          <ac:spMkLst>
            <pc:docMk/>
            <pc:sldMk cId="259430249" sldId="519"/>
            <ac:spMk id="3" creationId="{3E05A76C-4672-80DA-ABC0-922BAAB9CACF}"/>
          </ac:spMkLst>
        </pc:spChg>
        <pc:picChg chg="del">
          <ac:chgData name="Zhao Jin" userId="cd05a825-544c-438a-9ba1-08e63db50b47" providerId="ADAL" clId="{5DF3A229-1965-414E-AF54-F4C37AC7DF68}" dt="2026-01-13T00:58:36.379" v="1165" actId="478"/>
          <ac:picMkLst>
            <pc:docMk/>
            <pc:sldMk cId="259430249" sldId="519"/>
            <ac:picMk id="4" creationId="{45751118-3882-843A-624E-3491504FFE02}"/>
          </ac:picMkLst>
        </pc:picChg>
        <pc:picChg chg="add del mod">
          <ac:chgData name="Zhao Jin" userId="cd05a825-544c-438a-9ba1-08e63db50b47" providerId="ADAL" clId="{5DF3A229-1965-414E-AF54-F4C37AC7DF68}" dt="2026-01-13T00:58:49.651" v="1170" actId="22"/>
          <ac:picMkLst>
            <pc:docMk/>
            <pc:sldMk cId="259430249" sldId="519"/>
            <ac:picMk id="5" creationId="{2439F6B3-C809-C31E-11A4-B3164A0362BF}"/>
          </ac:picMkLst>
        </pc:picChg>
        <pc:picChg chg="del">
          <ac:chgData name="Zhao Jin" userId="cd05a825-544c-438a-9ba1-08e63db50b47" providerId="ADAL" clId="{5DF3A229-1965-414E-AF54-F4C37AC7DF68}" dt="2026-01-13T00:58:37.312" v="1166" actId="478"/>
          <ac:picMkLst>
            <pc:docMk/>
            <pc:sldMk cId="259430249" sldId="519"/>
            <ac:picMk id="9" creationId="{8768CD25-BC98-5199-E758-131D23F61F95}"/>
          </ac:picMkLst>
        </pc:picChg>
        <pc:picChg chg="add mod">
          <ac:chgData name="Zhao Jin" userId="cd05a825-544c-438a-9ba1-08e63db50b47" providerId="ADAL" clId="{5DF3A229-1965-414E-AF54-F4C37AC7DF68}" dt="2026-01-13T00:59:17.110" v="1174" actId="1076"/>
          <ac:picMkLst>
            <pc:docMk/>
            <pc:sldMk cId="259430249" sldId="519"/>
            <ac:picMk id="10" creationId="{596508E7-5C81-377F-FE1B-1315810AA9CD}"/>
          </ac:picMkLst>
        </pc:picChg>
      </pc:sldChg>
      <pc:sldChg chg="addSp delSp modSp mod">
        <pc:chgData name="Zhao Jin" userId="cd05a825-544c-438a-9ba1-08e63db50b47" providerId="ADAL" clId="{5DF3A229-1965-414E-AF54-F4C37AC7DF68}" dt="2026-01-13T01:01:52.294" v="1301" actId="20577"/>
        <pc:sldMkLst>
          <pc:docMk/>
          <pc:sldMk cId="349641207" sldId="520"/>
        </pc:sldMkLst>
        <pc:spChg chg="mod">
          <ac:chgData name="Zhao Jin" userId="cd05a825-544c-438a-9ba1-08e63db50b47" providerId="ADAL" clId="{5DF3A229-1965-414E-AF54-F4C37AC7DF68}" dt="2026-01-13T01:01:52.294" v="1301" actId="20577"/>
          <ac:spMkLst>
            <pc:docMk/>
            <pc:sldMk cId="349641207" sldId="520"/>
            <ac:spMk id="3" creationId="{B862F4FF-AC35-7071-1A71-2DA14C067897}"/>
          </ac:spMkLst>
        </pc:spChg>
        <pc:picChg chg="add mod">
          <ac:chgData name="Zhao Jin" userId="cd05a825-544c-438a-9ba1-08e63db50b47" providerId="ADAL" clId="{5DF3A229-1965-414E-AF54-F4C37AC7DF68}" dt="2026-01-02T06:30:37.603" v="5"/>
          <ac:picMkLst>
            <pc:docMk/>
            <pc:sldMk cId="349641207" sldId="520"/>
            <ac:picMk id="2" creationId="{F1DBF31D-5C18-1112-82B5-8683FC585A83}"/>
          </ac:picMkLst>
        </pc:picChg>
        <pc:picChg chg="add mod">
          <ac:chgData name="Zhao Jin" userId="cd05a825-544c-438a-9ba1-08e63db50b47" providerId="ADAL" clId="{5DF3A229-1965-414E-AF54-F4C37AC7DF68}" dt="2026-01-02T06:30:37.603" v="5"/>
          <ac:picMkLst>
            <pc:docMk/>
            <pc:sldMk cId="349641207" sldId="520"/>
            <ac:picMk id="5" creationId="{4D2A2C0E-ACF6-42BD-03BE-F706F9587403}"/>
          </ac:picMkLst>
        </pc:picChg>
        <pc:picChg chg="add mod">
          <ac:chgData name="Zhao Jin" userId="cd05a825-544c-438a-9ba1-08e63db50b47" providerId="ADAL" clId="{5DF3A229-1965-414E-AF54-F4C37AC7DF68}" dt="2026-01-02T06:30:37.603" v="5"/>
          <ac:picMkLst>
            <pc:docMk/>
            <pc:sldMk cId="349641207" sldId="520"/>
            <ac:picMk id="7" creationId="{3BBFE2C9-C8E9-D3D1-0D51-7F203AF7A7D4}"/>
          </ac:picMkLst>
        </pc:picChg>
      </pc:sldChg>
      <pc:sldChg chg="modSp mod">
        <pc:chgData name="Zhao Jin" userId="cd05a825-544c-438a-9ba1-08e63db50b47" providerId="ADAL" clId="{5DF3A229-1965-414E-AF54-F4C37AC7DF68}" dt="2026-01-13T01:03:44.095" v="1463" actId="20577"/>
        <pc:sldMkLst>
          <pc:docMk/>
          <pc:sldMk cId="2333097866" sldId="522"/>
        </pc:sldMkLst>
        <pc:spChg chg="mod">
          <ac:chgData name="Zhao Jin" userId="cd05a825-544c-438a-9ba1-08e63db50b47" providerId="ADAL" clId="{5DF3A229-1965-414E-AF54-F4C37AC7DF68}" dt="2026-01-13T01:03:44.095" v="1463" actId="20577"/>
          <ac:spMkLst>
            <pc:docMk/>
            <pc:sldMk cId="2333097866" sldId="522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02T06:39:38.650" v="518" actId="20577"/>
          <ac:spMkLst>
            <pc:docMk/>
            <pc:sldMk cId="2333097866" sldId="522"/>
            <ac:spMk id="25602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02T07:02:20.606" v="1094" actId="20577"/>
        <pc:sldMkLst>
          <pc:docMk/>
          <pc:sldMk cId="3147850509" sldId="523"/>
        </pc:sldMkLst>
        <pc:spChg chg="mod">
          <ac:chgData name="Zhao Jin" userId="cd05a825-544c-438a-9ba1-08e63db50b47" providerId="ADAL" clId="{5DF3A229-1965-414E-AF54-F4C37AC7DF68}" dt="2026-01-02T07:02:17.104" v="1090" actId="1036"/>
          <ac:spMkLst>
            <pc:docMk/>
            <pc:sldMk cId="3147850509" sldId="523"/>
            <ac:spMk id="1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02T07:02:20.606" v="1094" actId="20577"/>
          <ac:spMkLst>
            <pc:docMk/>
            <pc:sldMk cId="3147850509" sldId="523"/>
            <ac:spMk id="13" creationId="{00000000-0000-0000-0000-000000000000}"/>
          </ac:spMkLst>
        </pc:spChg>
        <pc:picChg chg="mod">
          <ac:chgData name="Zhao Jin" userId="cd05a825-544c-438a-9ba1-08e63db50b47" providerId="ADAL" clId="{5DF3A229-1965-414E-AF54-F4C37AC7DF68}" dt="2026-01-02T07:02:17.104" v="1090" actId="1036"/>
          <ac:picMkLst>
            <pc:docMk/>
            <pc:sldMk cId="3147850509" sldId="523"/>
            <ac:picMk id="10" creationId="{00000000-0000-0000-0000-000000000000}"/>
          </ac:picMkLst>
        </pc:picChg>
      </pc:sldChg>
      <pc:sldChg chg="modSp mod">
        <pc:chgData name="Zhao Jin" userId="cd05a825-544c-438a-9ba1-08e63db50b47" providerId="ADAL" clId="{5DF3A229-1965-414E-AF54-F4C37AC7DF68}" dt="2026-01-02T07:07:30.442" v="1164"/>
        <pc:sldMkLst>
          <pc:docMk/>
          <pc:sldMk cId="4194442387" sldId="525"/>
        </pc:sldMkLst>
        <pc:spChg chg="mod">
          <ac:chgData name="Zhao Jin" userId="cd05a825-544c-438a-9ba1-08e63db50b47" providerId="ADAL" clId="{5DF3A229-1965-414E-AF54-F4C37AC7DF68}" dt="2026-01-02T07:07:30.442" v="1164"/>
          <ac:spMkLst>
            <pc:docMk/>
            <pc:sldMk cId="4194442387" sldId="525"/>
            <ac:spMk id="13" creationId="{00000000-0000-0000-0000-000000000000}"/>
          </ac:spMkLst>
        </pc:spChg>
      </pc:sldChg>
      <pc:sldChg chg="modSp mod modAnim">
        <pc:chgData name="Zhao Jin" userId="cd05a825-544c-438a-9ba1-08e63db50b47" providerId="ADAL" clId="{5DF3A229-1965-414E-AF54-F4C37AC7DF68}" dt="2026-01-02T07:04:13.956" v="1144" actId="404"/>
        <pc:sldMkLst>
          <pc:docMk/>
          <pc:sldMk cId="3526465525" sldId="526"/>
        </pc:sldMkLst>
        <pc:spChg chg="mod">
          <ac:chgData name="Zhao Jin" userId="cd05a825-544c-438a-9ba1-08e63db50b47" providerId="ADAL" clId="{5DF3A229-1965-414E-AF54-F4C37AC7DF68}" dt="2026-01-02T07:04:13.956" v="1144" actId="404"/>
          <ac:spMkLst>
            <pc:docMk/>
            <pc:sldMk cId="3526465525" sldId="526"/>
            <ac:spMk id="13" creationId="{00000000-0000-0000-0000-000000000000}"/>
          </ac:spMkLst>
        </pc:spChg>
      </pc:sldChg>
      <pc:sldChg chg="addAnim delAnim modAnim">
        <pc:chgData name="Zhao Jin" userId="cd05a825-544c-438a-9ba1-08e63db50b47" providerId="ADAL" clId="{5DF3A229-1965-414E-AF54-F4C37AC7DF68}" dt="2026-01-13T01:05:30.255" v="1465"/>
        <pc:sldMkLst>
          <pc:docMk/>
          <pc:sldMk cId="1648844594" sldId="529"/>
        </pc:sldMkLst>
      </pc:sldChg>
      <pc:sldChg chg="addSp delSp modSp mod">
        <pc:chgData name="Zhao Jin" userId="cd05a825-544c-438a-9ba1-08e63db50b47" providerId="ADAL" clId="{5DF3A229-1965-414E-AF54-F4C37AC7DF68}" dt="2026-01-02T06:35:04.314" v="82" actId="1076"/>
        <pc:sldMkLst>
          <pc:docMk/>
          <pc:sldMk cId="1520950699" sldId="531"/>
        </pc:sldMkLst>
        <pc:spChg chg="mod">
          <ac:chgData name="Zhao Jin" userId="cd05a825-544c-438a-9ba1-08e63db50b47" providerId="ADAL" clId="{5DF3A229-1965-414E-AF54-F4C37AC7DF68}" dt="2026-01-02T06:34:46.631" v="77" actId="20577"/>
          <ac:spMkLst>
            <pc:docMk/>
            <pc:sldMk cId="1520950699" sldId="531"/>
            <ac:spMk id="2" creationId="{14ED3CA2-4CDD-AAB7-7252-FF35DE57F582}"/>
          </ac:spMkLst>
        </pc:spChg>
        <pc:picChg chg="add mod">
          <ac:chgData name="Zhao Jin" userId="cd05a825-544c-438a-9ba1-08e63db50b47" providerId="ADAL" clId="{5DF3A229-1965-414E-AF54-F4C37AC7DF68}" dt="2026-01-02T06:34:44.633" v="75" actId="1076"/>
          <ac:picMkLst>
            <pc:docMk/>
            <pc:sldMk cId="1520950699" sldId="531"/>
            <ac:picMk id="7" creationId="{2D09F5A1-7184-E427-01D2-511AC42C27BF}"/>
          </ac:picMkLst>
        </pc:picChg>
        <pc:picChg chg="add mod">
          <ac:chgData name="Zhao Jin" userId="cd05a825-544c-438a-9ba1-08e63db50b47" providerId="ADAL" clId="{5DF3A229-1965-414E-AF54-F4C37AC7DF68}" dt="2026-01-02T06:34:49.863" v="78" actId="1076"/>
          <ac:picMkLst>
            <pc:docMk/>
            <pc:sldMk cId="1520950699" sldId="531"/>
            <ac:picMk id="10" creationId="{DEF2D830-3940-58FD-3F98-A149768AC257}"/>
          </ac:picMkLst>
        </pc:picChg>
        <pc:picChg chg="add mod">
          <ac:chgData name="Zhao Jin" userId="cd05a825-544c-438a-9ba1-08e63db50b47" providerId="ADAL" clId="{5DF3A229-1965-414E-AF54-F4C37AC7DF68}" dt="2026-01-02T06:35:04.314" v="82" actId="1076"/>
          <ac:picMkLst>
            <pc:docMk/>
            <pc:sldMk cId="1520950699" sldId="531"/>
            <ac:picMk id="14" creationId="{86984651-DB26-E4E5-68AC-E9743E57F2FC}"/>
          </ac:picMkLst>
        </pc:picChg>
      </pc:sldChg>
      <pc:sldChg chg="modSp add mod">
        <pc:chgData name="Zhao Jin" userId="cd05a825-544c-438a-9ba1-08e63db50b47" providerId="ADAL" clId="{5DF3A229-1965-414E-AF54-F4C37AC7DF68}" dt="2026-01-02T06:54:48.990" v="942" actId="20577"/>
        <pc:sldMkLst>
          <pc:docMk/>
          <pc:sldMk cId="2549352600" sldId="534"/>
        </pc:sldMkLst>
        <pc:spChg chg="mod">
          <ac:chgData name="Zhao Jin" userId="cd05a825-544c-438a-9ba1-08e63db50b47" providerId="ADAL" clId="{5DF3A229-1965-414E-AF54-F4C37AC7DF68}" dt="2026-01-02T06:54:48.990" v="942" actId="20577"/>
          <ac:spMkLst>
            <pc:docMk/>
            <pc:sldMk cId="2549352600" sldId="534"/>
            <ac:spMk id="13" creationId="{63FCD4B0-FB43-8BAE-5E05-D0F45961E122}"/>
          </ac:spMkLst>
        </pc:spChg>
        <pc:spChg chg="mod">
          <ac:chgData name="Zhao Jin" userId="cd05a825-544c-438a-9ba1-08e63db50b47" providerId="ADAL" clId="{5DF3A229-1965-414E-AF54-F4C37AC7DF68}" dt="2026-01-02T06:53:44.684" v="924"/>
          <ac:spMkLst>
            <pc:docMk/>
            <pc:sldMk cId="2549352600" sldId="534"/>
            <ac:spMk id="25602" creationId="{CBD253A1-7C71-0D5F-EBF1-9380300CFE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CS1010: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705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167" y="4414043"/>
            <a:ext cx="5138067" cy="4185089"/>
          </a:xfrm>
          <a:prstGeom prst="rect">
            <a:avLst/>
          </a:prstGeom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69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167" y="4414043"/>
            <a:ext cx="5138067" cy="4185089"/>
          </a:xfrm>
          <a:prstGeom prst="rect">
            <a:avLst/>
          </a:prstGeom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08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167" y="4414043"/>
            <a:ext cx="5138067" cy="4185089"/>
          </a:xfrm>
          <a:prstGeom prst="rect">
            <a:avLst/>
          </a:prstGeom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92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21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2B16-8DD7-B434-34B5-14FE3023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431259D-5E3B-4065-EB2C-3EFC51CC47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DB2645C-49B2-6117-9334-704951B110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7967100-FB44-BD81-FAB8-6C2C861C6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155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1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1651-4B36-EDB1-7B19-E694B422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0A8BABC-E73D-9708-F3FE-65AB0E534C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DB92ADE-3FCB-E0D4-9576-C2E2A724F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D93CE0B-B306-6FA9-5305-31EBDAA06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59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2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42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333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59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58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420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42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4298" indent="-224298" eaLnBrk="1" hangingPunct="1">
              <a:buFont typeface="Calibri" pitchFamily="34" charset="0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33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CS1010: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0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221996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Welcome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zhaojin@comp.nus.edu.s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s-cs1010-2526-s2.github.io/websit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nus.edu.sg/courses/8527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edstem.org/us/courses/90227/discussio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Welcome and Administrative Matters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186BE449-A958-7217-77AD-1028E788C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32424-50CE-DB54-F2CD-601CC0EA0385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D01810E-B160-9358-BFD8-53EB0C4386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5A76C-4672-80DA-ABC0-922BAAB9CACF}"/>
              </a:ext>
            </a:extLst>
          </p:cNvPr>
          <p:cNvSpPr txBox="1"/>
          <p:nvPr/>
        </p:nvSpPr>
        <p:spPr>
          <a:xfrm>
            <a:off x="3308683" y="4287747"/>
            <a:ext cx="5411174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#include "cs1010.h"</a:t>
            </a:r>
          </a:p>
          <a:p>
            <a:pPr>
              <a:defRPr/>
            </a:pP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main(void)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Welcome!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8F1BA6-5372-E098-3DAB-034277901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7021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Welcome to CS1010!</a:t>
            </a:r>
            <a:endParaRPr lang="en-GB" dirty="0">
              <a:solidFill>
                <a:srgbClr val="0000FF"/>
              </a:solidFill>
            </a:endParaRPr>
          </a:p>
        </p:txBody>
      </p:sp>
      <p:pic>
        <p:nvPicPr>
          <p:cNvPr id="21" name="Picture 20" descr="A close up of text&#10;&#10;Description automatically generated">
            <a:extLst>
              <a:ext uri="{FF2B5EF4-FFF2-40B4-BE49-F238E27FC236}">
                <a16:creationId xmlns:a16="http://schemas.microsoft.com/office/drawing/2014/main" id="{FE7582DF-546B-D1BF-75E1-48C221050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36" y="1187910"/>
            <a:ext cx="5311112" cy="2984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6508E7-5C81-377F-FE1B-1315810AA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385" y="6071808"/>
            <a:ext cx="279121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0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021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Lecturer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946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862F4FF-AC35-7071-1A71-2DA14C067897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409282"/>
            <a:ext cx="5810809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</a:pPr>
            <a:r>
              <a:rPr lang="en-US" altLang="en-US" dirty="0">
                <a:latin typeface="+mj-lt"/>
                <a:cs typeface="Arial" panose="020B0604020202020204" pitchFamily="34" charset="0"/>
              </a:rPr>
              <a:t>Zhao </a:t>
            </a:r>
            <a:r>
              <a:rPr lang="en-US" altLang="en-US" dirty="0" err="1">
                <a:latin typeface="+mj-lt"/>
                <a:cs typeface="Arial" panose="020B0604020202020204" pitchFamily="34" charset="0"/>
              </a:rPr>
              <a:t>Jin</a:t>
            </a:r>
            <a:r>
              <a:rPr lang="en-US" altLang="en-US" dirty="0">
                <a:latin typeface="+mj-lt"/>
                <a:cs typeface="Arial" panose="020B0604020202020204" pitchFamily="34" charset="0"/>
              </a:rPr>
              <a:t>  </a:t>
            </a:r>
            <a:r>
              <a:rPr lang="en-US" altLang="en-US" sz="2000" dirty="0">
                <a:latin typeface="+mj-lt"/>
                <a:cs typeface="Arial" panose="020B0604020202020204" pitchFamily="34" charset="0"/>
                <a:hlinkClick r:id="rId3"/>
              </a:rPr>
              <a:t>zhaojin@comp.nus.edu.sg</a:t>
            </a:r>
            <a:endParaRPr lang="en-US" altLang="en-US" sz="2000" dirty="0">
              <a:latin typeface="+mj-lt"/>
              <a:cs typeface="Arial" panose="020B0604020202020204" pitchFamily="34" charset="0"/>
            </a:endParaRP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ja-JP" dirty="0">
                <a:latin typeface="+mj-lt"/>
                <a:cs typeface="Arial" panose="020B0604020202020204" pitchFamily="34" charset="0"/>
              </a:rPr>
              <a:t>(Just call me “</a:t>
            </a:r>
            <a:r>
              <a:rPr lang="en-US" altLang="ja-JP" sz="2800" b="1" dirty="0" err="1">
                <a:latin typeface="+mj-lt"/>
                <a:cs typeface="Arial" panose="020B0604020202020204" pitchFamily="34" charset="0"/>
              </a:rPr>
              <a:t>Jin</a:t>
            </a:r>
            <a:r>
              <a:rPr lang="en-US" altLang="ja-JP" dirty="0">
                <a:latin typeface="+mj-lt"/>
                <a:cs typeface="Arial" panose="020B0604020202020204" pitchFamily="34" charset="0"/>
              </a:rPr>
              <a:t>” for short)</a:t>
            </a:r>
            <a:endParaRPr lang="en-US" altLang="en-US" sz="2700" dirty="0">
              <a:latin typeface="+mj-lt"/>
              <a:cs typeface="Arial" panose="020B0604020202020204" pitchFamily="34" charset="0"/>
            </a:endParaRPr>
          </a:p>
          <a:p>
            <a:pPr marL="0" indent="0" fontAlgn="auto">
              <a:spcBef>
                <a:spcPts val="900"/>
              </a:spcBef>
              <a:spcAft>
                <a:spcPts val="0"/>
              </a:spcAft>
              <a:buClr>
                <a:srgbClr val="FF4E00"/>
              </a:buClr>
              <a:buNone/>
            </a:pPr>
            <a:r>
              <a:rPr lang="en-US" sz="2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- Student, Lecturer and Assistant Dean of SoC</a:t>
            </a:r>
          </a:p>
          <a:p>
            <a:pPr marL="0" indent="0" fontAlgn="auto">
              <a:spcBef>
                <a:spcPts val="900"/>
              </a:spcBef>
              <a:spcAft>
                <a:spcPts val="0"/>
              </a:spcAft>
              <a:buClr>
                <a:srgbClr val="FF4E00"/>
              </a:buClr>
              <a:buNone/>
            </a:pPr>
            <a:r>
              <a:rPr lang="en-US" sz="2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- Programming Methodology, Orbital, </a:t>
            </a:r>
            <a:br>
              <a:rPr lang="en-US" sz="2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 Information Retrieval </a:t>
            </a:r>
          </a:p>
          <a:p>
            <a:pPr marL="0" indent="0" fontAlgn="auto">
              <a:spcBef>
                <a:spcPts val="900"/>
              </a:spcBef>
              <a:spcAft>
                <a:spcPts val="0"/>
              </a:spcAft>
              <a:buClr>
                <a:srgbClr val="FF4E00"/>
              </a:buClr>
              <a:buNone/>
            </a:pPr>
            <a:r>
              <a:rPr lang="en-US" sz="20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- Hobby: Travel, Music, Games …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en-US" sz="27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DBF31D-5C18-1112-82B5-8683FC585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007" y="471304"/>
            <a:ext cx="1938093" cy="3445498"/>
          </a:xfrm>
          <a:prstGeom prst="rect">
            <a:avLst/>
          </a:prstGeom>
        </p:spPr>
      </p:pic>
      <p:pic>
        <p:nvPicPr>
          <p:cNvPr id="5" name="Picture 2" descr="May be an image of clarinet and text that says &quot;XPOSÉ GUITAR GUITAR ENSEMBLE SOTA CONCERT HALL 25.10.2025 SAT7PM SAT 7PM 一期一会 Once OnceinaLifetime a Lifetime in&quot;">
            <a:extLst>
              <a:ext uri="{FF2B5EF4-FFF2-40B4-BE49-F238E27FC236}">
                <a16:creationId xmlns:a16="http://schemas.microsoft.com/office/drawing/2014/main" id="{4D2A2C0E-ACF6-42BD-03BE-F706F9587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8" y="4159310"/>
            <a:ext cx="3552577" cy="204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lair Obscur: Expedition 33 | Download and Buy Today - Epic ...">
            <a:extLst>
              <a:ext uri="{FF2B5EF4-FFF2-40B4-BE49-F238E27FC236}">
                <a16:creationId xmlns:a16="http://schemas.microsoft.com/office/drawing/2014/main" id="{3BBFE2C9-C8E9-D3D1-0D51-7F203AF7A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78" y="4167948"/>
            <a:ext cx="3626131" cy="2039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4120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021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Tutors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946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4ED3CA2-4CDD-AAB7-7252-FF35DE57F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5562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37085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57E69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18BA3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F6E7E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fr-FR" altLang="en-US" dirty="0">
                <a:latin typeface="+mj-lt"/>
                <a:cs typeface="Arial" panose="020B0604020202020204" pitchFamily="34" charset="0"/>
              </a:rPr>
              <a:t>GARG SANCHIT AMIT</a:t>
            </a:r>
          </a:p>
          <a:p>
            <a:pPr lvl="1">
              <a:lnSpc>
                <a:spcPct val="90000"/>
              </a:lnSpc>
            </a:pPr>
            <a:r>
              <a:rPr lang="fr-FR" altLang="en-US" dirty="0">
                <a:latin typeface="+mj-lt"/>
                <a:cs typeface="Arial" panose="020B0604020202020204" pitchFamily="34" charset="0"/>
              </a:rPr>
              <a:t>e1633679@u.nus.edu</a:t>
            </a:r>
          </a:p>
          <a:p>
            <a:pPr>
              <a:lnSpc>
                <a:spcPct val="90000"/>
              </a:lnSpc>
            </a:pPr>
            <a:endParaRPr lang="en-SG" alt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SG" alt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nl-NL" altLang="en-US" dirty="0">
                <a:latin typeface="+mj-lt"/>
                <a:cs typeface="Arial" panose="020B0604020202020204" pitchFamily="34" charset="0"/>
              </a:rPr>
              <a:t>GORDON HONG JIA JIE</a:t>
            </a:r>
          </a:p>
          <a:p>
            <a:pPr lvl="1">
              <a:lnSpc>
                <a:spcPct val="90000"/>
              </a:lnSpc>
            </a:pPr>
            <a:r>
              <a:rPr lang="nl-NL" altLang="en-US" dirty="0">
                <a:latin typeface="+mj-lt"/>
                <a:cs typeface="Arial" panose="020B0604020202020204" pitchFamily="34" charset="0"/>
              </a:rPr>
              <a:t>e1354465</a:t>
            </a:r>
            <a:r>
              <a:rPr lang="en-US" altLang="en-US" dirty="0">
                <a:latin typeface="+mj-lt"/>
              </a:rPr>
              <a:t>@u.nus.edu</a:t>
            </a:r>
            <a:endParaRPr lang="nl-NL" alt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SG" alt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SG" alt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SG" altLang="en-US" dirty="0">
                <a:latin typeface="+mj-lt"/>
                <a:cs typeface="Arial" panose="020B0604020202020204" pitchFamily="34" charset="0"/>
              </a:rPr>
              <a:t>RAJESHPRABU SIDHARTH</a:t>
            </a:r>
          </a:p>
          <a:p>
            <a:pPr lvl="1">
              <a:lnSpc>
                <a:spcPct val="90000"/>
              </a:lnSpc>
            </a:pPr>
            <a:r>
              <a:rPr lang="en-US" altLang="en-US" sz="2300" dirty="0">
                <a:latin typeface="+mj-lt"/>
              </a:rPr>
              <a:t>e1357042@u.nus.edu</a:t>
            </a:r>
          </a:p>
        </p:txBody>
      </p:sp>
      <p:pic>
        <p:nvPicPr>
          <p:cNvPr id="7" name="Picture 6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2D09F5A1-7184-E427-01D2-511AC42C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165" y="1116071"/>
            <a:ext cx="1314633" cy="1676634"/>
          </a:xfrm>
          <a:prstGeom prst="rect">
            <a:avLst/>
          </a:prstGeom>
        </p:spPr>
      </p:pic>
      <p:pic>
        <p:nvPicPr>
          <p:cNvPr id="10" name="Picture 9" descr="A person in a white shirt&#10;&#10;AI-generated content may be incorrect.">
            <a:extLst>
              <a:ext uri="{FF2B5EF4-FFF2-40B4-BE49-F238E27FC236}">
                <a16:creationId xmlns:a16="http://schemas.microsoft.com/office/drawing/2014/main" id="{DEF2D830-3940-58FD-3F98-A149768AC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111" y="2984376"/>
            <a:ext cx="1714739" cy="1762371"/>
          </a:xfrm>
          <a:prstGeom prst="rect">
            <a:avLst/>
          </a:prstGeom>
        </p:spPr>
      </p:pic>
      <p:pic>
        <p:nvPicPr>
          <p:cNvPr id="14" name="Picture 13" descr="A close-up of a child&#10;&#10;AI-generated content may be incorrect.">
            <a:extLst>
              <a:ext uri="{FF2B5EF4-FFF2-40B4-BE49-F238E27FC236}">
                <a16:creationId xmlns:a16="http://schemas.microsoft.com/office/drawing/2014/main" id="{86984651-DB26-E4E5-68AC-E9743E57F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4938418"/>
            <a:ext cx="180047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506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42110328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Objectives 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Learn about </a:t>
            </a:r>
            <a:r>
              <a:rPr lang="en-US" sz="2800" dirty="0">
                <a:solidFill>
                  <a:srgbClr val="0000FF"/>
                </a:solidFill>
              </a:rPr>
              <a:t>a systematic way </a:t>
            </a:r>
            <a:r>
              <a:rPr lang="en-US" sz="2800" dirty="0"/>
              <a:t>to write programs </a:t>
            </a:r>
            <a:r>
              <a:rPr lang="en-US" sz="2800" dirty="0">
                <a:solidFill>
                  <a:srgbClr val="0000FF"/>
                </a:solidFill>
              </a:rPr>
              <a:t>for solving computational problems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/>
              <a:t>Explore various </a:t>
            </a:r>
            <a:r>
              <a:rPr lang="en-GB" sz="2800" dirty="0">
                <a:solidFill>
                  <a:srgbClr val="0000FF"/>
                </a:solidFill>
              </a:rPr>
              <a:t>hardware-related</a:t>
            </a:r>
            <a:r>
              <a:rPr lang="en-GB" sz="2800" dirty="0"/>
              <a:t> topics, such as memory management.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Become proficient with </a:t>
            </a:r>
            <a:r>
              <a:rPr lang="en-US" sz="2800" dirty="0">
                <a:solidFill>
                  <a:srgbClr val="0000FF"/>
                </a:solidFill>
              </a:rPr>
              <a:t>C</a:t>
            </a:r>
            <a:r>
              <a:rPr lang="en-US" sz="2800" dirty="0"/>
              <a:t> and associated programming tools (editors, debuggers)</a:t>
            </a:r>
            <a:endParaRPr lang="en-GB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1D4CA1-1B43-6B38-42AF-D8BC05C5C8FE}"/>
              </a:ext>
            </a:extLst>
          </p:cNvPr>
          <p:cNvSpPr txBox="1"/>
          <p:nvPr/>
        </p:nvSpPr>
        <p:spPr>
          <a:xfrm>
            <a:off x="3138647" y="5015122"/>
            <a:ext cx="455336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course is called 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Programming Methodology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 is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just about coding in C!</a:t>
            </a:r>
          </a:p>
        </p:txBody>
      </p:sp>
    </p:spTree>
    <p:extLst>
      <p:ext uri="{BB962C8B-B14F-4D97-AF65-F5344CB8AC3E}">
        <p14:creationId xmlns:p14="http://schemas.microsoft.com/office/powerpoint/2010/main" val="23197450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C6AC-36D1-8DF9-51D2-5B6DB744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6AE7A21-00D4-9A7A-0B37-D4BB0A8CD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CS1010 is </a:t>
            </a:r>
            <a:r>
              <a:rPr lang="en-GB" sz="4000" b="1" dirty="0">
                <a:solidFill>
                  <a:srgbClr val="0000FF"/>
                </a:solidFill>
              </a:rPr>
              <a:t>NOT</a:t>
            </a:r>
            <a:r>
              <a:rPr lang="en-GB" sz="4000" dirty="0">
                <a:solidFill>
                  <a:srgbClr val="0000FF"/>
                </a:solidFill>
              </a:rPr>
              <a:t> for you if you want to…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4B8886DB-91C9-49C3-B9CF-CFE5DE3F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167B87E0-89C3-5A70-DDBB-62CD1454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331F2708-AD11-9C90-9AAB-D08D9DE0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8" name="HighlightTextShape201406241503265130">
            <a:extLst>
              <a:ext uri="{FF2B5EF4-FFF2-40B4-BE49-F238E27FC236}">
                <a16:creationId xmlns:a16="http://schemas.microsoft.com/office/drawing/2014/main" id="{D0D1CD72-19C3-E724-03B3-42C295A81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Learn programming for general tasks such as data analytics and  machine learning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Focus on software development and bypass the hardware-related topics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Use high-level programming tools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GB" sz="2800" dirty="0">
              <a:solidFill>
                <a:srgbClr val="0000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3ED54-B432-D012-EB2B-77CF69FBE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53" y="5015122"/>
            <a:ext cx="1866660" cy="13094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232DFA-6959-C622-84CD-8BD244A66024}"/>
              </a:ext>
            </a:extLst>
          </p:cNvPr>
          <p:cNvSpPr txBox="1"/>
          <p:nvPr/>
        </p:nvSpPr>
        <p:spPr>
          <a:xfrm>
            <a:off x="3138646" y="5015122"/>
            <a:ext cx="4096167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You might want to consider other variants of CS1010 or even courses outside </a:t>
            </a:r>
            <a:r>
              <a:rPr lang="en-US" sz="2400" dirty="0" err="1"/>
              <a:t>SoC.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1123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Course Activities / Workload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35173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12 Lectures</a:t>
            </a:r>
            <a:endParaRPr lang="en-GB" sz="2800" dirty="0"/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2 hours / week on </a:t>
            </a:r>
            <a:r>
              <a:rPr lang="en-GB" sz="2400" dirty="0">
                <a:solidFill>
                  <a:srgbClr val="0000FF"/>
                </a:solidFill>
              </a:rPr>
              <a:t>Tuesdays</a:t>
            </a:r>
            <a:r>
              <a:rPr lang="en-GB" sz="2400" dirty="0"/>
              <a:t> at </a:t>
            </a:r>
            <a:r>
              <a:rPr lang="en-GB" sz="2400" dirty="0">
                <a:solidFill>
                  <a:srgbClr val="0000FF"/>
                </a:solidFill>
              </a:rPr>
              <a:t>10am-12nn</a:t>
            </a:r>
            <a:r>
              <a:rPr lang="en-GB" sz="2400" dirty="0"/>
              <a:t> in </a:t>
            </a:r>
            <a:r>
              <a:rPr lang="en-GB" sz="2400" dirty="0">
                <a:solidFill>
                  <a:srgbClr val="0000FF"/>
                </a:solidFill>
              </a:rPr>
              <a:t>SR11 (COM3-01-20)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Makeup Lecture in Week 6 due to CNY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Recorded on a best-effort basis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Notes from the course website, in-class activities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endParaRPr lang="en-GB" sz="12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11 Tutorials</a:t>
            </a:r>
            <a:endParaRPr lang="en-GB" sz="2800" dirty="0"/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2 hours / week on </a:t>
            </a:r>
            <a:r>
              <a:rPr lang="en-GB" sz="2400" dirty="0">
                <a:solidFill>
                  <a:srgbClr val="0000FF"/>
                </a:solidFill>
              </a:rPr>
              <a:t>Mondays at 10am-12nn </a:t>
            </a:r>
            <a:r>
              <a:rPr lang="en-GB" sz="2400" dirty="0"/>
              <a:t>or </a:t>
            </a:r>
            <a:r>
              <a:rPr lang="en-GB" sz="2400" dirty="0">
                <a:solidFill>
                  <a:srgbClr val="0000FF"/>
                </a:solidFill>
              </a:rPr>
              <a:t>12nn-2pm</a:t>
            </a:r>
            <a:r>
              <a:rPr lang="en-GB" sz="2400" dirty="0"/>
              <a:t> in </a:t>
            </a:r>
            <a:r>
              <a:rPr lang="en-GB" sz="2400" dirty="0">
                <a:solidFill>
                  <a:srgbClr val="0000FF"/>
                </a:solidFill>
              </a:rPr>
              <a:t>Programming labs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From </a:t>
            </a:r>
            <a:r>
              <a:rPr lang="en-GB" sz="2400" dirty="0">
                <a:solidFill>
                  <a:srgbClr val="0000FF"/>
                </a:solidFill>
              </a:rPr>
              <a:t>Week 3 </a:t>
            </a:r>
            <a:r>
              <a:rPr lang="en-GB" sz="2400" dirty="0"/>
              <a:t>onwards.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Problem sets, programming exercises, hands-on practices.</a:t>
            </a:r>
          </a:p>
          <a:p>
            <a:pPr lvl="1">
              <a:buSzPct val="120000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330978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CB0B-2BD4-C034-239B-600CB918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BD253A1-7C71-0D5F-EBF1-9380300CF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Course Activities / Workload</a:t>
            </a:r>
          </a:p>
        </p:txBody>
      </p:sp>
      <p:sp>
        <p:nvSpPr>
          <p:cNvPr id="25604" name="Footer Placeholder 6">
            <a:extLst>
              <a:ext uri="{FF2B5EF4-FFF2-40B4-BE49-F238E27FC236}">
                <a16:creationId xmlns:a16="http://schemas.microsoft.com/office/drawing/2014/main" id="{A6CBCC27-D63C-1010-7230-D94EC12E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E72CB-A3AC-83DF-BC86-F8FE8881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1" name="[Date Placeholder 3]">
            <a:extLst>
              <a:ext uri="{FF2B5EF4-FFF2-40B4-BE49-F238E27FC236}">
                <a16:creationId xmlns:a16="http://schemas.microsoft.com/office/drawing/2014/main" id="{518D984E-B9E0-1AA0-BBEA-3B2FB34D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>
            <a:extLst>
              <a:ext uri="{FF2B5EF4-FFF2-40B4-BE49-F238E27FC236}">
                <a16:creationId xmlns:a16="http://schemas.microsoft.com/office/drawing/2014/main" id="{63FCD4B0-FB43-8BAE-5E05-D0F45961E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35173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11 Quizzes and 8 sets of Programming Exercises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On the topics covered in the lectures and on the CS1010 website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As many hours as needed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Due on Tuesdays (general) / Fridays (extended) from </a:t>
            </a:r>
            <a:r>
              <a:rPr lang="en-GB" sz="2400" dirty="0">
                <a:solidFill>
                  <a:srgbClr val="0000FF"/>
                </a:solidFill>
              </a:rPr>
              <a:t>Week 2 </a:t>
            </a:r>
            <a:r>
              <a:rPr lang="en-GB" sz="2400" dirty="0"/>
              <a:t>onwards.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Formative assessments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endParaRPr lang="en-GB" sz="12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Preparation, Revision and Additional Practices</a:t>
            </a:r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r>
              <a:rPr lang="en-GB" sz="2400" dirty="0"/>
              <a:t>As many hours as needed</a:t>
            </a:r>
          </a:p>
          <a:p>
            <a:pPr marL="284163" indent="-284163">
              <a:buSzPct val="120000"/>
              <a:buFont typeface="Wingdings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935260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Important Assessments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53572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Practical Exam 0: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10 February, 6-9pm (Week 5)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Midterm: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3 March 10am-12nn (Week 7)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Practical Exam 1: 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17 March, 6-9pm (Week 9)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Practical Exam 2: 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7 April, 6-9pm (Week 12)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GB" sz="24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Final Assessment: 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29 April (Wed), 9-11am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endParaRPr lang="en-GB" sz="2400" dirty="0"/>
          </a:p>
          <a:p>
            <a:pPr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br>
              <a:rPr lang="en-GB" sz="2800" dirty="0"/>
            </a:br>
            <a:endParaRPr lang="en-GB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69" y="2829457"/>
            <a:ext cx="1866660" cy="1309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9492" y="4246785"/>
            <a:ext cx="2952619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/>
              <a:t>Mark down these dates!</a:t>
            </a:r>
          </a:p>
          <a:p>
            <a:pPr>
              <a:defRPr/>
            </a:pPr>
            <a:r>
              <a:rPr lang="en-US" sz="2000" dirty="0"/>
              <a:t>All of them are </a:t>
            </a:r>
            <a:r>
              <a:rPr lang="en-US" sz="2000" dirty="0">
                <a:solidFill>
                  <a:srgbClr val="0000FF"/>
                </a:solidFill>
              </a:rPr>
              <a:t>Tuesday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78505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Important Assessments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20" y="1219200"/>
            <a:ext cx="8153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For Special Considerations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Midterms + Practical Exams: Email Jin </a:t>
            </a:r>
            <a:r>
              <a:rPr lang="en-US" sz="2400" dirty="0">
                <a:solidFill>
                  <a:srgbClr val="0000FF"/>
                </a:solidFill>
              </a:rPr>
              <a:t>no later than 24 hours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after the end of the assessment</a:t>
            </a:r>
            <a:r>
              <a:rPr lang="en-US" sz="2400" dirty="0"/>
              <a:t>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Final Assessments: Use the NUS Student portal.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Make-up assessments (if any) are always </a:t>
            </a:r>
            <a:r>
              <a:rPr lang="en-US" sz="2800" dirty="0">
                <a:solidFill>
                  <a:srgbClr val="0000FF"/>
                </a:solidFill>
              </a:rPr>
              <a:t>harder </a:t>
            </a:r>
            <a:r>
              <a:rPr lang="en-US" sz="2800" dirty="0"/>
              <a:t>than the original. =P</a:t>
            </a: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lvl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2400" dirty="0"/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000" dirty="0"/>
          </a:p>
          <a:p>
            <a:pPr marL="741363" lvl="1" indent="-284163">
              <a:buSzPct val="120000"/>
              <a:buFont typeface="Wingdings" pitchFamily="2" charset="2"/>
              <a:buChar char="§"/>
            </a:pPr>
            <a:endParaRPr lang="en-GB" sz="2400" dirty="0"/>
          </a:p>
          <a:p>
            <a:pPr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br>
              <a:rPr lang="en-GB" sz="28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71640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Grading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Weightage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Quizzes: </a:t>
            </a:r>
            <a:r>
              <a:rPr lang="en-US" sz="2000" dirty="0">
                <a:solidFill>
                  <a:srgbClr val="0000FF"/>
                </a:solidFill>
              </a:rPr>
              <a:t>5%</a:t>
            </a:r>
            <a:endParaRPr lang="en-GB" sz="1600" dirty="0">
              <a:solidFill>
                <a:srgbClr val="0000FF"/>
              </a:solidFill>
            </a:endParaRP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Programming Exercise: </a:t>
            </a:r>
            <a:r>
              <a:rPr lang="en-US" sz="2000" dirty="0">
                <a:solidFill>
                  <a:srgbClr val="0000FF"/>
                </a:solidFill>
              </a:rPr>
              <a:t>5%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Tutorial Attendance: </a:t>
            </a:r>
            <a:r>
              <a:rPr lang="en-US" sz="2000" dirty="0">
                <a:solidFill>
                  <a:srgbClr val="0000FF"/>
                </a:solidFill>
              </a:rPr>
              <a:t>5%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Midterm: </a:t>
            </a:r>
            <a:r>
              <a:rPr lang="en-US" sz="2000" dirty="0">
                <a:solidFill>
                  <a:srgbClr val="0000FF"/>
                </a:solidFill>
              </a:rPr>
              <a:t>15%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Practical Exam 0/1/2: </a:t>
            </a:r>
            <a:r>
              <a:rPr lang="en-US" sz="2000" dirty="0">
                <a:solidFill>
                  <a:srgbClr val="0000FF"/>
                </a:solidFill>
              </a:rPr>
              <a:t>10%/15%/15%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000" dirty="0"/>
              <a:t>Final Assessment: </a:t>
            </a:r>
            <a:r>
              <a:rPr lang="en-US" sz="2000" dirty="0">
                <a:solidFill>
                  <a:srgbClr val="0000FF"/>
                </a:solidFill>
              </a:rPr>
              <a:t>30%</a:t>
            </a:r>
          </a:p>
          <a:p>
            <a:pPr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2400" dirty="0">
              <a:solidFill>
                <a:srgbClr val="0000FF"/>
              </a:solidFill>
            </a:endParaRP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NOT "bell-curved"</a:t>
            </a: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  <a:p>
            <a:pPr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0701" y="1821208"/>
            <a:ext cx="3086099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/>
              <a:t>Consistent effort required throughout the semester!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274C7-0ABF-6582-52EF-02C649A528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009" y="5424096"/>
            <a:ext cx="593672" cy="802841"/>
          </a:xfrm>
          <a:prstGeom prst="rect">
            <a:avLst/>
          </a:prstGeom>
        </p:spPr>
      </p:pic>
      <p:pic>
        <p:nvPicPr>
          <p:cNvPr id="6" name="Picture 5" descr="A person wearing a graduation cap and gown&#10;&#10;Description automatically generated">
            <a:extLst>
              <a:ext uri="{FF2B5EF4-FFF2-40B4-BE49-F238E27FC236}">
                <a16:creationId xmlns:a16="http://schemas.microsoft.com/office/drawing/2014/main" id="{54467065-E416-EF1A-CA88-F1D322861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15" y="4610020"/>
            <a:ext cx="2057559" cy="2057559"/>
          </a:xfrm>
          <a:prstGeom prst="rect">
            <a:avLst/>
          </a:prstGeom>
        </p:spPr>
      </p:pic>
      <p:pic>
        <p:nvPicPr>
          <p:cNvPr id="8" name="Picture 7" descr="A diagram of a bell curve&#10;&#10;Description automatically generated">
            <a:extLst>
              <a:ext uri="{FF2B5EF4-FFF2-40B4-BE49-F238E27FC236}">
                <a16:creationId xmlns:a16="http://schemas.microsoft.com/office/drawing/2014/main" id="{BF20A237-63EC-46C6-639D-780658ACFC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279" y="4967488"/>
            <a:ext cx="2808336" cy="1872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5D4322-9347-204B-B51A-DE39F775E2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869" y="5422027"/>
            <a:ext cx="593672" cy="8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655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Late Submission Policy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No</a:t>
            </a:r>
            <a:r>
              <a:rPr lang="en-US" sz="2800" dirty="0"/>
              <a:t> late submissions will be considered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You are allowed to miss up to </a:t>
            </a:r>
            <a:r>
              <a:rPr lang="en-US" sz="2400" dirty="0">
                <a:solidFill>
                  <a:srgbClr val="0000FF"/>
                </a:solidFill>
              </a:rPr>
              <a:t>10%</a:t>
            </a:r>
            <a:r>
              <a:rPr lang="en-US" sz="2400" dirty="0"/>
              <a:t> of the submissions for quizzes and programming exercises.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Feedback may </a:t>
            </a:r>
            <a:r>
              <a:rPr lang="en-US" sz="2400" dirty="0">
                <a:solidFill>
                  <a:srgbClr val="0000FF"/>
                </a:solidFill>
              </a:rPr>
              <a:t>NOT</a:t>
            </a:r>
            <a:r>
              <a:rPr lang="en-US" sz="2400" dirty="0"/>
              <a:t> be provided.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For special consideration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Email Jin </a:t>
            </a:r>
            <a:r>
              <a:rPr lang="en-US" sz="2400" dirty="0">
                <a:solidFill>
                  <a:srgbClr val="0000FF"/>
                </a:solidFill>
              </a:rPr>
              <a:t>no later than 24 hours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after the deadline </a:t>
            </a:r>
            <a:r>
              <a:rPr lang="en-US" sz="2400" dirty="0"/>
              <a:t>that makes you miss more than 10% of submissions.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38230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000" dirty="0">
                <a:solidFill>
                  <a:srgbClr val="0000FF"/>
                </a:solidFill>
              </a:rPr>
              <a:t>Use of AI tools</a:t>
            </a: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NOT</a:t>
            </a:r>
            <a:r>
              <a:rPr lang="en-US" sz="2800" dirty="0"/>
              <a:t> allowed for important assessments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Midterm, Practical Exams and Final assessment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Allowed for formative assessments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Quizzes and programming exercises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ONLY </a:t>
            </a:r>
            <a:r>
              <a:rPr lang="en-US" sz="2400" dirty="0"/>
              <a:t>for understanding and learning 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NO</a:t>
            </a:r>
            <a:r>
              <a:rPr lang="en-US" sz="2400" dirty="0"/>
              <a:t> point using it to generate answers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</p:txBody>
      </p:sp>
      <p:pic>
        <p:nvPicPr>
          <p:cNvPr id="3" name="Picture 2" descr="A logo of a company&#10;&#10;Description automatically generated">
            <a:extLst>
              <a:ext uri="{FF2B5EF4-FFF2-40B4-BE49-F238E27FC236}">
                <a16:creationId xmlns:a16="http://schemas.microsoft.com/office/drawing/2014/main" id="{7091726F-E8F7-753B-0D6C-A94A79C90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898" y="4808574"/>
            <a:ext cx="1415902" cy="141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445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dirty="0">
                <a:solidFill>
                  <a:srgbClr val="0000FF"/>
                </a:solidFill>
              </a:rPr>
              <a:t>Plagiarism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Plagiarism is </a:t>
            </a:r>
            <a:r>
              <a:rPr lang="en-US" sz="2800" dirty="0">
                <a:solidFill>
                  <a:srgbClr val="0000FF"/>
                </a:solidFill>
              </a:rPr>
              <a:t>NOT</a:t>
            </a:r>
            <a:r>
              <a:rPr lang="en-US" sz="2800" dirty="0"/>
              <a:t> allowed and will be reported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ALL</a:t>
            </a:r>
            <a:r>
              <a:rPr lang="en-US" sz="2400" dirty="0"/>
              <a:t> parties involved to be penalized equally.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</a:rPr>
              <a:t>NO</a:t>
            </a:r>
            <a:r>
              <a:rPr lang="en-US" sz="2400" dirty="0"/>
              <a:t> point plagiarizing in general</a:t>
            </a: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However, high-level discussions are allowed and encouraged to promote peer learning.</a:t>
            </a: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/>
              <a:t>Bottom Line: write your own code and do </a:t>
            </a:r>
            <a:r>
              <a:rPr lang="en-US" sz="2800" dirty="0">
                <a:solidFill>
                  <a:srgbClr val="0000FF"/>
                </a:solidFill>
              </a:rPr>
              <a:t>NOT</a:t>
            </a:r>
            <a:r>
              <a:rPr lang="en-US" sz="2800" dirty="0"/>
              <a:t> share </a:t>
            </a:r>
            <a:r>
              <a:rPr lang="en-US" sz="2800"/>
              <a:t>/ discuss it </a:t>
            </a:r>
            <a:r>
              <a:rPr lang="en-US" sz="2800" dirty="0"/>
              <a:t>with anyone!</a:t>
            </a:r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 marL="288925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2800" dirty="0"/>
          </a:p>
          <a:p>
            <a:pPr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4478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315075436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Course Website (The Handbook)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0485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4" name="[Rectangle 3]"/>
          <p:cNvSpPr txBox="1">
            <a:spLocks noChangeArrowheads="1"/>
          </p:cNvSpPr>
          <p:nvPr/>
        </p:nvSpPr>
        <p:spPr bwMode="auto">
          <a:xfrm>
            <a:off x="533400" y="1029567"/>
            <a:ext cx="6423212" cy="73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200" kern="0" dirty="0">
                <a:latin typeface="Calibri" pitchFamily="34" charset="0"/>
                <a:cs typeface="+mn-cs"/>
                <a:hlinkClick r:id="rId3"/>
              </a:rPr>
              <a:t>https://nus-cs1010-2526-s2.github.io/website</a:t>
            </a:r>
            <a:endParaRPr lang="en-US" sz="2200" kern="0" dirty="0">
              <a:latin typeface="Calibri" pitchFamily="34" charset="0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59" y="1487821"/>
            <a:ext cx="1866660" cy="1309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65856" y="1656920"/>
            <a:ext cx="2016682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Visit this website after class if you have not done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0080" y="1673403"/>
            <a:ext cx="3806720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dk1"/>
                </a:solidFill>
              </a:rPr>
              <a:t>If you Google for CS1010, make sure you find the site for this semester, which is in </a:t>
            </a:r>
            <a:r>
              <a:rPr lang="en-US" dirty="0">
                <a:solidFill>
                  <a:srgbClr val="008000"/>
                </a:solidFill>
              </a:rPr>
              <a:t>purple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287B2D-B395-F399-672C-E929D22A1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694" y="2909056"/>
            <a:ext cx="5864772" cy="352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6879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Other Tools</a:t>
            </a: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223056" cy="3291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3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0867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Canvas </a:t>
            </a:r>
            <a:r>
              <a:rPr lang="en-US" sz="2400" dirty="0"/>
              <a:t>(</a:t>
            </a:r>
            <a:r>
              <a:rPr lang="en-US" sz="2400" dirty="0">
                <a:hlinkClick r:id="rId3"/>
              </a:rPr>
              <a:t>https://canvas.nus.edu.sg/courses/85271</a:t>
            </a:r>
            <a:r>
              <a:rPr lang="en-US" sz="2400" dirty="0"/>
              <a:t>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Announcements, quizzes, grades, internal materials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Ed </a:t>
            </a:r>
            <a:r>
              <a:rPr lang="en-US" sz="2400" dirty="0"/>
              <a:t>(</a:t>
            </a:r>
            <a:r>
              <a:rPr lang="en-US" sz="2400" dirty="0">
                <a:hlinkClick r:id="rId4"/>
              </a:rPr>
              <a:t>https://edstem.org/us/courses/90227/discussion</a:t>
            </a:r>
            <a:r>
              <a:rPr lang="en-US" sz="2400" dirty="0"/>
              <a:t>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Online forum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1200" dirty="0"/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</a:rPr>
              <a:t>PE Servers / Unix / Git / Vim / Clang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Programming-related service / tools</a:t>
            </a: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</a:rPr>
              <a:t>Github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00FF"/>
                </a:solidFill>
                <a:hlinkClick r:id="rId5"/>
              </a:rPr>
              <a:t>https://github.com/</a:t>
            </a:r>
            <a:r>
              <a:rPr lang="en-US" sz="2800" dirty="0"/>
              <a:t>)</a:t>
            </a:r>
          </a:p>
          <a:p>
            <a:pPr marL="746125" lvl="1" indent="-288925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US" sz="2400" dirty="0"/>
              <a:t>Assignment submission / grading</a:t>
            </a:r>
          </a:p>
        </p:txBody>
      </p:sp>
    </p:spTree>
    <p:extLst>
      <p:ext uri="{BB962C8B-B14F-4D97-AF65-F5344CB8AC3E}">
        <p14:creationId xmlns:p14="http://schemas.microsoft.com/office/powerpoint/2010/main" val="419444238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Messages for CS1010 Students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560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134894" cy="3291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Welcome - </a:t>
            </a:r>
            <a:fld id="{F7EC234A-9094-4BB8-9EA4-75ECDA8A365B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 dirty="0"/>
              <a:t>© NUS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512179" y="1327229"/>
            <a:ext cx="8166871" cy="5011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12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Practice, practice, practice!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400" dirty="0"/>
              <a:t>Work </a:t>
            </a:r>
            <a:r>
              <a:rPr lang="en-GB" sz="2400" dirty="0">
                <a:solidFill>
                  <a:srgbClr val="0000FF"/>
                </a:solidFill>
              </a:rPr>
              <a:t>hard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0000FF"/>
                </a:solidFill>
              </a:rPr>
              <a:t>smart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sz="2800" dirty="0">
              <a:solidFill>
                <a:srgbClr val="0000FF"/>
              </a:solidFill>
            </a:endParaRP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Ask questions / discuss with others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400" dirty="0"/>
              <a:t>In class and outside class (forum)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400" dirty="0"/>
              <a:t>As often / soon as you can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sz="24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sz="2800" dirty="0">
                <a:solidFill>
                  <a:srgbClr val="0000FF"/>
                </a:solidFill>
              </a:rPr>
              <a:t>Approach</a:t>
            </a:r>
            <a:r>
              <a:rPr lang="en-GB" sz="2800" dirty="0"/>
              <a:t> the teaching team for assistance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653682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13892</TotalTime>
  <Words>1040</Words>
  <Application>Microsoft Office PowerPoint</Application>
  <PresentationFormat>On-screen Show (4:3)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Welcome to CS1010!</vt:lpstr>
      <vt:lpstr>Lecturer</vt:lpstr>
      <vt:lpstr>Tutors</vt:lpstr>
      <vt:lpstr>Objectives </vt:lpstr>
      <vt:lpstr>CS1010 is NOT for you if you want to…</vt:lpstr>
      <vt:lpstr>Course Activities / Workload</vt:lpstr>
      <vt:lpstr>Course Activities / Workload</vt:lpstr>
      <vt:lpstr>Important Assessments</vt:lpstr>
      <vt:lpstr>Important Assessments</vt:lpstr>
      <vt:lpstr>Grading</vt:lpstr>
      <vt:lpstr>Late Submission Policy</vt:lpstr>
      <vt:lpstr>Use of AI tools</vt:lpstr>
      <vt:lpstr>Plagiarism</vt:lpstr>
      <vt:lpstr>Course Website (The Handbook)</vt:lpstr>
      <vt:lpstr>Other Tools</vt:lpstr>
      <vt:lpstr>Messages for CS1010 Students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1188</cp:revision>
  <cp:lastPrinted>2014-07-03T23:44:46Z</cp:lastPrinted>
  <dcterms:created xsi:type="dcterms:W3CDTF">1998-09-05T15:03:32Z</dcterms:created>
  <dcterms:modified xsi:type="dcterms:W3CDTF">2026-01-13T01:05:32Z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