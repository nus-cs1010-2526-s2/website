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68"/>
  </p:notesMasterIdLst>
  <p:handoutMasterIdLst>
    <p:handoutMasterId r:id="rId69"/>
  </p:handoutMasterIdLst>
  <p:sldIdLst>
    <p:sldId id="256" r:id="rId2"/>
    <p:sldId id="524" r:id="rId3"/>
    <p:sldId id="468" r:id="rId4"/>
    <p:sldId id="680" r:id="rId5"/>
    <p:sldId id="509" r:id="rId6"/>
    <p:sldId id="529" r:id="rId7"/>
    <p:sldId id="530" r:id="rId8"/>
    <p:sldId id="533" r:id="rId9"/>
    <p:sldId id="701" r:id="rId10"/>
    <p:sldId id="704" r:id="rId11"/>
    <p:sldId id="681" r:id="rId12"/>
    <p:sldId id="525" r:id="rId13"/>
    <p:sldId id="620" r:id="rId14"/>
    <p:sldId id="639" r:id="rId15"/>
    <p:sldId id="617" r:id="rId16"/>
    <p:sldId id="582" r:id="rId17"/>
    <p:sldId id="696" r:id="rId18"/>
    <p:sldId id="698" r:id="rId19"/>
    <p:sldId id="702" r:id="rId20"/>
    <p:sldId id="569" r:id="rId21"/>
    <p:sldId id="692" r:id="rId22"/>
    <p:sldId id="677" r:id="rId23"/>
    <p:sldId id="660" r:id="rId24"/>
    <p:sldId id="590" r:id="rId25"/>
    <p:sldId id="690" r:id="rId26"/>
    <p:sldId id="691" r:id="rId27"/>
    <p:sldId id="686" r:id="rId28"/>
    <p:sldId id="703" r:id="rId29"/>
    <p:sldId id="612" r:id="rId30"/>
    <p:sldId id="653" r:id="rId31"/>
    <p:sldId id="654" r:id="rId32"/>
    <p:sldId id="624" r:id="rId33"/>
    <p:sldId id="631" r:id="rId34"/>
    <p:sldId id="656" r:id="rId35"/>
    <p:sldId id="705" r:id="rId36"/>
    <p:sldId id="684" r:id="rId37"/>
    <p:sldId id="693" r:id="rId38"/>
    <p:sldId id="694" r:id="rId39"/>
    <p:sldId id="655" r:id="rId40"/>
    <p:sldId id="657" r:id="rId41"/>
    <p:sldId id="695" r:id="rId42"/>
    <p:sldId id="687" r:id="rId43"/>
    <p:sldId id="688" r:id="rId44"/>
    <p:sldId id="649" r:id="rId45"/>
    <p:sldId id="706" r:id="rId46"/>
    <p:sldId id="683" r:id="rId47"/>
    <p:sldId id="558" r:id="rId48"/>
    <p:sldId id="566" r:id="rId49"/>
    <p:sldId id="559" r:id="rId50"/>
    <p:sldId id="651" r:id="rId51"/>
    <p:sldId id="652" r:id="rId52"/>
    <p:sldId id="707" r:id="rId53"/>
    <p:sldId id="682" r:id="rId54"/>
    <p:sldId id="553" r:id="rId55"/>
    <p:sldId id="605" r:id="rId56"/>
    <p:sldId id="606" r:id="rId57"/>
    <p:sldId id="678" r:id="rId58"/>
    <p:sldId id="679" r:id="rId59"/>
    <p:sldId id="700" r:id="rId60"/>
    <p:sldId id="640" r:id="rId61"/>
    <p:sldId id="641" r:id="rId62"/>
    <p:sldId id="699" r:id="rId63"/>
    <p:sldId id="622" r:id="rId64"/>
    <p:sldId id="635" r:id="rId65"/>
    <p:sldId id="708" r:id="rId66"/>
    <p:sldId id="685" r:id="rId6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 Jin" initials="ZJ" lastIdx="1" clrIdx="0">
    <p:extLst>
      <p:ext uri="{19B8F6BF-5375-455C-9EA6-DF929625EA0E}">
        <p15:presenceInfo xmlns:p15="http://schemas.microsoft.com/office/powerpoint/2012/main" userId="S::dcszjin@nus.edu.sg::cd05a825-544c-438a-9ba1-08e63db50b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FFFF00"/>
    <a:srgbClr val="CC9900"/>
    <a:srgbClr val="006600"/>
    <a:srgbClr val="0066FF"/>
    <a:srgbClr val="CCFFCC"/>
    <a:srgbClr val="000099"/>
    <a:srgbClr val="FF33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837254-14D2-4D0C-9732-E45E7A7D16F4}" v="24" dt="2026-04-13T08:04:28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1" autoAdjust="0"/>
    <p:restoredTop sz="94667"/>
  </p:normalViewPr>
  <p:slideViewPr>
    <p:cSldViewPr snapToGrid="0">
      <p:cViewPr varScale="1">
        <p:scale>
          <a:sx n="109" d="100"/>
          <a:sy n="109" d="100"/>
        </p:scale>
        <p:origin x="62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">
      <pc:chgData name="Zhao Jin" userId="cd05a825-544c-438a-9ba1-08e63db50b47" providerId="ADAL" clId="{5DF3A229-1965-414E-AF54-F4C37AC7DF68}" dt="2026-04-13T08:04:35.818" v="711" actId="207"/>
      <pc:docMkLst>
        <pc:docMk/>
      </pc:docMkLst>
      <pc:sldChg chg="modSp">
        <pc:chgData name="Zhao Jin" userId="cd05a825-544c-438a-9ba1-08e63db50b47" providerId="ADAL" clId="{5DF3A229-1965-414E-AF54-F4C37AC7DF68}" dt="2026-04-13T07:18:58.562" v="0"/>
        <pc:sldMkLst>
          <pc:docMk/>
          <pc:sldMk cId="505934849" sldId="509"/>
        </pc:sldMkLst>
        <pc:spChg chg="mod">
          <ac:chgData name="Zhao Jin" userId="cd05a825-544c-438a-9ba1-08e63db50b47" providerId="ADAL" clId="{5DF3A229-1965-414E-AF54-F4C37AC7DF68}" dt="2026-04-13T07:18:58.562" v="0"/>
          <ac:spMkLst>
            <pc:docMk/>
            <pc:sldMk cId="505934849" sldId="509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5:18.337" v="664" actId="12"/>
        <pc:sldMkLst>
          <pc:docMk/>
          <pc:sldMk cId="4049827685" sldId="524"/>
        </pc:sldMkLst>
        <pc:spChg chg="mod">
          <ac:chgData name="Zhao Jin" userId="cd05a825-544c-438a-9ba1-08e63db50b47" providerId="ADAL" clId="{5DF3A229-1965-414E-AF54-F4C37AC7DF68}" dt="2026-04-13T07:55:18.337" v="664" actId="12"/>
          <ac:spMkLst>
            <pc:docMk/>
            <pc:sldMk cId="4049827685" sldId="524"/>
            <ac:spMk id="7" creationId="{695C0EDC-618D-8F01-7F9A-1C8F1C4BB0CB}"/>
          </ac:spMkLst>
        </pc:spChg>
      </pc:sldChg>
      <pc:sldChg chg="modSp mod">
        <pc:chgData name="Zhao Jin" userId="cd05a825-544c-438a-9ba1-08e63db50b47" providerId="ADAL" clId="{5DF3A229-1965-414E-AF54-F4C37AC7DF68}" dt="2026-04-13T07:53:13.693" v="655" actId="12"/>
        <pc:sldMkLst>
          <pc:docMk/>
          <pc:sldMk cId="4047221371" sldId="525"/>
        </pc:sldMkLst>
        <pc:spChg chg="mod">
          <ac:chgData name="Zhao Jin" userId="cd05a825-544c-438a-9ba1-08e63db50b47" providerId="ADAL" clId="{5DF3A229-1965-414E-AF54-F4C37AC7DF68}" dt="2026-04-13T07:53:13.693" v="655" actId="12"/>
          <ac:spMkLst>
            <pc:docMk/>
            <pc:sldMk cId="4047221371" sldId="525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3:46.841" v="659" actId="12"/>
        <pc:sldMkLst>
          <pc:docMk/>
          <pc:sldMk cId="770306953" sldId="530"/>
        </pc:sldMkLst>
        <pc:spChg chg="mod">
          <ac:chgData name="Zhao Jin" userId="cd05a825-544c-438a-9ba1-08e63db50b47" providerId="ADAL" clId="{5DF3A229-1965-414E-AF54-F4C37AC7DF68}" dt="2026-04-13T07:53:46.841" v="659" actId="12"/>
          <ac:spMkLst>
            <pc:docMk/>
            <pc:sldMk cId="770306953" sldId="530"/>
            <ac:spMk id="9" creationId="{00000000-0000-0000-0000-000000000000}"/>
          </ac:spMkLst>
        </pc:spChg>
      </pc:sldChg>
      <pc:sldChg chg="addSp delSp mod">
        <pc:chgData name="Zhao Jin" userId="cd05a825-544c-438a-9ba1-08e63db50b47" providerId="ADAL" clId="{5DF3A229-1965-414E-AF54-F4C37AC7DF68}" dt="2026-04-13T07:19:47.262" v="2" actId="22"/>
        <pc:sldMkLst>
          <pc:docMk/>
          <pc:sldMk cId="2543678377" sldId="533"/>
        </pc:sldMkLst>
        <pc:spChg chg="add del">
          <ac:chgData name="Zhao Jin" userId="cd05a825-544c-438a-9ba1-08e63db50b47" providerId="ADAL" clId="{5DF3A229-1965-414E-AF54-F4C37AC7DF68}" dt="2026-04-13T07:19:47.262" v="2" actId="22"/>
          <ac:spMkLst>
            <pc:docMk/>
            <pc:sldMk cId="2543678377" sldId="533"/>
            <ac:spMk id="6" creationId="{5D7A12BA-3CA9-CA63-B5D9-77EFF9B1C97F}"/>
          </ac:spMkLst>
        </pc:spChg>
      </pc:sldChg>
      <pc:sldChg chg="modSp del mod">
        <pc:chgData name="Zhao Jin" userId="cd05a825-544c-438a-9ba1-08e63db50b47" providerId="ADAL" clId="{5DF3A229-1965-414E-AF54-F4C37AC7DF68}" dt="2026-04-13T07:49:16.326" v="613" actId="47"/>
        <pc:sldMkLst>
          <pc:docMk/>
          <pc:sldMk cId="92291925" sldId="563"/>
        </pc:sldMkLst>
        <pc:spChg chg="mod">
          <ac:chgData name="Zhao Jin" userId="cd05a825-544c-438a-9ba1-08e63db50b47" providerId="ADAL" clId="{5DF3A229-1965-414E-AF54-F4C37AC7DF68}" dt="2026-04-13T07:47:47.143" v="446" actId="404"/>
          <ac:spMkLst>
            <pc:docMk/>
            <pc:sldMk cId="92291925" sldId="563"/>
            <ac:spMk id="13" creationId="{FF3EB1EC-2FCF-43B3-832C-C8B7DBCF9217}"/>
          </ac:spMkLst>
        </pc:spChg>
      </pc:sldChg>
      <pc:sldChg chg="modSp mod">
        <pc:chgData name="Zhao Jin" userId="cd05a825-544c-438a-9ba1-08e63db50b47" providerId="ADAL" clId="{5DF3A229-1965-414E-AF54-F4C37AC7DF68}" dt="2026-04-13T07:57:33.907" v="674" actId="12"/>
        <pc:sldMkLst>
          <pc:docMk/>
          <pc:sldMk cId="4240540711" sldId="569"/>
        </pc:sldMkLst>
        <pc:spChg chg="mod">
          <ac:chgData name="Zhao Jin" userId="cd05a825-544c-438a-9ba1-08e63db50b47" providerId="ADAL" clId="{5DF3A229-1965-414E-AF54-F4C37AC7DF68}" dt="2026-04-13T07:57:33.907" v="674" actId="12"/>
          <ac:spMkLst>
            <pc:docMk/>
            <pc:sldMk cId="4240540711" sldId="569"/>
            <ac:spMk id="7" creationId="{369105DE-8DF4-D467-19B1-4C83E5630ED6}"/>
          </ac:spMkLst>
        </pc:spChg>
      </pc:sldChg>
      <pc:sldChg chg="modSp mod">
        <pc:chgData name="Zhao Jin" userId="cd05a825-544c-438a-9ba1-08e63db50b47" providerId="ADAL" clId="{5DF3A229-1965-414E-AF54-F4C37AC7DF68}" dt="2026-04-13T07:56:38.802" v="670" actId="12"/>
        <pc:sldMkLst>
          <pc:docMk/>
          <pc:sldMk cId="531081965" sldId="582"/>
        </pc:sldMkLst>
        <pc:spChg chg="mod">
          <ac:chgData name="Zhao Jin" userId="cd05a825-544c-438a-9ba1-08e63db50b47" providerId="ADAL" clId="{5DF3A229-1965-414E-AF54-F4C37AC7DF68}" dt="2026-04-13T07:56:38.802" v="670" actId="12"/>
          <ac:spMkLst>
            <pc:docMk/>
            <pc:sldMk cId="531081965" sldId="582"/>
            <ac:spMk id="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13T07:44:53.666" v="306" actId="1035"/>
          <ac:spMkLst>
            <pc:docMk/>
            <pc:sldMk cId="531081965" sldId="582"/>
            <ac:spMk id="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13T07:44:53.666" v="306" actId="1035"/>
          <ac:spMkLst>
            <pc:docMk/>
            <pc:sldMk cId="531081965" sldId="582"/>
            <ac:spMk id="10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13T07:56:25.905" v="669" actId="12"/>
          <ac:spMkLst>
            <pc:docMk/>
            <pc:sldMk cId="531081965" sldId="582"/>
            <ac:spMk id="1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13T07:44:33.510" v="281"/>
          <ac:spMkLst>
            <pc:docMk/>
            <pc:sldMk cId="531081965" sldId="582"/>
            <ac:spMk id="14338" creationId="{00000000-0000-0000-0000-000000000000}"/>
          </ac:spMkLst>
        </pc:spChg>
        <pc:grpChg chg="mod">
          <ac:chgData name="Zhao Jin" userId="cd05a825-544c-438a-9ba1-08e63db50b47" providerId="ADAL" clId="{5DF3A229-1965-414E-AF54-F4C37AC7DF68}" dt="2026-04-13T07:44:53.666" v="306" actId="1035"/>
          <ac:grpSpMkLst>
            <pc:docMk/>
            <pc:sldMk cId="531081965" sldId="582"/>
            <ac:grpSpMk id="14" creationId="{00000000-0000-0000-0000-000000000000}"/>
          </ac:grpSpMkLst>
        </pc:grpChg>
        <pc:grpChg chg="mod">
          <ac:chgData name="Zhao Jin" userId="cd05a825-544c-438a-9ba1-08e63db50b47" providerId="ADAL" clId="{5DF3A229-1965-414E-AF54-F4C37AC7DF68}" dt="2026-04-13T07:44:53.666" v="306" actId="1035"/>
          <ac:grpSpMkLst>
            <pc:docMk/>
            <pc:sldMk cId="531081965" sldId="582"/>
            <ac:grpSpMk id="21" creationId="{00000000-0000-0000-0000-000000000000}"/>
          </ac:grpSpMkLst>
        </pc:grpChg>
        <pc:grpChg chg="mod">
          <ac:chgData name="Zhao Jin" userId="cd05a825-544c-438a-9ba1-08e63db50b47" providerId="ADAL" clId="{5DF3A229-1965-414E-AF54-F4C37AC7DF68}" dt="2026-04-13T07:44:53.666" v="306" actId="1035"/>
          <ac:grpSpMkLst>
            <pc:docMk/>
            <pc:sldMk cId="531081965" sldId="582"/>
            <ac:grpSpMk id="28" creationId="{00000000-0000-0000-0000-000000000000}"/>
          </ac:grpSpMkLst>
        </pc:grpChg>
        <pc:grpChg chg="mod">
          <ac:chgData name="Zhao Jin" userId="cd05a825-544c-438a-9ba1-08e63db50b47" providerId="ADAL" clId="{5DF3A229-1965-414E-AF54-F4C37AC7DF68}" dt="2026-04-13T07:44:53.666" v="306" actId="1035"/>
          <ac:grpSpMkLst>
            <pc:docMk/>
            <pc:sldMk cId="531081965" sldId="582"/>
            <ac:grpSpMk id="37" creationId="{00000000-0000-0000-0000-000000000000}"/>
          </ac:grpSpMkLst>
        </pc:grpChg>
      </pc:sldChg>
      <pc:sldChg chg="modSp mod">
        <pc:chgData name="Zhao Jin" userId="cd05a825-544c-438a-9ba1-08e63db50b47" providerId="ADAL" clId="{5DF3A229-1965-414E-AF54-F4C37AC7DF68}" dt="2026-04-13T07:51:00.549" v="641" actId="20577"/>
        <pc:sldMkLst>
          <pc:docMk/>
          <pc:sldMk cId="4156536479" sldId="590"/>
        </pc:sldMkLst>
        <pc:spChg chg="mod">
          <ac:chgData name="Zhao Jin" userId="cd05a825-544c-438a-9ba1-08e63db50b47" providerId="ADAL" clId="{5DF3A229-1965-414E-AF54-F4C37AC7DF68}" dt="2026-04-13T07:51:00.549" v="641" actId="20577"/>
          <ac:spMkLst>
            <pc:docMk/>
            <pc:sldMk cId="4156536479" sldId="590"/>
            <ac:spMk id="9" creationId="{BF74F476-1EE8-F96C-3DAF-09CDC0062200}"/>
          </ac:spMkLst>
        </pc:spChg>
      </pc:sldChg>
      <pc:sldChg chg="modSp mod modAnim">
        <pc:chgData name="Zhao Jin" userId="cd05a825-544c-438a-9ba1-08e63db50b47" providerId="ADAL" clId="{5DF3A229-1965-414E-AF54-F4C37AC7DF68}" dt="2026-04-13T08:01:14.043" v="687"/>
        <pc:sldMkLst>
          <pc:docMk/>
          <pc:sldMk cId="1392057207" sldId="612"/>
        </pc:sldMkLst>
        <pc:spChg chg="mod">
          <ac:chgData name="Zhao Jin" userId="cd05a825-544c-438a-9ba1-08e63db50b47" providerId="ADAL" clId="{5DF3A229-1965-414E-AF54-F4C37AC7DF68}" dt="2026-04-13T07:59:29.693" v="679" actId="12"/>
          <ac:spMkLst>
            <pc:docMk/>
            <pc:sldMk cId="1392057207" sldId="612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5:59.979" v="668" actId="12"/>
        <pc:sldMkLst>
          <pc:docMk/>
          <pc:sldMk cId="4221416773" sldId="617"/>
        </pc:sldMkLst>
        <pc:spChg chg="mod">
          <ac:chgData name="Zhao Jin" userId="cd05a825-544c-438a-9ba1-08e63db50b47" providerId="ADAL" clId="{5DF3A229-1965-414E-AF54-F4C37AC7DF68}" dt="2026-04-13T07:55:59.979" v="668" actId="12"/>
          <ac:spMkLst>
            <pc:docMk/>
            <pc:sldMk cId="4221416773" sldId="617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2:45.946" v="652" actId="12"/>
        <pc:sldMkLst>
          <pc:docMk/>
          <pc:sldMk cId="3987593272" sldId="620"/>
        </pc:sldMkLst>
        <pc:spChg chg="mod">
          <ac:chgData name="Zhao Jin" userId="cd05a825-544c-438a-9ba1-08e63db50b47" providerId="ADAL" clId="{5DF3A229-1965-414E-AF54-F4C37AC7DF68}" dt="2026-04-13T07:52:45.946" v="652" actId="12"/>
          <ac:spMkLst>
            <pc:docMk/>
            <pc:sldMk cId="3987593272" sldId="620"/>
            <ac:spMk id="9" creationId="{E822A0D5-9D76-43F4-AB94-614D7B22B216}"/>
          </ac:spMkLst>
        </pc:spChg>
        <pc:spChg chg="mod">
          <ac:chgData name="Zhao Jin" userId="cd05a825-544c-438a-9ba1-08e63db50b47" providerId="ADAL" clId="{5DF3A229-1965-414E-AF54-F4C37AC7DF68}" dt="2026-04-13T07:41:15.096" v="254" actId="20577"/>
          <ac:spMkLst>
            <pc:docMk/>
            <pc:sldMk cId="3987593272" sldId="620"/>
            <ac:spMk id="13" creationId="{A6C30920-C994-477D-BF38-FB31A7971AB0}"/>
          </ac:spMkLst>
        </pc:spChg>
      </pc:sldChg>
      <pc:sldChg chg="modSp mod">
        <pc:chgData name="Zhao Jin" userId="cd05a825-544c-438a-9ba1-08e63db50b47" providerId="ADAL" clId="{5DF3A229-1965-414E-AF54-F4C37AC7DF68}" dt="2026-04-13T07:55:46.906" v="667" actId="12"/>
        <pc:sldMkLst>
          <pc:docMk/>
          <pc:sldMk cId="3358003148" sldId="639"/>
        </pc:sldMkLst>
        <pc:spChg chg="mod">
          <ac:chgData name="Zhao Jin" userId="cd05a825-544c-438a-9ba1-08e63db50b47" providerId="ADAL" clId="{5DF3A229-1965-414E-AF54-F4C37AC7DF68}" dt="2026-04-13T07:55:46.906" v="667" actId="12"/>
          <ac:spMkLst>
            <pc:docMk/>
            <pc:sldMk cId="3358003148" sldId="639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8:00:11.376" v="680" actId="12"/>
        <pc:sldMkLst>
          <pc:docMk/>
          <pc:sldMk cId="2491485580" sldId="653"/>
        </pc:sldMkLst>
        <pc:spChg chg="mod">
          <ac:chgData name="Zhao Jin" userId="cd05a825-544c-438a-9ba1-08e63db50b47" providerId="ADAL" clId="{5DF3A229-1965-414E-AF54-F4C37AC7DF68}" dt="2026-04-13T08:00:11.376" v="680" actId="12"/>
          <ac:spMkLst>
            <pc:docMk/>
            <pc:sldMk cId="2491485580" sldId="653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8:09.148" v="678" actId="1036"/>
        <pc:sldMkLst>
          <pc:docMk/>
          <pc:sldMk cId="2504199287" sldId="660"/>
        </pc:sldMkLst>
        <pc:spChg chg="mod">
          <ac:chgData name="Zhao Jin" userId="cd05a825-544c-438a-9ba1-08e63db50b47" providerId="ADAL" clId="{5DF3A229-1965-414E-AF54-F4C37AC7DF68}" dt="2026-04-13T07:58:09.148" v="678" actId="1036"/>
          <ac:spMkLst>
            <pc:docMk/>
            <pc:sldMk cId="2504199287" sldId="660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7:58.301" v="676" actId="12"/>
        <pc:sldMkLst>
          <pc:docMk/>
          <pc:sldMk cId="1362027057" sldId="677"/>
        </pc:sldMkLst>
        <pc:spChg chg="mod">
          <ac:chgData name="Zhao Jin" userId="cd05a825-544c-438a-9ba1-08e63db50b47" providerId="ADAL" clId="{5DF3A229-1965-414E-AF54-F4C37AC7DF68}" dt="2026-04-13T07:57:58.301" v="676" actId="12"/>
          <ac:spMkLst>
            <pc:docMk/>
            <pc:sldMk cId="1362027057" sldId="677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5:02.083" v="663" actId="12"/>
        <pc:sldMkLst>
          <pc:docMk/>
          <pc:sldMk cId="383394793" sldId="680"/>
        </pc:sldMkLst>
        <pc:spChg chg="mod">
          <ac:chgData name="Zhao Jin" userId="cd05a825-544c-438a-9ba1-08e63db50b47" providerId="ADAL" clId="{5DF3A229-1965-414E-AF54-F4C37AC7DF68}" dt="2026-04-13T07:55:02.083" v="663" actId="12"/>
          <ac:spMkLst>
            <pc:docMk/>
            <pc:sldMk cId="383394793" sldId="680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8:00:51.175" v="686" actId="404"/>
        <pc:sldMkLst>
          <pc:docMk/>
          <pc:sldMk cId="3249661942" sldId="686"/>
        </pc:sldMkLst>
        <pc:spChg chg="mod">
          <ac:chgData name="Zhao Jin" userId="cd05a825-544c-438a-9ba1-08e63db50b47" providerId="ADAL" clId="{5DF3A229-1965-414E-AF54-F4C37AC7DF68}" dt="2026-04-13T08:00:51.175" v="686" actId="404"/>
          <ac:spMkLst>
            <pc:docMk/>
            <pc:sldMk cId="3249661942" sldId="686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1:07.270" v="643" actId="20577"/>
        <pc:sldMkLst>
          <pc:docMk/>
          <pc:sldMk cId="3429125069" sldId="690"/>
        </pc:sldMkLst>
        <pc:spChg chg="mod">
          <ac:chgData name="Zhao Jin" userId="cd05a825-544c-438a-9ba1-08e63db50b47" providerId="ADAL" clId="{5DF3A229-1965-414E-AF54-F4C37AC7DF68}" dt="2026-04-13T07:51:07.270" v="643" actId="20577"/>
          <ac:spMkLst>
            <pc:docMk/>
            <pc:sldMk cId="3429125069" sldId="690"/>
            <ac:spMk id="11" creationId="{32F8559C-9D70-9B32-4447-2939262C1587}"/>
          </ac:spMkLst>
        </pc:spChg>
      </pc:sldChg>
      <pc:sldChg chg="modSp mod">
        <pc:chgData name="Zhao Jin" userId="cd05a825-544c-438a-9ba1-08e63db50b47" providerId="ADAL" clId="{5DF3A229-1965-414E-AF54-F4C37AC7DF68}" dt="2026-04-13T07:57:45.107" v="675" actId="12"/>
        <pc:sldMkLst>
          <pc:docMk/>
          <pc:sldMk cId="2308806921" sldId="692"/>
        </pc:sldMkLst>
        <pc:spChg chg="mod">
          <ac:chgData name="Zhao Jin" userId="cd05a825-544c-438a-9ba1-08e63db50b47" providerId="ADAL" clId="{5DF3A229-1965-414E-AF54-F4C37AC7DF68}" dt="2026-04-13T07:57:45.107" v="675" actId="12"/>
          <ac:spMkLst>
            <pc:docMk/>
            <pc:sldMk cId="2308806921" sldId="692"/>
            <ac:spMk id="12" creationId="{17874C1E-403E-F15A-8717-3FF7F244A1FD}"/>
          </ac:spMkLst>
        </pc:spChg>
      </pc:sldChg>
      <pc:sldChg chg="modSp mod">
        <pc:chgData name="Zhao Jin" userId="cd05a825-544c-438a-9ba1-08e63db50b47" providerId="ADAL" clId="{5DF3A229-1965-414E-AF54-F4C37AC7DF68}" dt="2026-04-13T08:01:48.851" v="692" actId="207"/>
        <pc:sldMkLst>
          <pc:docMk/>
          <pc:sldMk cId="1302906930" sldId="693"/>
        </pc:sldMkLst>
        <pc:spChg chg="mod">
          <ac:chgData name="Zhao Jin" userId="cd05a825-544c-438a-9ba1-08e63db50b47" providerId="ADAL" clId="{5DF3A229-1965-414E-AF54-F4C37AC7DF68}" dt="2026-04-13T08:01:48.851" v="692" actId="207"/>
          <ac:spMkLst>
            <pc:docMk/>
            <pc:sldMk cId="1302906930" sldId="693"/>
            <ac:spMk id="11" creationId="{6719DA3F-9CE1-4733-A287-6E9A20182AD7}"/>
          </ac:spMkLst>
        </pc:spChg>
      </pc:sldChg>
      <pc:sldChg chg="modSp mod">
        <pc:chgData name="Zhao Jin" userId="cd05a825-544c-438a-9ba1-08e63db50b47" providerId="ADAL" clId="{5DF3A229-1965-414E-AF54-F4C37AC7DF68}" dt="2026-04-13T08:02:01.956" v="697" actId="207"/>
        <pc:sldMkLst>
          <pc:docMk/>
          <pc:sldMk cId="529358301" sldId="694"/>
        </pc:sldMkLst>
        <pc:spChg chg="mod">
          <ac:chgData name="Zhao Jin" userId="cd05a825-544c-438a-9ba1-08e63db50b47" providerId="ADAL" clId="{5DF3A229-1965-414E-AF54-F4C37AC7DF68}" dt="2026-04-13T08:02:01.956" v="697" actId="207"/>
          <ac:spMkLst>
            <pc:docMk/>
            <pc:sldMk cId="529358301" sldId="694"/>
            <ac:spMk id="11" creationId="{6719DA3F-9CE1-4733-A287-6E9A20182AD7}"/>
          </ac:spMkLst>
        </pc:spChg>
      </pc:sldChg>
      <pc:sldChg chg="addSp delSp modSp mod">
        <pc:chgData name="Zhao Jin" userId="cd05a825-544c-438a-9ba1-08e63db50b47" providerId="ADAL" clId="{5DF3A229-1965-414E-AF54-F4C37AC7DF68}" dt="2026-04-13T07:56:57.486" v="671" actId="12"/>
        <pc:sldMkLst>
          <pc:docMk/>
          <pc:sldMk cId="1999212368" sldId="696"/>
        </pc:sldMkLst>
        <pc:spChg chg="add mod">
          <ac:chgData name="Zhao Jin" userId="cd05a825-544c-438a-9ba1-08e63db50b47" providerId="ADAL" clId="{5DF3A229-1965-414E-AF54-F4C37AC7DF68}" dt="2026-04-13T07:46:35.058" v="408" actId="1076"/>
          <ac:spMkLst>
            <pc:docMk/>
            <pc:sldMk cId="1999212368" sldId="696"/>
            <ac:spMk id="4" creationId="{4AC0A8ED-0FDE-15D8-58D9-6AFC3F04D818}"/>
          </ac:spMkLst>
        </pc:spChg>
        <pc:spChg chg="mod">
          <ac:chgData name="Zhao Jin" userId="cd05a825-544c-438a-9ba1-08e63db50b47" providerId="ADAL" clId="{5DF3A229-1965-414E-AF54-F4C37AC7DF68}" dt="2026-04-13T07:44:35.713" v="282"/>
          <ac:spMkLst>
            <pc:docMk/>
            <pc:sldMk cId="1999212368" sldId="696"/>
            <ac:spMk id="6" creationId="{93394880-6354-A2E4-D081-D892F4D64C54}"/>
          </ac:spMkLst>
        </pc:spChg>
        <pc:spChg chg="mod">
          <ac:chgData name="Zhao Jin" userId="cd05a825-544c-438a-9ba1-08e63db50b47" providerId="ADAL" clId="{5DF3A229-1965-414E-AF54-F4C37AC7DF68}" dt="2026-04-13T07:56:57.486" v="671" actId="12"/>
          <ac:spMkLst>
            <pc:docMk/>
            <pc:sldMk cId="1999212368" sldId="696"/>
            <ac:spMk id="7" creationId="{1E859F23-EC2C-8B34-D4E1-11EFB98029B2}"/>
          </ac:spMkLst>
        </pc:spChg>
        <pc:spChg chg="del">
          <ac:chgData name="Zhao Jin" userId="cd05a825-544c-438a-9ba1-08e63db50b47" providerId="ADAL" clId="{5DF3A229-1965-414E-AF54-F4C37AC7DF68}" dt="2026-04-13T07:42:59.008" v="255" actId="478"/>
          <ac:spMkLst>
            <pc:docMk/>
            <pc:sldMk cId="1999212368" sldId="696"/>
            <ac:spMk id="12" creationId="{BED207C9-CF96-9F2F-4848-C10FAD12936B}"/>
          </ac:spMkLst>
        </pc:spChg>
      </pc:sldChg>
      <pc:sldChg chg="modSp mod">
        <pc:chgData name="Zhao Jin" userId="cd05a825-544c-438a-9ba1-08e63db50b47" providerId="ADAL" clId="{5DF3A229-1965-414E-AF54-F4C37AC7DF68}" dt="2026-04-13T07:57:11.538" v="672" actId="12"/>
        <pc:sldMkLst>
          <pc:docMk/>
          <pc:sldMk cId="4269670913" sldId="698"/>
        </pc:sldMkLst>
        <pc:spChg chg="mod">
          <ac:chgData name="Zhao Jin" userId="cd05a825-544c-438a-9ba1-08e63db50b47" providerId="ADAL" clId="{5DF3A229-1965-414E-AF54-F4C37AC7DF68}" dt="2026-04-13T07:57:11.538" v="672" actId="12"/>
          <ac:spMkLst>
            <pc:docMk/>
            <pc:sldMk cId="4269670913" sldId="698"/>
            <ac:spMk id="9" creationId="{E2F39BC3-D42D-F815-1AA1-C3BEE790EC67}"/>
          </ac:spMkLst>
        </pc:spChg>
        <pc:spChg chg="mod">
          <ac:chgData name="Zhao Jin" userId="cd05a825-544c-438a-9ba1-08e63db50b47" providerId="ADAL" clId="{5DF3A229-1965-414E-AF54-F4C37AC7DF68}" dt="2026-04-13T07:47:26.548" v="440" actId="1038"/>
          <ac:spMkLst>
            <pc:docMk/>
            <pc:sldMk cId="4269670913" sldId="698"/>
            <ac:spMk id="10" creationId="{803651B9-9334-7B78-2F28-F78E3662A877}"/>
          </ac:spMkLst>
        </pc:spChg>
        <pc:spChg chg="mod">
          <ac:chgData name="Zhao Jin" userId="cd05a825-544c-438a-9ba1-08e63db50b47" providerId="ADAL" clId="{5DF3A229-1965-414E-AF54-F4C37AC7DF68}" dt="2026-04-13T07:47:26.548" v="440" actId="1038"/>
          <ac:spMkLst>
            <pc:docMk/>
            <pc:sldMk cId="4269670913" sldId="698"/>
            <ac:spMk id="11" creationId="{1F539B3C-7A42-DBB7-142D-35D8250B9A4D}"/>
          </ac:spMkLst>
        </pc:spChg>
        <pc:spChg chg="mod">
          <ac:chgData name="Zhao Jin" userId="cd05a825-544c-438a-9ba1-08e63db50b47" providerId="ADAL" clId="{5DF3A229-1965-414E-AF54-F4C37AC7DF68}" dt="2026-04-13T07:47:26.548" v="440" actId="1038"/>
          <ac:spMkLst>
            <pc:docMk/>
            <pc:sldMk cId="4269670913" sldId="698"/>
            <ac:spMk id="13" creationId="{85B71C4A-55B1-B25A-86FB-30A9F654EC4F}"/>
          </ac:spMkLst>
        </pc:spChg>
      </pc:sldChg>
      <pc:sldChg chg="addSp delSp modSp add mod">
        <pc:chgData name="Zhao Jin" userId="cd05a825-544c-438a-9ba1-08e63db50b47" providerId="ADAL" clId="{5DF3A229-1965-414E-AF54-F4C37AC7DF68}" dt="2026-04-13T07:36:17.420" v="243" actId="14100"/>
        <pc:sldMkLst>
          <pc:docMk/>
          <pc:sldMk cId="1755137301" sldId="701"/>
        </pc:sldMkLst>
        <pc:spChg chg="add mod">
          <ac:chgData name="Zhao Jin" userId="cd05a825-544c-438a-9ba1-08e63db50b47" providerId="ADAL" clId="{5DF3A229-1965-414E-AF54-F4C37AC7DF68}" dt="2026-04-13T07:36:17.420" v="243" actId="14100"/>
          <ac:spMkLst>
            <pc:docMk/>
            <pc:sldMk cId="1755137301" sldId="701"/>
            <ac:spMk id="4" creationId="{67271872-DC5E-9AE9-399C-29ED0B7005D5}"/>
          </ac:spMkLst>
        </pc:spChg>
        <pc:spChg chg="add del mod">
          <ac:chgData name="Zhao Jin" userId="cd05a825-544c-438a-9ba1-08e63db50b47" providerId="ADAL" clId="{5DF3A229-1965-414E-AF54-F4C37AC7DF68}" dt="2026-04-13T07:24:43.955" v="80" actId="478"/>
          <ac:spMkLst>
            <pc:docMk/>
            <pc:sldMk cId="1755137301" sldId="701"/>
            <ac:spMk id="5" creationId="{0B779DC0-18F4-0811-0A4F-E40DFC3D666A}"/>
          </ac:spMkLst>
        </pc:spChg>
        <pc:spChg chg="add del mod">
          <ac:chgData name="Zhao Jin" userId="cd05a825-544c-438a-9ba1-08e63db50b47" providerId="ADAL" clId="{5DF3A229-1965-414E-AF54-F4C37AC7DF68}" dt="2026-04-13T07:25:15.980" v="94" actId="478"/>
          <ac:spMkLst>
            <pc:docMk/>
            <pc:sldMk cId="1755137301" sldId="701"/>
            <ac:spMk id="6" creationId="{AB17D6C2-D0B6-FA18-B50C-0BE41D1E0A2B}"/>
          </ac:spMkLst>
        </pc:spChg>
        <pc:spChg chg="del">
          <ac:chgData name="Zhao Jin" userId="cd05a825-544c-438a-9ba1-08e63db50b47" providerId="ADAL" clId="{5DF3A229-1965-414E-AF54-F4C37AC7DF68}" dt="2026-04-13T07:25:15.980" v="94" actId="478"/>
          <ac:spMkLst>
            <pc:docMk/>
            <pc:sldMk cId="1755137301" sldId="701"/>
            <ac:spMk id="42" creationId="{CC53C198-DC87-6A90-465D-834CF2EA82AA}"/>
          </ac:spMkLst>
        </pc:spChg>
        <pc:spChg chg="del">
          <ac:chgData name="Zhao Jin" userId="cd05a825-544c-438a-9ba1-08e63db50b47" providerId="ADAL" clId="{5DF3A229-1965-414E-AF54-F4C37AC7DF68}" dt="2026-04-13T07:25:15.980" v="94" actId="478"/>
          <ac:spMkLst>
            <pc:docMk/>
            <pc:sldMk cId="1755137301" sldId="701"/>
            <ac:spMk id="44" creationId="{2E2D9010-C5DD-E0E0-20EC-04F82F21DB26}"/>
          </ac:spMkLst>
        </pc:spChg>
        <pc:spChg chg="del">
          <ac:chgData name="Zhao Jin" userId="cd05a825-544c-438a-9ba1-08e63db50b47" providerId="ADAL" clId="{5DF3A229-1965-414E-AF54-F4C37AC7DF68}" dt="2026-04-13T07:24:43.955" v="80" actId="478"/>
          <ac:spMkLst>
            <pc:docMk/>
            <pc:sldMk cId="1755137301" sldId="701"/>
            <ac:spMk id="45" creationId="{C0B64F89-178F-A273-9EB2-A8E7B2C4E044}"/>
          </ac:spMkLst>
        </pc:spChg>
        <pc:spChg chg="del">
          <ac:chgData name="Zhao Jin" userId="cd05a825-544c-438a-9ba1-08e63db50b47" providerId="ADAL" clId="{5DF3A229-1965-414E-AF54-F4C37AC7DF68}" dt="2026-04-13T07:25:15.980" v="94" actId="478"/>
          <ac:spMkLst>
            <pc:docMk/>
            <pc:sldMk cId="1755137301" sldId="701"/>
            <ac:spMk id="46" creationId="{A8961CE9-636B-6378-D681-4055E04B2D14}"/>
          </ac:spMkLst>
        </pc:spChg>
        <pc:spChg chg="del">
          <ac:chgData name="Zhao Jin" userId="cd05a825-544c-438a-9ba1-08e63db50b47" providerId="ADAL" clId="{5DF3A229-1965-414E-AF54-F4C37AC7DF68}" dt="2026-04-13T07:25:15.980" v="94" actId="478"/>
          <ac:spMkLst>
            <pc:docMk/>
            <pc:sldMk cId="1755137301" sldId="701"/>
            <ac:spMk id="47" creationId="{633C4E26-B843-4DF2-5CE8-316660505AB2}"/>
          </ac:spMkLst>
        </pc:spChg>
        <pc:spChg chg="mod">
          <ac:chgData name="Zhao Jin" userId="cd05a825-544c-438a-9ba1-08e63db50b47" providerId="ADAL" clId="{5DF3A229-1965-414E-AF54-F4C37AC7DF68}" dt="2026-04-13T07:29:46.813" v="154" actId="20577"/>
          <ac:spMkLst>
            <pc:docMk/>
            <pc:sldMk cId="1755137301" sldId="701"/>
            <ac:spMk id="48" creationId="{6FAC934E-A242-814D-7D45-ADE7942B3665}"/>
          </ac:spMkLst>
        </pc:spChg>
        <pc:grpChg chg="del">
          <ac:chgData name="Zhao Jin" userId="cd05a825-544c-438a-9ba1-08e63db50b47" providerId="ADAL" clId="{5DF3A229-1965-414E-AF54-F4C37AC7DF68}" dt="2026-04-13T07:25:15.980" v="94" actId="478"/>
          <ac:grpSpMkLst>
            <pc:docMk/>
            <pc:sldMk cId="1755137301" sldId="701"/>
            <ac:grpSpMk id="25" creationId="{4E640BAC-FA33-00A8-95CE-F9F8863B18E2}"/>
          </ac:grpSpMkLst>
        </pc:grpChg>
        <pc:picChg chg="add mod">
          <ac:chgData name="Zhao Jin" userId="cd05a825-544c-438a-9ba1-08e63db50b47" providerId="ADAL" clId="{5DF3A229-1965-414E-AF54-F4C37AC7DF68}" dt="2026-04-13T07:30:11.451" v="159" actId="14100"/>
          <ac:picMkLst>
            <pc:docMk/>
            <pc:sldMk cId="1755137301" sldId="701"/>
            <ac:picMk id="8" creationId="{A69842B6-FD41-74B7-C7A5-70BE95EF8728}"/>
          </ac:picMkLst>
        </pc:picChg>
        <pc:picChg chg="add mod">
          <ac:chgData name="Zhao Jin" userId="cd05a825-544c-438a-9ba1-08e63db50b47" providerId="ADAL" clId="{5DF3A229-1965-414E-AF54-F4C37AC7DF68}" dt="2026-04-13T07:30:29.159" v="162" actId="14100"/>
          <ac:picMkLst>
            <pc:docMk/>
            <pc:sldMk cId="1755137301" sldId="701"/>
            <ac:picMk id="9" creationId="{B5283C43-6EBB-43FD-EC39-1E5E9ABCF553}"/>
          </ac:picMkLst>
        </pc:picChg>
        <pc:picChg chg="add mod">
          <ac:chgData name="Zhao Jin" userId="cd05a825-544c-438a-9ba1-08e63db50b47" providerId="ADAL" clId="{5DF3A229-1965-414E-AF54-F4C37AC7DF68}" dt="2026-04-13T07:30:35.065" v="164" actId="1076"/>
          <ac:picMkLst>
            <pc:docMk/>
            <pc:sldMk cId="1755137301" sldId="701"/>
            <ac:picMk id="10" creationId="{1F7BCC1C-A211-2CF9-5784-D017BAD3D597}"/>
          </ac:picMkLst>
        </pc:picChg>
        <pc:cxnChg chg="mod">
          <ac:chgData name="Zhao Jin" userId="cd05a825-544c-438a-9ba1-08e63db50b47" providerId="ADAL" clId="{5DF3A229-1965-414E-AF54-F4C37AC7DF68}" dt="2026-04-13T07:25:15.980" v="94" actId="478"/>
          <ac:cxnSpMkLst>
            <pc:docMk/>
            <pc:sldMk cId="1755137301" sldId="701"/>
            <ac:cxnSpMk id="30" creationId="{03F67E21-A295-0428-6D80-AFF1CCD8ABBD}"/>
          </ac:cxnSpMkLst>
        </pc:cxnChg>
        <pc:cxnChg chg="mod">
          <ac:chgData name="Zhao Jin" userId="cd05a825-544c-438a-9ba1-08e63db50b47" providerId="ADAL" clId="{5DF3A229-1965-414E-AF54-F4C37AC7DF68}" dt="2026-04-13T07:25:15.980" v="94" actId="478"/>
          <ac:cxnSpMkLst>
            <pc:docMk/>
            <pc:sldMk cId="1755137301" sldId="701"/>
            <ac:cxnSpMk id="31" creationId="{30C09CEE-18F7-FF4E-668A-2BBCC59F0DC6}"/>
          </ac:cxnSpMkLst>
        </pc:cxnChg>
        <pc:cxnChg chg="mod">
          <ac:chgData name="Zhao Jin" userId="cd05a825-544c-438a-9ba1-08e63db50b47" providerId="ADAL" clId="{5DF3A229-1965-414E-AF54-F4C37AC7DF68}" dt="2026-04-13T07:25:15.980" v="94" actId="478"/>
          <ac:cxnSpMkLst>
            <pc:docMk/>
            <pc:sldMk cId="1755137301" sldId="701"/>
            <ac:cxnSpMk id="32" creationId="{32033FFC-DA08-52AD-758A-8AA328079D03}"/>
          </ac:cxnSpMkLst>
        </pc:cxnChg>
      </pc:sldChg>
      <pc:sldChg chg="add del">
        <pc:chgData name="Zhao Jin" userId="cd05a825-544c-438a-9ba1-08e63db50b47" providerId="ADAL" clId="{5DF3A229-1965-414E-AF54-F4C37AC7DF68}" dt="2026-04-13T07:20:16.209" v="4" actId="47"/>
        <pc:sldMkLst>
          <pc:docMk/>
          <pc:sldMk cId="2557238745" sldId="701"/>
        </pc:sldMkLst>
      </pc:sldChg>
      <pc:sldChg chg="delSp modSp add mod">
        <pc:chgData name="Zhao Jin" userId="cd05a825-544c-438a-9ba1-08e63db50b47" providerId="ADAL" clId="{5DF3A229-1965-414E-AF54-F4C37AC7DF68}" dt="2026-04-13T07:57:23.848" v="673" actId="12"/>
        <pc:sldMkLst>
          <pc:docMk/>
          <pc:sldMk cId="882444457" sldId="702"/>
        </pc:sldMkLst>
        <pc:spChg chg="mod">
          <ac:chgData name="Zhao Jin" userId="cd05a825-544c-438a-9ba1-08e63db50b47" providerId="ADAL" clId="{5DF3A229-1965-414E-AF54-F4C37AC7DF68}" dt="2026-04-13T07:48:00.225" v="448"/>
          <ac:spMkLst>
            <pc:docMk/>
            <pc:sldMk cId="882444457" sldId="702"/>
            <ac:spMk id="8" creationId="{1AC80FB2-962A-B755-31CC-7D34879DB1DA}"/>
          </ac:spMkLst>
        </pc:spChg>
        <pc:spChg chg="mod">
          <ac:chgData name="Zhao Jin" userId="cd05a825-544c-438a-9ba1-08e63db50b47" providerId="ADAL" clId="{5DF3A229-1965-414E-AF54-F4C37AC7DF68}" dt="2026-04-13T07:57:23.848" v="673" actId="12"/>
          <ac:spMkLst>
            <pc:docMk/>
            <pc:sldMk cId="882444457" sldId="702"/>
            <ac:spMk id="9" creationId="{EEDEC2C4-4500-354E-9800-096DEE6BB41F}"/>
          </ac:spMkLst>
        </pc:spChg>
        <pc:spChg chg="del">
          <ac:chgData name="Zhao Jin" userId="cd05a825-544c-438a-9ba1-08e63db50b47" providerId="ADAL" clId="{5DF3A229-1965-414E-AF54-F4C37AC7DF68}" dt="2026-04-13T07:48:06.716" v="450" actId="478"/>
          <ac:spMkLst>
            <pc:docMk/>
            <pc:sldMk cId="882444457" sldId="702"/>
            <ac:spMk id="10" creationId="{9A01C3CE-1356-4EF8-B51F-8D9F32F59E5D}"/>
          </ac:spMkLst>
        </pc:spChg>
        <pc:spChg chg="del">
          <ac:chgData name="Zhao Jin" userId="cd05a825-544c-438a-9ba1-08e63db50b47" providerId="ADAL" clId="{5DF3A229-1965-414E-AF54-F4C37AC7DF68}" dt="2026-04-13T07:48:04.714" v="449" actId="478"/>
          <ac:spMkLst>
            <pc:docMk/>
            <pc:sldMk cId="882444457" sldId="702"/>
            <ac:spMk id="11" creationId="{158478C3-C79C-1514-EEE1-16CC33896DED}"/>
          </ac:spMkLst>
        </pc:spChg>
        <pc:spChg chg="del">
          <ac:chgData name="Zhao Jin" userId="cd05a825-544c-438a-9ba1-08e63db50b47" providerId="ADAL" clId="{5DF3A229-1965-414E-AF54-F4C37AC7DF68}" dt="2026-04-13T07:48:04.714" v="449" actId="478"/>
          <ac:spMkLst>
            <pc:docMk/>
            <pc:sldMk cId="882444457" sldId="702"/>
            <ac:spMk id="13" creationId="{742D2960-E1B8-8790-F61F-F014076BF7C4}"/>
          </ac:spMkLst>
        </pc:spChg>
      </pc:sldChg>
      <pc:sldChg chg="modSp add mod">
        <pc:chgData name="Zhao Jin" userId="cd05a825-544c-438a-9ba1-08e63db50b47" providerId="ADAL" clId="{5DF3A229-1965-414E-AF54-F4C37AC7DF68}" dt="2026-04-13T08:00:33.907" v="682" actId="403"/>
        <pc:sldMkLst>
          <pc:docMk/>
          <pc:sldMk cId="934777683" sldId="703"/>
        </pc:sldMkLst>
        <pc:spChg chg="mod">
          <ac:chgData name="Zhao Jin" userId="cd05a825-544c-438a-9ba1-08e63db50b47" providerId="ADAL" clId="{5DF3A229-1965-414E-AF54-F4C37AC7DF68}" dt="2026-04-13T08:00:33.907" v="682" actId="403"/>
          <ac:spMkLst>
            <pc:docMk/>
            <pc:sldMk cId="934777683" sldId="703"/>
            <ac:spMk id="8" creationId="{302EF9BA-6916-4ADD-C9CC-55AA41CB61BE}"/>
          </ac:spMkLst>
        </pc:spChg>
      </pc:sldChg>
      <pc:sldChg chg="modSp add mod">
        <pc:chgData name="Zhao Jin" userId="cd05a825-544c-438a-9ba1-08e63db50b47" providerId="ADAL" clId="{5DF3A229-1965-414E-AF54-F4C37AC7DF68}" dt="2026-04-13T08:03:27.852" v="699" actId="207"/>
        <pc:sldMkLst>
          <pc:docMk/>
          <pc:sldMk cId="2359251908" sldId="704"/>
        </pc:sldMkLst>
        <pc:spChg chg="mod">
          <ac:chgData name="Zhao Jin" userId="cd05a825-544c-438a-9ba1-08e63db50b47" providerId="ADAL" clId="{5DF3A229-1965-414E-AF54-F4C37AC7DF68}" dt="2026-04-13T08:03:27.852" v="699" actId="207"/>
          <ac:spMkLst>
            <pc:docMk/>
            <pc:sldMk cId="2359251908" sldId="704"/>
            <ac:spMk id="14339" creationId="{C7C978DE-832D-084A-AE26-194EF679F106}"/>
          </ac:spMkLst>
        </pc:spChg>
      </pc:sldChg>
      <pc:sldChg chg="modSp add mod">
        <pc:chgData name="Zhao Jin" userId="cd05a825-544c-438a-9ba1-08e63db50b47" providerId="ADAL" clId="{5DF3A229-1965-414E-AF54-F4C37AC7DF68}" dt="2026-04-13T08:03:47.102" v="702" actId="207"/>
        <pc:sldMkLst>
          <pc:docMk/>
          <pc:sldMk cId="409906731" sldId="705"/>
        </pc:sldMkLst>
        <pc:spChg chg="mod">
          <ac:chgData name="Zhao Jin" userId="cd05a825-544c-438a-9ba1-08e63db50b47" providerId="ADAL" clId="{5DF3A229-1965-414E-AF54-F4C37AC7DF68}" dt="2026-04-13T08:03:47.102" v="702" actId="207"/>
          <ac:spMkLst>
            <pc:docMk/>
            <pc:sldMk cId="409906731" sldId="705"/>
            <ac:spMk id="14339" creationId="{A332BFAD-C212-3731-D787-FC1A8166300F}"/>
          </ac:spMkLst>
        </pc:spChg>
      </pc:sldChg>
      <pc:sldChg chg="modSp add mod">
        <pc:chgData name="Zhao Jin" userId="cd05a825-544c-438a-9ba1-08e63db50b47" providerId="ADAL" clId="{5DF3A229-1965-414E-AF54-F4C37AC7DF68}" dt="2026-04-13T08:04:00.185" v="705" actId="207"/>
        <pc:sldMkLst>
          <pc:docMk/>
          <pc:sldMk cId="704960903" sldId="706"/>
        </pc:sldMkLst>
        <pc:spChg chg="mod">
          <ac:chgData name="Zhao Jin" userId="cd05a825-544c-438a-9ba1-08e63db50b47" providerId="ADAL" clId="{5DF3A229-1965-414E-AF54-F4C37AC7DF68}" dt="2026-04-13T08:04:00.185" v="705" actId="207"/>
          <ac:spMkLst>
            <pc:docMk/>
            <pc:sldMk cId="704960903" sldId="706"/>
            <ac:spMk id="14339" creationId="{BEC05174-DA29-BC3C-3AB9-8DDEDC242D46}"/>
          </ac:spMkLst>
        </pc:spChg>
      </pc:sldChg>
      <pc:sldChg chg="modSp add mod">
        <pc:chgData name="Zhao Jin" userId="cd05a825-544c-438a-9ba1-08e63db50b47" providerId="ADAL" clId="{5DF3A229-1965-414E-AF54-F4C37AC7DF68}" dt="2026-04-13T08:04:14.327" v="708" actId="207"/>
        <pc:sldMkLst>
          <pc:docMk/>
          <pc:sldMk cId="444284909" sldId="707"/>
        </pc:sldMkLst>
        <pc:spChg chg="mod">
          <ac:chgData name="Zhao Jin" userId="cd05a825-544c-438a-9ba1-08e63db50b47" providerId="ADAL" clId="{5DF3A229-1965-414E-AF54-F4C37AC7DF68}" dt="2026-04-13T08:04:14.327" v="708" actId="207"/>
          <ac:spMkLst>
            <pc:docMk/>
            <pc:sldMk cId="444284909" sldId="707"/>
            <ac:spMk id="14339" creationId="{F24FF204-EF57-3903-9920-93F47F0CDC0E}"/>
          </ac:spMkLst>
        </pc:spChg>
      </pc:sldChg>
      <pc:sldChg chg="modSp add mod">
        <pc:chgData name="Zhao Jin" userId="cd05a825-544c-438a-9ba1-08e63db50b47" providerId="ADAL" clId="{5DF3A229-1965-414E-AF54-F4C37AC7DF68}" dt="2026-04-13T08:04:35.818" v="711" actId="207"/>
        <pc:sldMkLst>
          <pc:docMk/>
          <pc:sldMk cId="2434085025" sldId="708"/>
        </pc:sldMkLst>
        <pc:spChg chg="mod">
          <ac:chgData name="Zhao Jin" userId="cd05a825-544c-438a-9ba1-08e63db50b47" providerId="ADAL" clId="{5DF3A229-1965-414E-AF54-F4C37AC7DF68}" dt="2026-04-13T08:04:35.818" v="711" actId="207"/>
          <ac:spMkLst>
            <pc:docMk/>
            <pc:sldMk cId="2434085025" sldId="708"/>
            <ac:spMk id="14339" creationId="{E2C52605-0F9E-B33C-2B16-434DB8A7348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625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22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95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91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2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68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78DF-27BF-DC81-F2D0-F2FDFD96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D0B1E0E-53D6-D14E-3B4C-C840A9C96F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A9AD7BB-9D6F-E46A-0387-CB61A1123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0B64D34-8311-698B-393C-2791F6B95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83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E94E5-BB1A-4CEA-699B-62886559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437239A-A641-7F6B-F592-06BCA05690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D33A2C9-6684-7E10-3CEC-3573CCFC48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E38C89F-03E3-9247-48DA-9803AB09E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38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691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94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55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1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782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12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48D3-035C-7372-9A26-1B6FFEC2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7D5302F-9A71-99E6-99DD-A531D04D2E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6C28B23-493E-845A-8DDF-335931EC87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CD22297-5943-FC10-554A-C33173AAE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06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A59B-5265-7D47-A946-1D4AF501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C063AC8-8F26-D339-48A3-EE535CC0B4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3AB18FA-AF93-21AE-FA90-F28CAB0B9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D01D37F-51FC-371B-60BD-83F389A56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84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9A7B-6D56-70A6-2004-29FD537B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1E5B9E6-57D7-86A1-7F0B-ACD13273C1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5E8BED2-D718-EFCD-FABE-638FD8E516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53D116B-2CB1-4F46-C4FB-363F8A207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365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020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434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12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543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65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98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1554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5227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3CB56-2D06-0A15-75D5-C630ECBD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FD14205-34D0-B95F-4400-5F3D43F9F7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0E4E2F4-9765-DCAB-B0C5-05DC23BAEF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AB9570E-7B22-6C68-91D4-03BDC0417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7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86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898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219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262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68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03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1A60-C373-C166-0195-53750DD8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954FB61-73D6-38FD-BA4B-419B1B23E5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06EA87C-3937-09EB-DCF3-3FE981EF1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A186FED-E6C2-0D25-8CA3-16BA71D81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725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210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899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159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129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178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665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676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8179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9725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4B721-12D0-2F03-F93D-DED96E12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167E53B-B50D-5ED9-41A7-177B69253B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A176040-8018-FD07-7F72-13FD8F166C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E360DDF-2ACC-4F48-FCA7-DACEDD0C5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5596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8305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0194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860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2122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136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980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0ACD7-A52C-4028-BD54-527EF4BA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761ACE4-F725-F551-53B5-766B93D945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3DA260F-CC30-CEBF-5A5B-2D04CE81BF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D0683D9A-82A3-EF71-E792-297FE2D36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2276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06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829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961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813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0FC0-783B-55F1-BD34-780C3179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B2BCBBB-EB96-1DEC-9028-13D5DC19DE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3F2E59C2-4814-712D-BFEE-E5BA335C1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D10D146-BE11-6B5D-DCBC-8AB2F0DC3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0758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770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3602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2BF12-0B0C-D678-C344-392110EB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56CD77D-5909-3055-4D8D-BA211AAA44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08D9473-F109-DD23-3DBE-293834FE7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1F8F992-20E4-EA93-4D31-DCC983A5B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9331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401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5C33-074F-97B9-3CB3-32BDE4AC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8F6665F-E424-4BA0-B83A-241FF7F476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3C4EEB23-AAF5-ACE9-E78A-6621F8A843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086BC02-FE39-2561-91BC-43FBF8308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9535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2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The Mega 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0100" y="1235395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7B1F5E46-7CDF-E203-727A-42A85A0833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2DA2E9-49FF-92B1-CCCA-22BF03AA4E8B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C94A6F-74E8-43EB-ED5E-D5557D3D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63AC5-218B-16AE-46C4-7BF552FD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6C163E-5840-A157-AF1F-25B9C413A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Objectives 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695C0EDC-618D-8F01-7F9A-1C8F1C4BB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Learn about </a:t>
            </a:r>
            <a:r>
              <a:rPr lang="en-US" sz="2800" dirty="0">
                <a:solidFill>
                  <a:srgbClr val="0000FF"/>
                </a:solidFill>
              </a:rPr>
              <a:t>a systematic way </a:t>
            </a:r>
            <a:r>
              <a:rPr lang="en-US" sz="2800" dirty="0"/>
              <a:t>to write programs </a:t>
            </a:r>
            <a:r>
              <a:rPr lang="en-US" sz="2800" dirty="0">
                <a:solidFill>
                  <a:srgbClr val="0000FF"/>
                </a:solidFill>
              </a:rPr>
              <a:t>for solving computational problems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marL="288925" indent="-288925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/>
              <a:t>Explore various </a:t>
            </a:r>
            <a:r>
              <a:rPr lang="en-GB" sz="2800" dirty="0">
                <a:solidFill>
                  <a:srgbClr val="0000FF"/>
                </a:solidFill>
              </a:rPr>
              <a:t>hardware-related</a:t>
            </a:r>
            <a:r>
              <a:rPr lang="en-GB" sz="2800" dirty="0"/>
              <a:t> topics, such as memory management.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Become proficient with </a:t>
            </a:r>
            <a:r>
              <a:rPr lang="en-US" sz="2800" dirty="0">
                <a:solidFill>
                  <a:srgbClr val="0000FF"/>
                </a:solidFill>
              </a:rPr>
              <a:t>C</a:t>
            </a:r>
            <a:r>
              <a:rPr lang="en-US" sz="2800" dirty="0"/>
              <a:t> and associated programming tools (editors, debuggers)</a:t>
            </a:r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2184A2-D5B1-CDAE-3882-B06F5027E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53" y="5015122"/>
            <a:ext cx="1866660" cy="13094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A3D93F-2746-D114-62FD-D5BA87F5F956}"/>
              </a:ext>
            </a:extLst>
          </p:cNvPr>
          <p:cNvSpPr txBox="1"/>
          <p:nvPr/>
        </p:nvSpPr>
        <p:spPr>
          <a:xfrm>
            <a:off x="3138647" y="5015122"/>
            <a:ext cx="4553366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course is called </a:t>
            </a:r>
            <a:br>
              <a:rPr lang="en-US" sz="2400" dirty="0"/>
            </a:br>
            <a:r>
              <a:rPr lang="en-US" sz="2400" dirty="0">
                <a:solidFill>
                  <a:srgbClr val="0000FF"/>
                </a:solidFill>
              </a:rPr>
              <a:t>Programming Methodology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It is </a:t>
            </a:r>
            <a:r>
              <a:rPr lang="en-US" sz="2400" dirty="0">
                <a:solidFill>
                  <a:srgbClr val="0000FF"/>
                </a:solidFill>
              </a:rPr>
              <a:t>NOT</a:t>
            </a:r>
            <a:r>
              <a:rPr lang="en-US" sz="2400" dirty="0"/>
              <a:t> just about coding in C!</a:t>
            </a:r>
          </a:p>
        </p:txBody>
      </p:sp>
    </p:spTree>
    <p:extLst>
      <p:ext uri="{BB962C8B-B14F-4D97-AF65-F5344CB8AC3E}">
        <p14:creationId xmlns:p14="http://schemas.microsoft.com/office/powerpoint/2010/main" val="404982768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Mega Recap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913586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Algorithmic Problem Solving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Data Structures, Control Structures and Practical Algorithms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Good Coding Habits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Program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Syntax of C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B983E4-1910-2DC3-DC92-2B4E88E4E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25E17E-8569-AECF-6F6B-465A6856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Algorithmic Problem Solving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The Problem 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The Process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The Techniques</a:t>
            </a:r>
          </a:p>
          <a:p>
            <a:pPr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AF84AA-5C36-3DFF-DAD2-ECBDCCB5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236F29-138B-D12A-4793-8339FB96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947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The Problem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Computational Problems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have </a:t>
            </a:r>
            <a:r>
              <a:rPr lang="en-US" sz="2400" dirty="0">
                <a:solidFill>
                  <a:srgbClr val="0000FF"/>
                </a:solidFill>
              </a:rPr>
              <a:t>well-defined</a:t>
            </a:r>
            <a:r>
              <a:rPr lang="en-US" sz="2400" dirty="0"/>
              <a:t> </a:t>
            </a:r>
            <a:r>
              <a:rPr lang="en-US" sz="2400" dirty="0">
                <a:solidFill>
                  <a:srgbClr val="0000FF"/>
                </a:solidFill>
              </a:rPr>
              <a:t>inputs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outputs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0000FF"/>
                </a:solidFill>
              </a:rPr>
              <a:t>constraints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can be solved </a:t>
            </a:r>
            <a:r>
              <a:rPr lang="en-US" sz="2400" dirty="0">
                <a:solidFill>
                  <a:srgbClr val="0000FF"/>
                </a:solidFill>
              </a:rPr>
              <a:t>step-by-step</a:t>
            </a:r>
            <a:r>
              <a:rPr lang="en-US" sz="2400" dirty="0"/>
              <a:t> by a</a:t>
            </a:r>
            <a:r>
              <a:rPr lang="en-US" sz="2400" dirty="0">
                <a:solidFill>
                  <a:srgbClr val="0000FF"/>
                </a:solidFill>
              </a:rPr>
              <a:t> computer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Is 1933091 prime?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Find a route from Point A to Point B.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How many different routes are there from Point A to Point B?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Find the shortest route from Point A to Point B.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8F2A87-4F2B-3D30-0CAB-0678CFA7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98E497-91A3-F02C-50D7-525DBC37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93484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[Group 28]"/>
          <p:cNvGrpSpPr/>
          <p:nvPr/>
        </p:nvGrpSpPr>
        <p:grpSpPr>
          <a:xfrm>
            <a:off x="2895600" y="1377278"/>
            <a:ext cx="3854488" cy="4406263"/>
            <a:chOff x="2895600" y="1377278"/>
            <a:chExt cx="3854488" cy="4406263"/>
          </a:xfrm>
        </p:grpSpPr>
        <p:sp>
          <p:nvSpPr>
            <p:cNvPr id="26" name="TextBox 25"/>
            <p:cNvSpPr txBox="1"/>
            <p:nvPr/>
          </p:nvSpPr>
          <p:spPr bwMode="auto">
            <a:xfrm>
              <a:off x="2903851" y="1377278"/>
              <a:ext cx="2768009" cy="523220"/>
            </a:xfrm>
            <a:prstGeom prst="rect">
              <a:avLst/>
            </a:prstGeom>
            <a:gradFill flip="none" rotWithShape="1">
              <a:gsLst>
                <a:gs pos="0">
                  <a:srgbClr val="9900CC">
                    <a:shade val="30000"/>
                    <a:satMod val="115000"/>
                  </a:srgbClr>
                </a:gs>
                <a:gs pos="50000">
                  <a:srgbClr val="CC00FF"/>
                </a:gs>
                <a:gs pos="100000">
                  <a:srgbClr val="CC66FF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Analysis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2895600" y="2656034"/>
              <a:ext cx="2784511" cy="523220"/>
            </a:xfrm>
            <a:prstGeom prst="rect">
              <a:avLst/>
            </a:prstGeom>
            <a:gradFill flip="none" rotWithShape="1">
              <a:gsLst>
                <a:gs pos="0">
                  <a:srgbClr val="006600"/>
                </a:gs>
                <a:gs pos="50000">
                  <a:srgbClr val="00CC00"/>
                </a:gs>
                <a:gs pos="100000">
                  <a:srgbClr val="92D050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Design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2918632" y="3963128"/>
              <a:ext cx="2738446" cy="523220"/>
            </a:xfrm>
            <a:prstGeom prst="rect">
              <a:avLst/>
            </a:prstGeom>
            <a:gradFill>
              <a:gsLst>
                <a:gs pos="0">
                  <a:srgbClr val="000099"/>
                </a:gs>
                <a:gs pos="50000">
                  <a:srgbClr val="3333FF"/>
                </a:gs>
                <a:gs pos="100000">
                  <a:srgbClr val="99CCFF"/>
                </a:gs>
              </a:gsLst>
              <a:lin ang="2700000" scaled="1"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Implementation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 bwMode="auto">
            <a:xfrm>
              <a:off x="2904300" y="5260321"/>
              <a:ext cx="2767111" cy="52322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rgbClr val="FF6600"/>
                </a:gs>
                <a:gs pos="100000">
                  <a:srgbClr val="FF9966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Testing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cxnSp>
          <p:nvCxnSpPr>
            <p:cNvPr id="30" name="Straight Arrow Connector 12"/>
            <p:cNvCxnSpPr>
              <a:cxnSpLocks noChangeShapeType="1"/>
              <a:stCxn id="26" idx="2"/>
              <a:endCxn id="27" idx="0"/>
            </p:cNvCxnSpPr>
            <p:nvPr/>
          </p:nvCxnSpPr>
          <p:spPr bwMode="auto">
            <a:xfrm>
              <a:off x="4287856" y="1900498"/>
              <a:ext cx="0" cy="755536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1" name="Straight Arrow Connector 14"/>
            <p:cNvCxnSpPr>
              <a:cxnSpLocks noChangeShapeType="1"/>
              <a:stCxn id="27" idx="2"/>
              <a:endCxn id="28" idx="0"/>
            </p:cNvCxnSpPr>
            <p:nvPr/>
          </p:nvCxnSpPr>
          <p:spPr bwMode="auto">
            <a:xfrm flipH="1">
              <a:off x="4287855" y="3179254"/>
              <a:ext cx="1" cy="783874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2" name="Straight Arrow Connector 15"/>
            <p:cNvCxnSpPr>
              <a:cxnSpLocks noChangeShapeType="1"/>
              <a:stCxn id="28" idx="2"/>
              <a:endCxn id="29" idx="0"/>
            </p:cNvCxnSpPr>
            <p:nvPr/>
          </p:nvCxnSpPr>
          <p:spPr bwMode="auto">
            <a:xfrm>
              <a:off x="4287855" y="4486348"/>
              <a:ext cx="1" cy="773973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3" name="Straight Connector 26"/>
            <p:cNvCxnSpPr>
              <a:cxnSpLocks noChangeShapeType="1"/>
            </p:cNvCxnSpPr>
            <p:nvPr/>
          </p:nvCxnSpPr>
          <p:spPr bwMode="auto">
            <a:xfrm>
              <a:off x="5662710" y="4202706"/>
              <a:ext cx="593714" cy="22032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4" name="Straight Connector 29"/>
            <p:cNvCxnSpPr>
              <a:cxnSpLocks noChangeShapeType="1"/>
            </p:cNvCxnSpPr>
            <p:nvPr/>
          </p:nvCxnSpPr>
          <p:spPr bwMode="auto">
            <a:xfrm flipV="1">
              <a:off x="6256424" y="1821677"/>
              <a:ext cx="0" cy="2403061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" name="Straight Connector 31"/>
            <p:cNvCxnSpPr>
              <a:cxnSpLocks noChangeShapeType="1"/>
            </p:cNvCxnSpPr>
            <p:nvPr/>
          </p:nvCxnSpPr>
          <p:spPr bwMode="auto">
            <a:xfrm flipH="1">
              <a:off x="5747828" y="1821677"/>
              <a:ext cx="508596" cy="0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36" name="Straight Connector 35"/>
            <p:cNvCxnSpPr>
              <a:cxnSpLocks noChangeShapeType="1"/>
            </p:cNvCxnSpPr>
            <p:nvPr/>
          </p:nvCxnSpPr>
          <p:spPr bwMode="auto">
            <a:xfrm>
              <a:off x="5747828" y="5615139"/>
              <a:ext cx="748649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" name="Straight Connector 37"/>
            <p:cNvCxnSpPr>
              <a:cxnSpLocks noChangeShapeType="1"/>
            </p:cNvCxnSpPr>
            <p:nvPr/>
          </p:nvCxnSpPr>
          <p:spPr bwMode="auto">
            <a:xfrm flipV="1">
              <a:off x="6496477" y="1586719"/>
              <a:ext cx="0" cy="4028421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" name="Straight Connector 41"/>
            <p:cNvCxnSpPr>
              <a:cxnSpLocks noChangeShapeType="1"/>
            </p:cNvCxnSpPr>
            <p:nvPr/>
          </p:nvCxnSpPr>
          <p:spPr bwMode="auto">
            <a:xfrm flipH="1">
              <a:off x="5734096" y="1586719"/>
              <a:ext cx="762381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39" name="Straight Connector 48"/>
            <p:cNvCxnSpPr>
              <a:cxnSpLocks noChangeShapeType="1"/>
            </p:cNvCxnSpPr>
            <p:nvPr/>
          </p:nvCxnSpPr>
          <p:spPr bwMode="auto">
            <a:xfrm>
              <a:off x="5734096" y="5404614"/>
              <a:ext cx="1008546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0" name="Straight Connector 50"/>
            <p:cNvCxnSpPr>
              <a:cxnSpLocks noChangeShapeType="1"/>
            </p:cNvCxnSpPr>
            <p:nvPr/>
          </p:nvCxnSpPr>
          <p:spPr bwMode="auto">
            <a:xfrm flipV="1">
              <a:off x="6742642" y="2930525"/>
              <a:ext cx="7446" cy="2474089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1" name="Straight Connector 52"/>
            <p:cNvCxnSpPr>
              <a:cxnSpLocks noChangeShapeType="1"/>
            </p:cNvCxnSpPr>
            <p:nvPr/>
          </p:nvCxnSpPr>
          <p:spPr bwMode="auto">
            <a:xfrm flipH="1">
              <a:off x="5762761" y="2930525"/>
              <a:ext cx="987327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lg" len="med"/>
              <a:tailEnd type="triangle" w="lg" len="med"/>
            </a:ln>
          </p:spPr>
        </p:cxnSp>
      </p:grpSp>
      <p:sp>
        <p:nvSpPr>
          <p:cNvPr id="45" name="[TextBox 28]"/>
          <p:cNvSpPr txBox="1">
            <a:spLocks noChangeArrowheads="1"/>
          </p:cNvSpPr>
          <p:nvPr/>
        </p:nvSpPr>
        <p:spPr bwMode="auto">
          <a:xfrm>
            <a:off x="6854825" y="2265362"/>
            <a:ext cx="20605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i="1" dirty="0">
                <a:solidFill>
                  <a:srgbClr val="C00000"/>
                </a:solidFill>
                <a:latin typeface="+mn-lt"/>
                <a:cs typeface="Andalus" pitchFamily="18" charset="-78"/>
              </a:rPr>
              <a:t>Iterative process</a:t>
            </a:r>
          </a:p>
        </p:txBody>
      </p:sp>
      <p:sp>
        <p:nvSpPr>
          <p:cNvPr id="42" name="[TextBox 24]"/>
          <p:cNvSpPr txBox="1">
            <a:spLocks noChangeArrowheads="1"/>
          </p:cNvSpPr>
          <p:nvPr/>
        </p:nvSpPr>
        <p:spPr bwMode="auto">
          <a:xfrm>
            <a:off x="577683" y="1110064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Determine problem features</a:t>
            </a:r>
          </a:p>
        </p:txBody>
      </p:sp>
      <p:sp>
        <p:nvSpPr>
          <p:cNvPr id="44" name="[TextBox 25]"/>
          <p:cNvSpPr txBox="1">
            <a:spLocks noChangeArrowheads="1"/>
          </p:cNvSpPr>
          <p:nvPr/>
        </p:nvSpPr>
        <p:spPr bwMode="auto">
          <a:xfrm>
            <a:off x="612608" y="2562225"/>
            <a:ext cx="21399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8000"/>
                </a:solidFill>
                <a:latin typeface="Calibri" pitchFamily="34" charset="0"/>
              </a:rPr>
              <a:t>Write algorithm</a:t>
            </a:r>
          </a:p>
        </p:txBody>
      </p:sp>
      <p:sp>
        <p:nvSpPr>
          <p:cNvPr id="46" name="[TextBox 26]"/>
          <p:cNvSpPr txBox="1">
            <a:spLocks noChangeArrowheads="1"/>
          </p:cNvSpPr>
          <p:nvPr/>
        </p:nvSpPr>
        <p:spPr bwMode="auto">
          <a:xfrm>
            <a:off x="830776" y="3758480"/>
            <a:ext cx="17036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Produce code</a:t>
            </a:r>
          </a:p>
        </p:txBody>
      </p:sp>
      <p:sp>
        <p:nvSpPr>
          <p:cNvPr id="47" name="[TextBox 27]"/>
          <p:cNvSpPr txBox="1">
            <a:spLocks noChangeArrowheads="1"/>
          </p:cNvSpPr>
          <p:nvPr/>
        </p:nvSpPr>
        <p:spPr bwMode="auto">
          <a:xfrm>
            <a:off x="414965" y="4922887"/>
            <a:ext cx="25352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6600"/>
                </a:solidFill>
                <a:latin typeface="Calibri" pitchFamily="34" charset="0"/>
              </a:rPr>
              <a:t>Check for correctness and efficiency</a:t>
            </a:r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C4784F0-38A4-4E4E-A9DF-6539DEEC7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The Process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17917D-FB7A-2C6E-D640-1626C656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A594BD-0A66-B51C-E682-39545449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7183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pic>
        <p:nvPicPr>
          <p:cNvPr id="3074" name="Picture 2" descr="flowch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ighlightTextShape201407062102102337"/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Data + Steps (with Control Structures)</a:t>
            </a:r>
            <a:endParaRPr 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3148" y="5103552"/>
          <a:ext cx="43862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9403" y="4521600"/>
            <a:ext cx="1897380" cy="39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00304" y="5120754"/>
          <a:ext cx="32065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5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49485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190615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5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81175" y="2185416"/>
            <a:ext cx="7172325" cy="20532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355962" y="1841916"/>
            <a:ext cx="122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Repetition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B2D37-B2C3-441F-AAF7-3DDE1AB5B632}"/>
              </a:ext>
            </a:extLst>
          </p:cNvPr>
          <p:cNvSpPr txBox="1"/>
          <p:nvPr/>
        </p:nvSpPr>
        <p:spPr>
          <a:xfrm>
            <a:off x="6817115" y="4403793"/>
            <a:ext cx="2124352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/>
              <a:t>Tracing (Algorithm) is important!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896BD4-F14B-0353-9F61-98CCD2D1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89717-5E02-6FD1-ACB4-4B11FEE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3F61A-C008-134F-BF20-1BF66D3F741C}"/>
              </a:ext>
            </a:extLst>
          </p:cNvPr>
          <p:cNvSpPr txBox="1"/>
          <p:nvPr/>
        </p:nvSpPr>
        <p:spPr>
          <a:xfrm>
            <a:off x="399594" y="2662664"/>
            <a:ext cx="122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Sequence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688E7-A972-CC4E-958B-9386967D9091}"/>
              </a:ext>
            </a:extLst>
          </p:cNvPr>
          <p:cNvSpPr txBox="1"/>
          <p:nvPr/>
        </p:nvSpPr>
        <p:spPr>
          <a:xfrm>
            <a:off x="5070345" y="3803787"/>
            <a:ext cx="115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Selection</a:t>
            </a:r>
          </a:p>
        </p:txBody>
      </p:sp>
    </p:spTree>
    <p:extLst>
      <p:ext uri="{BB962C8B-B14F-4D97-AF65-F5344CB8AC3E}">
        <p14:creationId xmlns:p14="http://schemas.microsoft.com/office/powerpoint/2010/main" val="77030695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The Techniques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Find the</a:t>
            </a:r>
            <a:r>
              <a:rPr lang="en-US" sz="2800" dirty="0">
                <a:solidFill>
                  <a:srgbClr val="0000FF"/>
                </a:solidFill>
              </a:rPr>
              <a:t> range (i.e., max-min)</a:t>
            </a:r>
            <a:r>
              <a:rPr lang="en-US" sz="2800" dirty="0"/>
              <a:t> of a list of numbers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: Read in a list L of k numbers (</a:t>
            </a:r>
            <a:r>
              <a:rPr lang="en-US" sz="2400" dirty="0" err="1"/>
              <a:t>ReadInput</a:t>
            </a:r>
            <a:r>
              <a:rPr lang="en-US" sz="24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Compute: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maximum </a:t>
            </a:r>
            <a:r>
              <a:rPr lang="en-US" sz="2000" dirty="0"/>
              <a:t>of a list L of k numbers (</a:t>
            </a:r>
            <a:r>
              <a:rPr lang="en-US" sz="2000" dirty="0" err="1"/>
              <a:t>FindMax</a:t>
            </a:r>
            <a:r>
              <a:rPr lang="en-US" sz="2000" dirty="0"/>
              <a:t>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minimum</a:t>
            </a:r>
            <a:r>
              <a:rPr lang="en-US" sz="2000" dirty="0"/>
              <a:t> of a list L of k numbers (???)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difference</a:t>
            </a:r>
            <a:r>
              <a:rPr lang="en-US" sz="2000" dirty="0"/>
              <a:t> between the maximum and the minimum (Arithmetic computation)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: Print the range (</a:t>
            </a:r>
            <a:r>
              <a:rPr lang="en-US" sz="2400" dirty="0" err="1"/>
              <a:t>PrintOutput</a:t>
            </a:r>
            <a:r>
              <a:rPr lang="en-US" sz="2400" dirty="0"/>
              <a:t>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5064724" y="2014728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/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/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/>
              <a:t>3. Wishful thinking!</a:t>
            </a:r>
            <a:r>
              <a:rPr lang="en-US" dirty="0">
                <a:solidFill>
                  <a:srgbClr val="0000FF"/>
                </a:solidFill>
              </a:rPr>
              <a:t> (Functions)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33D52-8234-AC5E-5530-4D07383F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AEC51-8413-5010-0190-CFE7CF50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67837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7FB1E-15CD-CD02-F23E-754C1B47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>
            <a:extLst>
              <a:ext uri="{FF2B5EF4-FFF2-40B4-BE49-F238E27FC236}">
                <a16:creationId xmlns:a16="http://schemas.microsoft.com/office/drawing/2014/main" id="{6FAC934E-A242-814D-7D45-ADE7942B3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The Process Expanded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9B19C7-1ED6-54B7-EF25-98541B8D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47703-4BA6-FAB7-C269-881716DF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71872-DC5E-9AE9-399C-29ED0B7005D5}"/>
              </a:ext>
            </a:extLst>
          </p:cNvPr>
          <p:cNvSpPr txBox="1"/>
          <p:nvPr/>
        </p:nvSpPr>
        <p:spPr bwMode="auto">
          <a:xfrm>
            <a:off x="4572000" y="4191361"/>
            <a:ext cx="2776260" cy="1384995"/>
          </a:xfrm>
          <a:prstGeom prst="rect">
            <a:avLst/>
          </a:prstGeom>
          <a:solidFill>
            <a:srgbClr val="FFFF99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chemeClr val="tx1"/>
                </a:solidFill>
              </a:rPr>
              <a:t>Pattern Recognition &amp; Internalization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9842B6-FD41-74B7-C7A5-70BE95EF8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32" y="1143001"/>
            <a:ext cx="3926859" cy="23880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283C43-6EBB-43FD-EC39-1E5E9ABCF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991" y="1196475"/>
            <a:ext cx="3922776" cy="23855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7BCC1C-A211-2CF9-5784-D017BAD3D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15" y="3810193"/>
            <a:ext cx="3922776" cy="238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3730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7E25-8242-B53C-51D5-BD4FC004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121E5CE-40DB-1BDC-6C17-026F40502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Mega Recap</a:t>
            </a:r>
          </a:p>
        </p:txBody>
      </p:sp>
      <p:sp>
        <p:nvSpPr>
          <p:cNvPr id="14339" name="HighlightTextShape201406201824391195">
            <a:extLst>
              <a:ext uri="{FF2B5EF4-FFF2-40B4-BE49-F238E27FC236}">
                <a16:creationId xmlns:a16="http://schemas.microsoft.com/office/drawing/2014/main" id="{C7C978DE-832D-084A-AE26-194EF679F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913586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Algorithmic Problem Solving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solidFill>
                  <a:srgbClr val="0000FF"/>
                </a:solidFill>
                <a:latin typeface="+mj-lt"/>
              </a:rPr>
              <a:t>Data Structures, Control Structures and Practical Algorithms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Good Coding Habits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Program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Syntax of C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8AAA64-7A7A-ADD1-81FD-208BBE983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ACED18-3E6F-2A28-37F0-21925F6F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25190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Data Structures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Types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Basic Data Types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Arrays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Structures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How to…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Declare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Initialize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Access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Pass (into a function)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Update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Allocate &amp; Free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402996-9880-5F8E-A84A-6BA37430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05B574-B432-3536-59A1-5418E760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825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Basic Data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tx1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800" dirty="0"/>
              <a:t>For storing single values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800" dirty="0"/>
              <a:t> </a:t>
            </a: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800" dirty="0"/>
              <a:t>Examples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: 4/8 bytes, signed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char</a:t>
            </a:r>
            <a:r>
              <a:rPr lang="en-US" sz="2400" dirty="0"/>
              <a:t>: 1 byte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8 bytes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bool</a:t>
            </a:r>
            <a:r>
              <a:rPr lang="en-US" sz="2400" dirty="0"/>
              <a:t>: 1 byte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size_t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4/8 bytes, unsigned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anose="05000000000000000000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B2841C-98F6-4CDD-8216-025DAE9D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978298-DAAA-F524-5561-9A546769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22137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Array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822A0D5-9D76-43F4-AB94-614D7B22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 storing multiple values of the same type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C30920-C994-477D-BF38-FB31A7971AB0}"/>
              </a:ext>
            </a:extLst>
          </p:cNvPr>
          <p:cNvSpPr txBox="1"/>
          <p:nvPr/>
        </p:nvSpPr>
        <p:spPr>
          <a:xfrm>
            <a:off x="1273893" y="2031156"/>
            <a:ext cx="6949994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days(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month) {</a:t>
            </a:r>
          </a:p>
          <a:p>
            <a:pPr>
              <a:tabLst>
                <a:tab pos="293688" algn="l"/>
                <a:tab pos="620713" algn="l"/>
              </a:tabLst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days_in_month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tabLst>
                <a:tab pos="293688" algn="l"/>
                <a:tab pos="620713" algn="l"/>
              </a:tabLst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(month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month - 2;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days_in_month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12F80-F399-47C0-9F5C-4D60AC2C8B4A}"/>
              </a:ext>
            </a:extLst>
          </p:cNvPr>
          <p:cNvSpPr txBox="1"/>
          <p:nvPr/>
        </p:nvSpPr>
        <p:spPr>
          <a:xfrm>
            <a:off x="6339328" y="1844613"/>
            <a:ext cx="221273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altLang="zh-CN" dirty="0"/>
              <a:t>Declaring and </a:t>
            </a:r>
            <a:r>
              <a:rPr lang="en-SG" altLang="zh-CN" dirty="0">
                <a:solidFill>
                  <a:srgbClr val="FF0000"/>
                </a:solidFill>
              </a:rPr>
              <a:t>initializing</a:t>
            </a:r>
            <a:r>
              <a:rPr lang="en-SG" altLang="zh-CN" dirty="0"/>
              <a:t> an array.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484D0C-7905-4424-BBC9-B23C55F335D2}"/>
              </a:ext>
            </a:extLst>
          </p:cNvPr>
          <p:cNvSpPr txBox="1"/>
          <p:nvPr/>
        </p:nvSpPr>
        <p:spPr>
          <a:xfrm>
            <a:off x="6999267" y="4617882"/>
            <a:ext cx="191113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dirty="0"/>
              <a:t>Iterating through the array.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D97830-2E47-8CEF-3BDA-1676B9BF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995F30-5162-A9BC-F3A8-B96334E1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9327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0000FF"/>
                </a:solidFill>
              </a:rPr>
              <a:t>char </a:t>
            </a:r>
            <a:r>
              <a:rPr lang="en-US" sz="2800" dirty="0"/>
              <a:t>array terminated by a null character </a:t>
            </a:r>
            <a:r>
              <a:rPr lang="en-US" sz="2800" dirty="0">
                <a:solidFill>
                  <a:srgbClr val="006600"/>
                </a:solidFill>
              </a:rPr>
              <a:t>'\0'</a:t>
            </a:r>
            <a:r>
              <a:rPr lang="en-US" sz="2800" dirty="0"/>
              <a:t> (which has the numeric value </a:t>
            </a:r>
            <a:r>
              <a:rPr lang="en-US" sz="2800" dirty="0">
                <a:solidFill>
                  <a:srgbClr val="C00000"/>
                </a:solidFill>
              </a:rPr>
              <a:t>0</a:t>
            </a:r>
            <a:r>
              <a:rPr lang="en-US" sz="2800" dirty="0"/>
              <a:t>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1016303" y="2212643"/>
            <a:ext cx="767049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'!'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2B3CB-3A18-4904-B92B-10421E2CF44A}"/>
              </a:ext>
            </a:extLst>
          </p:cNvPr>
          <p:cNvSpPr txBox="1"/>
          <p:nvPr/>
        </p:nvSpPr>
        <p:spPr>
          <a:xfrm>
            <a:off x="1026578" y="2817106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'!'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8EA1C5-C26B-4C75-8BA5-D5CB66F74A0E}"/>
              </a:ext>
            </a:extLst>
          </p:cNvPr>
          <p:cNvSpPr txBox="1"/>
          <p:nvPr/>
        </p:nvSpPr>
        <p:spPr>
          <a:xfrm>
            <a:off x="5500099" y="3411300"/>
            <a:ext cx="2708953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These two are the same!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C19333-5980-4F3B-A9D6-4C44C6ADB80A}"/>
              </a:ext>
            </a:extLst>
          </p:cNvPr>
          <p:cNvSpPr txBox="1"/>
          <p:nvPr/>
        </p:nvSpPr>
        <p:spPr>
          <a:xfrm>
            <a:off x="1039439" y="4005494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'!'</a:t>
            </a: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4F959-C463-4D51-9AA3-643FAC81E97E}"/>
              </a:ext>
            </a:extLst>
          </p:cNvPr>
          <p:cNvSpPr txBox="1"/>
          <p:nvPr/>
        </p:nvSpPr>
        <p:spPr>
          <a:xfrm>
            <a:off x="4068567" y="4547551"/>
            <a:ext cx="41404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Not a string. Strange errors may occur.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8B0BCC-4DCF-4EC6-AB46-2992AF6D87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439" y="3898757"/>
            <a:ext cx="362361" cy="490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EB6C85-479A-4BE9-8BA4-DB3AC5A607CA}"/>
              </a:ext>
            </a:extLst>
          </p:cNvPr>
          <p:cNvSpPr txBox="1"/>
          <p:nvPr/>
        </p:nvSpPr>
        <p:spPr>
          <a:xfrm>
            <a:off x="1039439" y="5084812"/>
            <a:ext cx="4326258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hello2[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hello3[] = </a:t>
            </a:r>
            <a:r>
              <a:rPr lang="en-US" sz="20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00E7BE-8527-4532-AA43-010C42C6CD73}"/>
              </a:ext>
            </a:extLst>
          </p:cNvPr>
          <p:cNvSpPr txBox="1"/>
          <p:nvPr/>
        </p:nvSpPr>
        <p:spPr>
          <a:xfrm>
            <a:off x="5829471" y="5254089"/>
            <a:ext cx="239069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These are ok as well!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877E7A-C2FA-4A59-A414-3C95F6BC432E}"/>
              </a:ext>
            </a:extLst>
          </p:cNvPr>
          <p:cNvSpPr txBox="1"/>
          <p:nvPr/>
        </p:nvSpPr>
        <p:spPr>
          <a:xfrm>
            <a:off x="1039439" y="6111099"/>
            <a:ext cx="26900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hello1[</a:t>
            </a:r>
            <a:r>
              <a:rPr lang="en-US" sz="20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'v'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E57E9-A1B5-4D6E-ABB5-128789B1CF5C}"/>
              </a:ext>
            </a:extLst>
          </p:cNvPr>
          <p:cNvSpPr txBox="1"/>
          <p:nvPr/>
        </p:nvSpPr>
        <p:spPr>
          <a:xfrm>
            <a:off x="4069443" y="6025630"/>
            <a:ext cx="269008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Individual elements can be accessed / modified.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91FF49-C2CE-46D6-77EC-CDB669D2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A82B8-0994-3060-013B-25EF0E49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0314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Multi-dimensional Arrays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13710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9725" fontAlgn="auto"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In general, an array can have any number of dimensions</a:t>
            </a:r>
          </a:p>
          <a:p>
            <a:pPr marL="457200" indent="-339725" fontAlgn="auto"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sz="2800" dirty="0"/>
              <a:t>Example of a 2-dimensional (2D) array: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38" y="2616435"/>
            <a:ext cx="4264025" cy="13223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array with 3 rows, 5 columns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= a[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7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39" name="Group 69"/>
          <p:cNvGrpSpPr/>
          <p:nvPr/>
        </p:nvGrpSpPr>
        <p:grpSpPr>
          <a:xfrm>
            <a:off x="5611813" y="2616435"/>
            <a:ext cx="2413000" cy="1165225"/>
            <a:chOff x="5611813" y="2749550"/>
            <a:chExt cx="2413000" cy="1165225"/>
          </a:xfrm>
        </p:grpSpPr>
        <p:grpSp>
          <p:nvGrpSpPr>
            <p:cNvPr id="40" name="Group 56"/>
            <p:cNvGrpSpPr/>
            <p:nvPr/>
          </p:nvGrpSpPr>
          <p:grpSpPr>
            <a:xfrm>
              <a:off x="5930457" y="3057154"/>
              <a:ext cx="2078130" cy="282123"/>
              <a:chOff x="5930457" y="3057154"/>
              <a:chExt cx="2078130" cy="282123"/>
            </a:xfrm>
          </p:grpSpPr>
          <p:sp>
            <p:nvSpPr>
              <p:cNvPr id="61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3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4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5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41" name="TextBox 24"/>
            <p:cNvSpPr txBox="1">
              <a:spLocks noChangeArrowheads="1"/>
            </p:cNvSpPr>
            <p:nvPr/>
          </p:nvSpPr>
          <p:spPr bwMode="auto">
            <a:xfrm>
              <a:off x="593045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0</a:t>
              </a:r>
              <a:endParaRPr lang="en-SG" sz="1400"/>
            </a:p>
          </p:txBody>
        </p:sp>
        <p:sp>
          <p:nvSpPr>
            <p:cNvPr id="42" name="TextBox 25"/>
            <p:cNvSpPr txBox="1">
              <a:spLocks noChangeArrowheads="1"/>
            </p:cNvSpPr>
            <p:nvPr/>
          </p:nvSpPr>
          <p:spPr bwMode="auto">
            <a:xfrm>
              <a:off x="629066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1</a:t>
              </a:r>
              <a:endParaRPr lang="en-SG" sz="1400"/>
            </a:p>
          </p:txBody>
        </p:sp>
        <p:sp>
          <p:nvSpPr>
            <p:cNvPr id="43" name="TextBox 26"/>
            <p:cNvSpPr txBox="1">
              <a:spLocks noChangeArrowheads="1"/>
            </p:cNvSpPr>
            <p:nvPr/>
          </p:nvSpPr>
          <p:spPr bwMode="auto">
            <a:xfrm>
              <a:off x="6761709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2</a:t>
              </a:r>
              <a:endParaRPr lang="en-SG" sz="1400"/>
            </a:p>
          </p:txBody>
        </p:sp>
        <p:sp>
          <p:nvSpPr>
            <p:cNvPr id="44" name="TextBox 27"/>
            <p:cNvSpPr txBox="1">
              <a:spLocks noChangeArrowheads="1"/>
            </p:cNvSpPr>
            <p:nvPr/>
          </p:nvSpPr>
          <p:spPr bwMode="auto">
            <a:xfrm>
              <a:off x="7138146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3</a:t>
              </a:r>
              <a:endParaRPr lang="en-SG" sz="1400"/>
            </a:p>
          </p:txBody>
        </p:sp>
        <p:sp>
          <p:nvSpPr>
            <p:cNvPr id="45" name="TextBox 28"/>
            <p:cNvSpPr txBox="1">
              <a:spLocks noChangeArrowheads="1"/>
            </p:cNvSpPr>
            <p:nvPr/>
          </p:nvSpPr>
          <p:spPr bwMode="auto">
            <a:xfrm>
              <a:off x="7609187" y="2749550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4</a:t>
              </a:r>
              <a:endParaRPr lang="en-SG" sz="1400"/>
            </a:p>
          </p:txBody>
        </p:sp>
        <p:sp>
          <p:nvSpPr>
            <p:cNvPr id="46" name="TextBox 29"/>
            <p:cNvSpPr txBox="1">
              <a:spLocks noChangeArrowheads="1"/>
            </p:cNvSpPr>
            <p:nvPr/>
          </p:nvSpPr>
          <p:spPr bwMode="auto">
            <a:xfrm>
              <a:off x="5611813" y="3057154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0</a:t>
              </a:r>
              <a:endParaRPr lang="en-SG" sz="1400"/>
            </a:p>
          </p:txBody>
        </p:sp>
        <p:sp>
          <p:nvSpPr>
            <p:cNvPr id="47" name="TextBox 30"/>
            <p:cNvSpPr txBox="1">
              <a:spLocks noChangeArrowheads="1"/>
            </p:cNvSpPr>
            <p:nvPr/>
          </p:nvSpPr>
          <p:spPr bwMode="auto">
            <a:xfrm>
              <a:off x="5611813" y="3325048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1</a:t>
              </a:r>
              <a:endParaRPr lang="en-SG" sz="1400"/>
            </a:p>
          </p:txBody>
        </p:sp>
        <p:sp>
          <p:nvSpPr>
            <p:cNvPr id="48" name="TextBox 31"/>
            <p:cNvSpPr txBox="1">
              <a:spLocks noChangeArrowheads="1"/>
            </p:cNvSpPr>
            <p:nvPr/>
          </p:nvSpPr>
          <p:spPr bwMode="auto">
            <a:xfrm>
              <a:off x="5611813" y="3607171"/>
              <a:ext cx="415626" cy="307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2</a:t>
              </a:r>
              <a:endParaRPr lang="en-SG" sz="1400"/>
            </a:p>
          </p:txBody>
        </p:sp>
        <p:grpSp>
          <p:nvGrpSpPr>
            <p:cNvPr id="49" name="Group 57"/>
            <p:cNvGrpSpPr/>
            <p:nvPr/>
          </p:nvGrpSpPr>
          <p:grpSpPr>
            <a:xfrm>
              <a:off x="5930457" y="3325048"/>
              <a:ext cx="2078130" cy="282123"/>
              <a:chOff x="5930457" y="3057154"/>
              <a:chExt cx="2078130" cy="282123"/>
            </a:xfrm>
          </p:grpSpPr>
          <p:sp>
            <p:nvSpPr>
              <p:cNvPr id="56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9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50" name="Group 63"/>
            <p:cNvGrpSpPr/>
            <p:nvPr/>
          </p:nvGrpSpPr>
          <p:grpSpPr>
            <a:xfrm>
              <a:off x="5930457" y="3607171"/>
              <a:ext cx="2078130" cy="282123"/>
              <a:chOff x="5930457" y="3057154"/>
              <a:chExt cx="2078130" cy="282123"/>
            </a:xfrm>
          </p:grpSpPr>
          <p:sp>
            <p:nvSpPr>
              <p:cNvPr id="51" name="Rectangle 6"/>
              <p:cNvSpPr>
                <a:spLocks noChangeArrowheads="1"/>
              </p:cNvSpPr>
              <p:nvPr/>
            </p:nvSpPr>
            <p:spPr bwMode="auto">
              <a:xfrm>
                <a:off x="6346083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2" name="Rectangle 7"/>
              <p:cNvSpPr>
                <a:spLocks noChangeArrowheads="1"/>
              </p:cNvSpPr>
              <p:nvPr/>
            </p:nvSpPr>
            <p:spPr bwMode="auto">
              <a:xfrm>
                <a:off x="6761709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3" name="Rectangle 8"/>
              <p:cNvSpPr>
                <a:spLocks noChangeArrowheads="1"/>
              </p:cNvSpPr>
              <p:nvPr/>
            </p:nvSpPr>
            <p:spPr bwMode="auto">
              <a:xfrm>
                <a:off x="7177335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4" name="Rectangle 9"/>
              <p:cNvSpPr>
                <a:spLocks noChangeArrowheads="1"/>
              </p:cNvSpPr>
              <p:nvPr/>
            </p:nvSpPr>
            <p:spPr bwMode="auto">
              <a:xfrm>
                <a:off x="5930457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5" name="Rectangle 10"/>
              <p:cNvSpPr>
                <a:spLocks noChangeArrowheads="1"/>
              </p:cNvSpPr>
              <p:nvPr/>
            </p:nvSpPr>
            <p:spPr bwMode="auto">
              <a:xfrm>
                <a:off x="7592961" y="3057154"/>
                <a:ext cx="415626" cy="282123"/>
              </a:xfrm>
              <a:prstGeom prst="rect">
                <a:avLst/>
              </a:prstGeom>
              <a:solidFill>
                <a:schemeClr val="bg1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6027439" y="2939933"/>
            <a:ext cx="252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2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7666996" y="3499537"/>
            <a:ext cx="252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9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5938309" y="3191933"/>
            <a:ext cx="396000" cy="252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800000"/>
                </a:solidFill>
              </a:rPr>
              <a:t>16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4083A5-91FF-AAD4-53D5-292D67F75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1AD80E-CE16-B398-7931-E13DC9CE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41677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Structure Type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02797" y="1209818"/>
            <a:ext cx="78343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Write a program to compute the volume of 2 boxes.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55172" y="4836166"/>
            <a:ext cx="7772400" cy="159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en-US" sz="280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372735" y="1757505"/>
            <a:ext cx="1954732" cy="231957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/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// for 1st box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length1;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width1; 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height1; </a:t>
            </a:r>
          </a:p>
          <a:p>
            <a:pPr marL="342900" indent="-342900"/>
            <a:endParaRPr lang="en-US" sz="1600" b="1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// for 2nd box</a:t>
            </a:r>
            <a:endParaRPr lang="en-US" sz="1600" b="1">
              <a:solidFill>
                <a:srgbClr val="0000FF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length2;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width2, 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height2; 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02797" y="4337458"/>
            <a:ext cx="7953375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More logical to organize the dimensions into a group and declare two variables of such a </a:t>
            </a:r>
            <a:r>
              <a:rPr lang="en-US" sz="2400" i="1" dirty="0"/>
              <a:t>group</a:t>
            </a:r>
            <a:r>
              <a:rPr lang="en-US" sz="2400" dirty="0"/>
              <a:t>. </a:t>
            </a:r>
          </a:p>
        </p:txBody>
      </p:sp>
      <p:grpSp>
        <p:nvGrpSpPr>
          <p:cNvPr id="14" name="Group 15"/>
          <p:cNvGrpSpPr>
            <a:grpSpLocks/>
          </p:cNvGrpSpPr>
          <p:nvPr/>
        </p:nvGrpSpPr>
        <p:grpSpPr bwMode="auto">
          <a:xfrm>
            <a:off x="4097405" y="2027470"/>
            <a:ext cx="2635250" cy="593725"/>
            <a:chOff x="1161536" y="3002692"/>
            <a:chExt cx="2636108" cy="593125"/>
          </a:xfrm>
        </p:grpSpPr>
        <p:sp>
          <p:nvSpPr>
            <p:cNvPr id="15" name="Rectangle 14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2401778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254542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8" name="TextBox 12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length1</a:t>
              </a:r>
              <a:endParaRPr lang="en-SG" sz="1400"/>
            </a:p>
          </p:txBody>
        </p:sp>
        <p:sp>
          <p:nvSpPr>
            <p:cNvPr id="19" name="TextBox 13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width1</a:t>
              </a:r>
              <a:endParaRPr lang="en-SG" sz="1400"/>
            </a:p>
          </p:txBody>
        </p:sp>
        <p:sp>
          <p:nvSpPr>
            <p:cNvPr id="20" name="TextBox 14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height1</a:t>
              </a:r>
              <a:endParaRPr lang="en-SG" sz="1400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4097405" y="2922730"/>
            <a:ext cx="2635250" cy="593725"/>
            <a:chOff x="1161536" y="3002692"/>
            <a:chExt cx="2636108" cy="593125"/>
          </a:xfrm>
        </p:grpSpPr>
        <p:sp>
          <p:nvSpPr>
            <p:cNvPr id="22" name="Rectangle 21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401777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3254542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5" name="TextBox 27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length2</a:t>
              </a:r>
              <a:endParaRPr lang="en-SG" sz="1400"/>
            </a:p>
          </p:txBody>
        </p:sp>
        <p:sp>
          <p:nvSpPr>
            <p:cNvPr id="26" name="TextBox 28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width2</a:t>
              </a:r>
              <a:endParaRPr lang="en-SG" sz="1400"/>
            </a:p>
          </p:txBody>
        </p:sp>
        <p:sp>
          <p:nvSpPr>
            <p:cNvPr id="27" name="TextBox 29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height2</a:t>
              </a:r>
              <a:endParaRPr lang="en-SG" sz="1400"/>
            </a:p>
          </p:txBody>
        </p:sp>
      </p:grpSp>
      <p:grpSp>
        <p:nvGrpSpPr>
          <p:cNvPr id="28" name="Group 45"/>
          <p:cNvGrpSpPr>
            <a:grpSpLocks/>
          </p:cNvGrpSpPr>
          <p:nvPr/>
        </p:nvGrpSpPr>
        <p:grpSpPr bwMode="auto">
          <a:xfrm>
            <a:off x="920297" y="5176000"/>
            <a:ext cx="3249613" cy="1004888"/>
            <a:chOff x="1050323" y="4790303"/>
            <a:chExt cx="3249828" cy="1005016"/>
          </a:xfrm>
        </p:grpSpPr>
        <p:sp>
          <p:nvSpPr>
            <p:cNvPr id="29" name="Rectangle 28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677619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3530162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2" name="TextBox 2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33" name="TextBox 2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34" name="TextBox 2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35" name="TextBox 41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box1</a:t>
              </a:r>
              <a:endParaRPr lang="en-SG" sz="1400"/>
            </a:p>
          </p:txBody>
        </p:sp>
        <p:sp>
          <p:nvSpPr>
            <p:cNvPr id="36" name="Rectangle 4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4792210" y="5176000"/>
            <a:ext cx="3249612" cy="1004888"/>
            <a:chOff x="1050323" y="4790303"/>
            <a:chExt cx="3249828" cy="1005016"/>
          </a:xfrm>
        </p:grpSpPr>
        <p:sp>
          <p:nvSpPr>
            <p:cNvPr id="38" name="Rectangle 37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677618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530163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1" name="TextBox 5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42" name="TextBox 5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43" name="TextBox 5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44" name="TextBox 53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box2</a:t>
              </a:r>
              <a:endParaRPr lang="en-SG" sz="1400"/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002D5B-08F7-C723-41FA-A3C63441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62F73-4227-9B12-CA8A-B8E3815D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08196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5EA1-E6A9-3CD3-7D7D-8E61D983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2D9976-2462-602A-B3FE-B18EBC98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27D149-BF14-EAB6-0CAD-B1393851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3394880-6354-A2E4-D081-D892F4D64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Structure Type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E859F23-EC2C-8B34-D4E1-11EFB9802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99" y="1212995"/>
            <a:ext cx="7834313" cy="287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 structure type is </a:t>
            </a:r>
            <a:r>
              <a:rPr lang="en-US" sz="2800" u="sng" dirty="0">
                <a:solidFill>
                  <a:srgbClr val="C00000"/>
                </a:solidFill>
              </a:rPr>
              <a:t>NOT</a:t>
            </a:r>
            <a:r>
              <a:rPr lang="en-US" sz="2800" dirty="0"/>
              <a:t> a variable!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It is a data type like long, double except that it is compound.</a:t>
            </a:r>
            <a:br>
              <a:rPr lang="en-US" sz="2400" dirty="0"/>
            </a:br>
            <a:endParaRPr lang="en-US" sz="1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following is a </a:t>
            </a:r>
            <a:r>
              <a:rPr lang="en-US" sz="2800" u="sng" dirty="0"/>
              <a:t>definition of a type</a:t>
            </a:r>
            <a:r>
              <a:rPr lang="en-US" sz="2800" dirty="0"/>
              <a:t>, NOT a </a:t>
            </a:r>
            <a:r>
              <a:rPr lang="en-US" sz="2800" u="sng" dirty="0"/>
              <a:t>declaration of a variable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type needs to be defined before we can declare variable of that type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C00000"/>
                </a:solidFill>
              </a:rPr>
              <a:t>No</a:t>
            </a:r>
            <a:r>
              <a:rPr lang="en-US" sz="2400" dirty="0"/>
              <a:t> memory is allocated to a type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AC0A8ED-0FDE-15D8-58D9-6AFC3F04D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285" y="5057410"/>
            <a:ext cx="2633430" cy="1618121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typedef struct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*code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2000" b="1" dirty="0">
                <a:latin typeface="Courier New" pitchFamily="49" charset="0"/>
              </a:rPr>
              <a:t>mc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 </a:t>
            </a:r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</a:rPr>
              <a:t>module_t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21236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2550-14AC-0FC4-288F-C1A0D038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F1F53F-6350-B39A-764D-57AEA4A7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8B123-7B49-0DDE-731F-0CC70B0A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9A7DB2C-B0E0-F309-6956-48C9D2691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Structure Variables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39BC3-D42D-F815-1AA1-C3BEE790E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97" y="1212997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Initialization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Use dot (.) operator 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With compound literal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03651B9-9334-7B78-2F28-F78E3662A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084" y="2253603"/>
            <a:ext cx="6437311" cy="130575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</a:rPr>
              <a:t>module_t</a:t>
            </a:r>
            <a:r>
              <a:rPr lang="en-US" sz="2000" b="1" dirty="0">
                <a:latin typeface="Courier New" pitchFamily="49" charset="0"/>
              </a:rPr>
              <a:t> cs1010;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cs1010.code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"CS1010"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cs1010.title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"Programming Methodology"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cs1010.mc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4</a:t>
            </a:r>
            <a:r>
              <a:rPr lang="en-US" sz="2000" b="1" dirty="0">
                <a:latin typeface="Courier New" pitchFamily="49" charset="0"/>
              </a:rPr>
              <a:t>;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F539B3C-7A42-DBB7-142D-35D8250B9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083" y="4400901"/>
            <a:ext cx="6437311" cy="165992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</a:rPr>
              <a:t>module_t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cs1010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= {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  .code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"CS1010"</a:t>
            </a:r>
            <a:r>
              <a:rPr lang="en-US" sz="2000" b="1" dirty="0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  .title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"Programming Methodology"</a:t>
            </a:r>
            <a:r>
              <a:rPr lang="en-US" sz="2000" b="1" dirty="0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  .mc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4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71C4A-55B1-B25A-86FB-30A9F654EC4F}"/>
              </a:ext>
            </a:extLst>
          </p:cNvPr>
          <p:cNvSpPr txBox="1"/>
          <p:nvPr/>
        </p:nvSpPr>
        <p:spPr bwMode="auto">
          <a:xfrm>
            <a:off x="5429561" y="4108513"/>
            <a:ext cx="291599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Unmentioned components are initialized to 0.</a:t>
            </a:r>
            <a:endParaRPr lang="en-SG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67091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0FE28-B488-95B3-411B-EA8B309F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6B82E0-40C8-9A85-294C-3786F7104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31756E-AD52-113A-CDCB-41952723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AC80FB2-962A-B755-31CC-7D34879DB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Control Structures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DEC2C4-4500-354E-9800-096DEE6BB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97" y="1212997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Types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Sequence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Selection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Repetition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How to …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Decide the correct flow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 Write the correct logical expressions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244445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Nested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374AE1-54B1-43BF-19E1-B0B7DF2C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9950E-82C3-E806-54E2-0B5FA8E6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69105DE-8DF4-D467-19B1-4C83E5630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7DEDC-7E7D-CE93-29DA-B06480A4CA4F}"/>
              </a:ext>
            </a:extLst>
          </p:cNvPr>
          <p:cNvSpPr txBox="1"/>
          <p:nvPr/>
        </p:nvSpPr>
        <p:spPr>
          <a:xfrm>
            <a:off x="844357" y="1725915"/>
            <a:ext cx="3374717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55736F-EB34-9395-01E9-684793879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429" y="4572001"/>
            <a:ext cx="4864998" cy="17601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4EB33F-1947-261E-4186-4AF70A2D95D7}"/>
              </a:ext>
            </a:extLst>
          </p:cNvPr>
          <p:cNvSpPr txBox="1"/>
          <p:nvPr/>
        </p:nvSpPr>
        <p:spPr>
          <a:xfrm>
            <a:off x="6741573" y="2017444"/>
            <a:ext cx="1945227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Logical Thinking is important!</a:t>
            </a:r>
          </a:p>
        </p:txBody>
      </p:sp>
    </p:spTree>
    <p:extLst>
      <p:ext uri="{BB962C8B-B14F-4D97-AF65-F5344CB8AC3E}">
        <p14:creationId xmlns:p14="http://schemas.microsoft.com/office/powerpoint/2010/main" val="424054071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374AE1-54B1-43BF-19E1-B0B7DF2C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9950E-82C3-E806-54E2-0B5FA8E6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ABC0DD0-5296-B54F-F074-BD9F592197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if-(else-if-)else…</a:t>
            </a:r>
            <a:r>
              <a:rPr lang="en-GB" sz="3600" dirty="0">
                <a:solidFill>
                  <a:srgbClr val="0000FF"/>
                </a:solidFill>
              </a:rPr>
              <a:t> Statements 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7874C1E-403E-F15A-8717-3FF7F244A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F1F1E-BEA7-B448-3A33-EE4730AA2C43}"/>
              </a:ext>
            </a:extLst>
          </p:cNvPr>
          <p:cNvSpPr txBox="1"/>
          <p:nvPr/>
        </p:nvSpPr>
        <p:spPr>
          <a:xfrm>
            <a:off x="844357" y="1725915"/>
            <a:ext cx="4109480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C9585E-F11E-C448-49EA-F6ECF74D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369" y="4260834"/>
            <a:ext cx="3499407" cy="19569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6B545-DBD6-66EF-3494-DB5DC43ED29E}"/>
              </a:ext>
            </a:extLst>
          </p:cNvPr>
          <p:cNvSpPr txBox="1"/>
          <p:nvPr/>
        </p:nvSpPr>
        <p:spPr>
          <a:xfrm>
            <a:off x="6741573" y="2017444"/>
            <a:ext cx="1945227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Logical Thinking is important!</a:t>
            </a:r>
          </a:p>
        </p:txBody>
      </p:sp>
    </p:spTree>
    <p:extLst>
      <p:ext uri="{BB962C8B-B14F-4D97-AF65-F5344CB8AC3E}">
        <p14:creationId xmlns:p14="http://schemas.microsoft.com/office/powerpoint/2010/main" val="230880692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Repetition through Recursion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factorial(2) requires factorial(1), which in turn requires factorial (0)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587376" y="1766793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0D94-825A-D54F-ACF5-EA46D726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3268394" y="4068298"/>
            <a:ext cx="5852160" cy="26594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C54532-4696-6273-24A7-7D3B5491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975C3-305A-04DC-E4BE-FE36BCA8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02705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Common Types of Recursion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21365"/>
            <a:ext cx="8229600" cy="56435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Integers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 a single digit or 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number – 1 or number / 10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factorial, </a:t>
            </a:r>
            <a:r>
              <a:rPr lang="en-US" sz="2200" dirty="0" err="1"/>
              <a:t>sum_digits</a:t>
            </a:r>
            <a:endParaRPr lang="en-US" sz="22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u="sng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1D arrays (including strings)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an array of 1 element or an empty array</a:t>
            </a:r>
          </a:p>
          <a:p>
            <a:pPr marL="615633" lvl="1" indent="-341313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the first / last element, or left / right half of the elements.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</a:t>
            </a:r>
            <a:r>
              <a:rPr lang="en-US" sz="2200" dirty="0" err="1"/>
              <a:t>find_max</a:t>
            </a:r>
            <a:r>
              <a:rPr lang="en-US" sz="2200" dirty="0"/>
              <a:t>, </a:t>
            </a:r>
            <a:r>
              <a:rPr lang="en-US" sz="2200" dirty="0" err="1"/>
              <a:t>binary_search</a:t>
            </a:r>
            <a:endParaRPr lang="en-US" sz="2200" dirty="0"/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2D arrays 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 single row / column or an empty array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one row and / or a column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D0CAE2-B545-875F-65ED-DEBF2302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755AC5-E623-A5FD-182A-F2E44D069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19928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Repetition through Loops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812C4E-B44C-1D15-269B-37A18D65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A89B61-E0FE-EEDF-7A9D-A61FF04D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C4ED392-7A20-2E18-FA09-EF713F9F2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F7B564-FA18-6617-F9E0-96E11AF05E84}"/>
              </a:ext>
            </a:extLst>
          </p:cNvPr>
          <p:cNvSpPr txBox="1"/>
          <p:nvPr/>
        </p:nvSpPr>
        <p:spPr>
          <a:xfrm>
            <a:off x="857017" y="3831452"/>
            <a:ext cx="5388140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4E8FC-D2F0-325B-4C6C-920AEF3C7BEE}"/>
              </a:ext>
            </a:extLst>
          </p:cNvPr>
          <p:cNvSpPr txBox="1"/>
          <p:nvPr/>
        </p:nvSpPr>
        <p:spPr>
          <a:xfrm>
            <a:off x="6293346" y="3827182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have an explicit start / end / update.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4F476-1EE8-F96C-3DAF-09CDC0062200}"/>
              </a:ext>
            </a:extLst>
          </p:cNvPr>
          <p:cNvSpPr txBox="1"/>
          <p:nvPr/>
        </p:nvSpPr>
        <p:spPr>
          <a:xfrm>
            <a:off x="857017" y="4967052"/>
            <a:ext cx="4230622" cy="1015663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for ( </a:t>
            </a:r>
            <a:r>
              <a:rPr lang="en-US" sz="2000" dirty="0">
                <a:solidFill>
                  <a:srgbClr val="CC00FF"/>
                </a:solidFill>
              </a:rPr>
              <a:t>initialize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0000FF"/>
                </a:solidFill>
              </a:rPr>
              <a:t>condition</a:t>
            </a:r>
            <a:r>
              <a:rPr lang="en-US" sz="2000" dirty="0"/>
              <a:t>; </a:t>
            </a:r>
            <a:r>
              <a:rPr lang="en-US" sz="2000" dirty="0">
                <a:solidFill>
                  <a:srgbClr val="006600"/>
                </a:solidFill>
              </a:rPr>
              <a:t>update</a:t>
            </a:r>
            <a:r>
              <a:rPr lang="en-US" sz="2000" dirty="0"/>
              <a:t> ) {</a:t>
            </a:r>
          </a:p>
          <a:p>
            <a:pPr>
              <a:defRPr/>
            </a:pPr>
            <a:r>
              <a:rPr lang="en-US" sz="2000" dirty="0"/>
              <a:t>    // loop body</a:t>
            </a:r>
          </a:p>
          <a:p>
            <a:pPr>
              <a:defRPr/>
            </a:pPr>
            <a:r>
              <a:rPr lang="en-US" sz="2000" dirty="0"/>
              <a:t>}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415653647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Repetition through Loops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812C4E-B44C-1D15-269B-37A18D65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A89B61-E0FE-EEDF-7A9D-A61FF04D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A503C10-EFD2-0790-EE5F-26A7650E5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929F88-7301-9414-EA38-FF049A8D4965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E08D68-C5C0-F84C-8EFE-51EA52CA868A}"/>
              </a:ext>
            </a:extLst>
          </p:cNvPr>
          <p:cNvSpPr txBox="1"/>
          <p:nvPr/>
        </p:nvSpPr>
        <p:spPr>
          <a:xfrm>
            <a:off x="6293346" y="3879062"/>
            <a:ext cx="2521036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do not have explicit start / end / update.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8559C-9D70-9B32-4447-2939262C1587}"/>
              </a:ext>
            </a:extLst>
          </p:cNvPr>
          <p:cNvSpPr txBox="1"/>
          <p:nvPr/>
        </p:nvSpPr>
        <p:spPr>
          <a:xfrm>
            <a:off x="3612921" y="3883671"/>
            <a:ext cx="2466600" cy="1015663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while</a:t>
            </a:r>
            <a:r>
              <a:rPr lang="en-US" sz="2000" dirty="0"/>
              <a:t> ( </a:t>
            </a:r>
            <a:r>
              <a:rPr lang="en-US" sz="2000" dirty="0">
                <a:solidFill>
                  <a:srgbClr val="C00000"/>
                </a:solidFill>
              </a:rPr>
              <a:t>condition</a:t>
            </a:r>
            <a:r>
              <a:rPr lang="en-US" sz="2000" dirty="0"/>
              <a:t> ) 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/>
              <a:t>    	</a:t>
            </a:r>
            <a:r>
              <a:rPr lang="en-US" sz="2000" dirty="0">
                <a:solidFill>
                  <a:schemeClr val="tx1"/>
                </a:solidFill>
              </a:rPr>
              <a:t>// loop body</a:t>
            </a:r>
          </a:p>
          <a:p>
            <a:pPr>
              <a:defRPr/>
            </a:pPr>
            <a:r>
              <a:rPr lang="en-US" sz="2000" dirty="0"/>
              <a:t>}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342912506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Repetition through Loops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812C4E-B44C-1D15-269B-37A18D65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A89B61-E0FE-EEDF-7A9D-A61FF04D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D5A4193-8212-8F1E-F14F-7D869EDA4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B4A0D7-B2BF-8B88-B532-CB43BF5C97CB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2);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CEF52-335A-C8D5-2486-DDC46F09A073}"/>
              </a:ext>
            </a:extLst>
          </p:cNvPr>
          <p:cNvSpPr txBox="1"/>
          <p:nvPr/>
        </p:nvSpPr>
        <p:spPr>
          <a:xfrm>
            <a:off x="6293346" y="3885547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</a:t>
            </a:r>
            <a:r>
              <a:rPr lang="en-US" altLang="zh-CN" dirty="0"/>
              <a:t>must be done at least once</a:t>
            </a:r>
            <a:r>
              <a:rPr lang="en-SG" altLang="zh-CN" dirty="0"/>
              <a:t>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32569-D66C-1E4D-6446-3F0412AD3704}"/>
              </a:ext>
            </a:extLst>
          </p:cNvPr>
          <p:cNvSpPr txBox="1"/>
          <p:nvPr/>
        </p:nvSpPr>
        <p:spPr>
          <a:xfrm>
            <a:off x="3612921" y="3883671"/>
            <a:ext cx="2466600" cy="1015663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do </a:t>
            </a:r>
            <a:r>
              <a:rPr lang="en-US" sz="20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000" dirty="0"/>
              <a:t>    	</a:t>
            </a:r>
            <a:r>
              <a:rPr lang="en-US" sz="2000" dirty="0">
                <a:solidFill>
                  <a:schemeClr val="tx1"/>
                </a:solidFill>
              </a:rPr>
              <a:t>// loop body</a:t>
            </a:r>
          </a:p>
          <a:p>
            <a:pPr>
              <a:defRPr/>
            </a:pPr>
            <a:r>
              <a:rPr lang="en-US" sz="2000" dirty="0"/>
              <a:t>} ( </a:t>
            </a:r>
            <a:r>
              <a:rPr lang="en-US" sz="2000" dirty="0">
                <a:solidFill>
                  <a:srgbClr val="C00000"/>
                </a:solidFill>
              </a:rPr>
              <a:t>condition</a:t>
            </a:r>
            <a:r>
              <a:rPr lang="en-US" sz="2000" dirty="0"/>
              <a:t> );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110811781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Practical Algorithms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General algorithms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Find Max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Counting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Lookup Table 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Permutation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Logical Checks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FA6B95-7DF2-2C43-6B2C-297ABEA5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B65811-DBBB-D4E6-C212-E52BD06F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6194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01E3-E8E2-D07A-59CB-40D60D3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157B07F-BAFD-CFBA-9ADE-FF7BD298A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Practical Algorithms</a:t>
            </a:r>
          </a:p>
        </p:txBody>
      </p:sp>
      <p:sp>
        <p:nvSpPr>
          <p:cNvPr id="8" name="HighlightTextShape201406241503265130">
            <a:extLst>
              <a:ext uri="{FF2B5EF4-FFF2-40B4-BE49-F238E27FC236}">
                <a16:creationId xmlns:a16="http://schemas.microsoft.com/office/drawing/2014/main" id="{302EF9BA-6916-4ADD-C9CC-55AA41CB6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Searching &amp; Sorting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Linear and Binary Search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Counting / Selection / Bubble / Insertion Sort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Applications on various Data Structures / Problems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E6041-414B-30DF-5720-956EB90E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17649-9CAC-8F45-1232-47A300CE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7768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Linear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8720"/>
            <a:ext cx="8229600" cy="202311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Also known as </a:t>
            </a:r>
            <a:r>
              <a:rPr lang="en-SG" dirty="0">
                <a:solidFill>
                  <a:srgbClr val="C00000"/>
                </a:solidFill>
              </a:rPr>
              <a:t>Sequential Search</a:t>
            </a:r>
          </a:p>
          <a:p>
            <a:pPr marL="347663" indent="-347663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ja-JP" dirty="0">
                <a:ea typeface="ＭＳ Ｐゴシック" pitchFamily="34" charset="-128"/>
              </a:rPr>
              <a:t>Idea: Search the list from one end to the other end in linear progression.</a:t>
            </a:r>
          </a:p>
          <a:p>
            <a:pPr marL="347663" indent="-347663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pitchFamily="34" charset="-128"/>
              </a:rPr>
              <a:t>Algorithm: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03751" y="3205377"/>
            <a:ext cx="4391025" cy="19383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95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// Search for key in list A with n items</a:t>
            </a:r>
          </a:p>
          <a:p>
            <a:pPr eaLnBrk="1" hangingPunct="1"/>
            <a:r>
              <a:rPr lang="en-US" sz="2000" err="1">
                <a:solidFill>
                  <a:srgbClr val="C00000"/>
                </a:solidFill>
                <a:latin typeface="Calibri" pitchFamily="34" charset="0"/>
              </a:rPr>
              <a:t>linear_search</a:t>
            </a:r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(n, list, q) </a:t>
            </a:r>
          </a:p>
          <a:p>
            <a:pPr eaLnBrk="1" hangingPunct="1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{</a:t>
            </a:r>
          </a:p>
          <a:p>
            <a:pPr eaLnBrk="1" hangingPunct="1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	for </a:t>
            </a:r>
            <a:r>
              <a:rPr lang="en-US" sz="200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 = 0 to n-1 </a:t>
            </a:r>
          </a:p>
          <a:p>
            <a:pPr eaLnBrk="1" hangingPunct="1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  		if </a:t>
            </a:r>
            <a:r>
              <a:rPr lang="en-US" sz="2000" err="1">
                <a:solidFill>
                  <a:srgbClr val="C00000"/>
                </a:solidFill>
                <a:latin typeface="Calibri" pitchFamily="34" charset="0"/>
              </a:rPr>
              <a:t>list</a:t>
            </a:r>
            <a:r>
              <a:rPr lang="en-US" sz="2000" baseline="-2500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 is q then report </a:t>
            </a:r>
            <a:r>
              <a:rPr lang="en-US" sz="2000" err="1">
                <a:solidFill>
                  <a:srgbClr val="C00000"/>
                </a:solidFill>
                <a:latin typeface="Calibri" pitchFamily="34" charset="0"/>
              </a:rPr>
              <a:t>i</a:t>
            </a:r>
            <a:endParaRPr lang="en-US" sz="2000">
              <a:solidFill>
                <a:srgbClr val="C00000"/>
              </a:solidFill>
              <a:latin typeface="Calibri" pitchFamily="34" charset="0"/>
            </a:endParaRPr>
          </a:p>
          <a:p>
            <a:pPr eaLnBrk="1" hangingPunct="1"/>
            <a:r>
              <a:rPr lang="en-US" sz="2000">
                <a:solidFill>
                  <a:srgbClr val="C00000"/>
                </a:solidFill>
                <a:latin typeface="Calibri" pitchFamily="34" charset="0"/>
              </a:rPr>
              <a:t>}</a:t>
            </a:r>
            <a:endParaRPr lang="en-SG" sz="200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353526" y="3190301"/>
            <a:ext cx="3533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/>
              <a:t>87   12   51   9    24   63</a:t>
            </a:r>
            <a:endParaRPr lang="en-SG" sz="240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203664" y="2633058"/>
            <a:ext cx="38466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>
                <a:latin typeface="Calibri" pitchFamily="34" charset="0"/>
              </a:rPr>
              <a:t>Example: Search for </a:t>
            </a:r>
            <a:r>
              <a:rPr lang="en-US" sz="2000">
                <a:solidFill>
                  <a:srgbClr val="0000FF"/>
                </a:solidFill>
                <a:latin typeface="Calibri" pitchFamily="34" charset="0"/>
              </a:rPr>
              <a:t>24</a:t>
            </a:r>
            <a:r>
              <a:rPr lang="en-US" sz="2000">
                <a:latin typeface="Calibri" pitchFamily="34" charset="0"/>
              </a:rPr>
              <a:t> in this list</a:t>
            </a:r>
            <a:endParaRPr lang="en-SG" sz="2000">
              <a:latin typeface="Calibri" pitchFamily="34" charset="0"/>
            </a:endParaRPr>
          </a:p>
        </p:txBody>
      </p:sp>
      <p:grpSp>
        <p:nvGrpSpPr>
          <p:cNvPr id="15" name="Group 16"/>
          <p:cNvGrpSpPr>
            <a:grpSpLocks/>
          </p:cNvGrpSpPr>
          <p:nvPr/>
        </p:nvGrpSpPr>
        <p:grpSpPr bwMode="auto">
          <a:xfrm>
            <a:off x="5256688" y="3615751"/>
            <a:ext cx="762000" cy="1193800"/>
            <a:chOff x="5413023" y="4347016"/>
            <a:chExt cx="762000" cy="1195182"/>
          </a:xfrm>
        </p:grpSpPr>
        <p:cxnSp>
          <p:nvCxnSpPr>
            <p:cNvPr id="16" name="Straight Arrow Connector 13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Box 15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5894863" y="3615751"/>
            <a:ext cx="762000" cy="1193800"/>
            <a:chOff x="5413023" y="4347016"/>
            <a:chExt cx="762000" cy="1195182"/>
          </a:xfrm>
        </p:grpSpPr>
        <p:cxnSp>
          <p:nvCxnSpPr>
            <p:cNvPr id="19" name="Straight Arrow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6448901" y="3615751"/>
            <a:ext cx="762000" cy="1193800"/>
            <a:chOff x="5413023" y="4347016"/>
            <a:chExt cx="762000" cy="1195182"/>
          </a:xfrm>
        </p:grpSpPr>
        <p:cxnSp>
          <p:nvCxnSpPr>
            <p:cNvPr id="22" name="Straight Arrow Connector 21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Box 22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6950551" y="3615751"/>
            <a:ext cx="762000" cy="1193800"/>
            <a:chOff x="5413023" y="4347016"/>
            <a:chExt cx="762000" cy="1195182"/>
          </a:xfrm>
        </p:grpSpPr>
        <p:cxnSp>
          <p:nvCxnSpPr>
            <p:cNvPr id="25" name="Straight Arrow Connector 25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26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solidFill>
                    <a:srgbClr val="006600"/>
                  </a:solidFill>
                  <a:latin typeface="Calibri" pitchFamily="34" charset="0"/>
                </a:rPr>
                <a:t>no</a:t>
              </a:r>
              <a:endParaRPr lang="en-SG" sz="2000" i="1">
                <a:solidFill>
                  <a:srgbClr val="006600"/>
                </a:solidFill>
                <a:latin typeface="Calibri" pitchFamily="34" charset="0"/>
              </a:endParaRPr>
            </a:p>
          </p:txBody>
        </p:sp>
      </p:grpSp>
      <p:grpSp>
        <p:nvGrpSpPr>
          <p:cNvPr id="27" name="Group 27"/>
          <p:cNvGrpSpPr>
            <a:grpSpLocks/>
          </p:cNvGrpSpPr>
          <p:nvPr/>
        </p:nvGrpSpPr>
        <p:grpSpPr bwMode="auto">
          <a:xfrm>
            <a:off x="7526813" y="3615750"/>
            <a:ext cx="762000" cy="1255817"/>
            <a:chOff x="5413023" y="4347016"/>
            <a:chExt cx="762000" cy="1257271"/>
          </a:xfrm>
        </p:grpSpPr>
        <p:cxnSp>
          <p:nvCxnSpPr>
            <p:cNvPr id="28" name="Straight Arrow Connector 28"/>
            <p:cNvCxnSpPr>
              <a:cxnSpLocks noChangeShapeType="1"/>
            </p:cNvCxnSpPr>
            <p:nvPr/>
          </p:nvCxnSpPr>
          <p:spPr bwMode="auto">
            <a:xfrm rot="5400000" flipH="1" flipV="1">
              <a:off x="5345289" y="4769555"/>
              <a:ext cx="846666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Box 29"/>
            <p:cNvSpPr txBox="1">
              <a:spLocks noChangeArrowheads="1"/>
            </p:cNvSpPr>
            <p:nvPr/>
          </p:nvSpPr>
          <p:spPr bwMode="auto">
            <a:xfrm>
              <a:off x="5413023" y="5142088"/>
              <a:ext cx="762000" cy="462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 i="1">
                  <a:solidFill>
                    <a:srgbClr val="C00000"/>
                  </a:solidFill>
                  <a:latin typeface="Calibri" pitchFamily="34" charset="0"/>
                </a:rPr>
                <a:t>yes!</a:t>
              </a:r>
              <a:endParaRPr lang="en-SG" sz="2400" i="1">
                <a:solidFill>
                  <a:srgbClr val="C00000"/>
                </a:solidFill>
                <a:latin typeface="Calibri" pitchFamily="34" charset="0"/>
              </a:endParaRPr>
            </a:p>
          </p:txBody>
        </p:sp>
      </p:grpSp>
      <p:sp>
        <p:nvSpPr>
          <p:cNvPr id="30" name="Content Placeholder 5"/>
          <p:cNvSpPr txBox="1">
            <a:spLocks/>
          </p:cNvSpPr>
          <p:nvPr/>
        </p:nvSpPr>
        <p:spPr>
          <a:xfrm>
            <a:off x="587375" y="5330190"/>
            <a:ext cx="8229600" cy="1011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12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What to report if key is not found?</a:t>
            </a:r>
          </a:p>
          <a:p>
            <a:pPr marL="803275" lvl="1" indent="-347663" fontAlgn="auto">
              <a:spcBef>
                <a:spcPts val="600"/>
              </a:spcBef>
              <a:spcAft>
                <a:spcPts val="0"/>
              </a:spcAft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SG" dirty="0"/>
              <a:t>Aim for a clean design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360841" y="4871567"/>
            <a:ext cx="1515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Return </a:t>
            </a:r>
            <a:r>
              <a:rPr lang="en-US" sz="240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4DC5A1-184F-E678-0C57-B3A098D6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3D6D0-8ACB-3DE2-2459-BFB37CFC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5720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Binary Search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41867" y="1270000"/>
            <a:ext cx="7924800" cy="541867"/>
          </a:xfrm>
        </p:spPr>
        <p:txBody>
          <a:bodyPr>
            <a:normAutofit/>
          </a:bodyPr>
          <a:lstStyle/>
          <a:p>
            <a:pPr marL="338138" indent="-338138">
              <a:lnSpc>
                <a:spcPct val="90000"/>
              </a:lnSpc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Example: Search key = 23</a:t>
            </a:r>
            <a:endParaRPr lang="en-US" sz="2400" dirty="0"/>
          </a:p>
        </p:txBody>
      </p:sp>
      <p:grpSp>
        <p:nvGrpSpPr>
          <p:cNvPr id="9" name="Group 57"/>
          <p:cNvGrpSpPr>
            <a:grpSpLocks/>
          </p:cNvGrpSpPr>
          <p:nvPr/>
        </p:nvGrpSpPr>
        <p:grpSpPr bwMode="auto">
          <a:xfrm>
            <a:off x="1374775" y="2036763"/>
            <a:ext cx="6473825" cy="769937"/>
            <a:chOff x="1374094" y="2036187"/>
            <a:chExt cx="6474507" cy="770931"/>
          </a:xfrm>
        </p:grpSpPr>
        <p:sp>
          <p:nvSpPr>
            <p:cNvPr id="10" name="TextBox 38"/>
            <p:cNvSpPr txBox="1">
              <a:spLocks noChangeArrowheads="1"/>
            </p:cNvSpPr>
            <p:nvPr/>
          </p:nvSpPr>
          <p:spPr bwMode="auto">
            <a:xfrm>
              <a:off x="1715180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5</a:t>
              </a:r>
              <a:endParaRPr lang="en-SG" sz="2400"/>
            </a:p>
          </p:txBody>
        </p:sp>
        <p:sp>
          <p:nvSpPr>
            <p:cNvPr id="11" name="TextBox 39"/>
            <p:cNvSpPr txBox="1">
              <a:spLocks noChangeArrowheads="1"/>
            </p:cNvSpPr>
            <p:nvPr/>
          </p:nvSpPr>
          <p:spPr bwMode="auto">
            <a:xfrm>
              <a:off x="2397352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12</a:t>
              </a:r>
              <a:endParaRPr lang="en-SG" sz="2400"/>
            </a:p>
          </p:txBody>
        </p:sp>
        <p:sp>
          <p:nvSpPr>
            <p:cNvPr id="13" name="TextBox 40"/>
            <p:cNvSpPr txBox="1">
              <a:spLocks noChangeArrowheads="1"/>
            </p:cNvSpPr>
            <p:nvPr/>
          </p:nvSpPr>
          <p:spPr bwMode="auto">
            <a:xfrm>
              <a:off x="3079524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17</a:t>
              </a:r>
              <a:endParaRPr lang="en-SG" sz="2400"/>
            </a:p>
          </p:txBody>
        </p:sp>
        <p:sp>
          <p:nvSpPr>
            <p:cNvPr id="14" name="TextBox 41"/>
            <p:cNvSpPr txBox="1">
              <a:spLocks noChangeArrowheads="1"/>
            </p:cNvSpPr>
            <p:nvPr/>
          </p:nvSpPr>
          <p:spPr bwMode="auto">
            <a:xfrm>
              <a:off x="3761696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23</a:t>
              </a:r>
              <a:endParaRPr lang="en-SG" sz="2400"/>
            </a:p>
          </p:txBody>
        </p:sp>
        <p:sp>
          <p:nvSpPr>
            <p:cNvPr id="15" name="TextBox 42"/>
            <p:cNvSpPr txBox="1">
              <a:spLocks noChangeArrowheads="1"/>
            </p:cNvSpPr>
            <p:nvPr/>
          </p:nvSpPr>
          <p:spPr bwMode="auto">
            <a:xfrm>
              <a:off x="4443868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38</a:t>
              </a:r>
              <a:endParaRPr lang="en-SG" sz="2400"/>
            </a:p>
          </p:txBody>
        </p:sp>
        <p:sp>
          <p:nvSpPr>
            <p:cNvPr id="16" name="TextBox 43"/>
            <p:cNvSpPr txBox="1">
              <a:spLocks noChangeArrowheads="1"/>
            </p:cNvSpPr>
            <p:nvPr/>
          </p:nvSpPr>
          <p:spPr bwMode="auto">
            <a:xfrm>
              <a:off x="5126040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44</a:t>
              </a:r>
              <a:endParaRPr lang="en-SG" sz="2400"/>
            </a:p>
          </p:txBody>
        </p:sp>
        <p:sp>
          <p:nvSpPr>
            <p:cNvPr id="17" name="TextBox 44"/>
            <p:cNvSpPr txBox="1">
              <a:spLocks noChangeArrowheads="1"/>
            </p:cNvSpPr>
            <p:nvPr/>
          </p:nvSpPr>
          <p:spPr bwMode="auto">
            <a:xfrm>
              <a:off x="5808212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77</a:t>
              </a:r>
              <a:endParaRPr lang="en-SG" sz="2400"/>
            </a:p>
          </p:txBody>
        </p:sp>
        <p:sp>
          <p:nvSpPr>
            <p:cNvPr id="18" name="TextBox 45"/>
            <p:cNvSpPr txBox="1">
              <a:spLocks noChangeArrowheads="1"/>
            </p:cNvSpPr>
            <p:nvPr/>
          </p:nvSpPr>
          <p:spPr bwMode="auto">
            <a:xfrm>
              <a:off x="6490384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84</a:t>
              </a:r>
              <a:endParaRPr lang="en-SG" sz="2400"/>
            </a:p>
          </p:txBody>
        </p:sp>
        <p:sp>
          <p:nvSpPr>
            <p:cNvPr id="19" name="TextBox 46"/>
            <p:cNvSpPr txBox="1">
              <a:spLocks noChangeArrowheads="1"/>
            </p:cNvSpPr>
            <p:nvPr/>
          </p:nvSpPr>
          <p:spPr bwMode="auto">
            <a:xfrm>
              <a:off x="7166429" y="2345453"/>
              <a:ext cx="682172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400"/>
                <a:t>90</a:t>
              </a:r>
              <a:endParaRPr lang="en-SG" sz="2400"/>
            </a:p>
          </p:txBody>
        </p:sp>
        <p:sp>
          <p:nvSpPr>
            <p:cNvPr id="20" name="TextBox 47"/>
            <p:cNvSpPr txBox="1">
              <a:spLocks noChangeArrowheads="1"/>
            </p:cNvSpPr>
            <p:nvPr/>
          </p:nvSpPr>
          <p:spPr bwMode="auto">
            <a:xfrm>
              <a:off x="1715180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21" name="TextBox 48"/>
            <p:cNvSpPr txBox="1">
              <a:spLocks noChangeArrowheads="1"/>
            </p:cNvSpPr>
            <p:nvPr/>
          </p:nvSpPr>
          <p:spPr bwMode="auto">
            <a:xfrm>
              <a:off x="2397352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22" name="TextBox 49"/>
            <p:cNvSpPr txBox="1">
              <a:spLocks noChangeArrowheads="1"/>
            </p:cNvSpPr>
            <p:nvPr/>
          </p:nvSpPr>
          <p:spPr bwMode="auto">
            <a:xfrm>
              <a:off x="3079524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23" name="TextBox 50"/>
            <p:cNvSpPr txBox="1">
              <a:spLocks noChangeArrowheads="1"/>
            </p:cNvSpPr>
            <p:nvPr/>
          </p:nvSpPr>
          <p:spPr bwMode="auto">
            <a:xfrm>
              <a:off x="3761696" y="2036187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4" name="TextBox 51"/>
            <p:cNvSpPr txBox="1">
              <a:spLocks noChangeArrowheads="1"/>
            </p:cNvSpPr>
            <p:nvPr/>
          </p:nvSpPr>
          <p:spPr bwMode="auto">
            <a:xfrm>
              <a:off x="4443868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5" name="TextBox 52"/>
            <p:cNvSpPr txBox="1">
              <a:spLocks noChangeArrowheads="1"/>
            </p:cNvSpPr>
            <p:nvPr/>
          </p:nvSpPr>
          <p:spPr bwMode="auto">
            <a:xfrm>
              <a:off x="5119913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6" name="TextBox 53"/>
            <p:cNvSpPr txBox="1">
              <a:spLocks noChangeArrowheads="1"/>
            </p:cNvSpPr>
            <p:nvPr/>
          </p:nvSpPr>
          <p:spPr bwMode="auto">
            <a:xfrm>
              <a:off x="5802085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27" name="TextBox 54"/>
            <p:cNvSpPr txBox="1">
              <a:spLocks noChangeArrowheads="1"/>
            </p:cNvSpPr>
            <p:nvPr/>
          </p:nvSpPr>
          <p:spPr bwMode="auto">
            <a:xfrm>
              <a:off x="6484257" y="2037676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28" name="TextBox 55"/>
            <p:cNvSpPr txBox="1">
              <a:spLocks noChangeArrowheads="1"/>
            </p:cNvSpPr>
            <p:nvPr/>
          </p:nvSpPr>
          <p:spPr bwMode="auto">
            <a:xfrm>
              <a:off x="7166429" y="2039165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29" name="TextBox 56"/>
            <p:cNvSpPr txBox="1">
              <a:spLocks noChangeArrowheads="1"/>
            </p:cNvSpPr>
            <p:nvPr/>
          </p:nvSpPr>
          <p:spPr bwMode="auto">
            <a:xfrm>
              <a:off x="1374094" y="2036187"/>
              <a:ext cx="6821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arr</a:t>
              </a:r>
              <a:endParaRPr lang="en-SG" sz="1400"/>
            </a:p>
          </p:txBody>
        </p:sp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03225" y="3945880"/>
            <a:ext cx="5405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/>
              <a:t>1. start = </a:t>
            </a:r>
            <a:r>
              <a:rPr lang="en-US" sz="2400">
                <a:solidFill>
                  <a:srgbClr val="006600"/>
                </a:solidFill>
              </a:rPr>
              <a:t>0</a:t>
            </a:r>
            <a:r>
              <a:rPr lang="en-US" sz="2400"/>
              <a:t>, end = </a:t>
            </a:r>
            <a:r>
              <a:rPr lang="en-US" sz="2400">
                <a:solidFill>
                  <a:srgbClr val="0000FF"/>
                </a:solidFill>
              </a:rPr>
              <a:t>8</a:t>
            </a:r>
            <a:r>
              <a:rPr lang="en-US" sz="2400"/>
              <a:t>, mid = (0+8)/2 = </a:t>
            </a:r>
            <a:r>
              <a:rPr lang="en-US" sz="2400">
                <a:solidFill>
                  <a:srgbClr val="C00000"/>
                </a:solidFill>
              </a:rPr>
              <a:t>4</a:t>
            </a:r>
            <a:endParaRPr lang="en-SG" sz="2400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/>
          <p:cNvCxnSpPr>
            <a:cxnSpLocks noChangeShapeType="1"/>
          </p:cNvCxnSpPr>
          <p:nvPr/>
        </p:nvCxnSpPr>
        <p:spPr bwMode="auto">
          <a:xfrm rot="5400000" flipH="1" flipV="1">
            <a:off x="4366419" y="3232944"/>
            <a:ext cx="850900" cy="1588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" name="Group 67"/>
          <p:cNvGrpSpPr>
            <a:grpSpLocks/>
          </p:cNvGrpSpPr>
          <p:nvPr/>
        </p:nvGrpSpPr>
        <p:grpSpPr bwMode="auto">
          <a:xfrm>
            <a:off x="4443413" y="2344738"/>
            <a:ext cx="3405187" cy="461962"/>
            <a:chOff x="4443868" y="2343964"/>
            <a:chExt cx="3404733" cy="463154"/>
          </a:xfrm>
        </p:grpSpPr>
        <p:cxnSp>
          <p:nvCxnSpPr>
            <p:cNvPr id="33" name="Straight Connector 63"/>
            <p:cNvCxnSpPr>
              <a:cxnSpLocks noChangeShapeType="1"/>
            </p:cNvCxnSpPr>
            <p:nvPr/>
          </p:nvCxnSpPr>
          <p:spPr bwMode="auto">
            <a:xfrm>
              <a:off x="4443868" y="2343964"/>
              <a:ext cx="3404733" cy="463154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Straight Connector 64"/>
            <p:cNvCxnSpPr>
              <a:cxnSpLocks noChangeShapeType="1"/>
            </p:cNvCxnSpPr>
            <p:nvPr/>
          </p:nvCxnSpPr>
          <p:spPr bwMode="auto">
            <a:xfrm flipV="1">
              <a:off x="4443868" y="2346942"/>
              <a:ext cx="3404733" cy="460176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398463" y="4447232"/>
            <a:ext cx="57448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/>
              <a:t>2. start = </a:t>
            </a:r>
            <a:r>
              <a:rPr lang="en-US" sz="2400">
                <a:solidFill>
                  <a:srgbClr val="006600"/>
                </a:solidFill>
              </a:rPr>
              <a:t>0</a:t>
            </a:r>
            <a:r>
              <a:rPr lang="en-US" sz="2400"/>
              <a:t>, end = </a:t>
            </a:r>
            <a:r>
              <a:rPr lang="en-US" sz="2400">
                <a:solidFill>
                  <a:srgbClr val="0000FF"/>
                </a:solidFill>
              </a:rPr>
              <a:t>3</a:t>
            </a:r>
            <a:r>
              <a:rPr lang="en-US" sz="2400"/>
              <a:t>, mid = (0+3)/2 = </a:t>
            </a:r>
            <a:r>
              <a:rPr lang="en-US" sz="2400">
                <a:solidFill>
                  <a:srgbClr val="C00000"/>
                </a:solidFill>
              </a:rPr>
              <a:t>1</a:t>
            </a:r>
            <a:endParaRPr lang="en-SG" sz="2400">
              <a:solidFill>
                <a:srgbClr val="C00000"/>
              </a:solidFill>
            </a:endParaRPr>
          </a:p>
        </p:txBody>
      </p:sp>
      <p:cxnSp>
        <p:nvCxnSpPr>
          <p:cNvPr id="36" name="Straight Arrow Connector 35"/>
          <p:cNvCxnSpPr>
            <a:cxnSpLocks noChangeShapeType="1"/>
          </p:cNvCxnSpPr>
          <p:nvPr/>
        </p:nvCxnSpPr>
        <p:spPr bwMode="auto">
          <a:xfrm rot="5400000" flipH="1" flipV="1">
            <a:off x="2336007" y="3232944"/>
            <a:ext cx="850900" cy="1587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7" name="Group 70"/>
          <p:cNvGrpSpPr>
            <a:grpSpLocks/>
          </p:cNvGrpSpPr>
          <p:nvPr/>
        </p:nvGrpSpPr>
        <p:grpSpPr bwMode="auto">
          <a:xfrm>
            <a:off x="1720850" y="2344738"/>
            <a:ext cx="1358900" cy="463550"/>
            <a:chOff x="4443868" y="2343964"/>
            <a:chExt cx="3404733" cy="463154"/>
          </a:xfrm>
        </p:grpSpPr>
        <p:cxnSp>
          <p:nvCxnSpPr>
            <p:cNvPr id="38" name="Straight Connector 71"/>
            <p:cNvCxnSpPr>
              <a:cxnSpLocks noChangeShapeType="1"/>
            </p:cNvCxnSpPr>
            <p:nvPr/>
          </p:nvCxnSpPr>
          <p:spPr bwMode="auto">
            <a:xfrm>
              <a:off x="4443868" y="2343964"/>
              <a:ext cx="3404733" cy="463154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Straight Connector 72"/>
            <p:cNvCxnSpPr>
              <a:cxnSpLocks noChangeShapeType="1"/>
            </p:cNvCxnSpPr>
            <p:nvPr/>
          </p:nvCxnSpPr>
          <p:spPr bwMode="auto">
            <a:xfrm flipV="1">
              <a:off x="4443868" y="2346942"/>
              <a:ext cx="3404733" cy="460176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225" y="4932546"/>
            <a:ext cx="574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/>
              <a:t>3. start = </a:t>
            </a:r>
            <a:r>
              <a:rPr lang="en-US" sz="2400">
                <a:solidFill>
                  <a:srgbClr val="006600"/>
                </a:solidFill>
              </a:rPr>
              <a:t>2</a:t>
            </a:r>
            <a:r>
              <a:rPr lang="en-US" sz="2400"/>
              <a:t>, end = </a:t>
            </a:r>
            <a:r>
              <a:rPr lang="en-US" sz="2400">
                <a:solidFill>
                  <a:srgbClr val="0000FF"/>
                </a:solidFill>
              </a:rPr>
              <a:t>3</a:t>
            </a:r>
            <a:r>
              <a:rPr lang="en-US" sz="2400"/>
              <a:t>, mid = (2+3)/2 = </a:t>
            </a:r>
            <a:r>
              <a:rPr lang="en-US" sz="2400">
                <a:solidFill>
                  <a:srgbClr val="C00000"/>
                </a:solidFill>
              </a:rPr>
              <a:t>2</a:t>
            </a:r>
            <a:endParaRPr lang="en-SG" sz="2400">
              <a:solidFill>
                <a:srgbClr val="C00000"/>
              </a:solidFill>
            </a:endParaRPr>
          </a:p>
        </p:txBody>
      </p: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 rot="5400000" flipH="1" flipV="1">
            <a:off x="3067844" y="3232944"/>
            <a:ext cx="850900" cy="1588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2" name="Group 75"/>
          <p:cNvGrpSpPr>
            <a:grpSpLocks/>
          </p:cNvGrpSpPr>
          <p:nvPr/>
        </p:nvGrpSpPr>
        <p:grpSpPr bwMode="auto">
          <a:xfrm>
            <a:off x="3079750" y="2346325"/>
            <a:ext cx="676275" cy="465138"/>
            <a:chOff x="4443868" y="2343964"/>
            <a:chExt cx="3404733" cy="463154"/>
          </a:xfrm>
        </p:grpSpPr>
        <p:cxnSp>
          <p:nvCxnSpPr>
            <p:cNvPr id="43" name="Straight Connector 76"/>
            <p:cNvCxnSpPr>
              <a:cxnSpLocks noChangeShapeType="1"/>
            </p:cNvCxnSpPr>
            <p:nvPr/>
          </p:nvCxnSpPr>
          <p:spPr bwMode="auto">
            <a:xfrm>
              <a:off x="4443868" y="2343964"/>
              <a:ext cx="3404733" cy="463154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Straight Connector 77"/>
            <p:cNvCxnSpPr>
              <a:cxnSpLocks noChangeShapeType="1"/>
            </p:cNvCxnSpPr>
            <p:nvPr/>
          </p:nvCxnSpPr>
          <p:spPr bwMode="auto">
            <a:xfrm flipV="1">
              <a:off x="4443868" y="2346942"/>
              <a:ext cx="3404733" cy="460176"/>
            </a:xfrm>
            <a:prstGeom prst="line">
              <a:avLst/>
            </a:prstGeom>
            <a:noFill/>
            <a:ln w="28575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398463" y="5440065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/>
              <a:t>4. start = </a:t>
            </a:r>
            <a:r>
              <a:rPr lang="en-US" sz="2400">
                <a:solidFill>
                  <a:srgbClr val="006600"/>
                </a:solidFill>
              </a:rPr>
              <a:t>3</a:t>
            </a:r>
            <a:r>
              <a:rPr lang="en-US" sz="2400"/>
              <a:t>, end = </a:t>
            </a:r>
            <a:r>
              <a:rPr lang="en-US" sz="2400">
                <a:solidFill>
                  <a:srgbClr val="0000FF"/>
                </a:solidFill>
              </a:rPr>
              <a:t>3</a:t>
            </a:r>
            <a:r>
              <a:rPr lang="en-US" sz="2400"/>
              <a:t>, mid = (3+3)/2 = </a:t>
            </a:r>
            <a:r>
              <a:rPr lang="en-US" sz="2400">
                <a:solidFill>
                  <a:srgbClr val="C00000"/>
                </a:solidFill>
              </a:rPr>
              <a:t>3</a:t>
            </a:r>
            <a:endParaRPr lang="en-SG" sz="2400">
              <a:solidFill>
                <a:srgbClr val="C00000"/>
              </a:solidFill>
            </a:endParaRPr>
          </a:p>
        </p:txBody>
      </p:sp>
      <p:cxnSp>
        <p:nvCxnSpPr>
          <p:cNvPr id="46" name="Straight Arrow Connector 45"/>
          <p:cNvCxnSpPr>
            <a:cxnSpLocks noChangeShapeType="1"/>
          </p:cNvCxnSpPr>
          <p:nvPr/>
        </p:nvCxnSpPr>
        <p:spPr bwMode="auto">
          <a:xfrm rot="5400000" flipH="1" flipV="1">
            <a:off x="3689350" y="3230563"/>
            <a:ext cx="849313" cy="1587"/>
          </a:xfrm>
          <a:prstGeom prst="straightConnector1">
            <a:avLst/>
          </a:prstGeom>
          <a:noFill/>
          <a:ln w="15875" cap="sq" algn="ctr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6176338" y="2880250"/>
            <a:ext cx="199257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200">
                <a:solidFill>
                  <a:srgbClr val="0000FF"/>
                </a:solidFill>
              </a:rPr>
              <a:t>Found!</a:t>
            </a:r>
          </a:p>
          <a:p>
            <a:pPr eaLnBrk="1" hangingPunct="1"/>
            <a:r>
              <a:rPr lang="en-US" sz="3200">
                <a:solidFill>
                  <a:srgbClr val="C00000"/>
                </a:solidFill>
              </a:rPr>
              <a:t>Return 3</a:t>
            </a:r>
            <a:endParaRPr lang="en-SG" sz="320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08663" y="3945682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7030A0"/>
                </a:solidFill>
              </a:rPr>
              <a:t>arr[4] = 38 &gt; 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2299" y="4423311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>
                <a:solidFill>
                  <a:srgbClr val="7030A0"/>
                </a:solidFill>
              </a:rPr>
              <a:t>arr</a:t>
            </a:r>
            <a:r>
              <a:rPr lang="en-US" sz="2400">
                <a:solidFill>
                  <a:srgbClr val="7030A0"/>
                </a:solidFill>
              </a:rPr>
              <a:t>[1] = 12 &lt; 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299" y="4924662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>
                <a:solidFill>
                  <a:srgbClr val="7030A0"/>
                </a:solidFill>
              </a:rPr>
              <a:t>arr</a:t>
            </a:r>
            <a:r>
              <a:rPr lang="en-US" sz="2400">
                <a:solidFill>
                  <a:srgbClr val="7030A0"/>
                </a:solidFill>
              </a:rPr>
              <a:t>[2] = 17 &lt; 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2299" y="5415274"/>
            <a:ext cx="2548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>
                <a:solidFill>
                  <a:srgbClr val="7030A0"/>
                </a:solidFill>
              </a:rPr>
              <a:t>arr</a:t>
            </a:r>
            <a:r>
              <a:rPr lang="en-US" sz="2400">
                <a:solidFill>
                  <a:srgbClr val="7030A0"/>
                </a:solidFill>
              </a:rPr>
              <a:t>[3] = 23 == 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7611B-6292-D522-1604-32B71FE1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45DA1-79D8-815A-AEA3-18D65796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48558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Counting Sort</a:t>
            </a:r>
          </a:p>
        </p:txBody>
      </p:sp>
      <p:grpSp>
        <p:nvGrpSpPr>
          <p:cNvPr id="8" name="Group 114">
            <a:extLst>
              <a:ext uri="{FF2B5EF4-FFF2-40B4-BE49-F238E27FC236}">
                <a16:creationId xmlns:a16="http://schemas.microsoft.com/office/drawing/2014/main" id="{F5558159-9563-4219-A0AF-A1C3F29DB1A7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1694988"/>
            <a:ext cx="3758212" cy="711200"/>
            <a:chOff x="2091711" y="2136928"/>
            <a:chExt cx="3758410" cy="710464"/>
          </a:xfrm>
        </p:grpSpPr>
        <p:sp>
          <p:nvSpPr>
            <p:cNvPr id="9" name="TextBox 38">
              <a:extLst>
                <a:ext uri="{FF2B5EF4-FFF2-40B4-BE49-F238E27FC236}">
                  <a16:creationId xmlns:a16="http://schemas.microsoft.com/office/drawing/2014/main" id="{B2B4534F-E9E0-40D2-A9B2-56B559484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10" name="TextBox 39">
              <a:extLst>
                <a:ext uri="{FF2B5EF4-FFF2-40B4-BE49-F238E27FC236}">
                  <a16:creationId xmlns:a16="http://schemas.microsoft.com/office/drawing/2014/main" id="{FF2789B4-7582-4FC0-BBDC-97E788878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11" name="TextBox 40">
              <a:extLst>
                <a:ext uri="{FF2B5EF4-FFF2-40B4-BE49-F238E27FC236}">
                  <a16:creationId xmlns:a16="http://schemas.microsoft.com/office/drawing/2014/main" id="{8DBEE358-E7D8-4AD9-B638-9DDA75260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</a:t>
              </a:r>
              <a:endParaRPr lang="en-SG" sz="2000"/>
            </a:p>
          </p:txBody>
        </p:sp>
        <p:sp>
          <p:nvSpPr>
            <p:cNvPr id="13" name="TextBox 41">
              <a:extLst>
                <a:ext uri="{FF2B5EF4-FFF2-40B4-BE49-F238E27FC236}">
                  <a16:creationId xmlns:a16="http://schemas.microsoft.com/office/drawing/2014/main" id="{72042649-9B16-484D-A6EE-D057A70E3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</a:t>
              </a:r>
              <a:endParaRPr lang="en-SG" sz="2000"/>
            </a:p>
          </p:txBody>
        </p:sp>
        <p:sp>
          <p:nvSpPr>
            <p:cNvPr id="14" name="TextBox 42">
              <a:extLst>
                <a:ext uri="{FF2B5EF4-FFF2-40B4-BE49-F238E27FC236}">
                  <a16:creationId xmlns:a16="http://schemas.microsoft.com/office/drawing/2014/main" id="{D3732F19-BC60-4D55-8023-C5511A72A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</a:t>
              </a:r>
              <a:endParaRPr lang="en-SG" sz="2000"/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343405B6-4543-4775-B8E1-2726BE0EE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</a:t>
              </a:r>
              <a:endParaRPr lang="en-SG" sz="2000"/>
            </a:p>
          </p:txBody>
        </p:sp>
        <p:sp>
          <p:nvSpPr>
            <p:cNvPr id="19" name="TextBox 47">
              <a:extLst>
                <a:ext uri="{FF2B5EF4-FFF2-40B4-BE49-F238E27FC236}">
                  <a16:creationId xmlns:a16="http://schemas.microsoft.com/office/drawing/2014/main" id="{67B03A73-3A89-49CC-B9FF-D6CE46248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20" name="TextBox 48">
              <a:extLst>
                <a:ext uri="{FF2B5EF4-FFF2-40B4-BE49-F238E27FC236}">
                  <a16:creationId xmlns:a16="http://schemas.microsoft.com/office/drawing/2014/main" id="{50E4CB0C-E77F-4501-B6DB-067F21FE1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21" name="TextBox 49">
              <a:extLst>
                <a:ext uri="{FF2B5EF4-FFF2-40B4-BE49-F238E27FC236}">
                  <a16:creationId xmlns:a16="http://schemas.microsoft.com/office/drawing/2014/main" id="{1B38DAE8-6262-40F6-A349-6BA039A77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22" name="TextBox 50">
              <a:extLst>
                <a:ext uri="{FF2B5EF4-FFF2-40B4-BE49-F238E27FC236}">
                  <a16:creationId xmlns:a16="http://schemas.microsoft.com/office/drawing/2014/main" id="{CC900F18-9AAF-4AAC-9719-37ACDB50B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3" name="TextBox 51">
              <a:extLst>
                <a:ext uri="{FF2B5EF4-FFF2-40B4-BE49-F238E27FC236}">
                  <a16:creationId xmlns:a16="http://schemas.microsoft.com/office/drawing/2014/main" id="{7F881D1B-9CE3-473D-B025-3C121D1D8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4" name="TextBox 52">
              <a:extLst>
                <a:ext uri="{FF2B5EF4-FFF2-40B4-BE49-F238E27FC236}">
                  <a16:creationId xmlns:a16="http://schemas.microsoft.com/office/drawing/2014/main" id="{00C72526-1C5F-44FC-AF7F-68E5BD704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8" name="TextBox 56">
              <a:extLst>
                <a:ext uri="{FF2B5EF4-FFF2-40B4-BE49-F238E27FC236}">
                  <a16:creationId xmlns:a16="http://schemas.microsoft.com/office/drawing/2014/main" id="{6120F93B-1632-4A54-8C74-DE4A949E5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in</a:t>
              </a:r>
              <a:endParaRPr lang="en-SG" sz="1400"/>
            </a:p>
          </p:txBody>
        </p:sp>
      </p:grpSp>
      <p:grpSp>
        <p:nvGrpSpPr>
          <p:cNvPr id="44" name="Group 114">
            <a:extLst>
              <a:ext uri="{FF2B5EF4-FFF2-40B4-BE49-F238E27FC236}">
                <a16:creationId xmlns:a16="http://schemas.microsoft.com/office/drawing/2014/main" id="{F044F7B6-F72A-4752-961A-10DD87A65B9A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2773153"/>
            <a:ext cx="5416550" cy="711200"/>
            <a:chOff x="2091711" y="2136928"/>
            <a:chExt cx="5416835" cy="710464"/>
          </a:xfrm>
        </p:grpSpPr>
        <p:sp>
          <p:nvSpPr>
            <p:cNvPr id="45" name="TextBox 38">
              <a:extLst>
                <a:ext uri="{FF2B5EF4-FFF2-40B4-BE49-F238E27FC236}">
                  <a16:creationId xmlns:a16="http://schemas.microsoft.com/office/drawing/2014/main" id="{2BDCBA05-7414-4D82-B6B7-9993898AC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0</a:t>
              </a:r>
              <a:endParaRPr lang="en-SG" sz="2000"/>
            </a:p>
          </p:txBody>
        </p:sp>
        <p:sp>
          <p:nvSpPr>
            <p:cNvPr id="46" name="TextBox 39">
              <a:extLst>
                <a:ext uri="{FF2B5EF4-FFF2-40B4-BE49-F238E27FC236}">
                  <a16:creationId xmlns:a16="http://schemas.microsoft.com/office/drawing/2014/main" id="{7C477074-C791-404D-86C0-F71108833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0</a:t>
              </a:r>
              <a:endParaRPr lang="en-SG" sz="2000"/>
            </a:p>
          </p:txBody>
        </p:sp>
        <p:sp>
          <p:nvSpPr>
            <p:cNvPr id="47" name="TextBox 40">
              <a:extLst>
                <a:ext uri="{FF2B5EF4-FFF2-40B4-BE49-F238E27FC236}">
                  <a16:creationId xmlns:a16="http://schemas.microsoft.com/office/drawing/2014/main" id="{3AFC887A-FE01-4727-81DE-9D6F40446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</a:t>
              </a:r>
              <a:endParaRPr lang="en-SG" sz="2000"/>
            </a:p>
          </p:txBody>
        </p:sp>
        <p:sp>
          <p:nvSpPr>
            <p:cNvPr id="48" name="TextBox 41">
              <a:extLst>
                <a:ext uri="{FF2B5EF4-FFF2-40B4-BE49-F238E27FC236}">
                  <a16:creationId xmlns:a16="http://schemas.microsoft.com/office/drawing/2014/main" id="{4A285F2B-6929-43AC-97F9-7200A9136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</a:t>
              </a:r>
              <a:endParaRPr lang="en-SG" sz="2000"/>
            </a:p>
          </p:txBody>
        </p:sp>
        <p:sp>
          <p:nvSpPr>
            <p:cNvPr id="49" name="TextBox 42">
              <a:extLst>
                <a:ext uri="{FF2B5EF4-FFF2-40B4-BE49-F238E27FC236}">
                  <a16:creationId xmlns:a16="http://schemas.microsoft.com/office/drawing/2014/main" id="{D2D610C3-B3A8-4F20-A13E-D81383E93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0</a:t>
              </a:r>
              <a:endParaRPr lang="en-SG" sz="2000"/>
            </a:p>
          </p:txBody>
        </p:sp>
        <p:sp>
          <p:nvSpPr>
            <p:cNvPr id="50" name="TextBox 43">
              <a:extLst>
                <a:ext uri="{FF2B5EF4-FFF2-40B4-BE49-F238E27FC236}">
                  <a16:creationId xmlns:a16="http://schemas.microsoft.com/office/drawing/2014/main" id="{B04AA40A-9F38-45B6-9E42-2BBB14754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</a:t>
              </a:r>
              <a:endParaRPr lang="en-SG" sz="2000"/>
            </a:p>
          </p:txBody>
        </p:sp>
        <p:sp>
          <p:nvSpPr>
            <p:cNvPr id="51" name="TextBox 44">
              <a:extLst>
                <a:ext uri="{FF2B5EF4-FFF2-40B4-BE49-F238E27FC236}">
                  <a16:creationId xmlns:a16="http://schemas.microsoft.com/office/drawing/2014/main" id="{26616661-3757-4EF8-B554-C6557A27E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0</a:t>
              </a:r>
              <a:endParaRPr lang="en-SG" sz="2000"/>
            </a:p>
          </p:txBody>
        </p:sp>
        <p:sp>
          <p:nvSpPr>
            <p:cNvPr id="52" name="TextBox 45">
              <a:extLst>
                <a:ext uri="{FF2B5EF4-FFF2-40B4-BE49-F238E27FC236}">
                  <a16:creationId xmlns:a16="http://schemas.microsoft.com/office/drawing/2014/main" id="{147CF96D-B86C-48C3-B232-068072CE1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0</a:t>
              </a:r>
              <a:endParaRPr lang="en-SG" sz="2000"/>
            </a:p>
          </p:txBody>
        </p:sp>
        <p:sp>
          <p:nvSpPr>
            <p:cNvPr id="53" name="TextBox 46">
              <a:extLst>
                <a:ext uri="{FF2B5EF4-FFF2-40B4-BE49-F238E27FC236}">
                  <a16:creationId xmlns:a16="http://schemas.microsoft.com/office/drawing/2014/main" id="{9344DD33-59B0-4DFC-9321-E24433703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</a:t>
              </a:r>
              <a:endParaRPr lang="en-SG" sz="200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E7B5C34F-1DBD-4E4F-AB74-D763BF686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55" name="TextBox 48">
              <a:extLst>
                <a:ext uri="{FF2B5EF4-FFF2-40B4-BE49-F238E27FC236}">
                  <a16:creationId xmlns:a16="http://schemas.microsoft.com/office/drawing/2014/main" id="{541FEDC3-298D-4615-B3D5-1359CD647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56" name="TextBox 49">
              <a:extLst>
                <a:ext uri="{FF2B5EF4-FFF2-40B4-BE49-F238E27FC236}">
                  <a16:creationId xmlns:a16="http://schemas.microsoft.com/office/drawing/2014/main" id="{03FB4C08-34A1-4753-AF20-23EB2D7B4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57" name="TextBox 50">
              <a:extLst>
                <a:ext uri="{FF2B5EF4-FFF2-40B4-BE49-F238E27FC236}">
                  <a16:creationId xmlns:a16="http://schemas.microsoft.com/office/drawing/2014/main" id="{C6F20707-3A21-4F0C-912E-ABB24E086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58" name="TextBox 51">
              <a:extLst>
                <a:ext uri="{FF2B5EF4-FFF2-40B4-BE49-F238E27FC236}">
                  <a16:creationId xmlns:a16="http://schemas.microsoft.com/office/drawing/2014/main" id="{A9DD74C6-5818-4E62-BF1E-842A571E5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59" name="TextBox 52">
              <a:extLst>
                <a:ext uri="{FF2B5EF4-FFF2-40B4-BE49-F238E27FC236}">
                  <a16:creationId xmlns:a16="http://schemas.microsoft.com/office/drawing/2014/main" id="{948A7206-0B99-41DE-9A00-25F6C4770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60" name="TextBox 53">
              <a:extLst>
                <a:ext uri="{FF2B5EF4-FFF2-40B4-BE49-F238E27FC236}">
                  <a16:creationId xmlns:a16="http://schemas.microsoft.com/office/drawing/2014/main" id="{5CECA42D-C540-44E7-A2A3-F0AA9E0B9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61" name="TextBox 54">
              <a:extLst>
                <a:ext uri="{FF2B5EF4-FFF2-40B4-BE49-F238E27FC236}">
                  <a16:creationId xmlns:a16="http://schemas.microsoft.com/office/drawing/2014/main" id="{C9DA01C5-EC6F-4DE8-8804-DD29D4D25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62" name="TextBox 55">
              <a:extLst>
                <a:ext uri="{FF2B5EF4-FFF2-40B4-BE49-F238E27FC236}">
                  <a16:creationId xmlns:a16="http://schemas.microsoft.com/office/drawing/2014/main" id="{C7312D39-4B08-4941-A00D-05594F167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63" name="TextBox 56">
              <a:extLst>
                <a:ext uri="{FF2B5EF4-FFF2-40B4-BE49-F238E27FC236}">
                  <a16:creationId xmlns:a16="http://schemas.microsoft.com/office/drawing/2014/main" id="{14EC59AC-4522-42E4-9A92-D86ECBFC9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 err="1"/>
                <a:t>freq</a:t>
              </a:r>
              <a:endParaRPr lang="en-SG" sz="1400"/>
            </a:p>
          </p:txBody>
        </p:sp>
      </p:grpSp>
      <p:grpSp>
        <p:nvGrpSpPr>
          <p:cNvPr id="65" name="Group 114">
            <a:extLst>
              <a:ext uri="{FF2B5EF4-FFF2-40B4-BE49-F238E27FC236}">
                <a16:creationId xmlns:a16="http://schemas.microsoft.com/office/drawing/2014/main" id="{178049B9-7A74-4F8F-9DC1-2F7C32FF2039}"/>
              </a:ext>
            </a:extLst>
          </p:cNvPr>
          <p:cNvGrpSpPr>
            <a:grpSpLocks/>
          </p:cNvGrpSpPr>
          <p:nvPr/>
        </p:nvGrpSpPr>
        <p:grpSpPr bwMode="auto">
          <a:xfrm>
            <a:off x="720374" y="3926581"/>
            <a:ext cx="3758212" cy="711200"/>
            <a:chOff x="2091711" y="2136928"/>
            <a:chExt cx="3758410" cy="710464"/>
          </a:xfrm>
        </p:grpSpPr>
        <p:sp>
          <p:nvSpPr>
            <p:cNvPr id="66" name="TextBox 38">
              <a:extLst>
                <a:ext uri="{FF2B5EF4-FFF2-40B4-BE49-F238E27FC236}">
                  <a16:creationId xmlns:a16="http://schemas.microsoft.com/office/drawing/2014/main" id="{6A73770B-C639-4144-A1A0-F1E41A4A7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</a:t>
              </a:r>
              <a:endParaRPr lang="en-SG" sz="2000"/>
            </a:p>
          </p:txBody>
        </p:sp>
        <p:sp>
          <p:nvSpPr>
            <p:cNvPr id="67" name="TextBox 39">
              <a:extLst>
                <a:ext uri="{FF2B5EF4-FFF2-40B4-BE49-F238E27FC236}">
                  <a16:creationId xmlns:a16="http://schemas.microsoft.com/office/drawing/2014/main" id="{D20B9F06-6BF7-4C62-9CFD-1D0C765CC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</a:t>
              </a:r>
              <a:endParaRPr lang="en-SG" sz="2000"/>
            </a:p>
          </p:txBody>
        </p:sp>
        <p:sp>
          <p:nvSpPr>
            <p:cNvPr id="68" name="TextBox 40">
              <a:extLst>
                <a:ext uri="{FF2B5EF4-FFF2-40B4-BE49-F238E27FC236}">
                  <a16:creationId xmlns:a16="http://schemas.microsoft.com/office/drawing/2014/main" id="{7CD716A3-5128-44B2-A6D6-BEDEBCE10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</a:t>
              </a:r>
              <a:endParaRPr lang="en-SG" sz="2000"/>
            </a:p>
          </p:txBody>
        </p:sp>
        <p:sp>
          <p:nvSpPr>
            <p:cNvPr id="69" name="TextBox 41">
              <a:extLst>
                <a:ext uri="{FF2B5EF4-FFF2-40B4-BE49-F238E27FC236}">
                  <a16:creationId xmlns:a16="http://schemas.microsoft.com/office/drawing/2014/main" id="{8ABE4DC7-CD13-4543-8663-BF4A0FD64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6B030DA8-35EE-4E16-AC1C-B81B72DB4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71" name="TextBox 43">
              <a:extLst>
                <a:ext uri="{FF2B5EF4-FFF2-40B4-BE49-F238E27FC236}">
                  <a16:creationId xmlns:a16="http://schemas.microsoft.com/office/drawing/2014/main" id="{E4F20111-AAF6-478B-9CB1-DD5B897AC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</a:t>
              </a:r>
              <a:endParaRPr lang="en-SG" sz="2000"/>
            </a:p>
          </p:txBody>
        </p:sp>
        <p:sp>
          <p:nvSpPr>
            <p:cNvPr id="72" name="TextBox 47">
              <a:extLst>
                <a:ext uri="{FF2B5EF4-FFF2-40B4-BE49-F238E27FC236}">
                  <a16:creationId xmlns:a16="http://schemas.microsoft.com/office/drawing/2014/main" id="{044A0ABF-FAF1-49A4-8726-24E35A226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73" name="TextBox 48">
              <a:extLst>
                <a:ext uri="{FF2B5EF4-FFF2-40B4-BE49-F238E27FC236}">
                  <a16:creationId xmlns:a16="http://schemas.microsoft.com/office/drawing/2014/main" id="{C900F44A-2BF8-4BC8-8CBF-8C5195967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74" name="TextBox 49">
              <a:extLst>
                <a:ext uri="{FF2B5EF4-FFF2-40B4-BE49-F238E27FC236}">
                  <a16:creationId xmlns:a16="http://schemas.microsoft.com/office/drawing/2014/main" id="{9856E6E8-5494-4302-B0F8-2EA024FF7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75" name="TextBox 50">
              <a:extLst>
                <a:ext uri="{FF2B5EF4-FFF2-40B4-BE49-F238E27FC236}">
                  <a16:creationId xmlns:a16="http://schemas.microsoft.com/office/drawing/2014/main" id="{EDC432B2-BBF7-44A1-84F2-DBF11C552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76" name="TextBox 51">
              <a:extLst>
                <a:ext uri="{FF2B5EF4-FFF2-40B4-BE49-F238E27FC236}">
                  <a16:creationId xmlns:a16="http://schemas.microsoft.com/office/drawing/2014/main" id="{2D747E1E-E5E9-4827-A4CC-5C054BF1A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77" name="TextBox 52">
              <a:extLst>
                <a:ext uri="{FF2B5EF4-FFF2-40B4-BE49-F238E27FC236}">
                  <a16:creationId xmlns:a16="http://schemas.microsoft.com/office/drawing/2014/main" id="{6E268AC8-C886-4DE4-835D-C1A65B7F9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78" name="TextBox 56">
              <a:extLst>
                <a:ext uri="{FF2B5EF4-FFF2-40B4-BE49-F238E27FC236}">
                  <a16:creationId xmlns:a16="http://schemas.microsoft.com/office/drawing/2014/main" id="{C956B8E8-E6C8-404E-93DC-FA50FB1D0C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out</a:t>
              </a:r>
              <a:endParaRPr lang="en-SG" sz="1400"/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D55CBB4-2037-4277-B9CF-759FE6E7C0FD}"/>
              </a:ext>
            </a:extLst>
          </p:cNvPr>
          <p:cNvCxnSpPr>
            <a:stCxn id="47" idx="2"/>
            <a:endCxn id="72" idx="3"/>
          </p:cNvCxnSpPr>
          <p:nvPr/>
        </p:nvCxnSpPr>
        <p:spPr>
          <a:xfrm flipH="1">
            <a:off x="1657579" y="3484353"/>
            <a:ext cx="842480" cy="5975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80F065C-BB22-4F45-AA6A-594ACAC3F237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2139979" y="3484353"/>
            <a:ext cx="360080" cy="5960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C3A26AF-E8D3-4DDB-85E9-1470BAD1C9F2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2664515" y="3484353"/>
            <a:ext cx="397112" cy="5960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C1D6F54-23AB-4E3A-8BAD-762FD92F5CE6}"/>
              </a:ext>
            </a:extLst>
          </p:cNvPr>
          <p:cNvCxnSpPr/>
          <p:nvPr/>
        </p:nvCxnSpPr>
        <p:spPr>
          <a:xfrm flipH="1">
            <a:off x="3350952" y="3493896"/>
            <a:ext cx="842480" cy="5975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9EB21BE-4E7C-4F1C-B250-5BBFD3B1C84A}"/>
              </a:ext>
            </a:extLst>
          </p:cNvPr>
          <p:cNvCxnSpPr>
            <a:cxnSpLocks/>
          </p:cNvCxnSpPr>
          <p:nvPr/>
        </p:nvCxnSpPr>
        <p:spPr>
          <a:xfrm flipH="1">
            <a:off x="3833352" y="3493896"/>
            <a:ext cx="360080" cy="5960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46">
            <a:extLst>
              <a:ext uri="{FF2B5EF4-FFF2-40B4-BE49-F238E27FC236}">
                <a16:creationId xmlns:a16="http://schemas.microsoft.com/office/drawing/2014/main" id="{2AD46EF9-A843-48CC-8FB5-3CFD332F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002" y="3072974"/>
            <a:ext cx="549394" cy="400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/>
              <a:t>0</a:t>
            </a:r>
            <a:endParaRPr lang="en-SG" sz="2000"/>
          </a:p>
        </p:txBody>
      </p:sp>
      <p:sp>
        <p:nvSpPr>
          <p:cNvPr id="87" name="TextBox 55">
            <a:extLst>
              <a:ext uri="{FF2B5EF4-FFF2-40B4-BE49-F238E27FC236}">
                <a16:creationId xmlns:a16="http://schemas.microsoft.com/office/drawing/2014/main" id="{0255B512-6249-43A5-B63F-F723EE291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219" y="2773153"/>
            <a:ext cx="549394" cy="307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[9]</a:t>
            </a:r>
            <a:endParaRPr lang="en-SG" sz="140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3010C5D-BF54-4117-B17C-6BC0ECCBC0BF}"/>
              </a:ext>
            </a:extLst>
          </p:cNvPr>
          <p:cNvCxnSpPr>
            <a:cxnSpLocks/>
          </p:cNvCxnSpPr>
          <p:nvPr/>
        </p:nvCxnSpPr>
        <p:spPr>
          <a:xfrm flipH="1">
            <a:off x="4354477" y="3494627"/>
            <a:ext cx="1507750" cy="6056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58B1AC3-80C3-41E8-9557-2B3B587A5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352" y="1684955"/>
            <a:ext cx="2294513" cy="70788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A list of </a:t>
            </a:r>
            <a:r>
              <a:rPr lang="en-US" sz="2000" dirty="0">
                <a:solidFill>
                  <a:srgbClr val="0000FF"/>
                </a:solidFill>
              </a:rPr>
              <a:t>6</a:t>
            </a:r>
            <a:r>
              <a:rPr lang="en-US" sz="2000" dirty="0"/>
              <a:t> items in the range of [0, </a:t>
            </a:r>
            <a:r>
              <a:rPr lang="en-US" sz="2000" dirty="0">
                <a:solidFill>
                  <a:srgbClr val="0000FF"/>
                </a:solidFill>
              </a:rPr>
              <a:t>9</a:t>
            </a:r>
            <a:r>
              <a:rPr lang="en-US" sz="2000" dirty="0"/>
              <a:t>]</a:t>
            </a:r>
            <a:endParaRPr lang="en-SG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AA6635-5D7C-4EEC-81A0-BB2DB145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146" y="2780338"/>
            <a:ext cx="1768552" cy="70788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FF"/>
                </a:solidFill>
              </a:rPr>
              <a:t>10</a:t>
            </a:r>
            <a:r>
              <a:rPr lang="en-US" sz="2000"/>
              <a:t> slots in the </a:t>
            </a:r>
            <a:r>
              <a:rPr lang="en-US" sz="2000" err="1"/>
              <a:t>freq</a:t>
            </a:r>
            <a:r>
              <a:rPr lang="en-US" sz="2000"/>
              <a:t> array.</a:t>
            </a:r>
            <a:endParaRPr lang="en-SG" sz="2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0FAF57-BA9B-0CAB-8B4F-79C1C57E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E4AFF-067B-4C90-5DFA-C76E1D75A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2938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Selection Sort</a:t>
            </a:r>
          </a:p>
        </p:txBody>
      </p:sp>
      <p:sp>
        <p:nvSpPr>
          <p:cNvPr id="9" name="TextBox 84"/>
          <p:cNvSpPr txBox="1">
            <a:spLocks noChangeArrowheads="1"/>
          </p:cNvSpPr>
          <p:nvPr/>
        </p:nvSpPr>
        <p:spPr bwMode="auto">
          <a:xfrm>
            <a:off x="333375" y="1427163"/>
            <a:ext cx="1273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i="1"/>
              <a:t>n</a:t>
            </a:r>
            <a:r>
              <a:rPr lang="en-US" sz="2400"/>
              <a:t> = 9</a:t>
            </a:r>
            <a:endParaRPr lang="en-SG" sz="2400"/>
          </a:p>
        </p:txBody>
      </p:sp>
      <p:grpSp>
        <p:nvGrpSpPr>
          <p:cNvPr id="10" name="Group 114"/>
          <p:cNvGrpSpPr>
            <a:grpSpLocks/>
          </p:cNvGrpSpPr>
          <p:nvPr/>
        </p:nvGrpSpPr>
        <p:grpSpPr bwMode="auto">
          <a:xfrm>
            <a:off x="2092325" y="2136775"/>
            <a:ext cx="5416550" cy="711200"/>
            <a:chOff x="2091711" y="2136928"/>
            <a:chExt cx="5416835" cy="710464"/>
          </a:xfrm>
        </p:grpSpPr>
        <p:sp>
          <p:nvSpPr>
            <p:cNvPr id="11" name="TextBox 38"/>
            <p:cNvSpPr txBox="1">
              <a:spLocks noChangeArrowheads="1"/>
            </p:cNvSpPr>
            <p:nvPr/>
          </p:nvSpPr>
          <p:spPr bwMode="auto">
            <a:xfrm>
              <a:off x="2470802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23</a:t>
              </a:r>
              <a:endParaRPr lang="en-SG" sz="2000"/>
            </a:p>
          </p:txBody>
        </p:sp>
        <p:sp>
          <p:nvSpPr>
            <p:cNvPr id="13" name="TextBox 39"/>
            <p:cNvSpPr txBox="1">
              <a:spLocks noChangeArrowheads="1"/>
            </p:cNvSpPr>
            <p:nvPr/>
          </p:nvSpPr>
          <p:spPr bwMode="auto">
            <a:xfrm>
              <a:off x="3028965" y="2447282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17</a:t>
              </a:r>
              <a:endParaRPr lang="en-SG" sz="2000"/>
            </a:p>
          </p:txBody>
        </p:sp>
        <p:sp>
          <p:nvSpPr>
            <p:cNvPr id="14" name="TextBox 40"/>
            <p:cNvSpPr txBox="1">
              <a:spLocks noChangeArrowheads="1"/>
            </p:cNvSpPr>
            <p:nvPr/>
          </p:nvSpPr>
          <p:spPr bwMode="auto">
            <a:xfrm>
              <a:off x="3587128" y="2447282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5</a:t>
              </a:r>
              <a:endParaRPr lang="en-SG" sz="2000"/>
            </a:p>
          </p:txBody>
        </p:sp>
        <p:sp>
          <p:nvSpPr>
            <p:cNvPr id="15" name="TextBox 41"/>
            <p:cNvSpPr txBox="1">
              <a:spLocks noChangeArrowheads="1"/>
            </p:cNvSpPr>
            <p:nvPr/>
          </p:nvSpPr>
          <p:spPr bwMode="auto">
            <a:xfrm>
              <a:off x="4151977" y="2447282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90</a:t>
              </a:r>
              <a:endParaRPr lang="en-SG" sz="2000"/>
            </a:p>
          </p:txBody>
        </p:sp>
        <p:sp>
          <p:nvSpPr>
            <p:cNvPr id="16" name="TextBox 42"/>
            <p:cNvSpPr txBox="1">
              <a:spLocks noChangeArrowheads="1"/>
            </p:cNvSpPr>
            <p:nvPr/>
          </p:nvSpPr>
          <p:spPr bwMode="auto">
            <a:xfrm>
              <a:off x="4714196" y="2447282"/>
              <a:ext cx="567464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12</a:t>
              </a:r>
              <a:endParaRPr lang="en-SG" sz="2000"/>
            </a:p>
          </p:txBody>
        </p:sp>
        <p:sp>
          <p:nvSpPr>
            <p:cNvPr id="17" name="TextBox 43"/>
            <p:cNvSpPr txBox="1">
              <a:spLocks noChangeArrowheads="1"/>
            </p:cNvSpPr>
            <p:nvPr/>
          </p:nvSpPr>
          <p:spPr bwMode="auto">
            <a:xfrm>
              <a:off x="5281661" y="2447282"/>
              <a:ext cx="56846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44</a:t>
              </a:r>
              <a:endParaRPr lang="en-SG" sz="2000"/>
            </a:p>
          </p:txBody>
        </p:sp>
        <p:sp>
          <p:nvSpPr>
            <p:cNvPr id="18" name="TextBox 44"/>
            <p:cNvSpPr txBox="1">
              <a:spLocks noChangeArrowheads="1"/>
            </p:cNvSpPr>
            <p:nvPr/>
          </p:nvSpPr>
          <p:spPr bwMode="auto">
            <a:xfrm>
              <a:off x="5850120" y="2447282"/>
              <a:ext cx="554502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38</a:t>
              </a:r>
              <a:endParaRPr lang="en-SG" sz="2000"/>
            </a:p>
          </p:txBody>
        </p:sp>
        <p:sp>
          <p:nvSpPr>
            <p:cNvPr id="19" name="TextBox 45"/>
            <p:cNvSpPr txBox="1">
              <a:spLocks noChangeArrowheads="1"/>
            </p:cNvSpPr>
            <p:nvPr/>
          </p:nvSpPr>
          <p:spPr bwMode="auto">
            <a:xfrm>
              <a:off x="6404622" y="2447282"/>
              <a:ext cx="554501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84</a:t>
              </a:r>
              <a:endParaRPr lang="en-SG" sz="2000"/>
            </a:p>
          </p:txBody>
        </p:sp>
        <p:sp>
          <p:nvSpPr>
            <p:cNvPr id="20" name="TextBox 46"/>
            <p:cNvSpPr txBox="1">
              <a:spLocks noChangeArrowheads="1"/>
            </p:cNvSpPr>
            <p:nvPr/>
          </p:nvSpPr>
          <p:spPr bwMode="auto">
            <a:xfrm>
              <a:off x="6959123" y="2447282"/>
              <a:ext cx="5494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/>
                <a:t>77</a:t>
              </a:r>
              <a:endParaRPr lang="en-SG" sz="2000"/>
            </a:p>
          </p:txBody>
        </p:sp>
        <p:sp>
          <p:nvSpPr>
            <p:cNvPr id="21" name="TextBox 47"/>
            <p:cNvSpPr txBox="1">
              <a:spLocks noChangeArrowheads="1"/>
            </p:cNvSpPr>
            <p:nvPr/>
          </p:nvSpPr>
          <p:spPr bwMode="auto">
            <a:xfrm>
              <a:off x="2470802" y="2138415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[0]</a:t>
              </a:r>
              <a:endParaRPr lang="en-SG" sz="1400"/>
            </a:p>
          </p:txBody>
        </p:sp>
        <p:sp>
          <p:nvSpPr>
            <p:cNvPr id="22" name="TextBox 48"/>
            <p:cNvSpPr txBox="1">
              <a:spLocks noChangeArrowheads="1"/>
            </p:cNvSpPr>
            <p:nvPr/>
          </p:nvSpPr>
          <p:spPr bwMode="auto">
            <a:xfrm>
              <a:off x="3039707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[1]</a:t>
              </a:r>
              <a:endParaRPr lang="en-SG" sz="1400"/>
            </a:p>
          </p:txBody>
        </p:sp>
        <p:sp>
          <p:nvSpPr>
            <p:cNvPr id="23" name="TextBox 49"/>
            <p:cNvSpPr txBox="1">
              <a:spLocks noChangeArrowheads="1"/>
            </p:cNvSpPr>
            <p:nvPr/>
          </p:nvSpPr>
          <p:spPr bwMode="auto">
            <a:xfrm>
              <a:off x="3587128" y="2139902"/>
              <a:ext cx="568905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[2]</a:t>
              </a:r>
              <a:endParaRPr lang="en-SG" sz="1400"/>
            </a:p>
          </p:txBody>
        </p:sp>
        <p:sp>
          <p:nvSpPr>
            <p:cNvPr id="24" name="TextBox 50"/>
            <p:cNvSpPr txBox="1">
              <a:spLocks noChangeArrowheads="1"/>
            </p:cNvSpPr>
            <p:nvPr/>
          </p:nvSpPr>
          <p:spPr bwMode="auto">
            <a:xfrm>
              <a:off x="4156033" y="2136928"/>
              <a:ext cx="55816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[3]</a:t>
              </a:r>
              <a:endParaRPr lang="en-SG" sz="1400"/>
            </a:p>
          </p:txBody>
        </p:sp>
        <p:sp>
          <p:nvSpPr>
            <p:cNvPr id="25" name="TextBox 51"/>
            <p:cNvSpPr txBox="1">
              <a:spLocks noChangeArrowheads="1"/>
            </p:cNvSpPr>
            <p:nvPr/>
          </p:nvSpPr>
          <p:spPr bwMode="auto">
            <a:xfrm>
              <a:off x="4714196" y="2136928"/>
              <a:ext cx="567464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[4]</a:t>
              </a:r>
              <a:endParaRPr lang="en-SG" sz="1400"/>
            </a:p>
          </p:txBody>
        </p:sp>
        <p:sp>
          <p:nvSpPr>
            <p:cNvPr id="26" name="TextBox 52"/>
            <p:cNvSpPr txBox="1">
              <a:spLocks noChangeArrowheads="1"/>
            </p:cNvSpPr>
            <p:nvPr/>
          </p:nvSpPr>
          <p:spPr bwMode="auto">
            <a:xfrm>
              <a:off x="5281660" y="2139902"/>
              <a:ext cx="56846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[5]</a:t>
              </a:r>
              <a:endParaRPr lang="en-SG" sz="1400"/>
            </a:p>
          </p:txBody>
        </p:sp>
        <p:sp>
          <p:nvSpPr>
            <p:cNvPr id="27" name="TextBox 53"/>
            <p:cNvSpPr txBox="1">
              <a:spLocks noChangeArrowheads="1"/>
            </p:cNvSpPr>
            <p:nvPr/>
          </p:nvSpPr>
          <p:spPr bwMode="auto">
            <a:xfrm>
              <a:off x="5850121" y="2139902"/>
              <a:ext cx="554501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[6]</a:t>
              </a:r>
              <a:endParaRPr lang="en-SG" sz="1400"/>
            </a:p>
          </p:txBody>
        </p:sp>
        <p:sp>
          <p:nvSpPr>
            <p:cNvPr id="28" name="TextBox 54"/>
            <p:cNvSpPr txBox="1">
              <a:spLocks noChangeArrowheads="1"/>
            </p:cNvSpPr>
            <p:nvPr/>
          </p:nvSpPr>
          <p:spPr bwMode="auto">
            <a:xfrm>
              <a:off x="6394277" y="2138415"/>
              <a:ext cx="568508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[7]</a:t>
              </a:r>
              <a:endParaRPr lang="en-SG" sz="1400"/>
            </a:p>
          </p:txBody>
        </p:sp>
        <p:sp>
          <p:nvSpPr>
            <p:cNvPr id="29" name="TextBox 55"/>
            <p:cNvSpPr txBox="1">
              <a:spLocks noChangeArrowheads="1"/>
            </p:cNvSpPr>
            <p:nvPr/>
          </p:nvSpPr>
          <p:spPr bwMode="auto">
            <a:xfrm>
              <a:off x="6948340" y="2139902"/>
              <a:ext cx="549423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[8]</a:t>
              </a:r>
              <a:endParaRPr lang="en-SG" sz="1400"/>
            </a:p>
          </p:txBody>
        </p:sp>
        <p:sp>
          <p:nvSpPr>
            <p:cNvPr id="30" name="TextBox 56"/>
            <p:cNvSpPr txBox="1">
              <a:spLocks noChangeArrowheads="1"/>
            </p:cNvSpPr>
            <p:nvPr/>
          </p:nvSpPr>
          <p:spPr bwMode="auto">
            <a:xfrm>
              <a:off x="2091711" y="2136928"/>
              <a:ext cx="682100" cy="307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400"/>
                <a:t>array</a:t>
              </a:r>
              <a:endParaRPr lang="en-SG" sz="1400"/>
            </a:p>
          </p:txBody>
        </p:sp>
      </p:grp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33375" y="2360613"/>
            <a:ext cx="12731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/>
              <a:t>1</a:t>
            </a:r>
            <a:r>
              <a:rPr lang="en-US" sz="2000" baseline="30000"/>
              <a:t>st</a:t>
            </a:r>
            <a:r>
              <a:rPr lang="en-US" sz="2000"/>
              <a:t> pass:</a:t>
            </a:r>
            <a:endParaRPr lang="en-SG" sz="2000"/>
          </a:p>
        </p:txBody>
      </p:sp>
      <p:grpSp>
        <p:nvGrpSpPr>
          <p:cNvPr id="32" name="Group 164"/>
          <p:cNvGrpSpPr>
            <a:grpSpLocks/>
          </p:cNvGrpSpPr>
          <p:nvPr/>
        </p:nvGrpSpPr>
        <p:grpSpPr bwMode="auto">
          <a:xfrm>
            <a:off x="6989286" y="1552575"/>
            <a:ext cx="568325" cy="585788"/>
            <a:chOff x="2489358" y="1553340"/>
            <a:chExt cx="568905" cy="584382"/>
          </a:xfrm>
        </p:grpSpPr>
        <p:cxnSp>
          <p:nvCxnSpPr>
            <p:cNvPr id="33" name="Straight Arrow Connector 110"/>
            <p:cNvCxnSpPr>
              <a:cxnSpLocks noChangeShapeType="1"/>
            </p:cNvCxnSpPr>
            <p:nvPr/>
          </p:nvCxnSpPr>
          <p:spPr bwMode="auto">
            <a:xfrm rot="5400000">
              <a:off x="2623882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Box 112"/>
            <p:cNvSpPr txBox="1">
              <a:spLocks noChangeArrowheads="1"/>
            </p:cNvSpPr>
            <p:nvPr/>
          </p:nvSpPr>
          <p:spPr bwMode="auto">
            <a:xfrm>
              <a:off x="2489358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/>
                <a:t>last</a:t>
              </a:r>
              <a:endParaRPr lang="en-SG" sz="1600"/>
            </a:p>
          </p:txBody>
        </p:sp>
      </p:grpSp>
      <p:grpSp>
        <p:nvGrpSpPr>
          <p:cNvPr id="35" name="Group 165"/>
          <p:cNvGrpSpPr>
            <a:grpSpLocks/>
          </p:cNvGrpSpPr>
          <p:nvPr/>
        </p:nvGrpSpPr>
        <p:grpSpPr bwMode="auto">
          <a:xfrm>
            <a:off x="4193529" y="1552575"/>
            <a:ext cx="572593" cy="587375"/>
            <a:chOff x="3680472" y="1553340"/>
            <a:chExt cx="571425" cy="586562"/>
          </a:xfrm>
        </p:grpSpPr>
        <p:cxnSp>
          <p:nvCxnSpPr>
            <p:cNvPr id="36" name="Straight Arrow Connector 111"/>
            <p:cNvCxnSpPr>
              <a:cxnSpLocks noChangeShapeType="1"/>
            </p:cNvCxnSpPr>
            <p:nvPr/>
          </p:nvCxnSpPr>
          <p:spPr bwMode="auto">
            <a:xfrm rot="5400000">
              <a:off x="3849345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Rectangle 113"/>
            <p:cNvSpPr>
              <a:spLocks noChangeArrowheads="1"/>
            </p:cNvSpPr>
            <p:nvPr/>
          </p:nvSpPr>
          <p:spPr bwMode="auto">
            <a:xfrm>
              <a:off x="3680472" y="1553340"/>
              <a:ext cx="571425" cy="33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max</a:t>
              </a:r>
              <a:endParaRPr lang="en-SG" sz="1600"/>
            </a:p>
          </p:txBody>
        </p:sp>
      </p:grpSp>
      <p:sp>
        <p:nvSpPr>
          <p:cNvPr id="38" name="Freeform 37"/>
          <p:cNvSpPr>
            <a:spLocks/>
          </p:cNvSpPr>
          <p:nvPr/>
        </p:nvSpPr>
        <p:spPr bwMode="auto">
          <a:xfrm>
            <a:off x="4671622" y="1887539"/>
            <a:ext cx="2395405" cy="199883"/>
          </a:xfrm>
          <a:custGeom>
            <a:avLst/>
            <a:gdLst>
              <a:gd name="T0" fmla="*/ 0 w 646176"/>
              <a:gd name="T1" fmla="*/ 3495 h 331216"/>
              <a:gd name="T2" fmla="*/ 1412204 w 646176"/>
              <a:gd name="T3" fmla="*/ 22 h 331216"/>
              <a:gd name="T4" fmla="*/ 2993874 w 646176"/>
              <a:gd name="T5" fmla="*/ 3366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39" name="Group 188"/>
          <p:cNvGrpSpPr>
            <a:grpSpLocks/>
          </p:cNvGrpSpPr>
          <p:nvPr/>
        </p:nvGrpSpPr>
        <p:grpSpPr bwMode="auto">
          <a:xfrm>
            <a:off x="322263" y="3522663"/>
            <a:ext cx="7175500" cy="485775"/>
            <a:chOff x="322462" y="3523028"/>
            <a:chExt cx="7175301" cy="486018"/>
          </a:xfrm>
        </p:grpSpPr>
        <p:grpSp>
          <p:nvGrpSpPr>
            <p:cNvPr id="40" name="Group 187"/>
            <p:cNvGrpSpPr>
              <a:grpSpLocks/>
            </p:cNvGrpSpPr>
            <p:nvPr/>
          </p:nvGrpSpPr>
          <p:grpSpPr bwMode="auto">
            <a:xfrm>
              <a:off x="2460019" y="3608935"/>
              <a:ext cx="5037744" cy="400111"/>
              <a:chOff x="2460019" y="3608935"/>
              <a:chExt cx="5037744" cy="400111"/>
            </a:xfrm>
          </p:grpSpPr>
          <p:sp>
            <p:nvSpPr>
              <p:cNvPr id="42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5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23</a:t>
                </a:r>
                <a:endParaRPr lang="en-SG" sz="2000"/>
              </a:p>
            </p:txBody>
          </p:sp>
          <p:sp>
            <p:nvSpPr>
              <p:cNvPr id="43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17</a:t>
                </a:r>
                <a:endParaRPr lang="en-SG" sz="2000"/>
              </a:p>
            </p:txBody>
          </p:sp>
          <p:sp>
            <p:nvSpPr>
              <p:cNvPr id="44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5</a:t>
                </a:r>
                <a:endParaRPr lang="en-SG" sz="2000"/>
              </a:p>
            </p:txBody>
          </p:sp>
          <p:sp>
            <p:nvSpPr>
              <p:cNvPr id="45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77</a:t>
                </a:r>
                <a:endParaRPr lang="en-SG" sz="2000"/>
              </a:p>
            </p:txBody>
          </p:sp>
          <p:sp>
            <p:nvSpPr>
              <p:cNvPr id="46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12</a:t>
                </a:r>
                <a:endParaRPr lang="en-SG" sz="2000"/>
              </a:p>
            </p:txBody>
          </p:sp>
          <p:sp>
            <p:nvSpPr>
              <p:cNvPr id="47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48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38</a:t>
                </a:r>
                <a:endParaRPr lang="en-SG" sz="2000"/>
              </a:p>
            </p:txBody>
          </p:sp>
          <p:sp>
            <p:nvSpPr>
              <p:cNvPr id="49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50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90</a:t>
                </a:r>
                <a:endParaRPr lang="en-SG" sz="2000"/>
              </a:p>
            </p:txBody>
          </p:sp>
        </p:grpSp>
        <p:sp>
          <p:nvSpPr>
            <p:cNvPr id="41" name="TextBox 186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2</a:t>
              </a:r>
              <a:r>
                <a:rPr lang="en-US" sz="2000" baseline="30000"/>
                <a:t>nd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51" name="Group 199"/>
          <p:cNvGrpSpPr>
            <a:grpSpLocks/>
          </p:cNvGrpSpPr>
          <p:nvPr/>
        </p:nvGrpSpPr>
        <p:grpSpPr bwMode="auto">
          <a:xfrm>
            <a:off x="6625590" y="3024188"/>
            <a:ext cx="568325" cy="584200"/>
            <a:chOff x="6143072" y="1553340"/>
            <a:chExt cx="568905" cy="584382"/>
          </a:xfrm>
        </p:grpSpPr>
        <p:cxnSp>
          <p:nvCxnSpPr>
            <p:cNvPr id="52" name="Straight Arrow Connector 200"/>
            <p:cNvCxnSpPr>
              <a:cxnSpLocks noChangeShapeType="1"/>
            </p:cNvCxnSpPr>
            <p:nvPr/>
          </p:nvCxnSpPr>
          <p:spPr bwMode="auto">
            <a:xfrm rot="5400000">
              <a:off x="6277595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TextBox 201"/>
            <p:cNvSpPr txBox="1">
              <a:spLocks noChangeArrowheads="1"/>
            </p:cNvSpPr>
            <p:nvPr/>
          </p:nvSpPr>
          <p:spPr bwMode="auto">
            <a:xfrm>
              <a:off x="6143072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/>
                <a:t>last</a:t>
              </a:r>
              <a:endParaRPr lang="en-SG" sz="1600"/>
            </a:p>
          </p:txBody>
        </p:sp>
      </p:grpSp>
      <p:grpSp>
        <p:nvGrpSpPr>
          <p:cNvPr id="54" name="Group 202"/>
          <p:cNvGrpSpPr>
            <a:grpSpLocks/>
          </p:cNvGrpSpPr>
          <p:nvPr/>
        </p:nvGrpSpPr>
        <p:grpSpPr bwMode="auto">
          <a:xfrm>
            <a:off x="6204907" y="3022600"/>
            <a:ext cx="572593" cy="585788"/>
            <a:chOff x="3512656" y="1553340"/>
            <a:chExt cx="573188" cy="586562"/>
          </a:xfrm>
        </p:grpSpPr>
        <p:cxnSp>
          <p:nvCxnSpPr>
            <p:cNvPr id="55" name="Straight Arrow Connector 203"/>
            <p:cNvCxnSpPr>
              <a:cxnSpLocks noChangeShapeType="1"/>
            </p:cNvCxnSpPr>
            <p:nvPr/>
          </p:nvCxnSpPr>
          <p:spPr bwMode="auto">
            <a:xfrm rot="5400000">
              <a:off x="3681532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Rectangle 204"/>
            <p:cNvSpPr>
              <a:spLocks noChangeArrowheads="1"/>
            </p:cNvSpPr>
            <p:nvPr/>
          </p:nvSpPr>
          <p:spPr bwMode="auto">
            <a:xfrm>
              <a:off x="3512656" y="1553340"/>
              <a:ext cx="573188" cy="339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max</a:t>
              </a:r>
              <a:endParaRPr lang="en-SG" sz="1600"/>
            </a:p>
          </p:txBody>
        </p:sp>
      </p:grpSp>
      <p:sp>
        <p:nvSpPr>
          <p:cNvPr id="57" name="Freeform 56"/>
          <p:cNvSpPr>
            <a:spLocks/>
          </p:cNvSpPr>
          <p:nvPr/>
        </p:nvSpPr>
        <p:spPr bwMode="auto">
          <a:xfrm>
            <a:off x="6563714" y="3384295"/>
            <a:ext cx="214703" cy="199608"/>
          </a:xfrm>
          <a:custGeom>
            <a:avLst/>
            <a:gdLst>
              <a:gd name="T0" fmla="*/ 0 w 646176"/>
              <a:gd name="T1" fmla="*/ 396212 h 331216"/>
              <a:gd name="T2" fmla="*/ 2147483647 w 646176"/>
              <a:gd name="T3" fmla="*/ 2430 h 331216"/>
              <a:gd name="T4" fmla="*/ 2147483647 w 646176"/>
              <a:gd name="T5" fmla="*/ 381628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58" name="Group 206"/>
          <p:cNvGrpSpPr>
            <a:grpSpLocks/>
          </p:cNvGrpSpPr>
          <p:nvPr/>
        </p:nvGrpSpPr>
        <p:grpSpPr bwMode="auto">
          <a:xfrm>
            <a:off x="322263" y="4632325"/>
            <a:ext cx="7175500" cy="485775"/>
            <a:chOff x="322462" y="3523028"/>
            <a:chExt cx="7175301" cy="486018"/>
          </a:xfrm>
        </p:grpSpPr>
        <p:grpSp>
          <p:nvGrpSpPr>
            <p:cNvPr id="59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61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23</a:t>
                </a:r>
                <a:endParaRPr lang="en-SG" sz="2000"/>
              </a:p>
            </p:txBody>
          </p:sp>
          <p:sp>
            <p:nvSpPr>
              <p:cNvPr id="62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17</a:t>
                </a:r>
                <a:endParaRPr lang="en-SG" sz="2000"/>
              </a:p>
            </p:txBody>
          </p:sp>
          <p:sp>
            <p:nvSpPr>
              <p:cNvPr id="63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5</a:t>
                </a:r>
                <a:endParaRPr lang="en-SG" sz="2000"/>
              </a:p>
            </p:txBody>
          </p:sp>
          <p:sp>
            <p:nvSpPr>
              <p:cNvPr id="64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77</a:t>
                </a:r>
                <a:endParaRPr lang="en-SG" sz="2000"/>
              </a:p>
            </p:txBody>
          </p:sp>
          <p:sp>
            <p:nvSpPr>
              <p:cNvPr id="65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12</a:t>
                </a:r>
                <a:endParaRPr lang="en-SG" sz="2000"/>
              </a:p>
            </p:txBody>
          </p:sp>
          <p:sp>
            <p:nvSpPr>
              <p:cNvPr id="66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67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38</a:t>
                </a:r>
                <a:endParaRPr lang="en-SG" sz="2000"/>
              </a:p>
            </p:txBody>
          </p:sp>
          <p:sp>
            <p:nvSpPr>
              <p:cNvPr id="68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69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90</a:t>
                </a:r>
                <a:endParaRPr lang="en-SG" sz="2000"/>
              </a:p>
            </p:txBody>
          </p:sp>
        </p:grpSp>
        <p:sp>
          <p:nvSpPr>
            <p:cNvPr id="60" name="TextBox 208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3</a:t>
              </a:r>
              <a:r>
                <a:rPr lang="en-US" sz="2000" baseline="30000"/>
                <a:t>rd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70" name="Group 218"/>
          <p:cNvGrpSpPr>
            <a:grpSpLocks/>
          </p:cNvGrpSpPr>
          <p:nvPr/>
        </p:nvGrpSpPr>
        <p:grpSpPr bwMode="auto">
          <a:xfrm>
            <a:off x="5889943" y="4133850"/>
            <a:ext cx="569912" cy="584200"/>
            <a:chOff x="4725681" y="1553340"/>
            <a:chExt cx="568905" cy="584382"/>
          </a:xfrm>
        </p:grpSpPr>
        <p:cxnSp>
          <p:nvCxnSpPr>
            <p:cNvPr id="71" name="Straight Arrow Connector 219"/>
            <p:cNvCxnSpPr>
              <a:cxnSpLocks noChangeShapeType="1"/>
            </p:cNvCxnSpPr>
            <p:nvPr/>
          </p:nvCxnSpPr>
          <p:spPr bwMode="auto">
            <a:xfrm rot="5400000">
              <a:off x="4860220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TextBox 220"/>
            <p:cNvSpPr txBox="1">
              <a:spLocks noChangeArrowheads="1"/>
            </p:cNvSpPr>
            <p:nvPr/>
          </p:nvSpPr>
          <p:spPr bwMode="auto">
            <a:xfrm>
              <a:off x="4725681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/>
                <a:t>last</a:t>
              </a:r>
              <a:endParaRPr lang="en-SG" sz="1600"/>
            </a:p>
          </p:txBody>
        </p:sp>
      </p:grpSp>
      <p:grpSp>
        <p:nvGrpSpPr>
          <p:cNvPr id="73" name="Group 221"/>
          <p:cNvGrpSpPr>
            <a:grpSpLocks/>
          </p:cNvGrpSpPr>
          <p:nvPr/>
        </p:nvGrpSpPr>
        <p:grpSpPr bwMode="auto">
          <a:xfrm>
            <a:off x="4161794" y="4132263"/>
            <a:ext cx="572593" cy="585787"/>
            <a:chOff x="3680472" y="1553340"/>
            <a:chExt cx="573188" cy="586562"/>
          </a:xfrm>
        </p:grpSpPr>
        <p:cxnSp>
          <p:nvCxnSpPr>
            <p:cNvPr id="74" name="Straight Arrow Connector 222"/>
            <p:cNvCxnSpPr>
              <a:cxnSpLocks noChangeShapeType="1"/>
            </p:cNvCxnSpPr>
            <p:nvPr/>
          </p:nvCxnSpPr>
          <p:spPr bwMode="auto">
            <a:xfrm rot="5400000">
              <a:off x="3849345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Rectangle 223"/>
            <p:cNvSpPr>
              <a:spLocks noChangeArrowheads="1"/>
            </p:cNvSpPr>
            <p:nvPr/>
          </p:nvSpPr>
          <p:spPr bwMode="auto">
            <a:xfrm>
              <a:off x="3680472" y="1553340"/>
              <a:ext cx="573188" cy="339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max</a:t>
              </a:r>
              <a:endParaRPr lang="en-SG" sz="1600"/>
            </a:p>
          </p:txBody>
        </p:sp>
      </p:grpSp>
      <p:sp>
        <p:nvSpPr>
          <p:cNvPr id="76" name="Freeform 75"/>
          <p:cNvSpPr>
            <a:spLocks/>
          </p:cNvSpPr>
          <p:nvPr/>
        </p:nvSpPr>
        <p:spPr bwMode="auto">
          <a:xfrm>
            <a:off x="4567238" y="4333875"/>
            <a:ext cx="1398882" cy="334963"/>
          </a:xfrm>
          <a:custGeom>
            <a:avLst/>
            <a:gdLst>
              <a:gd name="T0" fmla="*/ 0 w 646176"/>
              <a:gd name="T1" fmla="*/ 396230 h 331216"/>
              <a:gd name="T2" fmla="*/ 283825211 w 646176"/>
              <a:gd name="T3" fmla="*/ 2430 h 331216"/>
              <a:gd name="T4" fmla="*/ 601708643 w 646176"/>
              <a:gd name="T5" fmla="*/ 381645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77" name="Group 225"/>
          <p:cNvGrpSpPr>
            <a:grpSpLocks/>
          </p:cNvGrpSpPr>
          <p:nvPr/>
        </p:nvGrpSpPr>
        <p:grpSpPr bwMode="auto">
          <a:xfrm>
            <a:off x="322263" y="5762625"/>
            <a:ext cx="7175500" cy="485775"/>
            <a:chOff x="322462" y="3523028"/>
            <a:chExt cx="7175301" cy="486018"/>
          </a:xfrm>
        </p:grpSpPr>
        <p:grpSp>
          <p:nvGrpSpPr>
            <p:cNvPr id="78" name="Group 187"/>
            <p:cNvGrpSpPr>
              <a:grpSpLocks/>
            </p:cNvGrpSpPr>
            <p:nvPr/>
          </p:nvGrpSpPr>
          <p:grpSpPr bwMode="auto">
            <a:xfrm>
              <a:off x="2460019" y="3608936"/>
              <a:ext cx="5037744" cy="400110"/>
              <a:chOff x="2460019" y="3608936"/>
              <a:chExt cx="5037744" cy="400110"/>
            </a:xfrm>
          </p:grpSpPr>
          <p:sp>
            <p:nvSpPr>
              <p:cNvPr id="80" name="TextBox 38"/>
              <p:cNvSpPr txBox="1">
                <a:spLocks noChangeArrowheads="1"/>
              </p:cNvSpPr>
              <p:nvPr/>
            </p:nvSpPr>
            <p:spPr bwMode="auto">
              <a:xfrm>
                <a:off x="2460019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23</a:t>
                </a:r>
                <a:endParaRPr lang="en-SG" sz="2000"/>
              </a:p>
            </p:txBody>
          </p:sp>
          <p:sp>
            <p:nvSpPr>
              <p:cNvPr id="81" name="TextBox 39"/>
              <p:cNvSpPr txBox="1">
                <a:spLocks noChangeArrowheads="1"/>
              </p:cNvSpPr>
              <p:nvPr/>
            </p:nvSpPr>
            <p:spPr bwMode="auto">
              <a:xfrm>
                <a:off x="3018182" y="3608936"/>
                <a:ext cx="55816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17</a:t>
                </a:r>
                <a:endParaRPr lang="en-SG" sz="2000"/>
              </a:p>
            </p:txBody>
          </p:sp>
          <p:sp>
            <p:nvSpPr>
              <p:cNvPr id="82" name="TextBox 40"/>
              <p:cNvSpPr txBox="1">
                <a:spLocks noChangeArrowheads="1"/>
              </p:cNvSpPr>
              <p:nvPr/>
            </p:nvSpPr>
            <p:spPr bwMode="auto">
              <a:xfrm>
                <a:off x="3576345" y="3608936"/>
                <a:ext cx="568723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5</a:t>
                </a:r>
                <a:endParaRPr lang="en-SG" sz="2000"/>
              </a:p>
            </p:txBody>
          </p:sp>
          <p:sp>
            <p:nvSpPr>
              <p:cNvPr id="83" name="TextBox 41"/>
              <p:cNvSpPr txBox="1">
                <a:spLocks noChangeArrowheads="1"/>
              </p:cNvSpPr>
              <p:nvPr/>
            </p:nvSpPr>
            <p:spPr bwMode="auto">
              <a:xfrm>
                <a:off x="4141194" y="3608936"/>
                <a:ext cx="562219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38</a:t>
                </a:r>
                <a:endParaRPr lang="en-SG" sz="2000"/>
              </a:p>
            </p:txBody>
          </p:sp>
          <p:sp>
            <p:nvSpPr>
              <p:cNvPr id="84" name="TextBox 42"/>
              <p:cNvSpPr txBox="1">
                <a:spLocks noChangeArrowheads="1"/>
              </p:cNvSpPr>
              <p:nvPr/>
            </p:nvSpPr>
            <p:spPr bwMode="auto">
              <a:xfrm>
                <a:off x="4703413" y="3608936"/>
                <a:ext cx="56746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12</a:t>
                </a:r>
                <a:endParaRPr lang="en-SG" sz="2000"/>
              </a:p>
            </p:txBody>
          </p:sp>
          <p:sp>
            <p:nvSpPr>
              <p:cNvPr id="85" name="TextBox 43"/>
              <p:cNvSpPr txBox="1">
                <a:spLocks noChangeArrowheads="1"/>
              </p:cNvSpPr>
              <p:nvPr/>
            </p:nvSpPr>
            <p:spPr bwMode="auto">
              <a:xfrm>
                <a:off x="5270878" y="3608936"/>
                <a:ext cx="568460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44</a:t>
                </a:r>
                <a:endParaRPr lang="en-SG" sz="2000"/>
              </a:p>
            </p:txBody>
          </p:sp>
          <p:sp>
            <p:nvSpPr>
              <p:cNvPr id="86" name="TextBox 44"/>
              <p:cNvSpPr txBox="1">
                <a:spLocks noChangeArrowheads="1"/>
              </p:cNvSpPr>
              <p:nvPr/>
            </p:nvSpPr>
            <p:spPr bwMode="auto">
              <a:xfrm>
                <a:off x="5839337" y="3608936"/>
                <a:ext cx="554502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77</a:t>
                </a:r>
                <a:endParaRPr lang="en-SG" sz="2000"/>
              </a:p>
            </p:txBody>
          </p:sp>
          <p:sp>
            <p:nvSpPr>
              <p:cNvPr id="87" name="TextBox 45"/>
              <p:cNvSpPr txBox="1">
                <a:spLocks noChangeArrowheads="1"/>
              </p:cNvSpPr>
              <p:nvPr/>
            </p:nvSpPr>
            <p:spPr bwMode="auto">
              <a:xfrm>
                <a:off x="6393839" y="3608936"/>
                <a:ext cx="554501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84</a:t>
                </a:r>
                <a:endParaRPr lang="en-SG" sz="2000"/>
              </a:p>
            </p:txBody>
          </p:sp>
          <p:sp>
            <p:nvSpPr>
              <p:cNvPr id="88" name="TextBox 46"/>
              <p:cNvSpPr txBox="1">
                <a:spLocks noChangeArrowheads="1"/>
              </p:cNvSpPr>
              <p:nvPr/>
            </p:nvSpPr>
            <p:spPr bwMode="auto">
              <a:xfrm>
                <a:off x="6948340" y="3608936"/>
                <a:ext cx="549423" cy="400110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/>
                  <a:t>90</a:t>
                </a:r>
                <a:endParaRPr lang="en-SG" sz="2000"/>
              </a:p>
            </p:txBody>
          </p:sp>
        </p:grpSp>
        <p:sp>
          <p:nvSpPr>
            <p:cNvPr id="79" name="TextBox 227"/>
            <p:cNvSpPr txBox="1">
              <a:spLocks noChangeArrowheads="1"/>
            </p:cNvSpPr>
            <p:nvPr/>
          </p:nvSpPr>
          <p:spPr bwMode="auto">
            <a:xfrm>
              <a:off x="322462" y="3523028"/>
              <a:ext cx="12733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000"/>
                <a:t>4</a:t>
              </a:r>
              <a:r>
                <a:rPr lang="en-US" sz="2000" baseline="30000"/>
                <a:t>th</a:t>
              </a:r>
              <a:r>
                <a:rPr lang="en-US" sz="2000"/>
                <a:t> pass:</a:t>
              </a:r>
              <a:endParaRPr lang="en-SG" sz="2000"/>
            </a:p>
          </p:txBody>
        </p:sp>
      </p:grpSp>
      <p:grpSp>
        <p:nvGrpSpPr>
          <p:cNvPr id="89" name="Group 237"/>
          <p:cNvGrpSpPr>
            <a:grpSpLocks/>
          </p:cNvGrpSpPr>
          <p:nvPr/>
        </p:nvGrpSpPr>
        <p:grpSpPr bwMode="auto">
          <a:xfrm>
            <a:off x="5514975" y="5264150"/>
            <a:ext cx="568325" cy="584200"/>
            <a:chOff x="3786085" y="1553340"/>
            <a:chExt cx="568905" cy="584382"/>
          </a:xfrm>
        </p:grpSpPr>
        <p:cxnSp>
          <p:nvCxnSpPr>
            <p:cNvPr id="90" name="Straight Arrow Connector 238"/>
            <p:cNvCxnSpPr>
              <a:cxnSpLocks noChangeShapeType="1"/>
            </p:cNvCxnSpPr>
            <p:nvPr/>
          </p:nvCxnSpPr>
          <p:spPr bwMode="auto">
            <a:xfrm rot="5400000">
              <a:off x="3920608" y="202831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TextBox 239"/>
            <p:cNvSpPr txBox="1">
              <a:spLocks noChangeArrowheads="1"/>
            </p:cNvSpPr>
            <p:nvPr/>
          </p:nvSpPr>
          <p:spPr bwMode="auto">
            <a:xfrm>
              <a:off x="3786085" y="1553340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/>
                <a:t>last</a:t>
              </a:r>
              <a:endParaRPr lang="en-SG" sz="1600"/>
            </a:p>
          </p:txBody>
        </p:sp>
      </p:grpSp>
      <p:grpSp>
        <p:nvGrpSpPr>
          <p:cNvPr id="92" name="Group 240"/>
          <p:cNvGrpSpPr>
            <a:grpSpLocks/>
          </p:cNvGrpSpPr>
          <p:nvPr/>
        </p:nvGrpSpPr>
        <p:grpSpPr bwMode="auto">
          <a:xfrm>
            <a:off x="5077147" y="5260975"/>
            <a:ext cx="572593" cy="587375"/>
            <a:chOff x="3680472" y="1553340"/>
            <a:chExt cx="573188" cy="586562"/>
          </a:xfrm>
        </p:grpSpPr>
        <p:cxnSp>
          <p:nvCxnSpPr>
            <p:cNvPr id="93" name="Straight Arrow Connector 241"/>
            <p:cNvCxnSpPr>
              <a:cxnSpLocks noChangeShapeType="1"/>
            </p:cNvCxnSpPr>
            <p:nvPr/>
          </p:nvCxnSpPr>
          <p:spPr bwMode="auto">
            <a:xfrm rot="5400000">
              <a:off x="3849345" y="2030493"/>
              <a:ext cx="217230" cy="1588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" name="Rectangle 242"/>
            <p:cNvSpPr>
              <a:spLocks noChangeArrowheads="1"/>
            </p:cNvSpPr>
            <p:nvPr/>
          </p:nvSpPr>
          <p:spPr bwMode="auto">
            <a:xfrm>
              <a:off x="3680472" y="1553340"/>
              <a:ext cx="573188" cy="338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max</a:t>
              </a:r>
              <a:endParaRPr lang="en-SG" sz="1600"/>
            </a:p>
          </p:txBody>
        </p:sp>
      </p:grpSp>
      <p:sp>
        <p:nvSpPr>
          <p:cNvPr id="95" name="Freeform 94"/>
          <p:cNvSpPr>
            <a:spLocks/>
          </p:cNvSpPr>
          <p:nvPr/>
        </p:nvSpPr>
        <p:spPr bwMode="auto">
          <a:xfrm>
            <a:off x="5454016" y="5630863"/>
            <a:ext cx="220836" cy="217487"/>
          </a:xfrm>
          <a:custGeom>
            <a:avLst/>
            <a:gdLst>
              <a:gd name="T0" fmla="*/ 0 w 646176"/>
              <a:gd name="T1" fmla="*/ 395 h 331216"/>
              <a:gd name="T2" fmla="*/ 1421 w 646176"/>
              <a:gd name="T3" fmla="*/ 3 h 331216"/>
              <a:gd name="T4" fmla="*/ 3011 w 646176"/>
              <a:gd name="T5" fmla="*/ 381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9D6A00-44C2-0725-27CB-0F4CF673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819C98-062A-902E-0551-9F256B5B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52272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Bubble Sort: One Pass</a:t>
            </a:r>
          </a:p>
        </p:txBody>
      </p:sp>
      <p:sp>
        <p:nvSpPr>
          <p:cNvPr id="8" name="Freeform 2"/>
          <p:cNvSpPr>
            <a:spLocks/>
          </p:cNvSpPr>
          <p:nvPr/>
        </p:nvSpPr>
        <p:spPr bwMode="auto">
          <a:xfrm>
            <a:off x="584200" y="196532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309563" y="1114425"/>
            <a:ext cx="3900487" cy="741363"/>
            <a:chOff x="171" y="702"/>
            <a:chExt cx="2457" cy="467"/>
          </a:xfrm>
        </p:grpSpPr>
        <p:grpSp>
          <p:nvGrpSpPr>
            <p:cNvPr id="11" name="Group 7"/>
            <p:cNvGrpSpPr>
              <a:grpSpLocks/>
            </p:cNvGrpSpPr>
            <p:nvPr/>
          </p:nvGrpSpPr>
          <p:grpSpPr bwMode="auto">
            <a:xfrm>
              <a:off x="226" y="702"/>
              <a:ext cx="2338" cy="212"/>
              <a:chOff x="1042" y="1464"/>
              <a:chExt cx="4415" cy="371"/>
            </a:xfrm>
          </p:grpSpPr>
          <p:sp>
            <p:nvSpPr>
              <p:cNvPr id="33" name="Text Box 8"/>
              <p:cNvSpPr txBox="1">
                <a:spLocks noChangeArrowheads="1"/>
              </p:cNvSpPr>
              <p:nvPr/>
            </p:nvSpPr>
            <p:spPr bwMode="auto">
              <a:xfrm>
                <a:off x="1042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0</a:t>
                </a:r>
              </a:p>
            </p:txBody>
          </p:sp>
          <p:sp>
            <p:nvSpPr>
              <p:cNvPr id="34" name="Text Box 9"/>
              <p:cNvSpPr txBox="1">
                <a:spLocks noChangeArrowheads="1"/>
              </p:cNvSpPr>
              <p:nvPr/>
            </p:nvSpPr>
            <p:spPr bwMode="auto">
              <a:xfrm>
                <a:off x="1548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1</a:t>
                </a:r>
              </a:p>
            </p:txBody>
          </p:sp>
          <p:sp>
            <p:nvSpPr>
              <p:cNvPr id="35" name="Text Box 10"/>
              <p:cNvSpPr txBox="1">
                <a:spLocks noChangeArrowheads="1"/>
              </p:cNvSpPr>
              <p:nvPr/>
            </p:nvSpPr>
            <p:spPr bwMode="auto">
              <a:xfrm>
                <a:off x="2058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2</a:t>
                </a:r>
              </a:p>
            </p:txBody>
          </p:sp>
          <p:sp>
            <p:nvSpPr>
              <p:cNvPr id="36" name="Text Box 11"/>
              <p:cNvSpPr txBox="1">
                <a:spLocks noChangeArrowheads="1"/>
              </p:cNvSpPr>
              <p:nvPr/>
            </p:nvSpPr>
            <p:spPr bwMode="auto">
              <a:xfrm>
                <a:off x="2566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3</a:t>
                </a:r>
              </a:p>
            </p:txBody>
          </p:sp>
          <p:sp>
            <p:nvSpPr>
              <p:cNvPr id="37" name="Text Box 12"/>
              <p:cNvSpPr txBox="1">
                <a:spLocks noChangeArrowheads="1"/>
              </p:cNvSpPr>
              <p:nvPr/>
            </p:nvSpPr>
            <p:spPr bwMode="auto">
              <a:xfrm>
                <a:off x="3070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4</a:t>
                </a:r>
              </a:p>
            </p:txBody>
          </p:sp>
          <p:sp>
            <p:nvSpPr>
              <p:cNvPr id="38" name="Text Box 13"/>
              <p:cNvSpPr txBox="1">
                <a:spLocks noChangeArrowheads="1"/>
              </p:cNvSpPr>
              <p:nvPr/>
            </p:nvSpPr>
            <p:spPr bwMode="auto">
              <a:xfrm>
                <a:off x="3582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5</a:t>
                </a:r>
              </a:p>
            </p:txBody>
          </p:sp>
          <p:sp>
            <p:nvSpPr>
              <p:cNvPr id="39" name="Text Box 14"/>
              <p:cNvSpPr txBox="1">
                <a:spLocks noChangeArrowheads="1"/>
              </p:cNvSpPr>
              <p:nvPr/>
            </p:nvSpPr>
            <p:spPr bwMode="auto">
              <a:xfrm>
                <a:off x="4088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6</a:t>
                </a:r>
              </a:p>
            </p:txBody>
          </p:sp>
          <p:sp>
            <p:nvSpPr>
              <p:cNvPr id="40" name="Text Box 15"/>
              <p:cNvSpPr txBox="1">
                <a:spLocks noChangeArrowheads="1"/>
              </p:cNvSpPr>
              <p:nvPr/>
            </p:nvSpPr>
            <p:spPr bwMode="auto">
              <a:xfrm>
                <a:off x="4597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7</a:t>
                </a:r>
              </a:p>
            </p:txBody>
          </p:sp>
          <p:sp>
            <p:nvSpPr>
              <p:cNvPr id="41" name="Text Box 16"/>
              <p:cNvSpPr txBox="1">
                <a:spLocks noChangeArrowheads="1"/>
              </p:cNvSpPr>
              <p:nvPr/>
            </p:nvSpPr>
            <p:spPr bwMode="auto">
              <a:xfrm>
                <a:off x="5104" y="1464"/>
                <a:ext cx="353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>
                    <a:solidFill>
                      <a:schemeClr val="tx2"/>
                    </a:solidFill>
                    <a:ea typeface="ＭＳ Ｐゴシック" pitchFamily="34" charset="-128"/>
                  </a:rPr>
                  <a:t>8</a:t>
                </a:r>
              </a:p>
            </p:txBody>
          </p:sp>
        </p:grpSp>
        <p:grpSp>
          <p:nvGrpSpPr>
            <p:cNvPr id="13" name="Group 17"/>
            <p:cNvGrpSpPr>
              <a:grpSpLocks/>
            </p:cNvGrpSpPr>
            <p:nvPr/>
          </p:nvGrpSpPr>
          <p:grpSpPr bwMode="auto">
            <a:xfrm>
              <a:off x="171" y="916"/>
              <a:ext cx="2457" cy="253"/>
              <a:chOff x="135" y="916"/>
              <a:chExt cx="2457" cy="253"/>
            </a:xfrm>
          </p:grpSpPr>
          <p:sp>
            <p:nvSpPr>
              <p:cNvPr id="14" name="Rectangle 18"/>
              <p:cNvSpPr>
                <a:spLocks noChangeArrowheads="1"/>
              </p:cNvSpPr>
              <p:nvPr/>
            </p:nvSpPr>
            <p:spPr bwMode="auto">
              <a:xfrm>
                <a:off x="135" y="917"/>
                <a:ext cx="2433" cy="2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en-SG" sz="2400">
                  <a:latin typeface="Times New Roman" pitchFamily="18" charset="0"/>
                </a:endParaRPr>
              </a:p>
            </p:txBody>
          </p:sp>
          <p:sp>
            <p:nvSpPr>
              <p:cNvPr id="15" name="Line 19"/>
              <p:cNvSpPr>
                <a:spLocks noChangeShapeType="1"/>
              </p:cNvSpPr>
              <p:nvPr/>
            </p:nvSpPr>
            <p:spPr bwMode="auto">
              <a:xfrm>
                <a:off x="404" y="916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6" name="Line 20"/>
              <p:cNvSpPr>
                <a:spLocks noChangeShapeType="1"/>
              </p:cNvSpPr>
              <p:nvPr/>
            </p:nvSpPr>
            <p:spPr bwMode="auto">
              <a:xfrm>
                <a:off x="677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7" name="Line 21"/>
              <p:cNvSpPr>
                <a:spLocks noChangeShapeType="1"/>
              </p:cNvSpPr>
              <p:nvPr/>
            </p:nvSpPr>
            <p:spPr bwMode="auto">
              <a:xfrm>
                <a:off x="950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8" name="Line 22"/>
              <p:cNvSpPr>
                <a:spLocks noChangeShapeType="1"/>
              </p:cNvSpPr>
              <p:nvPr/>
            </p:nvSpPr>
            <p:spPr bwMode="auto">
              <a:xfrm>
                <a:off x="1223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19" name="Line 23"/>
              <p:cNvSpPr>
                <a:spLocks noChangeShapeType="1"/>
              </p:cNvSpPr>
              <p:nvPr/>
            </p:nvSpPr>
            <p:spPr bwMode="auto">
              <a:xfrm>
                <a:off x="1496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20" name="Line 24"/>
              <p:cNvSpPr>
                <a:spLocks noChangeShapeType="1"/>
              </p:cNvSpPr>
              <p:nvPr/>
            </p:nvSpPr>
            <p:spPr bwMode="auto">
              <a:xfrm>
                <a:off x="1769" y="917"/>
                <a:ext cx="0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21" name="Line 25"/>
              <p:cNvSpPr>
                <a:spLocks noChangeShapeType="1"/>
              </p:cNvSpPr>
              <p:nvPr/>
            </p:nvSpPr>
            <p:spPr bwMode="auto">
              <a:xfrm>
                <a:off x="2042" y="91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sp>
            <p:nvSpPr>
              <p:cNvPr id="22" name="Line 26"/>
              <p:cNvSpPr>
                <a:spLocks noChangeShapeType="1"/>
              </p:cNvSpPr>
              <p:nvPr/>
            </p:nvSpPr>
            <p:spPr bwMode="auto">
              <a:xfrm>
                <a:off x="2314" y="91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SG"/>
              </a:p>
            </p:txBody>
          </p:sp>
          <p:grpSp>
            <p:nvGrpSpPr>
              <p:cNvPr id="23" name="Group 27"/>
              <p:cNvGrpSpPr>
                <a:grpSpLocks/>
              </p:cNvGrpSpPr>
              <p:nvPr/>
            </p:nvGrpSpPr>
            <p:grpSpPr bwMode="auto">
              <a:xfrm>
                <a:off x="142" y="947"/>
                <a:ext cx="2450" cy="213"/>
                <a:chOff x="142" y="947"/>
                <a:chExt cx="2450" cy="213"/>
              </a:xfrm>
            </p:grpSpPr>
            <p:sp>
              <p:nvSpPr>
                <p:cNvPr id="2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42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23</a:t>
                  </a:r>
                </a:p>
              </p:txBody>
            </p:sp>
            <p:sp>
              <p:nvSpPr>
                <p:cNvPr id="2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17" y="947"/>
                  <a:ext cx="269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17</a:t>
                  </a:r>
                </a:p>
              </p:txBody>
            </p:sp>
            <p:sp>
              <p:nvSpPr>
                <p:cNvPr id="26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745" y="947"/>
                  <a:ext cx="193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5</a:t>
                  </a:r>
                </a:p>
              </p:txBody>
            </p:sp>
            <p:sp>
              <p:nvSpPr>
                <p:cNvPr id="2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55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90</a:t>
                  </a:r>
                </a:p>
              </p:txBody>
            </p:sp>
            <p:sp>
              <p:nvSpPr>
                <p:cNvPr id="28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229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12</a:t>
                  </a:r>
                </a:p>
              </p:txBody>
            </p:sp>
            <p:sp>
              <p:nvSpPr>
                <p:cNvPr id="2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502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44</a:t>
                  </a:r>
                </a:p>
              </p:txBody>
            </p:sp>
            <p:sp>
              <p:nvSpPr>
                <p:cNvPr id="3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778" y="947"/>
                  <a:ext cx="269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38</a:t>
                  </a:r>
                </a:p>
              </p:txBody>
            </p:sp>
            <p:sp>
              <p:nvSpPr>
                <p:cNvPr id="3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049" y="947"/>
                  <a:ext cx="27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84</a:t>
                  </a:r>
                </a:p>
              </p:txBody>
            </p:sp>
            <p:sp>
              <p:nvSpPr>
                <p:cNvPr id="3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323" y="947"/>
                  <a:ext cx="269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sz="1600" b="1">
                      <a:latin typeface="Courier New" pitchFamily="49" charset="0"/>
                      <a:ea typeface="ＭＳ Ｐゴシック" pitchFamily="34" charset="-128"/>
                    </a:rPr>
                    <a:t>77</a:t>
                  </a:r>
                </a:p>
              </p:txBody>
            </p:sp>
          </p:grpSp>
        </p:grpSp>
      </p:grpSp>
      <p:grpSp>
        <p:nvGrpSpPr>
          <p:cNvPr id="42" name="Group 37"/>
          <p:cNvGrpSpPr>
            <a:grpSpLocks/>
          </p:cNvGrpSpPr>
          <p:nvPr/>
        </p:nvGrpSpPr>
        <p:grpSpPr bwMode="auto">
          <a:xfrm>
            <a:off x="309563" y="2593975"/>
            <a:ext cx="3900487" cy="401638"/>
            <a:chOff x="135" y="916"/>
            <a:chExt cx="2457" cy="253"/>
          </a:xfrm>
        </p:grpSpPr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35" y="917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>
              <a:off x="404" y="916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677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950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1223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1496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1769" y="917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2042" y="918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2314" y="918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grpSp>
          <p:nvGrpSpPr>
            <p:cNvPr id="52" name="Group 47"/>
            <p:cNvGrpSpPr>
              <a:grpSpLocks/>
            </p:cNvGrpSpPr>
            <p:nvPr/>
          </p:nvGrpSpPr>
          <p:grpSpPr bwMode="auto">
            <a:xfrm>
              <a:off x="142" y="947"/>
              <a:ext cx="2450" cy="213"/>
              <a:chOff x="142" y="947"/>
              <a:chExt cx="2450" cy="213"/>
            </a:xfrm>
          </p:grpSpPr>
          <p:sp>
            <p:nvSpPr>
              <p:cNvPr id="53" name="Text Box 48"/>
              <p:cNvSpPr txBox="1">
                <a:spLocks noChangeArrowheads="1"/>
              </p:cNvSpPr>
              <p:nvPr/>
            </p:nvSpPr>
            <p:spPr bwMode="auto">
              <a:xfrm>
                <a:off x="142" y="947"/>
                <a:ext cx="27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17</a:t>
                </a:r>
              </a:p>
            </p:txBody>
          </p:sp>
          <p:sp>
            <p:nvSpPr>
              <p:cNvPr id="54" name="Text Box 49"/>
              <p:cNvSpPr txBox="1">
                <a:spLocks noChangeArrowheads="1"/>
              </p:cNvSpPr>
              <p:nvPr/>
            </p:nvSpPr>
            <p:spPr bwMode="auto">
              <a:xfrm>
                <a:off x="417" y="947"/>
                <a:ext cx="27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23</a:t>
                </a:r>
              </a:p>
            </p:txBody>
          </p:sp>
          <p:sp>
            <p:nvSpPr>
              <p:cNvPr id="55" name="Text Box 50"/>
              <p:cNvSpPr txBox="1">
                <a:spLocks noChangeArrowheads="1"/>
              </p:cNvSpPr>
              <p:nvPr/>
            </p:nvSpPr>
            <p:spPr bwMode="auto">
              <a:xfrm>
                <a:off x="745" y="947"/>
                <a:ext cx="19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5</a:t>
                </a:r>
              </a:p>
            </p:txBody>
          </p:sp>
          <p:sp>
            <p:nvSpPr>
              <p:cNvPr id="56" name="Text Box 51"/>
              <p:cNvSpPr txBox="1">
                <a:spLocks noChangeArrowheads="1"/>
              </p:cNvSpPr>
              <p:nvPr/>
            </p:nvSpPr>
            <p:spPr bwMode="auto">
              <a:xfrm>
                <a:off x="955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90</a:t>
                </a:r>
              </a:p>
            </p:txBody>
          </p:sp>
          <p:sp>
            <p:nvSpPr>
              <p:cNvPr id="57" name="Text Box 52"/>
              <p:cNvSpPr txBox="1">
                <a:spLocks noChangeArrowheads="1"/>
              </p:cNvSpPr>
              <p:nvPr/>
            </p:nvSpPr>
            <p:spPr bwMode="auto">
              <a:xfrm>
                <a:off x="1229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12</a:t>
                </a:r>
              </a:p>
            </p:txBody>
          </p:sp>
          <p:sp>
            <p:nvSpPr>
              <p:cNvPr id="58" name="Text Box 53"/>
              <p:cNvSpPr txBox="1">
                <a:spLocks noChangeArrowheads="1"/>
              </p:cNvSpPr>
              <p:nvPr/>
            </p:nvSpPr>
            <p:spPr bwMode="auto">
              <a:xfrm>
                <a:off x="1502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44</a:t>
                </a:r>
              </a:p>
            </p:txBody>
          </p:sp>
          <p:sp>
            <p:nvSpPr>
              <p:cNvPr id="59" name="Text Box 54"/>
              <p:cNvSpPr txBox="1">
                <a:spLocks noChangeArrowheads="1"/>
              </p:cNvSpPr>
              <p:nvPr/>
            </p:nvSpPr>
            <p:spPr bwMode="auto">
              <a:xfrm>
                <a:off x="1778" y="947"/>
                <a:ext cx="26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38</a:t>
                </a:r>
              </a:p>
            </p:txBody>
          </p:sp>
          <p:sp>
            <p:nvSpPr>
              <p:cNvPr id="60" name="Text Box 55"/>
              <p:cNvSpPr txBox="1">
                <a:spLocks noChangeArrowheads="1"/>
              </p:cNvSpPr>
              <p:nvPr/>
            </p:nvSpPr>
            <p:spPr bwMode="auto">
              <a:xfrm>
                <a:off x="2049" y="947"/>
                <a:ext cx="27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84</a:t>
                </a:r>
              </a:p>
            </p:txBody>
          </p:sp>
          <p:sp>
            <p:nvSpPr>
              <p:cNvPr id="61" name="Text Box 56"/>
              <p:cNvSpPr txBox="1">
                <a:spLocks noChangeArrowheads="1"/>
              </p:cNvSpPr>
              <p:nvPr/>
            </p:nvSpPr>
            <p:spPr bwMode="auto">
              <a:xfrm>
                <a:off x="2323" y="947"/>
                <a:ext cx="26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600" b="1">
                    <a:latin typeface="Courier New" pitchFamily="49" charset="0"/>
                    <a:ea typeface="ＭＳ Ｐゴシック" pitchFamily="34" charset="-128"/>
                  </a:rPr>
                  <a:t>77</a:t>
                </a:r>
              </a:p>
            </p:txBody>
          </p:sp>
        </p:grpSp>
      </p:grpSp>
      <p:grpSp>
        <p:nvGrpSpPr>
          <p:cNvPr id="62" name="Group 57"/>
          <p:cNvGrpSpPr>
            <a:grpSpLocks/>
          </p:cNvGrpSpPr>
          <p:nvPr/>
        </p:nvGrpSpPr>
        <p:grpSpPr bwMode="auto">
          <a:xfrm>
            <a:off x="309563" y="3700463"/>
            <a:ext cx="3900487" cy="401637"/>
            <a:chOff x="219" y="2024"/>
            <a:chExt cx="2457" cy="253"/>
          </a:xfrm>
        </p:grpSpPr>
        <p:sp>
          <p:nvSpPr>
            <p:cNvPr id="63" name="Rectangle 58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75" name="Text Box 70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76" name="Text Box 71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77" name="Text Box 72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78" name="Text Box 73"/>
            <p:cNvSpPr txBox="1">
              <a:spLocks noChangeArrowheads="1"/>
            </p:cNvSpPr>
            <p:nvPr/>
          </p:nvSpPr>
          <p:spPr bwMode="auto">
            <a:xfrm>
              <a:off x="1862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79" name="Text Box 74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80" name="Text Box 75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81" name="Group 76"/>
          <p:cNvGrpSpPr>
            <a:grpSpLocks/>
          </p:cNvGrpSpPr>
          <p:nvPr/>
        </p:nvGrpSpPr>
        <p:grpSpPr bwMode="auto">
          <a:xfrm>
            <a:off x="309563" y="4908550"/>
            <a:ext cx="3900487" cy="401638"/>
            <a:chOff x="219" y="2024"/>
            <a:chExt cx="2457" cy="253"/>
          </a:xfrm>
        </p:grpSpPr>
        <p:sp>
          <p:nvSpPr>
            <p:cNvPr id="82" name="Rectangle 77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83" name="Line 78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4" name="Line 79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5" name="Line 80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6" name="Line 81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7" name="Line 82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89" name="Line 84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90" name="Line 85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91" name="Text Box 86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92" name="Text Box 87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93" name="Text Box 88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94" name="Text Box 89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95" name="Text Box 90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97" name="Text Box 92"/>
            <p:cNvSpPr txBox="1">
              <a:spLocks noChangeArrowheads="1"/>
            </p:cNvSpPr>
            <p:nvPr/>
          </p:nvSpPr>
          <p:spPr bwMode="auto">
            <a:xfrm>
              <a:off x="1862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98" name="Text Box 93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99" name="Text Box 94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00" name="Group 95"/>
          <p:cNvGrpSpPr>
            <a:grpSpLocks/>
          </p:cNvGrpSpPr>
          <p:nvPr/>
        </p:nvGrpSpPr>
        <p:grpSpPr bwMode="auto">
          <a:xfrm>
            <a:off x="4929188" y="1485900"/>
            <a:ext cx="3900487" cy="401638"/>
            <a:chOff x="219" y="2024"/>
            <a:chExt cx="2457" cy="253"/>
          </a:xfrm>
        </p:grpSpPr>
        <p:sp>
          <p:nvSpPr>
            <p:cNvPr id="101" name="Rectangle 96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02" name="Line 97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3" name="Line 98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4" name="Line 99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5" name="Line 100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6" name="Line 101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7" name="Line 102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8" name="Line 103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09" name="Line 104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10" name="Text Box 105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11" name="Text Box 106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12" name="Text Box 107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13" name="Text Box 108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14" name="Text Box 109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15" name="Text Box 110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116" name="Text Box 111"/>
            <p:cNvSpPr txBox="1">
              <a:spLocks noChangeArrowheads="1"/>
            </p:cNvSpPr>
            <p:nvPr/>
          </p:nvSpPr>
          <p:spPr bwMode="auto">
            <a:xfrm>
              <a:off x="1862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17" name="Text Box 112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18" name="Text Box 113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19" name="Group 114"/>
          <p:cNvGrpSpPr>
            <a:grpSpLocks/>
          </p:cNvGrpSpPr>
          <p:nvPr/>
        </p:nvGrpSpPr>
        <p:grpSpPr bwMode="auto">
          <a:xfrm>
            <a:off x="4960938" y="2614613"/>
            <a:ext cx="3900487" cy="401637"/>
            <a:chOff x="219" y="2024"/>
            <a:chExt cx="2457" cy="253"/>
          </a:xfrm>
        </p:grpSpPr>
        <p:sp>
          <p:nvSpPr>
            <p:cNvPr id="120" name="Rectangle 115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21" name="Line 116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2" name="Line 117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3" name="Line 118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4" name="Line 119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5" name="Line 120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6" name="Line 121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7" name="Line 122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8" name="Line 123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29" name="Text Box 124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30" name="Text Box 125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31" name="Text Box 126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32" name="Text Box 127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33" name="Text Box 128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34" name="Text Box 129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35" name="Text Box 130"/>
            <p:cNvSpPr txBox="1">
              <a:spLocks noChangeArrowheads="1"/>
            </p:cNvSpPr>
            <p:nvPr/>
          </p:nvSpPr>
          <p:spPr bwMode="auto">
            <a:xfrm>
              <a:off x="1862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136" name="Text Box 131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37" name="Text Box 132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38" name="Group 133"/>
          <p:cNvGrpSpPr>
            <a:grpSpLocks/>
          </p:cNvGrpSpPr>
          <p:nvPr/>
        </p:nvGrpSpPr>
        <p:grpSpPr bwMode="auto">
          <a:xfrm>
            <a:off x="4938713" y="3824288"/>
            <a:ext cx="3900487" cy="401637"/>
            <a:chOff x="219" y="2024"/>
            <a:chExt cx="2457" cy="253"/>
          </a:xfrm>
        </p:grpSpPr>
        <p:sp>
          <p:nvSpPr>
            <p:cNvPr id="139" name="Rectangle 134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40" name="Line 135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1" name="Line 136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2" name="Line 137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3" name="Line 138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4" name="Line 139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5" name="Line 140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6" name="Line 141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7" name="Line 142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48" name="Text Box 143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49" name="Text Box 144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50" name="Text Box 145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51" name="Text Box 146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52" name="Text Box 147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53" name="Text Box 148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54" name="Text Box 149"/>
            <p:cNvSpPr txBox="1">
              <a:spLocks noChangeArrowheads="1"/>
            </p:cNvSpPr>
            <p:nvPr/>
          </p:nvSpPr>
          <p:spPr bwMode="auto">
            <a:xfrm>
              <a:off x="1862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55" name="Text Box 150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  <p:sp>
          <p:nvSpPr>
            <p:cNvPr id="156" name="Text Box 151"/>
            <p:cNvSpPr txBox="1">
              <a:spLocks noChangeArrowheads="1"/>
            </p:cNvSpPr>
            <p:nvPr/>
          </p:nvSpPr>
          <p:spPr bwMode="auto">
            <a:xfrm>
              <a:off x="2407" y="2055"/>
              <a:ext cx="26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</p:grpSp>
      <p:grpSp>
        <p:nvGrpSpPr>
          <p:cNvPr id="157" name="Group 152"/>
          <p:cNvGrpSpPr>
            <a:grpSpLocks/>
          </p:cNvGrpSpPr>
          <p:nvPr/>
        </p:nvGrpSpPr>
        <p:grpSpPr bwMode="auto">
          <a:xfrm>
            <a:off x="5011738" y="4962525"/>
            <a:ext cx="3902075" cy="401638"/>
            <a:chOff x="219" y="2024"/>
            <a:chExt cx="2458" cy="253"/>
          </a:xfrm>
        </p:grpSpPr>
        <p:sp>
          <p:nvSpPr>
            <p:cNvPr id="158" name="Rectangle 153"/>
            <p:cNvSpPr>
              <a:spLocks noChangeArrowheads="1"/>
            </p:cNvSpPr>
            <p:nvPr/>
          </p:nvSpPr>
          <p:spPr bwMode="auto">
            <a:xfrm>
              <a:off x="219" y="2025"/>
              <a:ext cx="2433" cy="2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SG" sz="2400">
                <a:latin typeface="Times New Roman" pitchFamily="18" charset="0"/>
              </a:endParaRPr>
            </a:p>
          </p:txBody>
        </p:sp>
        <p:sp>
          <p:nvSpPr>
            <p:cNvPr id="159" name="Line 154"/>
            <p:cNvSpPr>
              <a:spLocks noChangeShapeType="1"/>
            </p:cNvSpPr>
            <p:nvPr/>
          </p:nvSpPr>
          <p:spPr bwMode="auto">
            <a:xfrm>
              <a:off x="488" y="2024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0" name="Line 155"/>
            <p:cNvSpPr>
              <a:spLocks noChangeShapeType="1"/>
            </p:cNvSpPr>
            <p:nvPr/>
          </p:nvSpPr>
          <p:spPr bwMode="auto">
            <a:xfrm>
              <a:off x="761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1" name="Line 156"/>
            <p:cNvSpPr>
              <a:spLocks noChangeShapeType="1"/>
            </p:cNvSpPr>
            <p:nvPr/>
          </p:nvSpPr>
          <p:spPr bwMode="auto">
            <a:xfrm>
              <a:off x="1034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2" name="Line 157"/>
            <p:cNvSpPr>
              <a:spLocks noChangeShapeType="1"/>
            </p:cNvSpPr>
            <p:nvPr/>
          </p:nvSpPr>
          <p:spPr bwMode="auto">
            <a:xfrm>
              <a:off x="1307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3" name="Line 158"/>
            <p:cNvSpPr>
              <a:spLocks noChangeShapeType="1"/>
            </p:cNvSpPr>
            <p:nvPr/>
          </p:nvSpPr>
          <p:spPr bwMode="auto">
            <a:xfrm>
              <a:off x="1580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4" name="Line 159"/>
            <p:cNvSpPr>
              <a:spLocks noChangeShapeType="1"/>
            </p:cNvSpPr>
            <p:nvPr/>
          </p:nvSpPr>
          <p:spPr bwMode="auto">
            <a:xfrm>
              <a:off x="1853" y="2025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5" name="Line 160"/>
            <p:cNvSpPr>
              <a:spLocks noChangeShapeType="1"/>
            </p:cNvSpPr>
            <p:nvPr/>
          </p:nvSpPr>
          <p:spPr bwMode="auto">
            <a:xfrm>
              <a:off x="2126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6" name="Line 161"/>
            <p:cNvSpPr>
              <a:spLocks noChangeShapeType="1"/>
            </p:cNvSpPr>
            <p:nvPr/>
          </p:nvSpPr>
          <p:spPr bwMode="auto">
            <a:xfrm>
              <a:off x="2398" y="202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67" name="Text Box 162"/>
            <p:cNvSpPr txBox="1">
              <a:spLocks noChangeArrowheads="1"/>
            </p:cNvSpPr>
            <p:nvPr/>
          </p:nvSpPr>
          <p:spPr bwMode="auto">
            <a:xfrm>
              <a:off x="22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17</a:t>
              </a:r>
            </a:p>
          </p:txBody>
        </p:sp>
        <p:sp>
          <p:nvSpPr>
            <p:cNvPr id="168" name="Text Box 163"/>
            <p:cNvSpPr txBox="1">
              <a:spLocks noChangeArrowheads="1"/>
            </p:cNvSpPr>
            <p:nvPr/>
          </p:nvSpPr>
          <p:spPr bwMode="auto">
            <a:xfrm>
              <a:off x="501" y="2055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5</a:t>
              </a:r>
            </a:p>
          </p:txBody>
        </p:sp>
        <p:sp>
          <p:nvSpPr>
            <p:cNvPr id="169" name="Text Box 164"/>
            <p:cNvSpPr txBox="1">
              <a:spLocks noChangeArrowheads="1"/>
            </p:cNvSpPr>
            <p:nvPr/>
          </p:nvSpPr>
          <p:spPr bwMode="auto">
            <a:xfrm>
              <a:off x="781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23</a:t>
              </a:r>
            </a:p>
          </p:txBody>
        </p:sp>
        <p:sp>
          <p:nvSpPr>
            <p:cNvPr id="170" name="Text Box 165"/>
            <p:cNvSpPr txBox="1">
              <a:spLocks noChangeArrowheads="1"/>
            </p:cNvSpPr>
            <p:nvPr/>
          </p:nvSpPr>
          <p:spPr bwMode="auto">
            <a:xfrm>
              <a:off x="1039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12</a:t>
              </a:r>
            </a:p>
          </p:txBody>
        </p:sp>
        <p:sp>
          <p:nvSpPr>
            <p:cNvPr id="171" name="Text Box 166"/>
            <p:cNvSpPr txBox="1">
              <a:spLocks noChangeArrowheads="1"/>
            </p:cNvSpPr>
            <p:nvPr/>
          </p:nvSpPr>
          <p:spPr bwMode="auto">
            <a:xfrm>
              <a:off x="131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44</a:t>
              </a:r>
            </a:p>
          </p:txBody>
        </p:sp>
        <p:sp>
          <p:nvSpPr>
            <p:cNvPr id="172" name="Text Box 167"/>
            <p:cNvSpPr txBox="1">
              <a:spLocks noChangeArrowheads="1"/>
            </p:cNvSpPr>
            <p:nvPr/>
          </p:nvSpPr>
          <p:spPr bwMode="auto">
            <a:xfrm>
              <a:off x="1586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38</a:t>
              </a:r>
            </a:p>
          </p:txBody>
        </p:sp>
        <p:sp>
          <p:nvSpPr>
            <p:cNvPr id="173" name="Text Box 168"/>
            <p:cNvSpPr txBox="1">
              <a:spLocks noChangeArrowheads="1"/>
            </p:cNvSpPr>
            <p:nvPr/>
          </p:nvSpPr>
          <p:spPr bwMode="auto">
            <a:xfrm>
              <a:off x="1862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84</a:t>
              </a:r>
            </a:p>
          </p:txBody>
        </p:sp>
        <p:sp>
          <p:nvSpPr>
            <p:cNvPr id="174" name="Text Box 169"/>
            <p:cNvSpPr txBox="1">
              <a:spLocks noChangeArrowheads="1"/>
            </p:cNvSpPr>
            <p:nvPr/>
          </p:nvSpPr>
          <p:spPr bwMode="auto">
            <a:xfrm>
              <a:off x="2133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77</a:t>
              </a:r>
            </a:p>
          </p:txBody>
        </p:sp>
        <p:sp>
          <p:nvSpPr>
            <p:cNvPr id="175" name="Text Box 170"/>
            <p:cNvSpPr txBox="1">
              <a:spLocks noChangeArrowheads="1"/>
            </p:cNvSpPr>
            <p:nvPr/>
          </p:nvSpPr>
          <p:spPr bwMode="auto">
            <a:xfrm>
              <a:off x="2407" y="2055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b="1">
                  <a:latin typeface="Courier New" pitchFamily="49" charset="0"/>
                  <a:ea typeface="ＭＳ Ｐゴシック" pitchFamily="34" charset="-128"/>
                </a:rPr>
                <a:t>90</a:t>
              </a:r>
            </a:p>
          </p:txBody>
        </p:sp>
      </p:grpSp>
      <p:sp>
        <p:nvSpPr>
          <p:cNvPr id="176" name="Freeform 171"/>
          <p:cNvSpPr>
            <a:spLocks/>
          </p:cNvSpPr>
          <p:nvPr/>
        </p:nvSpPr>
        <p:spPr bwMode="auto">
          <a:xfrm>
            <a:off x="1422400" y="4240213"/>
            <a:ext cx="368300" cy="241300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77" name="Group 172"/>
          <p:cNvGrpSpPr>
            <a:grpSpLocks/>
          </p:cNvGrpSpPr>
          <p:nvPr/>
        </p:nvGrpSpPr>
        <p:grpSpPr bwMode="auto">
          <a:xfrm>
            <a:off x="584200" y="1965325"/>
            <a:ext cx="1360488" cy="341313"/>
            <a:chOff x="368" y="1238"/>
            <a:chExt cx="857" cy="215"/>
          </a:xfrm>
        </p:grpSpPr>
        <p:sp>
          <p:nvSpPr>
            <p:cNvPr id="178" name="Freeform 173"/>
            <p:cNvSpPr>
              <a:spLocks/>
            </p:cNvSpPr>
            <p:nvPr/>
          </p:nvSpPr>
          <p:spPr bwMode="auto">
            <a:xfrm>
              <a:off x="368" y="1238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  <p:sp>
          <p:nvSpPr>
            <p:cNvPr id="179" name="Text Box 174"/>
            <p:cNvSpPr txBox="1">
              <a:spLocks noChangeArrowheads="1"/>
            </p:cNvSpPr>
            <p:nvPr/>
          </p:nvSpPr>
          <p:spPr bwMode="auto">
            <a:xfrm>
              <a:off x="639" y="1261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</p:grpSp>
      <p:sp>
        <p:nvSpPr>
          <p:cNvPr id="180" name="Text Box 175"/>
          <p:cNvSpPr txBox="1">
            <a:spLocks noChangeArrowheads="1"/>
          </p:cNvSpPr>
          <p:nvPr/>
        </p:nvSpPr>
        <p:spPr bwMode="auto">
          <a:xfrm>
            <a:off x="1398588" y="4422775"/>
            <a:ext cx="369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>
                <a:solidFill>
                  <a:schemeClr val="tx2"/>
                </a:solidFill>
                <a:latin typeface="Tahoma" pitchFamily="34" charset="0"/>
                <a:ea typeface="ＭＳ Ｐゴシック" pitchFamily="34" charset="-128"/>
              </a:rPr>
              <a:t>ok</a:t>
            </a:r>
          </a:p>
        </p:txBody>
      </p:sp>
      <p:sp>
        <p:nvSpPr>
          <p:cNvPr id="181" name="Freeform 176"/>
          <p:cNvSpPr>
            <a:spLocks/>
          </p:cNvSpPr>
          <p:nvPr/>
        </p:nvSpPr>
        <p:spPr bwMode="auto">
          <a:xfrm>
            <a:off x="984250" y="31273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82" name="Group 177"/>
          <p:cNvGrpSpPr>
            <a:grpSpLocks/>
          </p:cNvGrpSpPr>
          <p:nvPr/>
        </p:nvGrpSpPr>
        <p:grpSpPr bwMode="auto">
          <a:xfrm>
            <a:off x="984250" y="3127375"/>
            <a:ext cx="1438275" cy="317500"/>
            <a:chOff x="620" y="1970"/>
            <a:chExt cx="906" cy="200"/>
          </a:xfrm>
        </p:grpSpPr>
        <p:sp>
          <p:nvSpPr>
            <p:cNvPr id="183" name="Text Box 178"/>
            <p:cNvSpPr txBox="1">
              <a:spLocks noChangeArrowheads="1"/>
            </p:cNvSpPr>
            <p:nvPr/>
          </p:nvSpPr>
          <p:spPr bwMode="auto">
            <a:xfrm>
              <a:off x="940" y="1978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84" name="Freeform 179"/>
            <p:cNvSpPr>
              <a:spLocks/>
            </p:cNvSpPr>
            <p:nvPr/>
          </p:nvSpPr>
          <p:spPr bwMode="auto">
            <a:xfrm>
              <a:off x="620" y="1970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85" name="Freeform 180"/>
          <p:cNvSpPr>
            <a:spLocks/>
          </p:cNvSpPr>
          <p:nvPr/>
        </p:nvSpPr>
        <p:spPr bwMode="auto">
          <a:xfrm>
            <a:off x="1920875" y="42195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86" name="Group 181"/>
          <p:cNvGrpSpPr>
            <a:grpSpLocks/>
          </p:cNvGrpSpPr>
          <p:nvPr/>
        </p:nvGrpSpPr>
        <p:grpSpPr bwMode="auto">
          <a:xfrm>
            <a:off x="1920875" y="4219575"/>
            <a:ext cx="1333500" cy="331788"/>
            <a:chOff x="1210" y="2658"/>
            <a:chExt cx="840" cy="209"/>
          </a:xfrm>
        </p:grpSpPr>
        <p:sp>
          <p:nvSpPr>
            <p:cNvPr id="187" name="Text Box 182"/>
            <p:cNvSpPr txBox="1">
              <a:spLocks noChangeArrowheads="1"/>
            </p:cNvSpPr>
            <p:nvPr/>
          </p:nvSpPr>
          <p:spPr bwMode="auto">
            <a:xfrm>
              <a:off x="1464" y="2675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88" name="Freeform 183"/>
            <p:cNvSpPr>
              <a:spLocks/>
            </p:cNvSpPr>
            <p:nvPr/>
          </p:nvSpPr>
          <p:spPr bwMode="auto">
            <a:xfrm>
              <a:off x="1210" y="2658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89" name="Freeform 184"/>
          <p:cNvSpPr>
            <a:spLocks/>
          </p:cNvSpPr>
          <p:nvPr/>
        </p:nvSpPr>
        <p:spPr bwMode="auto">
          <a:xfrm>
            <a:off x="2295525" y="54514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90" name="Group 185"/>
          <p:cNvGrpSpPr>
            <a:grpSpLocks/>
          </p:cNvGrpSpPr>
          <p:nvPr/>
        </p:nvGrpSpPr>
        <p:grpSpPr bwMode="auto">
          <a:xfrm>
            <a:off x="2295525" y="5451475"/>
            <a:ext cx="1385888" cy="339725"/>
            <a:chOff x="1446" y="3434"/>
            <a:chExt cx="873" cy="214"/>
          </a:xfrm>
        </p:grpSpPr>
        <p:sp>
          <p:nvSpPr>
            <p:cNvPr id="191" name="Text Box 186"/>
            <p:cNvSpPr txBox="1">
              <a:spLocks noChangeArrowheads="1"/>
            </p:cNvSpPr>
            <p:nvPr/>
          </p:nvSpPr>
          <p:spPr bwMode="auto">
            <a:xfrm>
              <a:off x="1733" y="3456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92" name="Freeform 187"/>
            <p:cNvSpPr>
              <a:spLocks/>
            </p:cNvSpPr>
            <p:nvPr/>
          </p:nvSpPr>
          <p:spPr bwMode="auto">
            <a:xfrm>
              <a:off x="1446" y="3434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93" name="Freeform 188"/>
          <p:cNvSpPr>
            <a:spLocks/>
          </p:cNvSpPr>
          <p:nvPr/>
        </p:nvSpPr>
        <p:spPr bwMode="auto">
          <a:xfrm>
            <a:off x="7294563" y="199707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94" name="Group 189"/>
          <p:cNvGrpSpPr>
            <a:grpSpLocks/>
          </p:cNvGrpSpPr>
          <p:nvPr/>
        </p:nvGrpSpPr>
        <p:grpSpPr bwMode="auto">
          <a:xfrm>
            <a:off x="6318250" y="1997075"/>
            <a:ext cx="1350963" cy="390525"/>
            <a:chOff x="3980" y="1258"/>
            <a:chExt cx="851" cy="246"/>
          </a:xfrm>
        </p:grpSpPr>
        <p:sp>
          <p:nvSpPr>
            <p:cNvPr id="195" name="Text Box 190"/>
            <p:cNvSpPr txBox="1">
              <a:spLocks noChangeArrowheads="1"/>
            </p:cNvSpPr>
            <p:nvPr/>
          </p:nvSpPr>
          <p:spPr bwMode="auto">
            <a:xfrm>
              <a:off x="3980" y="1312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196" name="Freeform 191"/>
            <p:cNvSpPr>
              <a:spLocks/>
            </p:cNvSpPr>
            <p:nvPr/>
          </p:nvSpPr>
          <p:spPr bwMode="auto">
            <a:xfrm>
              <a:off x="4595" y="1258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197" name="Freeform 192"/>
          <p:cNvSpPr>
            <a:spLocks/>
          </p:cNvSpPr>
          <p:nvPr/>
        </p:nvSpPr>
        <p:spPr bwMode="auto">
          <a:xfrm>
            <a:off x="7742238" y="3146425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198" name="Group 193"/>
          <p:cNvGrpSpPr>
            <a:grpSpLocks/>
          </p:cNvGrpSpPr>
          <p:nvPr/>
        </p:nvGrpSpPr>
        <p:grpSpPr bwMode="auto">
          <a:xfrm>
            <a:off x="6734175" y="3146425"/>
            <a:ext cx="1382713" cy="339725"/>
            <a:chOff x="4242" y="1982"/>
            <a:chExt cx="871" cy="214"/>
          </a:xfrm>
        </p:grpSpPr>
        <p:sp>
          <p:nvSpPr>
            <p:cNvPr id="199" name="Text Box 194"/>
            <p:cNvSpPr txBox="1">
              <a:spLocks noChangeArrowheads="1"/>
            </p:cNvSpPr>
            <p:nvPr/>
          </p:nvSpPr>
          <p:spPr bwMode="auto">
            <a:xfrm>
              <a:off x="4242" y="2004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200" name="Freeform 195"/>
            <p:cNvSpPr>
              <a:spLocks/>
            </p:cNvSpPr>
            <p:nvPr/>
          </p:nvSpPr>
          <p:spPr bwMode="auto">
            <a:xfrm>
              <a:off x="4877" y="1982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201" name="Freeform 196"/>
          <p:cNvSpPr>
            <a:spLocks/>
          </p:cNvSpPr>
          <p:nvPr/>
        </p:nvSpPr>
        <p:spPr bwMode="auto">
          <a:xfrm>
            <a:off x="8231188" y="4395788"/>
            <a:ext cx="374650" cy="250825"/>
          </a:xfrm>
          <a:custGeom>
            <a:avLst/>
            <a:gdLst>
              <a:gd name="T0" fmla="*/ 0 w 583"/>
              <a:gd name="T1" fmla="*/ 0 h 231"/>
              <a:gd name="T2" fmla="*/ 0 w 583"/>
              <a:gd name="T3" fmla="*/ 2147483647 h 231"/>
              <a:gd name="T4" fmla="*/ 2147483647 w 583"/>
              <a:gd name="T5" fmla="*/ 2147483647 h 231"/>
              <a:gd name="T6" fmla="*/ 2147483647 w 583"/>
              <a:gd name="T7" fmla="*/ 0 h 231"/>
              <a:gd name="T8" fmla="*/ 0 60000 65536"/>
              <a:gd name="T9" fmla="*/ 0 60000 65536"/>
              <a:gd name="T10" fmla="*/ 0 60000 65536"/>
              <a:gd name="T11" fmla="*/ 0 60000 65536"/>
              <a:gd name="T12" fmla="*/ 0 w 583"/>
              <a:gd name="T13" fmla="*/ 0 h 231"/>
              <a:gd name="T14" fmla="*/ 583 w 583"/>
              <a:gd name="T15" fmla="*/ 231 h 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3" h="231">
                <a:moveTo>
                  <a:pt x="0" y="0"/>
                </a:moveTo>
                <a:lnTo>
                  <a:pt x="0" y="231"/>
                </a:lnTo>
                <a:lnTo>
                  <a:pt x="583" y="231"/>
                </a:lnTo>
                <a:lnTo>
                  <a:pt x="583" y="0"/>
                </a:lnTo>
              </a:path>
            </a:pathLst>
          </a:custGeom>
          <a:noFill/>
          <a:ln w="19050">
            <a:solidFill>
              <a:schemeClr val="tx2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SG"/>
          </a:p>
        </p:txBody>
      </p:sp>
      <p:grpSp>
        <p:nvGrpSpPr>
          <p:cNvPr id="202" name="Group 197"/>
          <p:cNvGrpSpPr>
            <a:grpSpLocks/>
          </p:cNvGrpSpPr>
          <p:nvPr/>
        </p:nvGrpSpPr>
        <p:grpSpPr bwMode="auto">
          <a:xfrm>
            <a:off x="7231063" y="4395788"/>
            <a:ext cx="1374775" cy="336550"/>
            <a:chOff x="4555" y="2769"/>
            <a:chExt cx="866" cy="212"/>
          </a:xfrm>
        </p:grpSpPr>
        <p:sp>
          <p:nvSpPr>
            <p:cNvPr id="203" name="Text Box 198"/>
            <p:cNvSpPr txBox="1">
              <a:spLocks noChangeArrowheads="1"/>
            </p:cNvSpPr>
            <p:nvPr/>
          </p:nvSpPr>
          <p:spPr bwMode="auto">
            <a:xfrm>
              <a:off x="4555" y="2789"/>
              <a:ext cx="5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D21804"/>
                  </a:solidFill>
                  <a:latin typeface="Tahoma" pitchFamily="34" charset="0"/>
                  <a:ea typeface="ＭＳ Ｐゴシック" pitchFamily="34" charset="-128"/>
                </a:rPr>
                <a:t>exchange</a:t>
              </a:r>
            </a:p>
          </p:txBody>
        </p:sp>
        <p:sp>
          <p:nvSpPr>
            <p:cNvPr id="204" name="Freeform 199"/>
            <p:cNvSpPr>
              <a:spLocks/>
            </p:cNvSpPr>
            <p:nvPr/>
          </p:nvSpPr>
          <p:spPr bwMode="auto">
            <a:xfrm>
              <a:off x="5185" y="2769"/>
              <a:ext cx="236" cy="158"/>
            </a:xfrm>
            <a:custGeom>
              <a:avLst/>
              <a:gdLst>
                <a:gd name="T0" fmla="*/ 0 w 583"/>
                <a:gd name="T1" fmla="*/ 0 h 231"/>
                <a:gd name="T2" fmla="*/ 0 w 583"/>
                <a:gd name="T3" fmla="*/ 1 h 231"/>
                <a:gd name="T4" fmla="*/ 0 w 583"/>
                <a:gd name="T5" fmla="*/ 1 h 231"/>
                <a:gd name="T6" fmla="*/ 0 w 583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3"/>
                <a:gd name="T13" fmla="*/ 0 h 231"/>
                <a:gd name="T14" fmla="*/ 583 w 583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3" h="231">
                  <a:moveTo>
                    <a:pt x="0" y="0"/>
                  </a:moveTo>
                  <a:lnTo>
                    <a:pt x="0" y="231"/>
                  </a:lnTo>
                  <a:lnTo>
                    <a:pt x="583" y="231"/>
                  </a:lnTo>
                  <a:lnTo>
                    <a:pt x="583" y="0"/>
                  </a:lnTo>
                </a:path>
              </a:pathLst>
            </a:custGeom>
            <a:noFill/>
            <a:ln w="19050">
              <a:solidFill>
                <a:srgbClr val="D21804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SG"/>
            </a:p>
          </p:txBody>
        </p:sp>
      </p:grpSp>
      <p:sp>
        <p:nvSpPr>
          <p:cNvPr id="205" name="Text Box 203"/>
          <p:cNvSpPr txBox="1">
            <a:spLocks noChangeArrowheads="1"/>
          </p:cNvSpPr>
          <p:nvPr/>
        </p:nvSpPr>
        <p:spPr bwMode="auto">
          <a:xfrm>
            <a:off x="7523163" y="5610225"/>
            <a:ext cx="1344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chemeClr val="hlink"/>
                </a:solidFill>
                <a:latin typeface="Tahoma" pitchFamily="34" charset="0"/>
                <a:cs typeface="Tahoma" pitchFamily="34" charset="0"/>
              </a:rPr>
              <a:t>Done!</a:t>
            </a:r>
            <a:endParaRPr lang="en-SG" sz="2400">
              <a:solidFill>
                <a:schemeClr val="hlink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06" name="TextBox 205"/>
          <p:cNvSpPr txBox="1">
            <a:spLocks noChangeArrowheads="1"/>
          </p:cNvSpPr>
          <p:nvPr/>
        </p:nvSpPr>
        <p:spPr bwMode="auto">
          <a:xfrm>
            <a:off x="3768724" y="5561013"/>
            <a:ext cx="3462339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FF"/>
                </a:solidFill>
              </a:rPr>
              <a:t>Q: Is the array sorted?</a:t>
            </a:r>
          </a:p>
          <a:p>
            <a:pPr eaLnBrk="1" hangingPunct="1"/>
            <a:r>
              <a:rPr lang="en-US" sz="2000">
                <a:solidFill>
                  <a:srgbClr val="0000FF"/>
                </a:solidFill>
              </a:rPr>
              <a:t>Q: What have we achieved?</a:t>
            </a:r>
            <a:endParaRPr lang="en-SG" sz="200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CA7ED4-F209-69DD-4B94-2D8EA0E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9A75FC-FF47-042E-6278-732244A3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7102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Insertion Sort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90525" y="4181475"/>
            <a:ext cx="81168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SG" sz="200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D70864A-3031-49A0-A6F2-F45BF672F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82000" cy="5353478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 sz="2200"/>
          </a:p>
        </p:txBody>
      </p:sp>
      <p:grpSp>
        <p:nvGrpSpPr>
          <p:cNvPr id="14" name="Group 19">
            <a:extLst>
              <a:ext uri="{FF2B5EF4-FFF2-40B4-BE49-F238E27FC236}">
                <a16:creationId xmlns:a16="http://schemas.microsoft.com/office/drawing/2014/main" id="{F4FFE805-631C-4549-A618-AA681FE4D558}"/>
              </a:ext>
            </a:extLst>
          </p:cNvPr>
          <p:cNvGrpSpPr>
            <a:grpSpLocks/>
          </p:cNvGrpSpPr>
          <p:nvPr/>
        </p:nvGrpSpPr>
        <p:grpSpPr bwMode="auto">
          <a:xfrm>
            <a:off x="2554836" y="3059594"/>
            <a:ext cx="3048000" cy="409575"/>
            <a:chOff x="1344" y="2064"/>
            <a:chExt cx="1920" cy="258"/>
          </a:xfrm>
        </p:grpSpPr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49E9F815-6FED-475C-BE16-279763C81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5</a:t>
              </a:r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1989F1DC-5724-4625-B65E-7A48AC6A6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10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DF51DAE4-0283-4148-B674-080D5301E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064"/>
              <a:ext cx="384" cy="258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7</a:t>
              </a:r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76E0D9DC-B137-4924-8EEA-62ACA049E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64"/>
              <a:ext cx="384" cy="258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E56C9623-EAD1-493D-ABA0-7847AF5AE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384" cy="258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6</a:t>
              </a:r>
            </a:p>
          </p:txBody>
        </p:sp>
      </p:grpSp>
      <p:grpSp>
        <p:nvGrpSpPr>
          <p:cNvPr id="23" name="Group 33">
            <a:extLst>
              <a:ext uri="{FF2B5EF4-FFF2-40B4-BE49-F238E27FC236}">
                <a16:creationId xmlns:a16="http://schemas.microsoft.com/office/drawing/2014/main" id="{527750FD-B912-4CD6-9454-1E13ADC2EEDF}"/>
              </a:ext>
            </a:extLst>
          </p:cNvPr>
          <p:cNvGrpSpPr>
            <a:grpSpLocks/>
          </p:cNvGrpSpPr>
          <p:nvPr/>
        </p:nvGrpSpPr>
        <p:grpSpPr bwMode="auto">
          <a:xfrm>
            <a:off x="2173836" y="1525320"/>
            <a:ext cx="3475039" cy="1171575"/>
            <a:chOff x="1752600" y="2108200"/>
            <a:chExt cx="3475039" cy="1171575"/>
          </a:xfrm>
        </p:grpSpPr>
        <p:grpSp>
          <p:nvGrpSpPr>
            <p:cNvPr id="24" name="Group 5">
              <a:extLst>
                <a:ext uri="{FF2B5EF4-FFF2-40B4-BE49-F238E27FC236}">
                  <a16:creationId xmlns:a16="http://schemas.microsoft.com/office/drawing/2014/main" id="{BEA274BE-48BD-49E9-988A-B87449CB1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0075" y="2565400"/>
              <a:ext cx="3357564" cy="714375"/>
              <a:chOff x="1178" y="1392"/>
              <a:chExt cx="2115" cy="450"/>
            </a:xfrm>
          </p:grpSpPr>
          <p:sp>
            <p:nvSpPr>
              <p:cNvPr id="29" name="Text Box 7">
                <a:extLst>
                  <a:ext uri="{FF2B5EF4-FFF2-40B4-BE49-F238E27FC236}">
                    <a16:creationId xmlns:a16="http://schemas.microsoft.com/office/drawing/2014/main" id="{76EEBB11-AB04-41E9-8BFD-E955CAD80B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8" y="1392"/>
                <a:ext cx="2115" cy="2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1500">
                    <a:solidFill>
                      <a:srgbClr val="0000FF"/>
                    </a:solidFill>
                    <a:latin typeface="Verdana" pitchFamily="34" charset="0"/>
                  </a:rPr>
                  <a:t>a   [0]     [1]     [2]     [3]    [4] </a:t>
                </a:r>
              </a:p>
            </p:txBody>
          </p:sp>
          <p:grpSp>
            <p:nvGrpSpPr>
              <p:cNvPr id="30" name="Group 8">
                <a:extLst>
                  <a:ext uri="{FF2B5EF4-FFF2-40B4-BE49-F238E27FC236}">
                    <a16:creationId xmlns:a16="http://schemas.microsoft.com/office/drawing/2014/main" id="{0EA02EC1-D9C7-49AD-85D9-8373488690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1584"/>
                <a:ext cx="1920" cy="258"/>
                <a:chOff x="1344" y="1584"/>
                <a:chExt cx="1920" cy="258"/>
              </a:xfrm>
            </p:grpSpPr>
            <p:sp>
              <p:nvSpPr>
                <p:cNvPr id="31" name="Text Box 9">
                  <a:extLst>
                    <a:ext uri="{FF2B5EF4-FFF2-40B4-BE49-F238E27FC236}">
                      <a16:creationId xmlns:a16="http://schemas.microsoft.com/office/drawing/2014/main" id="{818F942E-67D7-4288-901C-CE4E1B085D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4" y="1584"/>
                  <a:ext cx="384" cy="258"/>
                </a:xfrm>
                <a:prstGeom prst="rect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10</a:t>
                  </a:r>
                </a:p>
              </p:txBody>
            </p:sp>
            <p:sp>
              <p:nvSpPr>
                <p:cNvPr id="32" name="Text Box 10">
                  <a:extLst>
                    <a:ext uri="{FF2B5EF4-FFF2-40B4-BE49-F238E27FC236}">
                      <a16:creationId xmlns:a16="http://schemas.microsoft.com/office/drawing/2014/main" id="{A591DD00-A0A1-4199-9309-05AA47BCAF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8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5</a:t>
                  </a:r>
                </a:p>
              </p:txBody>
            </p:sp>
            <p:sp>
              <p:nvSpPr>
                <p:cNvPr id="33" name="Text Box 11">
                  <a:extLst>
                    <a:ext uri="{FF2B5EF4-FFF2-40B4-BE49-F238E27FC236}">
                      <a16:creationId xmlns:a16="http://schemas.microsoft.com/office/drawing/2014/main" id="{F692C2B2-9594-471C-9396-D70AEA7C41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2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7</a:t>
                  </a:r>
                </a:p>
              </p:txBody>
            </p:sp>
            <p:sp>
              <p:nvSpPr>
                <p:cNvPr id="34" name="Text Box 12">
                  <a:extLst>
                    <a:ext uri="{FF2B5EF4-FFF2-40B4-BE49-F238E27FC236}">
                      <a16:creationId xmlns:a16="http://schemas.microsoft.com/office/drawing/2014/main" id="{9E85C089-07CD-466A-8DC7-F6DDDC5C9F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6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1</a:t>
                  </a:r>
                </a:p>
              </p:txBody>
            </p:sp>
            <p:sp>
              <p:nvSpPr>
                <p:cNvPr id="35" name="Text Box 13">
                  <a:extLst>
                    <a:ext uri="{FF2B5EF4-FFF2-40B4-BE49-F238E27FC236}">
                      <a16:creationId xmlns:a16="http://schemas.microsoft.com/office/drawing/2014/main" id="{F2E49419-7CDB-48CF-9AD8-0A5DCA8DD4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1584"/>
                  <a:ext cx="384" cy="258"/>
                </a:xfrm>
                <a:prstGeom prst="rect">
                  <a:avLst/>
                </a:prstGeom>
                <a:solidFill>
                  <a:schemeClr val="bg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000"/>
                    <a:t>6</a:t>
                  </a:r>
                </a:p>
              </p:txBody>
            </p:sp>
          </p:grp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E97BDB1-7CDB-4C1F-9EA9-9846F07AE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2600" y="2108200"/>
              <a:ext cx="1524000" cy="457200"/>
              <a:chOff x="1104" y="1104"/>
              <a:chExt cx="960" cy="288"/>
            </a:xfrm>
          </p:grpSpPr>
          <p:sp>
            <p:nvSpPr>
              <p:cNvPr id="26" name="AutoShape 26">
                <a:extLst>
                  <a:ext uri="{FF2B5EF4-FFF2-40B4-BE49-F238E27FC236}">
                    <a16:creationId xmlns:a16="http://schemas.microsoft.com/office/drawing/2014/main" id="{EB6FB12E-B066-473F-BA3D-1240870BC38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488" y="1152"/>
                <a:ext cx="96" cy="384"/>
              </a:xfrm>
              <a:prstGeom prst="leftBrace">
                <a:avLst>
                  <a:gd name="adj1" fmla="val 33333"/>
                  <a:gd name="adj2" fmla="val 50000"/>
                </a:avLst>
              </a:prstGeom>
              <a:noFill/>
              <a:ln w="25400" cap="sq">
                <a:solidFill>
                  <a:srgbClr val="9900CC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27" name="Text Box 27">
                <a:extLst>
                  <a:ext uri="{FF2B5EF4-FFF2-40B4-BE49-F238E27FC236}">
                    <a16:creationId xmlns:a16="http://schemas.microsoft.com/office/drawing/2014/main" id="{E5B53861-8A61-45A9-AD06-17FF9AC15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104"/>
                <a:ext cx="960" cy="212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>
                    <a:solidFill>
                      <a:srgbClr val="9900CC"/>
                    </a:solidFill>
                  </a:rPr>
                  <a:t>Sorted region</a:t>
                </a:r>
              </a:p>
            </p:txBody>
          </p:sp>
        </p:grp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2014848C-D6DB-466A-92C7-3641C7640051}"/>
              </a:ext>
            </a:extLst>
          </p:cNvPr>
          <p:cNvGrpSpPr>
            <a:grpSpLocks/>
          </p:cNvGrpSpPr>
          <p:nvPr/>
        </p:nvGrpSpPr>
        <p:grpSpPr bwMode="auto">
          <a:xfrm>
            <a:off x="3264449" y="2270056"/>
            <a:ext cx="5462587" cy="1111070"/>
            <a:chOff x="2843808" y="2852936"/>
            <a:chExt cx="5461992" cy="1111070"/>
          </a:xfrm>
        </p:grpSpPr>
        <p:sp>
          <p:nvSpPr>
            <p:cNvPr id="37" name="Oval 28">
              <a:extLst>
                <a:ext uri="{FF2B5EF4-FFF2-40B4-BE49-F238E27FC236}">
                  <a16:creationId xmlns:a16="http://schemas.microsoft.com/office/drawing/2014/main" id="{F54BFB11-604B-4D25-B705-C4D7A4D1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08" y="2852936"/>
              <a:ext cx="381000" cy="533400"/>
            </a:xfrm>
            <a:prstGeom prst="ellipse">
              <a:avLst/>
            </a:prstGeom>
            <a:noFill/>
            <a:ln w="25400" cap="sq">
              <a:solidFill>
                <a:srgbClr val="CC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8" name="Text Box 29">
              <a:extLst>
                <a:ext uri="{FF2B5EF4-FFF2-40B4-BE49-F238E27FC236}">
                  <a16:creationId xmlns:a16="http://schemas.microsoft.com/office/drawing/2014/main" id="{9A41B016-6198-48D4-A481-8E3A247241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957531"/>
              <a:ext cx="2438400" cy="100647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solidFill>
                    <a:srgbClr val="9900CC"/>
                  </a:solidFill>
                </a:rPr>
                <a:t>Where to insert a[1] in the sorted region to its left?</a:t>
              </a:r>
            </a:p>
          </p:txBody>
        </p:sp>
      </p:grpSp>
      <p:sp>
        <p:nvSpPr>
          <p:cNvPr id="40" name="Rectangle 3">
            <a:extLst>
              <a:ext uri="{FF2B5EF4-FFF2-40B4-BE49-F238E27FC236}">
                <a16:creationId xmlns:a16="http://schemas.microsoft.com/office/drawing/2014/main" id="{09A18C55-E8AA-4DEE-BD7A-6B2B65CBE7A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52568"/>
            <a:ext cx="8382000" cy="5353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Pass 1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Pass 2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sz="2200"/>
          </a:p>
        </p:txBody>
      </p:sp>
      <p:grpSp>
        <p:nvGrpSpPr>
          <p:cNvPr id="45" name="Group 43">
            <a:extLst>
              <a:ext uri="{FF2B5EF4-FFF2-40B4-BE49-F238E27FC236}">
                <a16:creationId xmlns:a16="http://schemas.microsoft.com/office/drawing/2014/main" id="{56F2727A-B8AA-499C-8643-6AD7541079D1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4798430"/>
            <a:ext cx="3048000" cy="409575"/>
            <a:chOff x="1344" y="2064"/>
            <a:chExt cx="1920" cy="258"/>
          </a:xfrm>
        </p:grpSpPr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C60FF66F-8FBA-4BAC-A7E8-FB775D78F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5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13EE91E7-C394-4EEF-8B1F-42C4885F2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7</a:t>
              </a: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65CB3105-68E8-4E6F-A830-1896D36A2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06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10</a:t>
              </a:r>
            </a:p>
          </p:txBody>
        </p:sp>
        <p:sp>
          <p:nvSpPr>
            <p:cNvPr id="49" name="Text Box 47">
              <a:extLst>
                <a:ext uri="{FF2B5EF4-FFF2-40B4-BE49-F238E27FC236}">
                  <a16:creationId xmlns:a16="http://schemas.microsoft.com/office/drawing/2014/main" id="{5A128C97-4FEB-4244-9E47-362201254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6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</a:t>
              </a:r>
            </a:p>
          </p:txBody>
        </p:sp>
        <p:sp>
          <p:nvSpPr>
            <p:cNvPr id="50" name="Text Box 48">
              <a:extLst>
                <a:ext uri="{FF2B5EF4-FFF2-40B4-BE49-F238E27FC236}">
                  <a16:creationId xmlns:a16="http://schemas.microsoft.com/office/drawing/2014/main" id="{9E74015E-993B-4336-A84B-3929B4EBB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6</a:t>
              </a:r>
            </a:p>
          </p:txBody>
        </p:sp>
      </p:grpSp>
      <p:grpSp>
        <p:nvGrpSpPr>
          <p:cNvPr id="60" name="Group 32">
            <a:extLst>
              <a:ext uri="{FF2B5EF4-FFF2-40B4-BE49-F238E27FC236}">
                <a16:creationId xmlns:a16="http://schemas.microsoft.com/office/drawing/2014/main" id="{0DC4C0D8-999F-447F-8BFC-5A656C77F7EA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4056976"/>
            <a:ext cx="3048000" cy="409575"/>
            <a:chOff x="1344" y="1584"/>
            <a:chExt cx="1920" cy="258"/>
          </a:xfrm>
        </p:grpSpPr>
        <p:sp>
          <p:nvSpPr>
            <p:cNvPr id="61" name="Text Box 33">
              <a:extLst>
                <a:ext uri="{FF2B5EF4-FFF2-40B4-BE49-F238E27FC236}">
                  <a16:creationId xmlns:a16="http://schemas.microsoft.com/office/drawing/2014/main" id="{42F58F2F-D064-4594-ABA7-1C0D7E022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5</a:t>
              </a:r>
            </a:p>
          </p:txBody>
        </p:sp>
        <p:sp>
          <p:nvSpPr>
            <p:cNvPr id="62" name="Text Box 34">
              <a:extLst>
                <a:ext uri="{FF2B5EF4-FFF2-40B4-BE49-F238E27FC236}">
                  <a16:creationId xmlns:a16="http://schemas.microsoft.com/office/drawing/2014/main" id="{1045B81C-5187-409A-A7B9-0E3B46C73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384" cy="258"/>
            </a:xfrm>
            <a:prstGeom prst="rect">
              <a:avLst/>
            </a:prstGeom>
            <a:solidFill>
              <a:srgbClr val="FFC0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10</a:t>
              </a:r>
            </a:p>
          </p:txBody>
        </p:sp>
        <p:sp>
          <p:nvSpPr>
            <p:cNvPr id="63" name="Text Box 35">
              <a:extLst>
                <a:ext uri="{FF2B5EF4-FFF2-40B4-BE49-F238E27FC236}">
                  <a16:creationId xmlns:a16="http://schemas.microsoft.com/office/drawing/2014/main" id="{87150818-65A0-4B9D-8529-F367683B7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8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7</a:t>
              </a:r>
            </a:p>
          </p:txBody>
        </p:sp>
        <p:sp>
          <p:nvSpPr>
            <p:cNvPr id="64" name="Text Box 36">
              <a:extLst>
                <a:ext uri="{FF2B5EF4-FFF2-40B4-BE49-F238E27FC236}">
                  <a16:creationId xmlns:a16="http://schemas.microsoft.com/office/drawing/2014/main" id="{D179D947-7335-4B59-AC33-35AD25BDD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58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1</a:t>
              </a:r>
            </a:p>
          </p:txBody>
        </p:sp>
        <p:sp>
          <p:nvSpPr>
            <p:cNvPr id="65" name="Text Box 37">
              <a:extLst>
                <a:ext uri="{FF2B5EF4-FFF2-40B4-BE49-F238E27FC236}">
                  <a16:creationId xmlns:a16="http://schemas.microsoft.com/office/drawing/2014/main" id="{289D77C6-1F4F-4739-AFDA-1E505E4F4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584"/>
              <a:ext cx="384" cy="25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6</a:t>
              </a:r>
            </a:p>
          </p:txBody>
        </p:sp>
      </p:grpSp>
      <p:grpSp>
        <p:nvGrpSpPr>
          <p:cNvPr id="66" name="Group 59">
            <a:extLst>
              <a:ext uri="{FF2B5EF4-FFF2-40B4-BE49-F238E27FC236}">
                <a16:creationId xmlns:a16="http://schemas.microsoft.com/office/drawing/2014/main" id="{57DBD273-353A-4FB5-8B7C-F213532ED421}"/>
              </a:ext>
            </a:extLst>
          </p:cNvPr>
          <p:cNvGrpSpPr>
            <a:grpSpLocks/>
          </p:cNvGrpSpPr>
          <p:nvPr/>
        </p:nvGrpSpPr>
        <p:grpSpPr bwMode="auto">
          <a:xfrm>
            <a:off x="3922713" y="4035533"/>
            <a:ext cx="4860925" cy="1067882"/>
            <a:chOff x="3444705" y="2847180"/>
            <a:chExt cx="4861095" cy="1067882"/>
          </a:xfrm>
        </p:grpSpPr>
        <p:sp>
          <p:nvSpPr>
            <p:cNvPr id="67" name="Oval 52">
              <a:extLst>
                <a:ext uri="{FF2B5EF4-FFF2-40B4-BE49-F238E27FC236}">
                  <a16:creationId xmlns:a16="http://schemas.microsoft.com/office/drawing/2014/main" id="{F8646E8C-16A4-4037-B3C0-BE0839332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705" y="2847180"/>
              <a:ext cx="381000" cy="533400"/>
            </a:xfrm>
            <a:prstGeom prst="ellipse">
              <a:avLst/>
            </a:prstGeom>
            <a:noFill/>
            <a:ln w="25400" cap="sq">
              <a:solidFill>
                <a:srgbClr val="CC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8" name="Text Box 53">
              <a:extLst>
                <a:ext uri="{FF2B5EF4-FFF2-40B4-BE49-F238E27FC236}">
                  <a16:creationId xmlns:a16="http://schemas.microsoft.com/office/drawing/2014/main" id="{6DA31C0E-C913-4183-8B1A-5AB40EF62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2908587"/>
              <a:ext cx="2438400" cy="100647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solidFill>
                    <a:srgbClr val="9900CC"/>
                  </a:solidFill>
                </a:rPr>
                <a:t>Where to insert a[2] in the sorted region to its left?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7C6FFD7-4ADB-49B8-BD8B-67BA323C3644}"/>
              </a:ext>
            </a:extLst>
          </p:cNvPr>
          <p:cNvCxnSpPr>
            <a:cxnSpLocks/>
            <a:stCxn id="37" idx="4"/>
          </p:cNvCxnSpPr>
          <p:nvPr/>
        </p:nvCxnSpPr>
        <p:spPr>
          <a:xfrm flipH="1">
            <a:off x="2907590" y="2803456"/>
            <a:ext cx="547380" cy="256138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48C8DF1-75C9-405E-8821-864F9FA9AD54}"/>
              </a:ext>
            </a:extLst>
          </p:cNvPr>
          <p:cNvCxnSpPr>
            <a:cxnSpLocks/>
            <a:stCxn id="67" idx="4"/>
            <a:endCxn id="47" idx="0"/>
          </p:cNvCxnSpPr>
          <p:nvPr/>
        </p:nvCxnSpPr>
        <p:spPr>
          <a:xfrm flipH="1">
            <a:off x="3514725" y="4568933"/>
            <a:ext cx="598482" cy="229497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38554B-47E2-DEB2-C01A-2E9E3E8D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D4B02-B83F-B47B-B9BC-F075C159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39449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07A4-675B-4066-43EA-8389F922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C1C8A9A-4B60-0030-88A3-1DB862824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Mega Recap</a:t>
            </a:r>
          </a:p>
        </p:txBody>
      </p:sp>
      <p:sp>
        <p:nvSpPr>
          <p:cNvPr id="14339" name="HighlightTextShape201406201824391195">
            <a:extLst>
              <a:ext uri="{FF2B5EF4-FFF2-40B4-BE49-F238E27FC236}">
                <a16:creationId xmlns:a16="http://schemas.microsoft.com/office/drawing/2014/main" id="{A332BFAD-C212-3731-D787-FC1A816630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913586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Algorithmic Problem Solving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Data Structures, Control Structures and Practical Algorithms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solidFill>
                  <a:srgbClr val="0000FF"/>
                </a:solidFill>
                <a:latin typeface="+mj-lt"/>
              </a:rPr>
              <a:t>Good Coding Habits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Program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Syntax of C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EA5D3-6C86-B12E-4F93-C95B095D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7EE8E-5DE0-BE8C-3DF8-8B7AD8C1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0673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Good Coding Habits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Incremental Coding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Style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Writing Efficient Code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DD9B0A-0738-47B9-C289-7D022B86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F746ED-C411-2D2C-0036-7B119EAE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3365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Incremental Coding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 = cs1010_read_size_t();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*queens = malloc((n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*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free(queens);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D2C38B-D9F9-4583-BAD5-D40332383162}"/>
              </a:ext>
            </a:extLst>
          </p:cNvPr>
          <p:cNvSpPr txBox="1"/>
          <p:nvPr/>
        </p:nvSpPr>
        <p:spPr>
          <a:xfrm>
            <a:off x="4422809" y="3267035"/>
            <a:ext cx="415330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</a:rPr>
              <a:t>Focus on the main function.</a:t>
            </a:r>
            <a:endParaRPr lang="en-GB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31F68-1B7B-4406-9ACB-DF95FE2F8718}"/>
              </a:ext>
            </a:extLst>
          </p:cNvPr>
          <p:cNvSpPr txBox="1"/>
          <p:nvPr/>
        </p:nvSpPr>
        <p:spPr>
          <a:xfrm>
            <a:off x="4422809" y="3728339"/>
            <a:ext cx="4153299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</a:rPr>
              <a:t>Compile and test with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a </a:t>
            </a:r>
            <a:r>
              <a:rPr lang="en-US" b="0" i="0" dirty="0">
                <a:solidFill>
                  <a:srgbClr val="0000FF"/>
                </a:solidFill>
                <a:effectLst/>
                <a:latin typeface="+mj-lt"/>
              </a:rPr>
              <a:t>small n</a:t>
            </a:r>
            <a:r>
              <a:rPr lang="en-US" b="0" i="0" dirty="0">
                <a:effectLst/>
                <a:latin typeface="+mj-lt"/>
              </a:rPr>
              <a:t> (e.g., 4).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</a:rPr>
              <a:t>(No outputs yet.)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C81CED-0589-E2EB-E97A-69EC1943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7D0B41-4027-2553-85ED-5C5CC544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MR - </a:t>
            </a:r>
            <a:fld id="{2E4790E1-2590-4AEE-892D-AB46A7688113}" type="slidenum">
              <a:rPr lang="en-US" sz="1050" smtClean="0"/>
              <a:pPr>
                <a:defRPr/>
              </a:pPr>
              <a:t>37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02906930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Incremental Coding</a:t>
            </a:r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cs1010_println_string(queens);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queens[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'a'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1)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queens[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queens[i-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+ 1;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queens[n] =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'\0'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B47C1-A1EC-4A8E-86A2-DE9611383AB4}"/>
              </a:ext>
            </a:extLst>
          </p:cNvPr>
          <p:cNvSpPr txBox="1"/>
          <p:nvPr/>
        </p:nvSpPr>
        <p:spPr>
          <a:xfrm>
            <a:off x="4960620" y="4472929"/>
            <a:ext cx="3601052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Add initialization and placeholder for </a:t>
            </a:r>
            <a:r>
              <a:rPr lang="en-US" b="0" i="0" dirty="0" err="1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nqueens</a:t>
            </a:r>
            <a:r>
              <a:rPr lang="en-US" b="0" i="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424D71-9C80-4543-BB70-0258C87F1FC9}"/>
              </a:ext>
            </a:extLst>
          </p:cNvPr>
          <p:cNvSpPr txBox="1"/>
          <p:nvPr/>
        </p:nvSpPr>
        <p:spPr>
          <a:xfrm>
            <a:off x="4960619" y="5217581"/>
            <a:ext cx="3601051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Compile and test.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(Output should be the default sequence.)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1DBF11-6DF1-0B88-D442-E82B2535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9ED4F-EC3C-B023-9C0C-D5919EF5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MR - </a:t>
            </a:r>
            <a:fld id="{2E4790E1-2590-4AEE-892D-AB46A7688113}" type="slidenum">
              <a:rPr lang="en-US" sz="1050" smtClean="0"/>
              <a:pPr>
                <a:defRPr/>
              </a:pPr>
              <a:t>38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2935830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Incremental Coding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232974" cy="50475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swap(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a[],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j) {}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6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(row == 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n))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cs1010_println_string(queens);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sz="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row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B47C1-A1EC-4A8E-86A2-DE9611383AB4}"/>
              </a:ext>
            </a:extLst>
          </p:cNvPr>
          <p:cNvSpPr txBox="1"/>
          <p:nvPr/>
        </p:nvSpPr>
        <p:spPr>
          <a:xfrm>
            <a:off x="6027420" y="3988067"/>
            <a:ext cx="2816978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+mj-lt"/>
              </a:rPr>
              <a:t>Add in the recursion with placeholders for the additional functions.</a:t>
            </a:r>
            <a:endParaRPr lang="en-GB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CCB6E-9113-4591-9374-7C96B50E24C7}"/>
              </a:ext>
            </a:extLst>
          </p:cNvPr>
          <p:cNvSpPr txBox="1"/>
          <p:nvPr/>
        </p:nvSpPr>
        <p:spPr>
          <a:xfrm>
            <a:off x="6027420" y="5430030"/>
            <a:ext cx="2816978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</a:rPr>
              <a:t>Compile and test. (Output should be the default sequence printed many times.)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EEF39F-DD4E-993F-CB58-31D140DB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EF683-727C-7008-34B9-E626763E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MR - </a:t>
            </a:r>
            <a:fld id="{2E4790E1-2590-4AEE-892D-AB46A7688113}" type="slidenum">
              <a:rPr lang="en-US" sz="1050" smtClean="0"/>
              <a:pPr>
                <a:defRPr/>
              </a:pPr>
              <a:t>39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518128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Incremental Coding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7806254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swap(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a[],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j)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temp = a[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a[j];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a[j] = temp;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B47C1-A1EC-4A8E-86A2-DE9611383AB4}"/>
              </a:ext>
            </a:extLst>
          </p:cNvPr>
          <p:cNvSpPr txBox="1"/>
          <p:nvPr/>
        </p:nvSpPr>
        <p:spPr>
          <a:xfrm>
            <a:off x="6065520" y="1716286"/>
            <a:ext cx="201930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Implement swap</a:t>
            </a:r>
            <a:endParaRPr lang="en-GB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D0C56-8791-4AF3-9884-85154933DD02}"/>
              </a:ext>
            </a:extLst>
          </p:cNvPr>
          <p:cNvSpPr txBox="1"/>
          <p:nvPr/>
        </p:nvSpPr>
        <p:spPr>
          <a:xfrm>
            <a:off x="682426" y="3478796"/>
            <a:ext cx="7806254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has_a_queen_in_diagonal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(char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queens[],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, long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return false;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16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has_a_queen_in_diagonal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15202-ABCF-43B5-8FDE-B668CA0EE89C}"/>
              </a:ext>
            </a:extLst>
          </p:cNvPr>
          <p:cNvSpPr txBox="1"/>
          <p:nvPr/>
        </p:nvSpPr>
        <p:spPr>
          <a:xfrm>
            <a:off x="4846756" y="5375834"/>
            <a:ext cx="405903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Implement threaten with placeholder.</a:t>
            </a:r>
            <a:endParaRPr lang="en-GB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DCEBD-EE6A-42A3-B0F1-A7DB13A32C8E}"/>
              </a:ext>
            </a:extLst>
          </p:cNvPr>
          <p:cNvSpPr txBox="1"/>
          <p:nvPr/>
        </p:nvSpPr>
        <p:spPr>
          <a:xfrm>
            <a:off x="6065520" y="2143633"/>
            <a:ext cx="2396054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</a:rPr>
              <a:t>Compile and test. (Output should be all permutations.)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D75600-9315-4667-ADAF-D05EE9ECECA6}"/>
              </a:ext>
            </a:extLst>
          </p:cNvPr>
          <p:cNvSpPr txBox="1"/>
          <p:nvPr/>
        </p:nvSpPr>
        <p:spPr>
          <a:xfrm>
            <a:off x="4860309" y="5837499"/>
            <a:ext cx="2396054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</a:rPr>
              <a:t>Compile and test. (Output should be all permutations.)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5FD67A-EB60-BF89-587F-8E6D3791D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621CA-8BB4-89A3-8CFA-C5190DCD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MR - </a:t>
            </a:r>
            <a:fld id="{2E4790E1-2590-4AEE-892D-AB46A7688113}" type="slidenum">
              <a:rPr lang="en-US" sz="1050" smtClean="0"/>
              <a:pPr>
                <a:defRPr/>
              </a:pPr>
              <a:t>40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8365937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Incremental Coding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D0C56-8791-4AF3-9884-85154933DD02}"/>
              </a:ext>
            </a:extLst>
          </p:cNvPr>
          <p:cNvSpPr txBox="1"/>
          <p:nvPr/>
        </p:nvSpPr>
        <p:spPr>
          <a:xfrm>
            <a:off x="668872" y="1749056"/>
            <a:ext cx="8003639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has_a_queen_in_diagonal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queens[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left_col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right_col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curr_col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 = i+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row &lt;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row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(queens[row] ==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left_col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|| queens[row] ==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right_col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left_col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right_col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15202-ABCF-43B5-8FDE-B668CA0EE89C}"/>
              </a:ext>
            </a:extLst>
          </p:cNvPr>
          <p:cNvSpPr txBox="1"/>
          <p:nvPr/>
        </p:nvSpPr>
        <p:spPr>
          <a:xfrm>
            <a:off x="4856362" y="3868748"/>
            <a:ext cx="3124585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+mj-lt"/>
              </a:rPr>
              <a:t>Implement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has_a_queen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…</a:t>
            </a:r>
            <a:endParaRPr lang="en-GB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DD3830-36AC-41F3-A032-A9794BFBAFF6}"/>
              </a:ext>
            </a:extLst>
          </p:cNvPr>
          <p:cNvSpPr txBox="1"/>
          <p:nvPr/>
        </p:nvSpPr>
        <p:spPr>
          <a:xfrm>
            <a:off x="4856362" y="4341404"/>
            <a:ext cx="2643322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+mj-lt"/>
              </a:rPr>
              <a:t>Compile and test. (Output should be only the valid permutations.)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41D7BE-FF28-4F91-9DDA-02852FF34EDD}"/>
              </a:ext>
            </a:extLst>
          </p:cNvPr>
          <p:cNvSpPr txBox="1"/>
          <p:nvPr/>
        </p:nvSpPr>
        <p:spPr>
          <a:xfrm>
            <a:off x="4856362" y="5381772"/>
            <a:ext cx="2643322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+mj-lt"/>
              </a:rPr>
              <a:t>Compile and test with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all test cases </a:t>
            </a:r>
            <a:r>
              <a:rPr lang="en-US" dirty="0">
                <a:latin typeface="+mj-lt"/>
              </a:rPr>
              <a:t>using </a:t>
            </a:r>
            <a:r>
              <a:rPr lang="en-US" dirty="0">
                <a:solidFill>
                  <a:srgbClr val="0000FF"/>
                </a:solidFill>
                <a:latin typeface="+mj-lt"/>
              </a:rPr>
              <a:t>make</a:t>
            </a:r>
            <a:r>
              <a:rPr lang="en-US" dirty="0">
                <a:latin typeface="+mj-lt"/>
              </a:rPr>
              <a:t>.</a:t>
            </a:r>
            <a:endParaRPr lang="en-US" b="0" i="0" dirty="0">
              <a:effectLst/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41AFEE-8EA6-3E58-59C2-E016987A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F9C21-25DC-2284-54C6-A44ACF22A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MR - </a:t>
            </a:r>
            <a:fld id="{2E4790E1-2590-4AEE-892D-AB46A7688113}" type="slidenum">
              <a:rPr lang="en-US" sz="1050" smtClean="0"/>
              <a:pPr>
                <a:defRPr/>
              </a:pPr>
              <a:t>41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15053964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Style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29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For making the code neat and readable.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483DD5-CAC4-4519-BB9B-0F09BF41C25B}"/>
              </a:ext>
            </a:extLst>
          </p:cNvPr>
          <p:cNvSpPr txBox="1"/>
          <p:nvPr/>
        </p:nvSpPr>
        <p:spPr>
          <a:xfrm>
            <a:off x="663376" y="1723538"/>
            <a:ext cx="7975298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nn-NO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(i=</a:t>
            </a:r>
            <a:r>
              <a:rPr lang="nn-NO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;i&lt;</a:t>
            </a:r>
            <a:r>
              <a:rPr lang="nn-NO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;i+=</a:t>
            </a:r>
            <a:r>
              <a:rPr lang="nn-NO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nn-NO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(j!=i){cs1010_print_string(</a:t>
            </a:r>
            <a:r>
              <a:rPr lang="nn-NO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</a:t>
            </a:r>
            <a:r>
              <a:rPr lang="nn-NO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nn-NO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);}}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708BB-6FFC-4876-8A69-54DB7EEBE146}"/>
              </a:ext>
            </a:extLst>
          </p:cNvPr>
          <p:cNvSpPr txBox="1"/>
          <p:nvPr/>
        </p:nvSpPr>
        <p:spPr>
          <a:xfrm>
            <a:off x="668138" y="2709032"/>
            <a:ext cx="7970536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nn-NO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 = </a:t>
            </a:r>
            <a:r>
              <a:rPr lang="nn-NO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i &lt; </a:t>
            </a:r>
            <a:r>
              <a:rPr lang="nn-NO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i += </a:t>
            </a:r>
            <a:r>
              <a:rPr lang="nn-NO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nn-NO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while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(j != i) { </a:t>
            </a:r>
          </a:p>
          <a:p>
            <a:pPr>
              <a:defRPr/>
            </a:pP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cs1010_print_string(</a:t>
            </a:r>
            <a:r>
              <a:rPr lang="nn-NO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</a:t>
            </a:r>
            <a:r>
              <a:rPr lang="nn-NO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nn-NO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nn-NO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AA6CCF-C3B0-4C8B-B2C6-F71CF8BA0A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263" y="1808884"/>
            <a:ext cx="362361" cy="4900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2B4AEE-8540-45C0-96F6-2D53339D28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620" y="3167143"/>
            <a:ext cx="415645" cy="5237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58BFCD-76E5-41FD-B57B-25ED418E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D8D09C-2716-9CA1-165E-083E1254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155864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Documentation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MR - </a:t>
            </a:r>
            <a:fld id="{F7EC234A-9094-4BB8-9EA4-75ECDA8A365B}" type="slidenum">
              <a:rPr lang="en-US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29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For making the code easy to understand.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708BB-6FFC-4876-8A69-54DB7EEBE146}"/>
              </a:ext>
            </a:extLst>
          </p:cNvPr>
          <p:cNvSpPr txBox="1"/>
          <p:nvPr/>
        </p:nvSpPr>
        <p:spPr>
          <a:xfrm>
            <a:off x="533400" y="1754527"/>
            <a:ext cx="7970536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 Find the number between 1 and n with the maximum  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 number of steps to reach 1, breaking ties by finding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 the larger among these numbers.</a:t>
            </a: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 @param[in,out] 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The maximum number of    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steps</a:t>
            </a: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 @param[out] 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The number with the maximum number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of steps</a:t>
            </a: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</a:t>
            </a: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 @pre </a:t>
            </a:r>
            <a:r>
              <a:rPr lang="en-US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&lt;= 0</a:t>
            </a:r>
          </a:p>
          <a:p>
            <a:pPr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*/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solve(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117AE8-35BD-2DEA-7139-AFD6B39D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0450501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solidFill>
                  <a:srgbClr val="0000FF"/>
                </a:solidFill>
              </a:rPr>
              <a:t>Good Habits for Writing Efficient Code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7E79E-72DA-5C04-4E1A-41B9A08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D7CC3-B5E5-DFA6-7110-AD9C4A7C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24EB6AC-D75F-AD47-863E-D5113649A9D2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474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Avoid redundant / repeated work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Use an efficient algorithm as quantified by time complexity (esp. in the worst-case scenario)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F5E59-3E17-54B8-B83A-518D7D94604F}"/>
                  </a:ext>
                </a:extLst>
              </p:cNvPr>
              <p:cNvSpPr txBox="1"/>
              <p:nvPr/>
            </p:nvSpPr>
            <p:spPr>
              <a:xfrm>
                <a:off x="791300" y="6006372"/>
                <a:ext cx="7017656" cy="372410"/>
              </a:xfrm>
              <a:prstGeom prst="rect">
                <a:avLst/>
              </a:prstGeom>
              <a:solidFill>
                <a:srgbClr val="FFFF99"/>
              </a:solidFill>
              <a:ln w="127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indent="-18288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</a:pPr>
                <a:r>
                  <a:rPr lang="en-GB" dirty="0"/>
                  <a:t>O(1) &lt; O(log n) &lt;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dirty="0"/>
                  <a:t>) &lt; O(n) &lt; O(n</a:t>
                </a:r>
                <a:r>
                  <a:rPr lang="en-GB" baseline="30000" dirty="0"/>
                  <a:t>2</a:t>
                </a:r>
                <a:r>
                  <a:rPr lang="en-GB" dirty="0"/>
                  <a:t>) &lt; O(n</a:t>
                </a:r>
                <a:r>
                  <a:rPr lang="en-GB" baseline="30000" dirty="0"/>
                  <a:t>3</a:t>
                </a:r>
                <a:r>
                  <a:rPr lang="en-GB" dirty="0"/>
                  <a:t>) &lt; … &lt; O(2</a:t>
                </a:r>
                <a:r>
                  <a:rPr lang="en-GB" baseline="30000" dirty="0"/>
                  <a:t>n</a:t>
                </a:r>
                <a:r>
                  <a:rPr lang="en-GB" dirty="0"/>
                  <a:t>) &lt; O(3</a:t>
                </a:r>
                <a:r>
                  <a:rPr lang="en-GB" baseline="30000" dirty="0"/>
                  <a:t>n</a:t>
                </a:r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F5E59-3E17-54B8-B83A-518D7D946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00" y="6006372"/>
                <a:ext cx="7017656" cy="372410"/>
              </a:xfrm>
              <a:prstGeom prst="rect">
                <a:avLst/>
              </a:prstGeom>
              <a:blipFill>
                <a:blip r:embed="rId3"/>
                <a:stretch>
                  <a:fillRect l="-694" t="-4762" r="-607" b="-23810"/>
                </a:stretch>
              </a:blipFill>
              <a:ln w="12700"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F0E25E6-B425-AE0F-333A-77105EE9C5A8}"/>
              </a:ext>
            </a:extLst>
          </p:cNvPr>
          <p:cNvSpPr txBox="1"/>
          <p:nvPr/>
        </p:nvSpPr>
        <p:spPr>
          <a:xfrm>
            <a:off x="994884" y="3200400"/>
            <a:ext cx="449151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!=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first =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second = third;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third = first +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66245-BB53-BA12-2F58-A9C15D9338CE}"/>
              </a:ext>
            </a:extLst>
          </p:cNvPr>
          <p:cNvSpPr txBox="1"/>
          <p:nvPr/>
        </p:nvSpPr>
        <p:spPr>
          <a:xfrm>
            <a:off x="4184893" y="4295298"/>
            <a:ext cx="404089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D78A1-F6E0-EB02-7CFF-1A9BFAD142EC}"/>
              </a:ext>
            </a:extLst>
          </p:cNvPr>
          <p:cNvSpPr txBox="1"/>
          <p:nvPr/>
        </p:nvSpPr>
        <p:spPr>
          <a:xfrm>
            <a:off x="4184894" y="4295298"/>
            <a:ext cx="461405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364A0-CC9E-925C-EF14-0D836B170DE6}"/>
              </a:ext>
            </a:extLst>
          </p:cNvPr>
          <p:cNvSpPr txBox="1"/>
          <p:nvPr/>
        </p:nvSpPr>
        <p:spPr>
          <a:xfrm>
            <a:off x="7231528" y="482173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O(2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21934-7369-9BCE-FE79-27DC5103BE86}"/>
              </a:ext>
            </a:extLst>
          </p:cNvPr>
          <p:cNvSpPr txBox="1"/>
          <p:nvPr/>
        </p:nvSpPr>
        <p:spPr>
          <a:xfrm>
            <a:off x="5106554" y="3580254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93923267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96CAE-86AB-10A0-8F56-034A6D95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C94A78D-96D7-A653-453B-6C5DE58E2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Mega Recap</a:t>
            </a:r>
          </a:p>
        </p:txBody>
      </p:sp>
      <p:sp>
        <p:nvSpPr>
          <p:cNvPr id="14339" name="HighlightTextShape201406201824391195">
            <a:extLst>
              <a:ext uri="{FF2B5EF4-FFF2-40B4-BE49-F238E27FC236}">
                <a16:creationId xmlns:a16="http://schemas.microsoft.com/office/drawing/2014/main" id="{BEC05174-DA29-BC3C-3AB9-8DDEDC242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913586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Algorithmic Problem Solving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Data Structures, Control Structures and Practical Algorithms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solidFill>
                  <a:srgbClr val="0000FF"/>
                </a:solidFill>
                <a:latin typeface="+mj-lt"/>
              </a:rPr>
              <a:t>Good Coding Habits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Program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Syntax of C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04D0E2-7FDA-F9CD-7B0C-8E362924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73B4EB-B605-A76B-90AF-16FD1E2C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960903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Program Analysis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Correctness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Tracing (Code)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Assertion / Loop Invariant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Efficiency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Time Complexity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385A34-04B8-236E-2399-9D1DBEA4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0AEBC6-B221-D8CC-7276-654C95E8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27760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406C909-98D4-47F1-9BFD-5E37D45DA926}"/>
              </a:ext>
            </a:extLst>
          </p:cNvPr>
          <p:cNvGraphicFramePr>
            <a:graphicFrameLocks noGrp="1"/>
          </p:cNvGraphicFramePr>
          <p:nvPr/>
        </p:nvGraphicFramePr>
        <p:xfrm>
          <a:off x="643025" y="4823156"/>
          <a:ext cx="520033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n &gt;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28943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the first round…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the second round…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724144"/>
                  </a:ext>
                </a:extLst>
              </a:tr>
            </a:tbl>
          </a:graphicData>
        </a:graphic>
      </p:graphicFrame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>
              <a:tabLst>
                <a:tab pos="4291013" algn="l"/>
              </a:tabLst>
            </a:pPr>
            <a:r>
              <a:rPr lang="en-GB" sz="3600" dirty="0">
                <a:solidFill>
                  <a:srgbClr val="0000FF"/>
                </a:solidFill>
              </a:rPr>
              <a:t>Tracing (Code)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25" y="1275194"/>
            <a:ext cx="4991725" cy="286232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print_digits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 {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digit;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(n &gt;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digit = n%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CS1010_print_long(digit);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		n /= </a:t>
            </a:r>
            <a:r>
              <a:rPr lang="pt-BR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pt-BR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SG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5802924" y="2382176"/>
            <a:ext cx="3112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are the values of </a:t>
            </a:r>
            <a:r>
              <a:rPr lang="en-US" sz="2400" i="1" dirty="0"/>
              <a:t>n</a:t>
            </a:r>
            <a:r>
              <a:rPr lang="en-US" sz="2400" dirty="0"/>
              <a:t> and </a:t>
            </a:r>
            <a:r>
              <a:rPr lang="en-US" sz="2400" i="1" dirty="0"/>
              <a:t>digit </a:t>
            </a:r>
            <a:r>
              <a:rPr lang="en-US" sz="2400" dirty="0"/>
              <a:t>at various point of time?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DB2039-D266-417E-930D-88E5062D8119}"/>
              </a:ext>
            </a:extLst>
          </p:cNvPr>
          <p:cNvSpPr/>
          <p:nvPr/>
        </p:nvSpPr>
        <p:spPr>
          <a:xfrm>
            <a:off x="643025" y="4284502"/>
            <a:ext cx="1114830" cy="39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n: </a:t>
            </a:r>
            <a:r>
              <a:rPr lang="en-US" dirty="0">
                <a:solidFill>
                  <a:srgbClr val="0000FF"/>
                </a:solidFill>
              </a:rPr>
              <a:t>28943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ED02C-CF4F-18D3-D3E6-CDE7BA4B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83ED0-244C-EF7A-7F04-8BE7F7F2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843573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874B24-31EF-D8BB-6E95-31E6CE93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E64FC0-CC33-960D-CBC0-6086534D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6255A-1041-C744-2F05-56927BD6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specifying, understanding, checking </a:t>
            </a:r>
            <a:r>
              <a:rPr lang="en-US"/>
              <a:t>of logic.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value between two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fr-FR" dirty="0"/>
              <a:t>((max == x) &amp;&amp; (max &gt; y)) || ((max &gt;= x) &amp;&amp; (max == y))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E16F4-5FCA-67D4-DCF2-1D38F8902FC9}"/>
              </a:ext>
            </a:extLst>
          </p:cNvPr>
          <p:cNvSpPr txBox="1"/>
          <p:nvPr/>
        </p:nvSpPr>
        <p:spPr>
          <a:xfrm>
            <a:off x="1039913" y="2976254"/>
            <a:ext cx="4892671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 &gt; y)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&gt;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 {</a:t>
            </a:r>
            <a:r>
              <a:rPr lang="es-ES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x &amp;&amp; </a:t>
            </a:r>
            <a:r>
              <a:rPr lang="es-ES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 y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&lt;=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 {</a:t>
            </a:r>
            <a:r>
              <a:rPr lang="en-US" sz="2000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 &gt;= x &amp;&amp; max == y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sz="2000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2" name="Group 53">
            <a:extLst>
              <a:ext uri="{FF2B5EF4-FFF2-40B4-BE49-F238E27FC236}">
                <a16:creationId xmlns:a16="http://schemas.microsoft.com/office/drawing/2014/main" id="{38BC8965-78D9-BFBE-D38C-FC7F39947C1B}"/>
              </a:ext>
            </a:extLst>
          </p:cNvPr>
          <p:cNvGrpSpPr>
            <a:grpSpLocks/>
          </p:cNvGrpSpPr>
          <p:nvPr/>
        </p:nvGrpSpPr>
        <p:grpSpPr bwMode="auto">
          <a:xfrm>
            <a:off x="6289328" y="3358933"/>
            <a:ext cx="2411413" cy="1537336"/>
            <a:chOff x="6445623" y="3191438"/>
            <a:chExt cx="2411506" cy="1537425"/>
          </a:xfrm>
        </p:grpSpPr>
        <p:sp>
          <p:nvSpPr>
            <p:cNvPr id="13" name="Flowchart: Decision 12">
              <a:extLst>
                <a:ext uri="{FF2B5EF4-FFF2-40B4-BE49-F238E27FC236}">
                  <a16:creationId xmlns:a16="http://schemas.microsoft.com/office/drawing/2014/main" id="{756169BA-0972-54DE-F790-1F440EA447C1}"/>
                </a:ext>
              </a:extLst>
            </p:cNvPr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14" name="Straight Arrow Connector 33">
              <a:extLst>
                <a:ext uri="{FF2B5EF4-FFF2-40B4-BE49-F238E27FC236}">
                  <a16:creationId xmlns:a16="http://schemas.microsoft.com/office/drawing/2014/main" id="{35B4248E-8F95-828E-F3BC-94704F315E10}"/>
                </a:ext>
              </a:extLst>
            </p:cNvPr>
            <p:cNvCxnSpPr>
              <a:cxnSpLocks noChangeShapeType="1"/>
              <a:endCxn id="13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9" name="Straight Connector 35">
              <a:extLst>
                <a:ext uri="{FF2B5EF4-FFF2-40B4-BE49-F238E27FC236}">
                  <a16:creationId xmlns:a16="http://schemas.microsoft.com/office/drawing/2014/main" id="{ABF7C55B-28EC-FE3E-865D-2990CA3F3F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0" name="Straight Arrow Connector 36">
              <a:extLst>
                <a:ext uri="{FF2B5EF4-FFF2-40B4-BE49-F238E27FC236}">
                  <a16:creationId xmlns:a16="http://schemas.microsoft.com/office/drawing/2014/main" id="{58DB4B14-DDB3-D249-C78B-DF1956B64B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1" name="Flowchart: Process 30">
              <a:extLst>
                <a:ext uri="{FF2B5EF4-FFF2-40B4-BE49-F238E27FC236}">
                  <a16:creationId xmlns:a16="http://schemas.microsoft.com/office/drawing/2014/main" id="{EB8DA3D3-AAB1-2292-5DE2-273B18D3D6CE}"/>
                </a:ext>
              </a:extLst>
            </p:cNvPr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32" name="TextBox 38">
              <a:extLst>
                <a:ext uri="{FF2B5EF4-FFF2-40B4-BE49-F238E27FC236}">
                  <a16:creationId xmlns:a16="http://schemas.microsoft.com/office/drawing/2014/main" id="{3ADDC868-8852-3F45-BBF6-8494A61BD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771" y="356362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x &gt; y</a:t>
              </a:r>
              <a:endParaRPr lang="en-SG" sz="1200" i="1" dirty="0"/>
            </a:p>
          </p:txBody>
        </p:sp>
        <p:sp>
          <p:nvSpPr>
            <p:cNvPr id="33" name="TextBox 39">
              <a:extLst>
                <a:ext uri="{FF2B5EF4-FFF2-40B4-BE49-F238E27FC236}">
                  <a16:creationId xmlns:a16="http://schemas.microsoft.com/office/drawing/2014/main" id="{26DDB67D-00A5-76C2-9569-DB00FCE35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503" y="3577037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x &lt;= y</a:t>
              </a:r>
              <a:endParaRPr lang="en-SG" sz="1200" i="1" dirty="0"/>
            </a:p>
          </p:txBody>
        </p:sp>
        <p:cxnSp>
          <p:nvCxnSpPr>
            <p:cNvPr id="34" name="Straight Arrow Connector 40">
              <a:extLst>
                <a:ext uri="{FF2B5EF4-FFF2-40B4-BE49-F238E27FC236}">
                  <a16:creationId xmlns:a16="http://schemas.microsoft.com/office/drawing/2014/main" id="{B9504FD9-2ECF-8071-963D-D081D0BE8E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63938" y="4503719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5" name="Straight Connector 41">
              <a:extLst>
                <a:ext uri="{FF2B5EF4-FFF2-40B4-BE49-F238E27FC236}">
                  <a16:creationId xmlns:a16="http://schemas.microsoft.com/office/drawing/2014/main" id="{8941A847-32C0-3534-CD6C-1E3B7CAD4E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" name="Straight Arrow Connector 42">
              <a:extLst>
                <a:ext uri="{FF2B5EF4-FFF2-40B4-BE49-F238E27FC236}">
                  <a16:creationId xmlns:a16="http://schemas.microsoft.com/office/drawing/2014/main" id="{3C9C1760-61CE-B0D4-5E66-88F3A35D5C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22141" y="4518774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7" name="Straight Connector 43">
              <a:extLst>
                <a:ext uri="{FF2B5EF4-FFF2-40B4-BE49-F238E27FC236}">
                  <a16:creationId xmlns:a16="http://schemas.microsoft.com/office/drawing/2014/main" id="{5F4F1C51-5E3C-84F1-A5AC-7060A2CBA1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" name="Straight Arrow Connector 47">
              <a:extLst>
                <a:ext uri="{FF2B5EF4-FFF2-40B4-BE49-F238E27FC236}">
                  <a16:creationId xmlns:a16="http://schemas.microsoft.com/office/drawing/2014/main" id="{5CE4CB37-42D5-1892-5038-2DDC00CD74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9" name="Flowchart: Process 38">
              <a:extLst>
                <a:ext uri="{FF2B5EF4-FFF2-40B4-BE49-F238E27FC236}">
                  <a16:creationId xmlns:a16="http://schemas.microsoft.com/office/drawing/2014/main" id="{A900D61A-AAA5-04AC-44AD-7B17F76EF257}"/>
                </a:ext>
              </a:extLst>
            </p:cNvPr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40" name="Straight Connector 49">
              <a:extLst>
                <a:ext uri="{FF2B5EF4-FFF2-40B4-BE49-F238E27FC236}">
                  <a16:creationId xmlns:a16="http://schemas.microsoft.com/office/drawing/2014/main" id="{1CA57D54-292B-A3D9-8881-C6083F8C0B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0613" y="4361329"/>
              <a:ext cx="0" cy="149509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1" name="Straight Arrow Connector 51">
              <a:extLst>
                <a:ext uri="{FF2B5EF4-FFF2-40B4-BE49-F238E27FC236}">
                  <a16:creationId xmlns:a16="http://schemas.microsoft.com/office/drawing/2014/main" id="{D39F8C7C-F4AD-DB00-886F-D287302B95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46274" y="4513246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72740426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An assertion that is true before the loop, after each iteration of the loop, and after the loop.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974" y="2231062"/>
            <a:ext cx="7741117" cy="452431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Line A: before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Line B: beginning of each iteration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Line C: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Line D: after each iteration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Line E: after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7AC34-4EF7-453E-A360-3B14646E2A04}"/>
              </a:ext>
            </a:extLst>
          </p:cNvPr>
          <p:cNvSpPr txBox="1"/>
          <p:nvPr/>
        </p:nvSpPr>
        <p:spPr>
          <a:xfrm>
            <a:off x="373548" y="2231062"/>
            <a:ext cx="6933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2146F9-3AB9-22E3-4623-B31489C1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6F78D1-9FF1-E137-51AC-43EE8741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68437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Focus on </a:t>
            </a:r>
            <a:r>
              <a:rPr lang="en-GB" dirty="0">
                <a:solidFill>
                  <a:srgbClr val="0000FF"/>
                </a:solidFill>
              </a:rPr>
              <a:t>the order of growth </a:t>
            </a:r>
            <a:r>
              <a:rPr lang="en-GB" dirty="0"/>
              <a:t>and the worst-case scenario.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Initial computation: 7n – 12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>
                <a:sym typeface="Wingdings" panose="05000000000000000000" pitchFamily="2" charset="2"/>
              </a:rPr>
              <a:t>D</a:t>
            </a:r>
            <a:r>
              <a:rPr lang="en-US" dirty="0" err="1">
                <a:sym typeface="Wingdings" panose="05000000000000000000" pitchFamily="2" charset="2"/>
              </a:rPr>
              <a:t>rop</a:t>
            </a:r>
            <a:r>
              <a:rPr lang="en-US" dirty="0">
                <a:sym typeface="Wingdings" panose="05000000000000000000" pitchFamily="2" charset="2"/>
              </a:rPr>
              <a:t> constants and keep only the term with the highest rate of growth. 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Final result: O(n)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AFFBA73-AAEB-4C10-ABCA-A7B7BA817286}"/>
              </a:ext>
            </a:extLst>
          </p:cNvPr>
          <p:cNvSpPr txBox="1"/>
          <p:nvPr/>
        </p:nvSpPr>
        <p:spPr>
          <a:xfrm>
            <a:off x="1261472" y="2677348"/>
            <a:ext cx="4491516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!= n;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first =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second = third;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third = first + second;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7A0118-311B-4740-8B44-832396F4DFFA}"/>
                  </a:ext>
                </a:extLst>
              </p:cNvPr>
              <p:cNvSpPr txBox="1"/>
              <p:nvPr/>
            </p:nvSpPr>
            <p:spPr>
              <a:xfrm>
                <a:off x="791300" y="5796060"/>
                <a:ext cx="7017656" cy="372410"/>
              </a:xfrm>
              <a:prstGeom prst="rect">
                <a:avLst/>
              </a:prstGeom>
              <a:solidFill>
                <a:srgbClr val="FFFF99"/>
              </a:solidFill>
              <a:ln w="127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indent="-182880" fontAlgn="auto">
                  <a:spcBef>
                    <a:spcPts val="120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Pct val="100000"/>
                </a:pPr>
                <a:r>
                  <a:rPr lang="en-GB" dirty="0"/>
                  <a:t>O(1) &lt; O(log n) &lt;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GB" dirty="0"/>
                  <a:t>) &lt; O(n) &lt; O(n</a:t>
                </a:r>
                <a:r>
                  <a:rPr lang="en-GB" baseline="30000" dirty="0"/>
                  <a:t>2</a:t>
                </a:r>
                <a:r>
                  <a:rPr lang="en-GB" dirty="0"/>
                  <a:t>) &lt; O(n</a:t>
                </a:r>
                <a:r>
                  <a:rPr lang="en-GB" baseline="30000" dirty="0"/>
                  <a:t>3</a:t>
                </a:r>
                <a:r>
                  <a:rPr lang="en-GB" dirty="0"/>
                  <a:t>) &lt; … &lt; O(2</a:t>
                </a:r>
                <a:r>
                  <a:rPr lang="en-GB" baseline="30000" dirty="0"/>
                  <a:t>n</a:t>
                </a:r>
                <a:r>
                  <a:rPr lang="en-GB" dirty="0"/>
                  <a:t>) &lt; O(3</a:t>
                </a:r>
                <a:r>
                  <a:rPr lang="en-GB" baseline="30000" dirty="0"/>
                  <a:t>n</a:t>
                </a:r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7A0118-311B-4740-8B44-832396F4D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00" y="5796060"/>
                <a:ext cx="7017656" cy="372410"/>
              </a:xfrm>
              <a:prstGeom prst="rect">
                <a:avLst/>
              </a:prstGeom>
              <a:blipFill>
                <a:blip r:embed="rId3"/>
                <a:stretch>
                  <a:fillRect l="-694" t="-6349" r="-607" b="-23810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95F5C7-7C95-ABE6-96CB-3EBECFE2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F74AFF-F157-04FA-46EB-5FA7661D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234309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Time Complexity Analysis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49"/>
            <a:ext cx="8443912" cy="542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Focus on the order of growth and the </a:t>
            </a:r>
            <a:r>
              <a:rPr lang="en-GB" dirty="0">
                <a:solidFill>
                  <a:srgbClr val="0000FF"/>
                </a:solidFill>
              </a:rPr>
              <a:t>worst-case scenario</a:t>
            </a:r>
            <a:r>
              <a:rPr lang="en-GB" dirty="0"/>
              <a:t>.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Example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>
              <a:solidFill>
                <a:srgbClr val="0000FF"/>
              </a:solidFill>
            </a:endParaRP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BD86B-E14A-44AC-BFF9-0E84C3CD8A92}"/>
              </a:ext>
            </a:extLst>
          </p:cNvPr>
          <p:cNvSpPr txBox="1"/>
          <p:nvPr/>
        </p:nvSpPr>
        <p:spPr>
          <a:xfrm>
            <a:off x="1013878" y="2662019"/>
            <a:ext cx="5249270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AE2F8-91CC-42A9-9F08-A2CB7884BB4F}"/>
              </a:ext>
            </a:extLst>
          </p:cNvPr>
          <p:cNvSpPr txBox="1"/>
          <p:nvPr/>
        </p:nvSpPr>
        <p:spPr>
          <a:xfrm>
            <a:off x="3584435" y="4453814"/>
            <a:ext cx="5357425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is_prime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sqrt(n);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%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FE947-730A-4EF3-82CB-A3F101E6D172}"/>
              </a:ext>
            </a:extLst>
          </p:cNvPr>
          <p:cNvSpPr/>
          <p:nvPr/>
        </p:nvSpPr>
        <p:spPr>
          <a:xfrm>
            <a:off x="3382295" y="3149315"/>
            <a:ext cx="139618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1F6D12-2380-4370-B223-2337A573F1C0}"/>
              </a:ext>
            </a:extLst>
          </p:cNvPr>
          <p:cNvSpPr/>
          <p:nvPr/>
        </p:nvSpPr>
        <p:spPr>
          <a:xfrm>
            <a:off x="5943598" y="4952246"/>
            <a:ext cx="1676401" cy="31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381BA-EAF8-47AB-91D9-6F294A733F6A}"/>
              </a:ext>
            </a:extLst>
          </p:cNvPr>
          <p:cNvSpPr txBox="1"/>
          <p:nvPr/>
        </p:nvSpPr>
        <p:spPr>
          <a:xfrm>
            <a:off x="7249389" y="5607976"/>
            <a:ext cx="14374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more efficient!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07D11-2221-4B70-A383-BC6518A42A05}"/>
              </a:ext>
            </a:extLst>
          </p:cNvPr>
          <p:cNvSpPr txBox="1"/>
          <p:nvPr/>
        </p:nvSpPr>
        <p:spPr>
          <a:xfrm>
            <a:off x="6403072" y="2682811"/>
            <a:ext cx="143833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Best case: </a:t>
            </a:r>
          </a:p>
          <a:p>
            <a:r>
              <a:rPr lang="en-US" dirty="0"/>
              <a:t>Both O(1)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E02B8D-D2D3-44AF-B2F0-E85171B024BF}"/>
                  </a:ext>
                </a:extLst>
              </p:cNvPr>
              <p:cNvSpPr txBox="1"/>
              <p:nvPr/>
            </p:nvSpPr>
            <p:spPr>
              <a:xfrm>
                <a:off x="6427469" y="3498622"/>
                <a:ext cx="1438338" cy="649409"/>
              </a:xfrm>
              <a:prstGeom prst="rect">
                <a:avLst/>
              </a:prstGeom>
              <a:solidFill>
                <a:srgbClr val="FFFF99"/>
              </a:solidFill>
              <a:ln w="127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Worst case: </a:t>
                </a:r>
                <a:br>
                  <a:rPr lang="en-US" dirty="0"/>
                </a:br>
                <a:r>
                  <a:rPr lang="en-US" dirty="0"/>
                  <a:t>O(n) vs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E02B8D-D2D3-44AF-B2F0-E85171B02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469" y="3498622"/>
                <a:ext cx="1438338" cy="649409"/>
              </a:xfrm>
              <a:prstGeom prst="rect">
                <a:avLst/>
              </a:prstGeom>
              <a:blipFill>
                <a:blip r:embed="rId3"/>
                <a:stretch>
                  <a:fillRect l="-2941" t="-4630" r="-4202" b="-13889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796112-C3DC-BD09-E74D-42335DAC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0AB641-06D6-CDD7-F3F3-E05DF99E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8600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5710-0C23-F415-82A1-260CBB7C0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B325E90-D7C5-5E89-1154-D2600D6C9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Mega Recap</a:t>
            </a:r>
          </a:p>
        </p:txBody>
      </p:sp>
      <p:sp>
        <p:nvSpPr>
          <p:cNvPr id="14339" name="HighlightTextShape201406201824391195">
            <a:extLst>
              <a:ext uri="{FF2B5EF4-FFF2-40B4-BE49-F238E27FC236}">
                <a16:creationId xmlns:a16="http://schemas.microsoft.com/office/drawing/2014/main" id="{F24FF204-EF57-3903-9920-93F47F0CDC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913586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Algorithmic Problem Solving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Data Structures, Control Structures and Practical Algorithms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Good Coding Habits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Program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solidFill>
                  <a:srgbClr val="0000FF"/>
                </a:solidFill>
                <a:latin typeface="+mj-lt"/>
              </a:rPr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Syntax of C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11CA3C-3AEC-1D96-6BAD-CABD97D4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7088F3-15F4-366B-787D-C86DC47F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4909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Computer Memory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Memory Address and Pointer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Call Stack and Heap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Call by Reference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3080FA-B4A4-80BF-70C0-03FFD70C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85F8FC-5D5A-CE00-1566-61580142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940232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DEB4C-052C-4DC5-C5B9-6A7F8EB7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5E7A8-CCD7-0EEC-17EE-BCBA345F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9F8DFCF-BD45-7615-F73E-1D379F60E4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Memory Address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04782E54-E5ED-E141-03A4-0EB58C7F2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Every location in the memory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Can be used to store 1 byte (i.e., 8 bits) of data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Has an </a:t>
            </a:r>
            <a:r>
              <a:rPr lang="en-US" dirty="0">
                <a:solidFill>
                  <a:srgbClr val="0000FF"/>
                </a:solidFill>
              </a:rPr>
              <a:t>address</a:t>
            </a:r>
            <a:r>
              <a:rPr lang="en-US" dirty="0"/>
              <a:t> (i.e., a unique index number).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80055E-1840-E645-240D-20B79EBB6C5C}"/>
              </a:ext>
            </a:extLst>
          </p:cNvPr>
          <p:cNvSpPr txBox="1"/>
          <p:nvPr/>
        </p:nvSpPr>
        <p:spPr>
          <a:xfrm>
            <a:off x="6222474" y="4664447"/>
            <a:ext cx="2413314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is the address of this location?</a:t>
            </a:r>
          </a:p>
        </p:txBody>
      </p:sp>
      <p:pic>
        <p:nvPicPr>
          <p:cNvPr id="20" name="Picture 19" descr="Table&#10;&#10;Description automatically generated with medium confidence">
            <a:extLst>
              <a:ext uri="{FF2B5EF4-FFF2-40B4-BE49-F238E27FC236}">
                <a16:creationId xmlns:a16="http://schemas.microsoft.com/office/drawing/2014/main" id="{9E26E1B5-3395-ADC3-B766-609C2086DE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2" t="19125" r="32079" b="68424"/>
          <a:stretch/>
        </p:blipFill>
        <p:spPr>
          <a:xfrm>
            <a:off x="2263367" y="3612340"/>
            <a:ext cx="3391357" cy="44474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D0601D-C950-2A49-2432-1EC04A30D5A4}"/>
              </a:ext>
            </a:extLst>
          </p:cNvPr>
          <p:cNvCxnSpPr>
            <a:cxnSpLocks/>
          </p:cNvCxnSpPr>
          <p:nvPr/>
        </p:nvCxnSpPr>
        <p:spPr>
          <a:xfrm flipH="1" flipV="1">
            <a:off x="5018907" y="3851092"/>
            <a:ext cx="1203567" cy="12750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42B246D-DEA7-444A-9B24-63956E88EC21}"/>
              </a:ext>
            </a:extLst>
          </p:cNvPr>
          <p:cNvCxnSpPr>
            <a:cxnSpLocks/>
          </p:cNvCxnSpPr>
          <p:nvPr/>
        </p:nvCxnSpPr>
        <p:spPr>
          <a:xfrm flipV="1">
            <a:off x="1695617" y="3831857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25DC26-4C23-5CB7-C1FF-A2BF382EAC25}"/>
              </a:ext>
            </a:extLst>
          </p:cNvPr>
          <p:cNvCxnSpPr>
            <a:cxnSpLocks/>
          </p:cNvCxnSpPr>
          <p:nvPr/>
        </p:nvCxnSpPr>
        <p:spPr>
          <a:xfrm flipV="1">
            <a:off x="3316869" y="3848781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6D0F9F3-155B-ADA2-7FE1-246C0D33C674}"/>
              </a:ext>
            </a:extLst>
          </p:cNvPr>
          <p:cNvSpPr txBox="1"/>
          <p:nvPr/>
        </p:nvSpPr>
        <p:spPr>
          <a:xfrm>
            <a:off x="1158266" y="4432021"/>
            <a:ext cx="131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25685528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40E425-6F0A-C301-D958-E7523310FFF0}"/>
              </a:ext>
            </a:extLst>
          </p:cNvPr>
          <p:cNvSpPr txBox="1"/>
          <p:nvPr/>
        </p:nvSpPr>
        <p:spPr>
          <a:xfrm>
            <a:off x="2817278" y="4452894"/>
            <a:ext cx="131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25685532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4D0053-A6CD-3EC9-0A9D-C3DD2879C759}"/>
              </a:ext>
            </a:extLst>
          </p:cNvPr>
          <p:cNvSpPr txBox="1"/>
          <p:nvPr/>
        </p:nvSpPr>
        <p:spPr>
          <a:xfrm>
            <a:off x="1848097" y="3596118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F8A4BF-DEF0-4C44-61CF-DA0B30045F99}"/>
              </a:ext>
            </a:extLst>
          </p:cNvPr>
          <p:cNvSpPr txBox="1"/>
          <p:nvPr/>
        </p:nvSpPr>
        <p:spPr>
          <a:xfrm>
            <a:off x="5615014" y="3604819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pic>
        <p:nvPicPr>
          <p:cNvPr id="28" name="Picture 27" descr="A close-up of several computer chips&#10;&#10;Description automatically generated">
            <a:extLst>
              <a:ext uri="{FF2B5EF4-FFF2-40B4-BE49-F238E27FC236}">
                <a16:creationId xmlns:a16="http://schemas.microsoft.com/office/drawing/2014/main" id="{A4369865-A541-03A2-FF62-8CE99124A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185" y="1236878"/>
            <a:ext cx="1905000" cy="1819275"/>
          </a:xfrm>
          <a:prstGeom prst="rect">
            <a:avLst/>
          </a:prstGeom>
        </p:spPr>
      </p:pic>
      <p:sp>
        <p:nvSpPr>
          <p:cNvPr id="29" name="Speech Bubble: Oval 28">
            <a:extLst>
              <a:ext uri="{FF2B5EF4-FFF2-40B4-BE49-F238E27FC236}">
                <a16:creationId xmlns:a16="http://schemas.microsoft.com/office/drawing/2014/main" id="{50985170-2CC9-731D-B1CF-B2E75E1394B9}"/>
              </a:ext>
            </a:extLst>
          </p:cNvPr>
          <p:cNvSpPr/>
          <p:nvPr/>
        </p:nvSpPr>
        <p:spPr>
          <a:xfrm>
            <a:off x="2536409" y="2906162"/>
            <a:ext cx="1712967" cy="587957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10001011</a:t>
            </a:r>
            <a:endParaRPr lang="en-S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39B56C-E5BE-5556-4DBB-5209FD058238}"/>
              </a:ext>
            </a:extLst>
          </p:cNvPr>
          <p:cNvSpPr txBox="1"/>
          <p:nvPr/>
        </p:nvSpPr>
        <p:spPr>
          <a:xfrm>
            <a:off x="6507866" y="3124787"/>
            <a:ext cx="240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GB ~= 1 billion byte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9718B-FA20-9010-8B0C-E1CF0B469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7278" y="4874001"/>
            <a:ext cx="2739503" cy="169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600">
                <a:solidFill>
                  <a:srgbClr val="0000FF"/>
                </a:solidFill>
              </a:rPr>
              <a:t>Pointers</a:t>
            </a:r>
            <a:endParaRPr lang="en-GB" sz="3600">
              <a:solidFill>
                <a:srgbClr val="0000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2132" y="1313061"/>
            <a:ext cx="6453118" cy="7078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 = </a:t>
            </a:r>
            <a:r>
              <a:rPr lang="en-US" sz="2000" b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j = </a:t>
            </a:r>
            <a:r>
              <a:rPr lang="en-US" sz="2000" b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*p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is a pointer to some long variable</a:t>
            </a:r>
            <a:endParaRPr lang="en-US" sz="1400" b="1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2131" y="2246078"/>
            <a:ext cx="6432865" cy="13234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 = </a:t>
            </a: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&amp;i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now stores the address of variable i</a:t>
            </a:r>
          </a:p>
          <a:p>
            <a:pPr>
              <a:defRPr/>
            </a:pPr>
            <a:endParaRPr lang="en-US" sz="2000" b="1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2000" b="1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cs1010_println_long(*p); </a:t>
            </a:r>
            <a:endParaRPr lang="en-US" sz="2000" b="1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391275" y="1253544"/>
            <a:ext cx="2047875" cy="511556"/>
            <a:chOff x="6391275" y="1253544"/>
            <a:chExt cx="2047875" cy="511556"/>
          </a:xfrm>
        </p:grpSpPr>
        <p:grpSp>
          <p:nvGrpSpPr>
            <p:cNvPr id="26" name="Group 13"/>
            <p:cNvGrpSpPr>
              <a:grpSpLocks/>
            </p:cNvGrpSpPr>
            <p:nvPr/>
          </p:nvGrpSpPr>
          <p:grpSpPr bwMode="auto">
            <a:xfrm>
              <a:off x="6391275" y="1253544"/>
              <a:ext cx="799269" cy="511556"/>
              <a:chOff x="4834756" y="1996965"/>
              <a:chExt cx="798785" cy="511975"/>
            </a:xfrm>
          </p:grpSpPr>
          <p:sp>
            <p:nvSpPr>
              <p:cNvPr id="33" name="TextBox 9"/>
              <p:cNvSpPr txBox="1">
                <a:spLocks noChangeArrowheads="1"/>
              </p:cNvSpPr>
              <p:nvPr/>
            </p:nvSpPr>
            <p:spPr bwMode="auto">
              <a:xfrm>
                <a:off x="4834756" y="1996965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>
                    <a:latin typeface="Calibri" pitchFamily="34" charset="0"/>
                  </a:rPr>
                  <a:t>i</a:t>
                </a:r>
                <a:endParaRPr lang="en-SG" sz="1600">
                  <a:latin typeface="Calibri" pitchFamily="34" charset="0"/>
                </a:endParaRPr>
              </a:p>
            </p:txBody>
          </p:sp>
          <p:sp>
            <p:nvSpPr>
              <p:cNvPr id="34" name="TextBox 10"/>
              <p:cNvSpPr txBox="1">
                <a:spLocks noChangeArrowheads="1"/>
              </p:cNvSpPr>
              <p:nvPr/>
            </p:nvSpPr>
            <p:spPr bwMode="auto">
              <a:xfrm>
                <a:off x="5102769" y="2170386"/>
                <a:ext cx="530772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>
                    <a:latin typeface="Calibri" pitchFamily="34" charset="0"/>
                  </a:rPr>
                  <a:t>10</a:t>
                </a:r>
                <a:endParaRPr lang="en-SG" sz="1600">
                  <a:latin typeface="Calibri" pitchFamily="34" charset="0"/>
                </a:endParaRPr>
              </a:p>
            </p:txBody>
          </p:sp>
        </p:grpSp>
        <p:grpSp>
          <p:nvGrpSpPr>
            <p:cNvPr id="27" name="Group 14"/>
            <p:cNvGrpSpPr>
              <a:grpSpLocks/>
            </p:cNvGrpSpPr>
            <p:nvPr/>
          </p:nvGrpSpPr>
          <p:grpSpPr bwMode="auto">
            <a:xfrm>
              <a:off x="7639879" y="1253544"/>
              <a:ext cx="799271" cy="511556"/>
              <a:chOff x="6027681" y="2023240"/>
              <a:chExt cx="798787" cy="511975"/>
            </a:xfrm>
          </p:grpSpPr>
          <p:sp>
            <p:nvSpPr>
              <p:cNvPr id="31" name="TextBox 11"/>
              <p:cNvSpPr txBox="1">
                <a:spLocks noChangeArrowheads="1"/>
              </p:cNvSpPr>
              <p:nvPr/>
            </p:nvSpPr>
            <p:spPr bwMode="auto">
              <a:xfrm>
                <a:off x="6027681" y="2023240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>
                    <a:latin typeface="Calibri" pitchFamily="34" charset="0"/>
                  </a:rPr>
                  <a:t>j</a:t>
                </a:r>
                <a:endParaRPr lang="en-SG" sz="1600">
                  <a:latin typeface="Calibri" pitchFamily="34" charset="0"/>
                </a:endParaRPr>
              </a:p>
            </p:txBody>
          </p:sp>
          <p:sp>
            <p:nvSpPr>
              <p:cNvPr id="32" name="TextBox 12"/>
              <p:cNvSpPr txBox="1">
                <a:spLocks noChangeArrowheads="1"/>
              </p:cNvSpPr>
              <p:nvPr/>
            </p:nvSpPr>
            <p:spPr bwMode="auto">
              <a:xfrm>
                <a:off x="6295695" y="2196661"/>
                <a:ext cx="530773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>
                    <a:latin typeface="Calibri" pitchFamily="34" charset="0"/>
                  </a:rPr>
                  <a:t>20</a:t>
                </a:r>
                <a:endParaRPr lang="en-SG" sz="1600">
                  <a:latin typeface="Calibri" pitchFamily="34" charset="0"/>
                </a:endParaRPr>
              </a:p>
            </p:txBody>
          </p:sp>
        </p:grpSp>
      </p:grpSp>
      <p:grpSp>
        <p:nvGrpSpPr>
          <p:cNvPr id="28" name="Group 15"/>
          <p:cNvGrpSpPr>
            <a:grpSpLocks/>
          </p:cNvGrpSpPr>
          <p:nvPr/>
        </p:nvGrpSpPr>
        <p:grpSpPr bwMode="auto">
          <a:xfrm>
            <a:off x="7032477" y="2019925"/>
            <a:ext cx="799271" cy="511556"/>
            <a:chOff x="6027681" y="2023240"/>
            <a:chExt cx="798787" cy="511975"/>
          </a:xfrm>
        </p:grpSpPr>
        <p:sp>
          <p:nvSpPr>
            <p:cNvPr id="29" name="TextBox 16"/>
            <p:cNvSpPr txBox="1">
              <a:spLocks noChangeArrowheads="1"/>
            </p:cNvSpPr>
            <p:nvPr/>
          </p:nvSpPr>
          <p:spPr bwMode="auto">
            <a:xfrm>
              <a:off x="6027681" y="2023240"/>
              <a:ext cx="3363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latin typeface="Calibri" pitchFamily="34" charset="0"/>
                </a:rPr>
                <a:t>p</a:t>
              </a:r>
              <a:endParaRPr lang="en-SG" sz="1600">
                <a:latin typeface="Calibri" pitchFamily="34" charset="0"/>
              </a:endParaRPr>
            </a:p>
          </p:txBody>
        </p:sp>
        <p:sp>
          <p:nvSpPr>
            <p:cNvPr id="30" name="TextBox 17"/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>
                <a:latin typeface="Calibri" pitchFamily="34" charset="0"/>
                <a:cs typeface="Arial" pitchFamily="34" charset="0"/>
              </a:endParaRPr>
            </a:p>
          </p:txBody>
        </p:sp>
      </p:grpSp>
      <p:cxnSp>
        <p:nvCxnSpPr>
          <p:cNvPr id="35" name="Straight Arrow Connector 34"/>
          <p:cNvCxnSpPr>
            <a:cxnSpLocks noChangeShapeType="1"/>
          </p:cNvCxnSpPr>
          <p:nvPr/>
        </p:nvCxnSpPr>
        <p:spPr bwMode="auto">
          <a:xfrm rot="16200000" flipV="1">
            <a:off x="7134225" y="1909181"/>
            <a:ext cx="538163" cy="354013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5990897" y="3147537"/>
            <a:ext cx="568645" cy="400050"/>
          </a:xfrm>
          <a:prstGeom prst="rect">
            <a:avLst/>
          </a:prstGeom>
          <a:solidFill>
            <a:srgbClr val="FFFFC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10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3708400" y="2656845"/>
            <a:ext cx="28511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/>
              <a:t>Now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*p</a:t>
            </a:r>
            <a:r>
              <a:rPr lang="en-US"/>
              <a:t> is equivalent to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i</a:t>
            </a:r>
          </a:p>
        </p:txBody>
      </p:sp>
      <p:sp>
        <p:nvSpPr>
          <p:cNvPr id="38" name="Oval 44"/>
          <p:cNvSpPr>
            <a:spLocks noChangeArrowheads="1"/>
          </p:cNvSpPr>
          <p:nvPr/>
        </p:nvSpPr>
        <p:spPr bwMode="auto">
          <a:xfrm>
            <a:off x="1257196" y="1625780"/>
            <a:ext cx="447795" cy="436487"/>
          </a:xfrm>
          <a:prstGeom prst="ellipse">
            <a:avLst/>
          </a:prstGeom>
          <a:noFill/>
          <a:ln w="28575" cap="sq" algn="ctr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>
              <a:solidFill>
                <a:srgbClr val="C00000"/>
              </a:solidFill>
            </a:endParaRPr>
          </a:p>
        </p:txBody>
      </p:sp>
      <p:sp>
        <p:nvSpPr>
          <p:cNvPr id="39" name="Oval 44"/>
          <p:cNvSpPr>
            <a:spLocks noChangeArrowheads="1"/>
          </p:cNvSpPr>
          <p:nvPr/>
        </p:nvSpPr>
        <p:spPr bwMode="auto">
          <a:xfrm>
            <a:off x="1133908" y="2246078"/>
            <a:ext cx="470848" cy="428512"/>
          </a:xfrm>
          <a:prstGeom prst="ellipse">
            <a:avLst/>
          </a:prstGeom>
          <a:noFill/>
          <a:ln w="28575" cap="sq" algn="ctr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40" name="Group 39"/>
          <p:cNvGrpSpPr/>
          <p:nvPr/>
        </p:nvGrpSpPr>
        <p:grpSpPr>
          <a:xfrm>
            <a:off x="2267519" y="2548635"/>
            <a:ext cx="1348740" cy="519335"/>
            <a:chOff x="2727960" y="5916003"/>
            <a:chExt cx="1348740" cy="519335"/>
          </a:xfrm>
        </p:grpSpPr>
        <p:sp>
          <p:nvSpPr>
            <p:cNvPr id="41" name="Right Arrow 40"/>
            <p:cNvSpPr/>
            <p:nvPr/>
          </p:nvSpPr>
          <p:spPr bwMode="auto">
            <a:xfrm>
              <a:off x="2727960" y="5916003"/>
              <a:ext cx="1348740" cy="519335"/>
            </a:xfrm>
            <a:prstGeom prst="rightArrow">
              <a:avLst/>
            </a:prstGeom>
            <a:solidFill>
              <a:srgbClr val="FFC0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827020" y="6008616"/>
              <a:ext cx="124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Important!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92131" y="3697288"/>
            <a:ext cx="7073894" cy="892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1889125" algn="l"/>
              </a:tabLst>
              <a:defRPr/>
            </a:pP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*p accesses the value of pointed/referred variable </a:t>
            </a:r>
          </a:p>
          <a:p>
            <a:pPr>
              <a:tabLst>
                <a:tab pos="193992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 = *p + 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increment *p (which is i) by 2</a:t>
            </a:r>
            <a:endParaRPr lang="en-US" sz="1400" b="1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1939925" algn="l"/>
              </a:tabLst>
              <a:defRPr/>
            </a:pP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same effect as: </a:t>
            </a:r>
            <a:r>
              <a:rPr lang="en-US" sz="1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 = i + </a:t>
            </a:r>
            <a:r>
              <a:rPr lang="en-US" sz="16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45" name="Group 23"/>
          <p:cNvGrpSpPr>
            <a:grpSpLocks/>
          </p:cNvGrpSpPr>
          <p:nvPr/>
        </p:nvGrpSpPr>
        <p:grpSpPr bwMode="auto">
          <a:xfrm>
            <a:off x="6769894" y="1119316"/>
            <a:ext cx="633412" cy="547688"/>
            <a:chOff x="6903720" y="1785098"/>
            <a:chExt cx="633680" cy="546622"/>
          </a:xfrm>
        </p:grpSpPr>
        <p:cxnSp>
          <p:nvCxnSpPr>
            <p:cNvPr id="46" name="Straight Connector 21"/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47" name="TextBox 12"/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>
                  <a:latin typeface="Calibri" pitchFamily="34" charset="0"/>
                </a:rPr>
                <a:t>12</a:t>
              </a:r>
              <a:endParaRPr lang="en-SG" sz="1600">
                <a:latin typeface="Calibri" pitchFamily="34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04824" y="4535488"/>
            <a:ext cx="6864188" cy="4001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 = &amp;j; 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now stores the address of variable j</a:t>
            </a:r>
          </a:p>
        </p:txBody>
      </p:sp>
      <p:cxnSp>
        <p:nvCxnSpPr>
          <p:cNvPr id="49" name="Straight Arrow Connector 48"/>
          <p:cNvCxnSpPr>
            <a:cxnSpLocks noChangeShapeType="1"/>
          </p:cNvCxnSpPr>
          <p:nvPr/>
        </p:nvCxnSpPr>
        <p:spPr bwMode="auto">
          <a:xfrm flipV="1">
            <a:off x="7639881" y="1844024"/>
            <a:ext cx="442667" cy="518388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3708400" y="4960766"/>
            <a:ext cx="28511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/>
              <a:t>Now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*p</a:t>
            </a:r>
            <a:r>
              <a:rPr lang="en-US"/>
              <a:t> is equivalent to 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j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267519" y="4852556"/>
            <a:ext cx="1348740" cy="519335"/>
            <a:chOff x="2727960" y="5916003"/>
            <a:chExt cx="1348740" cy="519335"/>
          </a:xfrm>
        </p:grpSpPr>
        <p:sp>
          <p:nvSpPr>
            <p:cNvPr id="54" name="Right Arrow 53"/>
            <p:cNvSpPr/>
            <p:nvPr/>
          </p:nvSpPr>
          <p:spPr bwMode="auto">
            <a:xfrm>
              <a:off x="2727960" y="5916003"/>
              <a:ext cx="1348740" cy="519335"/>
            </a:xfrm>
            <a:prstGeom prst="rightArrow">
              <a:avLst/>
            </a:prstGeom>
            <a:solidFill>
              <a:srgbClr val="FFC0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827020" y="6008616"/>
              <a:ext cx="124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Important!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04824" y="5368145"/>
            <a:ext cx="6710363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tabLst>
                <a:tab pos="126047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 = i;	</a:t>
            </a: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value of *p (which is j now) becomes 12</a:t>
            </a:r>
          </a:p>
          <a:p>
            <a:pPr>
              <a:tabLst>
                <a:tab pos="1260475" algn="l"/>
              </a:tabLst>
              <a:defRPr/>
            </a:pPr>
            <a:r>
              <a:rPr 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same effect as: </a:t>
            </a:r>
            <a:r>
              <a:rPr lang="en-US" sz="1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 = i;</a:t>
            </a:r>
          </a:p>
        </p:txBody>
      </p:sp>
      <p:grpSp>
        <p:nvGrpSpPr>
          <p:cNvPr id="57" name="Group 33"/>
          <p:cNvGrpSpPr>
            <a:grpSpLocks/>
          </p:cNvGrpSpPr>
          <p:nvPr/>
        </p:nvGrpSpPr>
        <p:grpSpPr bwMode="auto">
          <a:xfrm>
            <a:off x="8011589" y="1120904"/>
            <a:ext cx="633412" cy="546100"/>
            <a:chOff x="6903720" y="1785098"/>
            <a:chExt cx="633680" cy="546622"/>
          </a:xfrm>
        </p:grpSpPr>
        <p:cxnSp>
          <p:nvCxnSpPr>
            <p:cNvPr id="58" name="Straight Connector 34"/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9" name="TextBox 12"/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>
                  <a:latin typeface="Calibri" pitchFamily="34" charset="0"/>
                </a:rPr>
                <a:t>12</a:t>
              </a:r>
              <a:endParaRPr lang="en-SG" sz="1600">
                <a:latin typeface="Calibri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7EC2D8-0661-F14B-87EB-FCA92CA2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8C562-5A6B-143D-F22A-59CAC95C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70454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Call Stack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It contains </a:t>
            </a:r>
            <a:r>
              <a:rPr lang="en-US">
                <a:solidFill>
                  <a:srgbClr val="0000FF"/>
                </a:solidFill>
              </a:rPr>
              <a:t>Stack Frames </a:t>
            </a:r>
            <a:r>
              <a:rPr lang="en-US"/>
              <a:t>which are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added whenever a function is called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used to store the variables of the function call.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/>
              <a:t>removed when the call is done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40ECF6-344B-FE48-B159-24A367AE2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49" y="2914488"/>
            <a:ext cx="6820701" cy="381780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770B31-5382-4451-2F88-C8917956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2160EE-1F65-F7E5-F7FA-3B3CDF08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26027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Another region of the memory outside Call Stack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Manual allocation / deallocation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Life-span = from allocation to de-allocation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Bigger in size than the Call Stack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Use case: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Reserve a region for an array whose size </a:t>
            </a:r>
            <a:r>
              <a:rPr lang="en-US" sz="2400" dirty="0">
                <a:solidFill>
                  <a:srgbClr val="0000FF"/>
                </a:solidFill>
              </a:rPr>
              <a:t>depends on the input from the user</a:t>
            </a:r>
            <a:r>
              <a:rPr lang="en-US" sz="2400" dirty="0"/>
              <a:t>.</a:t>
            </a: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F85A34-5851-43B1-7540-072408DA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0DC16-4190-5CD5-73B8-E13AD21D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29566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1D Array Allocation / Deallocation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FDBE-C17B-4636-95FE-68AA5070A437}"/>
              </a:ext>
            </a:extLst>
          </p:cNvPr>
          <p:cNvSpPr txBox="1"/>
          <p:nvPr/>
        </p:nvSpPr>
        <p:spPr>
          <a:xfrm>
            <a:off x="717824" y="1894986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B921A-C010-4245-92CC-D96D9E4B96B7}"/>
              </a:ext>
            </a:extLst>
          </p:cNvPr>
          <p:cNvSpPr txBox="1"/>
          <p:nvPr/>
        </p:nvSpPr>
        <p:spPr>
          <a:xfrm>
            <a:off x="717824" y="3278309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8E2B6-65D9-4DB9-BDD7-9495948FA5D7}"/>
              </a:ext>
            </a:extLst>
          </p:cNvPr>
          <p:cNvSpPr txBox="1"/>
          <p:nvPr/>
        </p:nvSpPr>
        <p:spPr>
          <a:xfrm>
            <a:off x="4999913" y="2387611"/>
            <a:ext cx="2263153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Need to initialize the array afterwards.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98C283-6AB8-4484-86DE-18EBACD44FD3}"/>
              </a:ext>
            </a:extLst>
          </p:cNvPr>
          <p:cNvSpPr txBox="1"/>
          <p:nvPr/>
        </p:nvSpPr>
        <p:spPr>
          <a:xfrm>
            <a:off x="4999913" y="3770934"/>
            <a:ext cx="2184325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 need to initialize afterwards.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F663B-C389-469E-BAF0-D94D98B7D727}"/>
              </a:ext>
            </a:extLst>
          </p:cNvPr>
          <p:cNvSpPr txBox="1"/>
          <p:nvPr/>
        </p:nvSpPr>
        <p:spPr>
          <a:xfrm>
            <a:off x="717824" y="4887831"/>
            <a:ext cx="201486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E25FA-AFB0-4F58-A0A4-05446CB75986}"/>
              </a:ext>
            </a:extLst>
          </p:cNvPr>
          <p:cNvSpPr txBox="1"/>
          <p:nvPr/>
        </p:nvSpPr>
        <p:spPr>
          <a:xfrm>
            <a:off x="2903102" y="4733190"/>
            <a:ext cx="252023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Remember to do this to avoid memory leak!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D347B3-A8E6-1FDC-A455-B4E73E69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2510DF-7AC7-A00D-0980-F698618B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496185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925C-A2FA-EDCC-96B1-8FCB553B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05E40C9-E196-E441-675D-17EEF5950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2D </a:t>
            </a:r>
            <a:r>
              <a:rPr lang="en-GB" sz="3600" dirty="0">
                <a:solidFill>
                  <a:srgbClr val="0000FF"/>
                </a:solidFill>
              </a:rPr>
              <a:t>Array Allocation / Deallocation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A8861A-3D09-272B-27EE-CF5561B2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F96D8-87EF-3F82-F4C6-8F1253F7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2434D-DA3D-B04D-61C6-B0F0896F0608}"/>
              </a:ext>
            </a:extLst>
          </p:cNvPr>
          <p:cNvSpPr txBox="1"/>
          <p:nvPr/>
        </p:nvSpPr>
        <p:spPr>
          <a:xfrm>
            <a:off x="810424" y="1319815"/>
            <a:ext cx="7653872" cy="18158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*buckets[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 </a:t>
            </a:r>
          </a:p>
          <a:p>
            <a:pPr>
              <a:defRPr/>
            </a:pPr>
            <a:endParaRPr lang="en-US" sz="16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buckets[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D74B1-CF3A-4E44-A9AC-F1C0303D3547}"/>
              </a:ext>
            </a:extLst>
          </p:cNvPr>
          <p:cNvSpPr txBox="1"/>
          <p:nvPr/>
        </p:nvSpPr>
        <p:spPr>
          <a:xfrm>
            <a:off x="810424" y="3331231"/>
            <a:ext cx="7653872" cy="2554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**canvas;</a:t>
            </a:r>
          </a:p>
          <a:p>
            <a:pPr>
              <a:defRPr/>
            </a:pPr>
            <a:endParaRPr lang="en-US" sz="16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</a:t>
            </a:r>
          </a:p>
          <a:p>
            <a:pPr>
              <a:defRPr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cs1010_read_size_t();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canvas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*));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num_of_rows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canvas[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calloc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num_of_cols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9294411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by Reference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49"/>
            <a:ext cx="8229600" cy="1740685"/>
          </a:xfrm>
        </p:spPr>
        <p:txBody>
          <a:bodyPr>
            <a:normAutofit/>
          </a:bodyPr>
          <a:lstStyle/>
          <a:p>
            <a:pPr marL="347663" indent="-347663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… Print </a:t>
            </a:r>
            <a:r>
              <a:rPr lang="en-US" dirty="0">
                <a:solidFill>
                  <a:srgbClr val="0000FF"/>
                </a:solidFill>
              </a:rPr>
              <a:t>the number with the largest total stopping time </a:t>
            </a:r>
            <a:r>
              <a:rPr lang="en-US" dirty="0"/>
              <a:t>and its corresponding </a:t>
            </a:r>
            <a:r>
              <a:rPr lang="en-US" dirty="0">
                <a:solidFill>
                  <a:srgbClr val="0000FF"/>
                </a:solidFill>
              </a:rPr>
              <a:t>total stopping time.</a:t>
            </a:r>
            <a:endParaRPr lang="en-US" dirty="0"/>
          </a:p>
        </p:txBody>
      </p:sp>
      <p:sp>
        <p:nvSpPr>
          <p:cNvPr id="33" name="[TextBox 10]"/>
          <p:cNvSpPr txBox="1"/>
          <p:nvPr/>
        </p:nvSpPr>
        <p:spPr>
          <a:xfrm>
            <a:off x="1070260" y="2110776"/>
            <a:ext cx="7032625" cy="44165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find_max_steps(n, &amp;max_n, &amp;max_num_steps);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428815" y="4864148"/>
            <a:ext cx="6441634" cy="3652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AE091-E57E-1B58-7FA3-855E1D30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FAF7B-2DDD-3955-CCDE-3E573EB89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576829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by Reference</a:t>
            </a:r>
          </a:p>
        </p:txBody>
      </p:sp>
      <p:sp>
        <p:nvSpPr>
          <p:cNvPr id="33" name="[TextBox 10]"/>
          <p:cNvSpPr txBox="1"/>
          <p:nvPr/>
        </p:nvSpPr>
        <p:spPr>
          <a:xfrm>
            <a:off x="549881" y="1681484"/>
            <a:ext cx="8090706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&gt;=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097566" y="4140485"/>
            <a:ext cx="5909409" cy="95549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1">
            <a:extLst>
              <a:ext uri="{FF2B5EF4-FFF2-40B4-BE49-F238E27FC236}">
                <a16:creationId xmlns:a16="http://schemas.microsoft.com/office/drawing/2014/main" id="{88C7ABCA-EA89-487D-830C-0152C6FFD803}"/>
              </a:ext>
            </a:extLst>
          </p:cNvPr>
          <p:cNvSpPr/>
          <p:nvPr/>
        </p:nvSpPr>
        <p:spPr>
          <a:xfrm>
            <a:off x="736259" y="2344782"/>
            <a:ext cx="3209018" cy="6638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114FA-4193-352A-8053-9151FC67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DE66C-E6E0-B57B-24FD-0A1FAF1E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19365-3BAF-B59E-2785-628CAF5E7F8A}"/>
              </a:ext>
            </a:extLst>
          </p:cNvPr>
          <p:cNvSpPr txBox="1"/>
          <p:nvPr/>
        </p:nvSpPr>
        <p:spPr>
          <a:xfrm>
            <a:off x="5724145" y="5759523"/>
            <a:ext cx="276148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Alternatives: </a:t>
            </a:r>
            <a:br>
              <a:rPr lang="en-US" dirty="0"/>
            </a:br>
            <a:r>
              <a:rPr lang="en-US" dirty="0"/>
              <a:t>Return a structure / array</a:t>
            </a:r>
          </a:p>
        </p:txBody>
      </p:sp>
    </p:spTree>
    <p:extLst>
      <p:ext uri="{BB962C8B-B14F-4D97-AF65-F5344CB8AC3E}">
        <p14:creationId xmlns:p14="http://schemas.microsoft.com/office/powerpoint/2010/main" val="649273319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745CC-5A36-D73D-C1DC-DAED7C51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BAFE4F7-F2CD-0A96-07B5-1B5C28B1E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by Reference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72921-CA3B-C6AE-365A-01DE1BB7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3C7CD-471D-5205-AA02-0DEE31DB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87F1EBB-F446-6711-C6BF-84BF99E70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49" y="1460501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endParaRPr lang="en-US" sz="2400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A3736CD-904F-06EA-DC7C-29FA0983F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48" y="1402912"/>
            <a:ext cx="7635689" cy="11800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update_mc</a:t>
            </a:r>
            <a:r>
              <a:rPr lang="en-US" b="1">
                <a:latin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b="1">
                <a:latin typeface="Courier New" pitchFamily="49" charset="0"/>
              </a:rPr>
              <a:t> *cs1010, </a:t>
            </a:r>
            <a:br>
              <a:rPr lang="en-US" b="1">
                <a:latin typeface="Courier New" pitchFamily="49" charset="0"/>
              </a:rPr>
            </a:br>
            <a:r>
              <a:rPr lang="en-US" b="1">
                <a:latin typeface="Courier New" pitchFamily="49" charset="0"/>
              </a:rPr>
              <a:t>           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)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(*cs1010).mc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402E1-4A40-8369-60DE-6F81F1B59CF3}"/>
              </a:ext>
            </a:extLst>
          </p:cNvPr>
          <p:cNvSpPr txBox="1"/>
          <p:nvPr/>
        </p:nvSpPr>
        <p:spPr bwMode="auto">
          <a:xfrm>
            <a:off x="4941253" y="2325235"/>
            <a:ext cx="325177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latin typeface="Arial" charset="0"/>
                <a:cs typeface="Arial" charset="0"/>
              </a:rPr>
              <a:t>More efficient and allow changes to be visible </a:t>
            </a:r>
            <a:r>
              <a:rPr lang="en-SG"/>
              <a:t>outside.</a:t>
            </a:r>
            <a:r>
              <a:rPr lang="en-SG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D884FBD-5AB6-DC48-ECA7-C0F509498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164" y="3107487"/>
            <a:ext cx="5416340" cy="40350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cs1010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</a:rPr>
              <a:t>-&gt;</a:t>
            </a:r>
            <a:r>
              <a:rPr lang="en-US" b="1">
                <a:latin typeface="Courier New" pitchFamily="49" charset="0"/>
              </a:rPr>
              <a:t>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000" b="1">
              <a:latin typeface="Courier New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F3AD4D-A8A5-D51D-5DAD-E1C72D596F8E}"/>
              </a:ext>
            </a:extLst>
          </p:cNvPr>
          <p:cNvSpPr txBox="1"/>
          <p:nvPr/>
        </p:nvSpPr>
        <p:spPr bwMode="auto">
          <a:xfrm>
            <a:off x="605191" y="3581939"/>
            <a:ext cx="4336062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latin typeface="Arial" charset="0"/>
                <a:cs typeface="Arial" charset="0"/>
              </a:rPr>
              <a:t>Using the arrow operator as a shorthand.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226CAB-B338-6E18-0AB7-9E5844A74F65}"/>
              </a:ext>
            </a:extLst>
          </p:cNvPr>
          <p:cNvCxnSpPr/>
          <p:nvPr/>
        </p:nvCxnSpPr>
        <p:spPr>
          <a:xfrm flipH="1">
            <a:off x="1664208" y="2257380"/>
            <a:ext cx="557784" cy="7221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123467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Call by Reference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20" y="1219201"/>
            <a:ext cx="8127386" cy="66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/>
              <a:t>Example: </a:t>
            </a:r>
            <a:r>
              <a:rPr lang="en-GB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GB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400" b="1">
                <a:latin typeface="Courier New" pitchFamily="49" charset="0"/>
                <a:cs typeface="Courier New" pitchFamily="49" charset="0"/>
              </a:rPr>
              <a:t>a[</a:t>
            </a:r>
            <a:r>
              <a:rPr lang="en-GB" sz="2400" b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GB" sz="2400" b="1">
                <a:latin typeface="Courier New" pitchFamily="49" charset="0"/>
                <a:cs typeface="Courier New" pitchFamily="49" charset="0"/>
              </a:rPr>
              <a:t>]</a:t>
            </a:r>
            <a:r>
              <a:rPr lang="en-GB" sz="2400"/>
              <a:t> </a:t>
            </a:r>
            <a:endParaRPr lang="en-US" sz="2000"/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20" y="2690448"/>
            <a:ext cx="8127386" cy="12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/>
              <a:t>When the array name </a:t>
            </a:r>
            <a:r>
              <a:rPr lang="en-GB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GB" sz="2400"/>
              <a:t> appears in an expression, it </a:t>
            </a:r>
            <a:r>
              <a:rPr lang="en-GB" sz="2400">
                <a:solidFill>
                  <a:srgbClr val="0000FF"/>
                </a:solidFill>
              </a:rPr>
              <a:t>refers to the address of the first element </a:t>
            </a:r>
            <a:r>
              <a:rPr lang="en-GB" sz="2400"/>
              <a:t>(i.e. </a:t>
            </a:r>
            <a:r>
              <a:rPr lang="en-GB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&amp;a[0]</a:t>
            </a:r>
            <a:r>
              <a:rPr lang="en-GB" sz="2400"/>
              <a:t>) of that array (a.k.a., Array Decay)</a:t>
            </a:r>
            <a:endParaRPr lang="en-US" sz="2000"/>
          </a:p>
        </p:txBody>
      </p:sp>
      <p:grpSp>
        <p:nvGrpSpPr>
          <p:cNvPr id="16" name="Group 15"/>
          <p:cNvGrpSpPr/>
          <p:nvPr/>
        </p:nvGrpSpPr>
        <p:grpSpPr>
          <a:xfrm>
            <a:off x="1567655" y="1805597"/>
            <a:ext cx="5413620" cy="629489"/>
            <a:chOff x="1482725" y="1914525"/>
            <a:chExt cx="5413620" cy="629489"/>
          </a:xfrm>
        </p:grpSpPr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1495439" y="1914525"/>
              <a:ext cx="5400906" cy="307882"/>
              <a:chOff x="1494905" y="2069828"/>
              <a:chExt cx="5402075" cy="307766"/>
            </a:xfrm>
          </p:grpSpPr>
          <p:sp>
            <p:nvSpPr>
              <p:cNvPr id="29" name="TextBox 15"/>
              <p:cNvSpPr txBox="1">
                <a:spLocks noChangeArrowheads="1"/>
              </p:cNvSpPr>
              <p:nvPr/>
            </p:nvSpPr>
            <p:spPr bwMode="auto">
              <a:xfrm>
                <a:off x="1494905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a[0]</a:t>
                </a:r>
                <a:endParaRPr lang="en-SG" sz="1400"/>
              </a:p>
            </p:txBody>
          </p:sp>
          <p:sp>
            <p:nvSpPr>
              <p:cNvPr id="30" name="TextBox 17"/>
              <p:cNvSpPr txBox="1">
                <a:spLocks noChangeArrowheads="1"/>
              </p:cNvSpPr>
              <p:nvPr/>
            </p:nvSpPr>
            <p:spPr bwMode="auto">
              <a:xfrm>
                <a:off x="2033675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a[1]</a:t>
                </a:r>
                <a:endParaRPr lang="en-SG" sz="1400"/>
              </a:p>
            </p:txBody>
          </p:sp>
          <p:sp>
            <p:nvSpPr>
              <p:cNvPr id="31" name="TextBox 19"/>
              <p:cNvSpPr txBox="1">
                <a:spLocks noChangeArrowheads="1"/>
              </p:cNvSpPr>
              <p:nvPr/>
            </p:nvSpPr>
            <p:spPr bwMode="auto">
              <a:xfrm>
                <a:off x="2596001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a[2]</a:t>
                </a:r>
                <a:endParaRPr lang="en-SG" sz="1400"/>
              </a:p>
            </p:txBody>
          </p:sp>
          <p:sp>
            <p:nvSpPr>
              <p:cNvPr id="32" name="TextBox 21"/>
              <p:cNvSpPr txBox="1">
                <a:spLocks noChangeArrowheads="1"/>
              </p:cNvSpPr>
              <p:nvPr/>
            </p:nvSpPr>
            <p:spPr bwMode="auto">
              <a:xfrm>
                <a:off x="3134771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a[3]</a:t>
                </a:r>
                <a:endParaRPr lang="en-SG" sz="1400"/>
              </a:p>
            </p:txBody>
          </p:sp>
          <p:sp>
            <p:nvSpPr>
              <p:cNvPr id="33" name="TextBox 23"/>
              <p:cNvSpPr txBox="1">
                <a:spLocks noChangeArrowheads="1"/>
              </p:cNvSpPr>
              <p:nvPr/>
            </p:nvSpPr>
            <p:spPr bwMode="auto">
              <a:xfrm>
                <a:off x="3693288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a[4]</a:t>
                </a:r>
                <a:endParaRPr lang="en-SG" sz="1400"/>
              </a:p>
            </p:txBody>
          </p:sp>
          <p:sp>
            <p:nvSpPr>
              <p:cNvPr id="34" name="TextBox 25"/>
              <p:cNvSpPr txBox="1">
                <a:spLocks noChangeArrowheads="1"/>
              </p:cNvSpPr>
              <p:nvPr/>
            </p:nvSpPr>
            <p:spPr bwMode="auto">
              <a:xfrm>
                <a:off x="4232058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a[5]</a:t>
                </a:r>
                <a:endParaRPr lang="en-SG" sz="1400"/>
              </a:p>
            </p:txBody>
          </p:sp>
          <p:sp>
            <p:nvSpPr>
              <p:cNvPr id="35" name="TextBox 34"/>
              <p:cNvSpPr txBox="1">
                <a:spLocks noChangeArrowheads="1"/>
              </p:cNvSpPr>
              <p:nvPr/>
            </p:nvSpPr>
            <p:spPr bwMode="auto">
              <a:xfrm>
                <a:off x="4771524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a[6]</a:t>
                </a:r>
                <a:endParaRPr lang="en-SG" sz="1400"/>
              </a:p>
            </p:txBody>
          </p:sp>
          <p:sp>
            <p:nvSpPr>
              <p:cNvPr id="36" name="TextBox 35"/>
              <p:cNvSpPr txBox="1">
                <a:spLocks noChangeArrowheads="1"/>
              </p:cNvSpPr>
              <p:nvPr/>
            </p:nvSpPr>
            <p:spPr bwMode="auto">
              <a:xfrm>
                <a:off x="5310294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a[7]</a:t>
                </a:r>
                <a:endParaRPr lang="en-SG" sz="1400"/>
              </a:p>
            </p:txBody>
          </p:sp>
          <p:sp>
            <p:nvSpPr>
              <p:cNvPr id="37" name="TextBox 36"/>
              <p:cNvSpPr txBox="1">
                <a:spLocks noChangeArrowheads="1"/>
              </p:cNvSpPr>
              <p:nvPr/>
            </p:nvSpPr>
            <p:spPr bwMode="auto">
              <a:xfrm>
                <a:off x="5868810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a[8]</a:t>
                </a:r>
                <a:endParaRPr lang="en-SG" sz="1400"/>
              </a:p>
            </p:txBody>
          </p:sp>
          <p:sp>
            <p:nvSpPr>
              <p:cNvPr id="38" name="TextBox 37"/>
              <p:cNvSpPr txBox="1">
                <a:spLocks noChangeArrowheads="1"/>
              </p:cNvSpPr>
              <p:nvPr/>
            </p:nvSpPr>
            <p:spPr bwMode="auto">
              <a:xfrm>
                <a:off x="6407580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a[9]</a:t>
                </a:r>
                <a:endParaRPr lang="en-SG" sz="1400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482725" y="2200997"/>
              <a:ext cx="5390669" cy="343017"/>
              <a:chOff x="1482725" y="2200997"/>
              <a:chExt cx="5390669" cy="343017"/>
            </a:xfrm>
          </p:grpSpPr>
          <p:sp>
            <p:nvSpPr>
              <p:cNvPr id="19" name="Rectangle 6"/>
              <p:cNvSpPr>
                <a:spLocks noChangeArrowheads="1"/>
              </p:cNvSpPr>
              <p:nvPr/>
            </p:nvSpPr>
            <p:spPr bwMode="auto">
              <a:xfrm>
                <a:off x="148272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2022532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256303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2" name="Rectangle 20"/>
              <p:cNvSpPr>
                <a:spLocks noChangeArrowheads="1"/>
              </p:cNvSpPr>
              <p:nvPr/>
            </p:nvSpPr>
            <p:spPr bwMode="auto">
              <a:xfrm>
                <a:off x="3102841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363953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4" name="Rectangle 6"/>
              <p:cNvSpPr>
                <a:spLocks noChangeArrowheads="1"/>
              </p:cNvSpPr>
              <p:nvPr/>
            </p:nvSpPr>
            <p:spPr bwMode="auto">
              <a:xfrm>
                <a:off x="4179487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5" name="Rectangle 16"/>
              <p:cNvSpPr>
                <a:spLocks noChangeArrowheads="1"/>
              </p:cNvSpPr>
              <p:nvPr/>
            </p:nvSpPr>
            <p:spPr bwMode="auto">
              <a:xfrm>
                <a:off x="4719293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6" name="Rectangle 18"/>
              <p:cNvSpPr>
                <a:spLocks noChangeArrowheads="1"/>
              </p:cNvSpPr>
              <p:nvPr/>
            </p:nvSpPr>
            <p:spPr bwMode="auto">
              <a:xfrm>
                <a:off x="5259796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5799603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8" name="Rectangle 22"/>
              <p:cNvSpPr>
                <a:spLocks noChangeArrowheads="1"/>
              </p:cNvSpPr>
              <p:nvPr/>
            </p:nvSpPr>
            <p:spPr bwMode="auto">
              <a:xfrm>
                <a:off x="6336297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305258" y="4057548"/>
            <a:ext cx="5242926" cy="1323439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a[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cs1010_println_long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)a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cs1010_println_long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)&amp;a[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cs1010_println_long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)&amp;a[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8450" y="4057548"/>
            <a:ext cx="1762179" cy="1015663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ffbff724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ffbff724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ffbff732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061064" y="3770056"/>
            <a:ext cx="1928226" cy="1200329"/>
            <a:chOff x="6958324" y="3985810"/>
            <a:chExt cx="1928226" cy="1200329"/>
          </a:xfrm>
        </p:grpSpPr>
        <p:cxnSp>
          <p:nvCxnSpPr>
            <p:cNvPr id="3" name="Straight Arrow Connector 2"/>
            <p:cNvCxnSpPr/>
            <p:nvPr/>
          </p:nvCxnSpPr>
          <p:spPr>
            <a:xfrm flipH="1" flipV="1">
              <a:off x="6958324" y="4448908"/>
              <a:ext cx="603061" cy="1458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6981276" y="4594774"/>
              <a:ext cx="580109" cy="1524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7561385" y="3985810"/>
              <a:ext cx="132516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These 2 outputs will always be the same.</a:t>
              </a:r>
              <a:endParaRPr lang="en-SG">
                <a:solidFill>
                  <a:srgbClr val="C00000"/>
                </a:solidFill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FA0FFE-7DD9-2C8B-BF9C-04F3D8C7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C27DA-FF4F-7F3D-EC17-EFD3EB48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582036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Function Definition / Call with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21" y="1281410"/>
            <a:ext cx="6065838" cy="341632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foo[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] = {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44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17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doubleArray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(foo,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endParaRPr lang="en-US" b="1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doubleArray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list[]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for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 eaLnBrk="1" hangingPunct="1"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        list[</a:t>
            </a:r>
            <a:r>
              <a:rPr lang="en-US" b="1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] *=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defRPr/>
            </a:pPr>
            <a:r>
              <a:rPr 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9" name="Group 51">
            <a:extLst>
              <a:ext uri="{FF2B5EF4-FFF2-40B4-BE49-F238E27FC236}">
                <a16:creationId xmlns:a16="http://schemas.microsoft.com/office/drawing/2014/main" id="{0505F6B1-3520-4D00-AC15-E8F39F302EDE}"/>
              </a:ext>
            </a:extLst>
          </p:cNvPr>
          <p:cNvGrpSpPr>
            <a:grpSpLocks/>
          </p:cNvGrpSpPr>
          <p:nvPr/>
        </p:nvGrpSpPr>
        <p:grpSpPr bwMode="auto">
          <a:xfrm>
            <a:off x="643721" y="4697730"/>
            <a:ext cx="8101012" cy="1249362"/>
            <a:chOff x="373063" y="4186238"/>
            <a:chExt cx="8101012" cy="1249362"/>
          </a:xfrm>
        </p:grpSpPr>
        <p:cxnSp>
          <p:nvCxnSpPr>
            <p:cNvPr id="15" name="Straight Connector 37">
              <a:extLst>
                <a:ext uri="{FF2B5EF4-FFF2-40B4-BE49-F238E27FC236}">
                  <a16:creationId xmlns:a16="http://schemas.microsoft.com/office/drawing/2014/main" id="{108C93AB-E15B-4C52-BE7A-3C2F68F40E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063" y="5435600"/>
              <a:ext cx="8101012" cy="0"/>
            </a:xfrm>
            <a:prstGeom prst="line">
              <a:avLst/>
            </a:prstGeom>
            <a:noFill/>
            <a:ln w="19050" cap="sq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" name="Group 50">
              <a:extLst>
                <a:ext uri="{FF2B5EF4-FFF2-40B4-BE49-F238E27FC236}">
                  <a16:creationId xmlns:a16="http://schemas.microsoft.com/office/drawing/2014/main" id="{69104579-07AA-42DD-95FC-A742F9AE60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4186238"/>
              <a:ext cx="7116763" cy="969962"/>
              <a:chOff x="476250" y="4186238"/>
              <a:chExt cx="7116763" cy="969962"/>
            </a:xfrm>
          </p:grpSpPr>
          <p:grpSp>
            <p:nvGrpSpPr>
              <p:cNvPr id="17" name="Group 81">
                <a:extLst>
                  <a:ext uri="{FF2B5EF4-FFF2-40B4-BE49-F238E27FC236}">
                    <a16:creationId xmlns:a16="http://schemas.microsoft.com/office/drawing/2014/main" id="{D69B7199-F08E-4372-9973-65D001685B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4488" y="4502150"/>
                <a:ext cx="4708525" cy="654050"/>
                <a:chOff x="2305318" y="4630579"/>
                <a:chExt cx="4707567" cy="654191"/>
              </a:xfrm>
            </p:grpSpPr>
            <p:sp>
              <p:nvSpPr>
                <p:cNvPr id="19" name="TextBox 10">
                  <a:extLst>
                    <a:ext uri="{FF2B5EF4-FFF2-40B4-BE49-F238E27FC236}">
                      <a16:creationId xmlns:a16="http://schemas.microsoft.com/office/drawing/2014/main" id="{B7658147-2434-4D7D-97CA-B88E979AA3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5318" y="4630579"/>
                  <a:ext cx="669701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foo[0]</a:t>
                  </a:r>
                  <a:endParaRPr lang="en-SG" sz="1400"/>
                </a:p>
              </p:txBody>
            </p:sp>
            <p:sp>
              <p:nvSpPr>
                <p:cNvPr id="20" name="TextBox 11">
                  <a:extLst>
                    <a:ext uri="{FF2B5EF4-FFF2-40B4-BE49-F238E27FC236}">
                      <a16:creationId xmlns:a16="http://schemas.microsoft.com/office/drawing/2014/main" id="{651D1076-0A21-492D-99AA-EFE29ECACE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46231" y="4630579"/>
                  <a:ext cx="631065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foo[1]</a:t>
                  </a:r>
                  <a:endParaRPr lang="en-SG" sz="1400"/>
                </a:p>
              </p:txBody>
            </p:sp>
            <p:sp>
              <p:nvSpPr>
                <p:cNvPr id="21" name="TextBox 19">
                  <a:extLst>
                    <a:ext uri="{FF2B5EF4-FFF2-40B4-BE49-F238E27FC236}">
                      <a16:creationId xmlns:a16="http://schemas.microsoft.com/office/drawing/2014/main" id="{49C8D063-9EB9-4E7B-9479-1035D1B938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3098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3A82632-6702-4C9C-9D5A-8A546E5F8D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975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3" name="TextBox 23">
                  <a:extLst>
                    <a:ext uri="{FF2B5EF4-FFF2-40B4-BE49-F238E27FC236}">
                      <a16:creationId xmlns:a16="http://schemas.microsoft.com/office/drawing/2014/main" id="{BFF581A2-3063-420A-AC3A-D22E698AF8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6751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61983A8-ECE0-4326-B1D6-DB9BE5689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64006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5" name="TextBox 34">
                  <a:extLst>
                    <a:ext uri="{FF2B5EF4-FFF2-40B4-BE49-F238E27FC236}">
                      <a16:creationId xmlns:a16="http://schemas.microsoft.com/office/drawing/2014/main" id="{A3D0E130-3906-42AD-A78F-2E05CBB9A7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3472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7" name="TextBox 36">
                  <a:extLst>
                    <a:ext uri="{FF2B5EF4-FFF2-40B4-BE49-F238E27FC236}">
                      <a16:creationId xmlns:a16="http://schemas.microsoft.com/office/drawing/2014/main" id="{93F62197-54D5-40BB-96E7-7439B16AE7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23485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9" name="TextBox 20">
                  <a:extLst>
                    <a:ext uri="{FF2B5EF4-FFF2-40B4-BE49-F238E27FC236}">
                      <a16:creationId xmlns:a16="http://schemas.microsoft.com/office/drawing/2014/main" id="{D1216F97-8260-4931-9C7A-358BDF0615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21228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44</a:t>
                  </a:r>
                  <a:endParaRPr lang="en-SG"/>
                </a:p>
              </p:txBody>
            </p:sp>
            <p:sp>
              <p:nvSpPr>
                <p:cNvPr id="30" name="TextBox 21">
                  <a:extLst>
                    <a:ext uri="{FF2B5EF4-FFF2-40B4-BE49-F238E27FC236}">
                      <a16:creationId xmlns:a16="http://schemas.microsoft.com/office/drawing/2014/main" id="{1820F807-75B6-419B-8867-41EB4AFD20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4237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9</a:t>
                  </a:r>
                  <a:endParaRPr lang="en-SG"/>
                </a:p>
              </p:txBody>
            </p:sp>
            <p:sp>
              <p:nvSpPr>
                <p:cNvPr id="31" name="TextBox 22">
                  <a:extLst>
                    <a:ext uri="{FF2B5EF4-FFF2-40B4-BE49-F238E27FC236}">
                      <a16:creationId xmlns:a16="http://schemas.microsoft.com/office/drawing/2014/main" id="{A7837753-E0EB-4FC8-94FC-AD5A60B957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47245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17</a:t>
                  </a:r>
                  <a:endParaRPr lang="en-SG"/>
                </a:p>
              </p:txBody>
            </p:sp>
            <p:sp>
              <p:nvSpPr>
                <p:cNvPr id="32" name="TextBox 23">
                  <a:extLst>
                    <a:ext uri="{FF2B5EF4-FFF2-40B4-BE49-F238E27FC236}">
                      <a16:creationId xmlns:a16="http://schemas.microsoft.com/office/drawing/2014/main" id="{03619C47-9956-4E7D-9487-35830BD608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2401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</a:t>
                  </a:r>
                  <a:endParaRPr lang="en-SG"/>
                </a:p>
              </p:txBody>
            </p:sp>
          </p:grpSp>
          <p:sp>
            <p:nvSpPr>
              <p:cNvPr id="18" name="TextBox 28">
                <a:extLst>
                  <a:ext uri="{FF2B5EF4-FFF2-40B4-BE49-F238E27FC236}">
                    <a16:creationId xmlns:a16="http://schemas.microsoft.com/office/drawing/2014/main" id="{54DCC539-9271-4E7C-A082-841C1702FC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250" y="4186238"/>
                <a:ext cx="1287463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/>
                  <a:t>In main():</a:t>
                </a:r>
                <a:endParaRPr lang="en-SG"/>
              </a:p>
            </p:txBody>
          </p:sp>
        </p:grpSp>
      </p:grpSp>
      <p:grpSp>
        <p:nvGrpSpPr>
          <p:cNvPr id="37" name="Group 52">
            <a:extLst>
              <a:ext uri="{FF2B5EF4-FFF2-40B4-BE49-F238E27FC236}">
                <a16:creationId xmlns:a16="http://schemas.microsoft.com/office/drawing/2014/main" id="{0EBBAA66-5BA5-4320-A4BD-5629D9DF9131}"/>
              </a:ext>
            </a:extLst>
          </p:cNvPr>
          <p:cNvGrpSpPr>
            <a:grpSpLocks/>
          </p:cNvGrpSpPr>
          <p:nvPr/>
        </p:nvGrpSpPr>
        <p:grpSpPr bwMode="auto">
          <a:xfrm>
            <a:off x="656421" y="5667692"/>
            <a:ext cx="4349750" cy="1004710"/>
            <a:chOff x="385763" y="5156200"/>
            <a:chExt cx="4349750" cy="1004710"/>
          </a:xfrm>
        </p:grpSpPr>
        <p:sp>
          <p:nvSpPr>
            <p:cNvPr id="38" name="TextBox 29">
              <a:extLst>
                <a:ext uri="{FF2B5EF4-FFF2-40B4-BE49-F238E27FC236}">
                  <a16:creationId xmlns:a16="http://schemas.microsoft.com/office/drawing/2014/main" id="{3EC4CF0B-4148-43F3-A866-11ADAF6ED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63" y="5497513"/>
              <a:ext cx="195466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/>
                <a:t>In </a:t>
              </a:r>
              <a:r>
                <a:rPr lang="en-US" err="1"/>
                <a:t>doubleArray</a:t>
              </a:r>
              <a:r>
                <a:rPr lang="en-US"/>
                <a:t>():</a:t>
              </a:r>
              <a:endParaRPr lang="en-SG"/>
            </a:p>
          </p:txBody>
        </p:sp>
        <p:grpSp>
          <p:nvGrpSpPr>
            <p:cNvPr id="39" name="Group 92">
              <a:extLst>
                <a:ext uri="{FF2B5EF4-FFF2-40B4-BE49-F238E27FC236}">
                  <a16:creationId xmlns:a16="http://schemas.microsoft.com/office/drawing/2014/main" id="{67DC3D40-15F7-4EBD-B099-1836A0553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2975" y="5489575"/>
              <a:ext cx="692150" cy="652463"/>
              <a:chOff x="1207276" y="4357974"/>
              <a:chExt cx="691922" cy="652401"/>
            </a:xfrm>
          </p:grpSpPr>
          <p:sp>
            <p:nvSpPr>
              <p:cNvPr id="47" name="TextBox 31">
                <a:extLst>
                  <a:ext uri="{FF2B5EF4-FFF2-40B4-BE49-F238E27FC236}">
                    <a16:creationId xmlns:a16="http://schemas.microsoft.com/office/drawing/2014/main" id="{E361DF53-E7B7-4943-BCDD-021EF39AD2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7276" y="4357974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list</a:t>
                </a:r>
                <a:endParaRPr lang="en-SG" sz="1400"/>
              </a:p>
            </p:txBody>
          </p:sp>
          <p:sp>
            <p:nvSpPr>
              <p:cNvPr id="48" name="Rectangle 6">
                <a:extLst>
                  <a:ext uri="{FF2B5EF4-FFF2-40B4-BE49-F238E27FC236}">
                    <a16:creationId xmlns:a16="http://schemas.microsoft.com/office/drawing/2014/main" id="{6493243D-6763-4911-84E8-0FE5DDF42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1213" y="4667508"/>
                <a:ext cx="537985" cy="342867"/>
              </a:xfrm>
              <a:prstGeom prst="rect">
                <a:avLst/>
              </a:prstGeom>
              <a:solidFill>
                <a:srgbClr val="9F9FFF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SG"/>
              </a:p>
            </p:txBody>
          </p:sp>
        </p:grpSp>
        <p:cxnSp>
          <p:nvCxnSpPr>
            <p:cNvPr id="40" name="Straight Arrow Connector 33">
              <a:extLst>
                <a:ext uri="{FF2B5EF4-FFF2-40B4-BE49-F238E27FC236}">
                  <a16:creationId xmlns:a16="http://schemas.microsoft.com/office/drawing/2014/main" id="{1D9BC436-B10A-4D01-8BC3-780896F851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2542382" y="5279231"/>
              <a:ext cx="831850" cy="585787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1" name="Group 34">
              <a:extLst>
                <a:ext uri="{FF2B5EF4-FFF2-40B4-BE49-F238E27FC236}">
                  <a16:creationId xmlns:a16="http://schemas.microsoft.com/office/drawing/2014/main" id="{C4235436-B427-4DEB-8FE5-E31228E03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0075" y="5506859"/>
              <a:ext cx="669925" cy="654051"/>
              <a:chOff x="3307723" y="5970303"/>
              <a:chExt cx="669701" cy="654192"/>
            </a:xfrm>
          </p:grpSpPr>
          <p:sp>
            <p:nvSpPr>
              <p:cNvPr id="45" name="TextBox 35">
                <a:extLst>
                  <a:ext uri="{FF2B5EF4-FFF2-40B4-BE49-F238E27FC236}">
                    <a16:creationId xmlns:a16="http://schemas.microsoft.com/office/drawing/2014/main" id="{41D479DC-95D0-4D12-8B59-31FE63F19C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7723" y="5970303"/>
                <a:ext cx="669701" cy="307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length</a:t>
                </a:r>
                <a:endParaRPr lang="en-SG" sz="1400"/>
              </a:p>
            </p:txBody>
          </p:sp>
          <p:sp>
            <p:nvSpPr>
              <p:cNvPr id="46" name="TextBox 36">
                <a:extLst>
                  <a:ext uri="{FF2B5EF4-FFF2-40B4-BE49-F238E27FC236}">
                    <a16:creationId xmlns:a16="http://schemas.microsoft.com/office/drawing/2014/main" id="{5E7AB43C-0397-48B2-8183-C1DDAE52E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3904" y="6255163"/>
                <a:ext cx="502276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4</a:t>
                </a:r>
                <a:endParaRPr lang="en-SG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B6CD8CE-626D-431E-A3C3-C6D57D5242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5588" y="5489575"/>
              <a:ext cx="669925" cy="654050"/>
              <a:chOff x="3307723" y="5929199"/>
              <a:chExt cx="669701" cy="654191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6880D9-D9CA-40A4-82A9-43BA3AA580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7723" y="5929199"/>
                <a:ext cx="66970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i</a:t>
                </a:r>
                <a:endParaRPr lang="en-SG" sz="140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3A5C19-939F-4F66-9142-0D02E4940B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633" y="6214058"/>
                <a:ext cx="502276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?</a:t>
                </a:r>
                <a:endParaRPr lang="en-SG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9D5CCCF-DE5D-4753-9B65-63AF1E68D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308" y="5327967"/>
            <a:ext cx="4460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88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050EDD3-D2A7-4067-ABA7-57A9D92ED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483" y="5316855"/>
            <a:ext cx="41751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18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45BF1088-CEDF-413B-AF3E-61AE386D1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183" y="5310505"/>
            <a:ext cx="433388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34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FADC1677-1ED5-48D8-BA95-82B09DC8E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633" y="5321617"/>
            <a:ext cx="350838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2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53" name="TextBox 55">
            <a:extLst>
              <a:ext uri="{FF2B5EF4-FFF2-40B4-BE49-F238E27FC236}">
                <a16:creationId xmlns:a16="http://schemas.microsoft.com/office/drawing/2014/main" id="{FAE0AE3B-EFB7-422B-939D-F81E1D50D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9446" y="6297930"/>
            <a:ext cx="31591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0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4" name="TextBox 47">
            <a:extLst>
              <a:ext uri="{FF2B5EF4-FFF2-40B4-BE49-F238E27FC236}">
                <a16:creationId xmlns:a16="http://schemas.microsoft.com/office/drawing/2014/main" id="{1529E195-DBCE-421C-B59E-914BCA1B4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880" y="6299517"/>
            <a:ext cx="382587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1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5" name="TextBox 49">
            <a:extLst>
              <a:ext uri="{FF2B5EF4-FFF2-40B4-BE49-F238E27FC236}">
                <a16:creationId xmlns:a16="http://schemas.microsoft.com/office/drawing/2014/main" id="{AE7533C6-6C79-4059-93B3-A3491249A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327" y="6293431"/>
            <a:ext cx="423862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2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6" name="TextBox 53">
            <a:extLst>
              <a:ext uri="{FF2B5EF4-FFF2-40B4-BE49-F238E27FC236}">
                <a16:creationId xmlns:a16="http://schemas.microsoft.com/office/drawing/2014/main" id="{C5996136-81EF-4B88-9847-D513AD49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539" y="6300575"/>
            <a:ext cx="34766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3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57" name="TextBox 54">
            <a:extLst>
              <a:ext uri="{FF2B5EF4-FFF2-40B4-BE49-F238E27FC236}">
                <a16:creationId xmlns:a16="http://schemas.microsoft.com/office/drawing/2014/main" id="{B907304A-CED7-4607-B434-2CE215C03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23" y="6300311"/>
            <a:ext cx="31591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4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A40477-BBC4-485C-A481-816E23593E32}"/>
              </a:ext>
            </a:extLst>
          </p:cNvPr>
          <p:cNvSpPr txBox="1"/>
          <p:nvPr/>
        </p:nvSpPr>
        <p:spPr>
          <a:xfrm>
            <a:off x="6470493" y="5503189"/>
            <a:ext cx="2216307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What happens if </a:t>
            </a:r>
            <a:r>
              <a:rPr lang="en-US" err="1"/>
              <a:t>doubleArray</a:t>
            </a:r>
            <a:r>
              <a:rPr lang="en-US"/>
              <a:t>(foo, 3) is called instead?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216414-5BAB-59FF-A5AA-748695D4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8349E-3A56-D608-46D9-0BD11A87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830549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D4A3A-6069-4BED-2FEF-0CEAB7E4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B50F4CA-B0AF-F7BC-2BC4-F6980DE92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Mega Recap</a:t>
            </a:r>
          </a:p>
        </p:txBody>
      </p:sp>
      <p:sp>
        <p:nvSpPr>
          <p:cNvPr id="14339" name="HighlightTextShape201406201824391195">
            <a:extLst>
              <a:ext uri="{FF2B5EF4-FFF2-40B4-BE49-F238E27FC236}">
                <a16:creationId xmlns:a16="http://schemas.microsoft.com/office/drawing/2014/main" id="{E2C52605-0F9E-B33C-2B16-434DB8A734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913586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Algorithmic Problem Solving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Data Structures, Control Structures and Practical Algorithms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Good Coding Habits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Program Analysis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solidFill>
                  <a:srgbClr val="0000FF"/>
                </a:solidFill>
                <a:latin typeface="+mj-lt"/>
              </a:rPr>
              <a:t>Syntax of C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95E571-B115-A472-3262-9302E8D9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234624-3B58-EF96-A158-81A22B12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8502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Syntax of C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How to write Arithmetic Computations / Control Structures?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How to declare, and use Data Structures / Pointers / Functions?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How to manage Memory?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How to use C Library Functions for Math, Characters and Strings and Standard I/O?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 err="1"/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7FB84273-48E9-4A61-8B72-B7B797A1A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388" y="11430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A77DA5-D6BC-3BD3-BBCE-FBB1D4C5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21A6A2-3D8A-5D91-8427-9FBA1EBA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MR - </a:t>
            </a:r>
            <a:fld id="{2E4790E1-2590-4AEE-892D-AB46A7688113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826507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731</TotalTime>
  <Words>5805</Words>
  <Application>Microsoft Office PowerPoint</Application>
  <PresentationFormat>On-screen Show (4:3)</PresentationFormat>
  <Paragraphs>1372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ＭＳ Ｐゴシック</vt:lpstr>
      <vt:lpstr>Arial</vt:lpstr>
      <vt:lpstr>Calibri</vt:lpstr>
      <vt:lpstr>Cambria Math</vt:lpstr>
      <vt:lpstr>Courier New</vt:lpstr>
      <vt:lpstr>Garamond</vt:lpstr>
      <vt:lpstr>Tahoma</vt:lpstr>
      <vt:lpstr>Times New Roman</vt:lpstr>
      <vt:lpstr>Verdana</vt:lpstr>
      <vt:lpstr>Wingdings</vt:lpstr>
      <vt:lpstr>Clarity</vt:lpstr>
      <vt:lpstr>PowerPoint Presentation</vt:lpstr>
      <vt:lpstr>Objectives </vt:lpstr>
      <vt:lpstr>The Mega Recap</vt:lpstr>
      <vt:lpstr>Algorithmic Problem Solving</vt:lpstr>
      <vt:lpstr>The Problem</vt:lpstr>
      <vt:lpstr>The Process</vt:lpstr>
      <vt:lpstr>Algorithm: Example</vt:lpstr>
      <vt:lpstr>The Techniques</vt:lpstr>
      <vt:lpstr>The Process Expanded</vt:lpstr>
      <vt:lpstr>The Mega Recap</vt:lpstr>
      <vt:lpstr>Data Structures</vt:lpstr>
      <vt:lpstr>Basic Data Types</vt:lpstr>
      <vt:lpstr>Array</vt:lpstr>
      <vt:lpstr>String</vt:lpstr>
      <vt:lpstr>Multi-dimensional Arrays</vt:lpstr>
      <vt:lpstr>Structure Type</vt:lpstr>
      <vt:lpstr>Structure Type</vt:lpstr>
      <vt:lpstr>Structure Variables</vt:lpstr>
      <vt:lpstr>Control Structures</vt:lpstr>
      <vt:lpstr>Nested if-else Statements </vt:lpstr>
      <vt:lpstr>if-(else-if-)else… Statements </vt:lpstr>
      <vt:lpstr>Repetition through Recursion</vt:lpstr>
      <vt:lpstr>Common Types of Recursion</vt:lpstr>
      <vt:lpstr>Repetition through Loops</vt:lpstr>
      <vt:lpstr>Repetition through Loops</vt:lpstr>
      <vt:lpstr>Repetition through Loops</vt:lpstr>
      <vt:lpstr>Practical Algorithms</vt:lpstr>
      <vt:lpstr>Practical Algorithms</vt:lpstr>
      <vt:lpstr>Linear Search</vt:lpstr>
      <vt:lpstr>Binary Search</vt:lpstr>
      <vt:lpstr>Counting Sort</vt:lpstr>
      <vt:lpstr>Selection Sort</vt:lpstr>
      <vt:lpstr>Bubble Sort: One Pass</vt:lpstr>
      <vt:lpstr>Insertion Sort</vt:lpstr>
      <vt:lpstr>The Mega Recap</vt:lpstr>
      <vt:lpstr>Good Coding Habits</vt:lpstr>
      <vt:lpstr>N Queens</vt:lpstr>
      <vt:lpstr>N Queens</vt:lpstr>
      <vt:lpstr>N Queens</vt:lpstr>
      <vt:lpstr>N Queens</vt:lpstr>
      <vt:lpstr>N Queens</vt:lpstr>
      <vt:lpstr>Style</vt:lpstr>
      <vt:lpstr>Documentation</vt:lpstr>
      <vt:lpstr>Good Habits for Writing Efficient Code</vt:lpstr>
      <vt:lpstr>The Mega Recap</vt:lpstr>
      <vt:lpstr>Program Analysis</vt:lpstr>
      <vt:lpstr>Tracing (Code)</vt:lpstr>
      <vt:lpstr>Assertion</vt:lpstr>
      <vt:lpstr>Loop Invariant</vt:lpstr>
      <vt:lpstr>Time Complexity Analysis</vt:lpstr>
      <vt:lpstr>Time Complexity Analysis</vt:lpstr>
      <vt:lpstr>The Mega Recap</vt:lpstr>
      <vt:lpstr>Computer Memory</vt:lpstr>
      <vt:lpstr>Memory Address</vt:lpstr>
      <vt:lpstr>Pointers</vt:lpstr>
      <vt:lpstr>Call Stack</vt:lpstr>
      <vt:lpstr>Heap</vt:lpstr>
      <vt:lpstr>1D Array Allocation / Deallocation</vt:lpstr>
      <vt:lpstr>2D Array Allocation / Deallocation</vt:lpstr>
      <vt:lpstr>Call by Reference</vt:lpstr>
      <vt:lpstr>Call by Reference</vt:lpstr>
      <vt:lpstr>Call by Reference</vt:lpstr>
      <vt:lpstr>Call by Reference</vt:lpstr>
      <vt:lpstr>Function Definition / Call with Array</vt:lpstr>
      <vt:lpstr>The Mega Recap</vt:lpstr>
      <vt:lpstr>Syntax of C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6</cp:revision>
  <cp:lastPrinted>2014-06-20T04:24:53Z</cp:lastPrinted>
  <dcterms:created xsi:type="dcterms:W3CDTF">1998-09-05T15:03:32Z</dcterms:created>
  <dcterms:modified xsi:type="dcterms:W3CDTF">2026-04-13T08:04:37Z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