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>
  <p:sldMasterIdLst>
    <p:sldMasterId id="2147485087" r:id="rId1"/>
  </p:sldMasterIdLst>
  <p:notesMasterIdLst>
    <p:notesMasterId r:id="rId30"/>
  </p:notesMasterIdLst>
  <p:handoutMasterIdLst>
    <p:handoutMasterId r:id="rId31"/>
  </p:handoutMasterIdLst>
  <p:sldIdLst>
    <p:sldId id="256" r:id="rId2"/>
    <p:sldId id="468" r:id="rId3"/>
    <p:sldId id="553" r:id="rId4"/>
    <p:sldId id="602" r:id="rId5"/>
    <p:sldId id="601" r:id="rId6"/>
    <p:sldId id="604" r:id="rId7"/>
    <p:sldId id="603" r:id="rId8"/>
    <p:sldId id="605" r:id="rId9"/>
    <p:sldId id="606" r:id="rId10"/>
    <p:sldId id="607" r:id="rId11"/>
    <p:sldId id="608" r:id="rId12"/>
    <p:sldId id="609" r:id="rId13"/>
    <p:sldId id="641" r:id="rId14"/>
    <p:sldId id="642" r:id="rId15"/>
    <p:sldId id="643" r:id="rId16"/>
    <p:sldId id="617" r:id="rId17"/>
    <p:sldId id="564" r:id="rId18"/>
    <p:sldId id="645" r:id="rId19"/>
    <p:sldId id="619" r:id="rId20"/>
    <p:sldId id="639" r:id="rId21"/>
    <p:sldId id="638" r:id="rId22"/>
    <p:sldId id="636" r:id="rId23"/>
    <p:sldId id="622" r:id="rId24"/>
    <p:sldId id="640" r:id="rId25"/>
    <p:sldId id="635" r:id="rId26"/>
    <p:sldId id="637" r:id="rId27"/>
    <p:sldId id="526" r:id="rId28"/>
    <p:sldId id="646" r:id="rId29"/>
  </p:sldIdLst>
  <p:sldSz cx="9144000" cy="6858000" type="screen4x3"/>
  <p:notesSz cx="7010400" cy="92964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929">
          <p15:clr>
            <a:srgbClr val="A4A3A4"/>
          </p15:clr>
        </p15:guide>
        <p15:guide id="2" pos="2209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ECEAEA"/>
    <a:srgbClr val="006600"/>
    <a:srgbClr val="FFFF99"/>
    <a:srgbClr val="00CCFF"/>
    <a:srgbClr val="0099FF"/>
    <a:srgbClr val="6699FF"/>
    <a:srgbClr val="0066FF"/>
    <a:srgbClr val="CCFFCC"/>
    <a:srgbClr val="0000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326E25E-488C-45FF-AA3C-59425179819A}" v="1" dt="2026-02-19T05:45:48.083"/>
    <p1510:client id="{9D1D2A12-E498-4591-8453-6D1E333D30CC}" v="232" dt="2026-02-19T05:44:32.38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8536" autoAdjust="0"/>
    <p:restoredTop sz="96003" autoAdjust="0"/>
  </p:normalViewPr>
  <p:slideViewPr>
    <p:cSldViewPr snapToGrid="0">
      <p:cViewPr varScale="1">
        <p:scale>
          <a:sx n="100" d="100"/>
          <a:sy n="100" d="100"/>
        </p:scale>
        <p:origin x="1494" y="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>
      <p:cViewPr>
        <p:scale>
          <a:sx n="100" d="100"/>
          <a:sy n="100" d="100"/>
        </p:scale>
        <p:origin x="-1758" y="-72"/>
      </p:cViewPr>
      <p:guideLst>
        <p:guide orient="horz" pos="2929"/>
        <p:guide pos="2209"/>
      </p:guideLst>
    </p:cSldViewPr>
  </p:notesViewPr>
  <p:gridSpacing cx="45005" cy="45005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37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hao Jin" userId="cd05a825-544c-438a-9ba1-08e63db50b47" providerId="ADAL" clId="{5DF3A229-1965-414E-AF54-F4C37AC7DF68}"/>
    <pc:docChg chg="custSel modSld">
      <pc:chgData name="Zhao Jin" userId="cd05a825-544c-438a-9ba1-08e63db50b47" providerId="ADAL" clId="{5DF3A229-1965-414E-AF54-F4C37AC7DF68}" dt="2026-02-19T05:45:52.690" v="63" actId="20577"/>
      <pc:docMkLst>
        <pc:docMk/>
      </pc:docMkLst>
      <pc:sldChg chg="modSp mod">
        <pc:chgData name="Zhao Jin" userId="cd05a825-544c-438a-9ba1-08e63db50b47" providerId="ADAL" clId="{5DF3A229-1965-414E-AF54-F4C37AC7DF68}" dt="2026-02-19T05:45:52.690" v="63" actId="20577"/>
        <pc:sldMkLst>
          <pc:docMk/>
          <pc:sldMk cId="1067695719" sldId="526"/>
        </pc:sldMkLst>
        <pc:spChg chg="mod">
          <ac:chgData name="Zhao Jin" userId="cd05a825-544c-438a-9ba1-08e63db50b47" providerId="ADAL" clId="{5DF3A229-1965-414E-AF54-F4C37AC7DF68}" dt="2026-02-19T05:45:52.690" v="63" actId="20577"/>
          <ac:spMkLst>
            <pc:docMk/>
            <pc:sldMk cId="1067695719" sldId="526"/>
            <ac:spMk id="13" creationId="{00000000-0000-0000-0000-000000000000}"/>
          </ac:spMkLst>
        </pc:spChg>
      </pc:sldChg>
      <pc:sldChg chg="addAnim delAnim modAnim">
        <pc:chgData name="Zhao Jin" userId="cd05a825-544c-438a-9ba1-08e63db50b47" providerId="ADAL" clId="{5DF3A229-1965-414E-AF54-F4C37AC7DF68}" dt="2026-02-19T05:44:37.130" v="1"/>
        <pc:sldMkLst>
          <pc:docMk/>
          <pc:sldMk cId="3503582036" sldId="622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66" name="Rectangle 1026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5899" tIns="47949" rIns="95899" bIns="47949" numCol="1" anchor="t" anchorCtr="0" compatLnSpc="1">
            <a:prstTxWarp prst="textNoShape">
              <a:avLst/>
            </a:prstTxWarp>
          </a:bodyPr>
          <a:lstStyle>
            <a:lvl1pPr defTabSz="959358" eaLnBrk="0" hangingPunct="0">
              <a:defRPr sz="1300">
                <a:latin typeface="Times New Roman" pitchFamily="18" charset="0"/>
              </a:defRPr>
            </a:lvl1pPr>
          </a:lstStyle>
          <a:p>
            <a:pPr>
              <a:defRPr/>
            </a:pPr>
            <a:r>
              <a:rPr lang="en-GB" dirty="0">
                <a:latin typeface="+mn-lt"/>
              </a:rPr>
              <a:t>CS1010 Programming Methodology</a:t>
            </a:r>
          </a:p>
        </p:txBody>
      </p:sp>
      <p:sp>
        <p:nvSpPr>
          <p:cNvPr id="62467" name="Rectangle 1027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971614" y="0"/>
            <a:ext cx="3038786" cy="465341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5899" tIns="47949" rIns="95899" bIns="47949" numCol="1" anchor="t" anchorCtr="0" compatLnSpc="1">
            <a:prstTxWarp prst="textNoShape">
              <a:avLst/>
            </a:prstTxWarp>
          </a:bodyPr>
          <a:lstStyle>
            <a:lvl1pPr algn="r" defTabSz="959358" eaLnBrk="0" hangingPunct="0">
              <a:defRPr sz="130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GB" dirty="0"/>
          </a:p>
        </p:txBody>
      </p:sp>
      <p:sp>
        <p:nvSpPr>
          <p:cNvPr id="62468" name="Rectangle 1028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831059"/>
            <a:ext cx="3038786" cy="465341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5899" tIns="47949" rIns="95899" bIns="47949" numCol="1" anchor="b" anchorCtr="0" compatLnSpc="1">
            <a:prstTxWarp prst="textNoShape">
              <a:avLst/>
            </a:prstTxWarp>
          </a:bodyPr>
          <a:lstStyle>
            <a:lvl1pPr defTabSz="959358" eaLnBrk="0" hangingPunct="0">
              <a:defRPr sz="130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GB" dirty="0"/>
          </a:p>
        </p:txBody>
      </p:sp>
      <p:sp>
        <p:nvSpPr>
          <p:cNvPr id="62469" name="Rectangle 1029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971614" y="8831059"/>
            <a:ext cx="3038786" cy="465341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5899" tIns="47949" rIns="95899" bIns="47949" numCol="1" anchor="b" anchorCtr="0" compatLnSpc="1">
            <a:prstTxWarp prst="textNoShape">
              <a:avLst/>
            </a:prstTxWarp>
          </a:bodyPr>
          <a:lstStyle>
            <a:lvl1pPr algn="r" defTabSz="959358" eaLnBrk="0" hangingPunct="0">
              <a:defRPr sz="1300">
                <a:latin typeface="Times New Roman" pitchFamily="18" charset="0"/>
              </a:defRPr>
            </a:lvl1pPr>
          </a:lstStyle>
          <a:p>
            <a:pPr>
              <a:defRPr/>
            </a:pPr>
            <a:fld id="{A8128D1A-2CBE-4D8D-BBD3-EF7640D031AF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1813087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2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36167" y="4414043"/>
            <a:ext cx="5138067" cy="4185089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5899" tIns="47949" rIns="95899" bIns="4794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</a:p>
        </p:txBody>
      </p:sp>
      <p:sp>
        <p:nvSpPr>
          <p:cNvPr id="6042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831059"/>
            <a:ext cx="3038786" cy="465341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5899" tIns="47949" rIns="95899" bIns="47949" numCol="1" anchor="b" anchorCtr="0" compatLnSpc="1">
            <a:prstTxWarp prst="textNoShape">
              <a:avLst/>
            </a:prstTxWarp>
          </a:bodyPr>
          <a:lstStyle>
            <a:lvl1pPr defTabSz="959358" eaLnBrk="0" hangingPunct="0">
              <a:defRPr sz="130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GB" dirty="0"/>
          </a:p>
        </p:txBody>
      </p:sp>
      <p:sp>
        <p:nvSpPr>
          <p:cNvPr id="6042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971614" y="8831059"/>
            <a:ext cx="3038786" cy="465341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5899" tIns="47949" rIns="95899" bIns="47949" numCol="1" anchor="b" anchorCtr="0" compatLnSpc="1">
            <a:prstTxWarp prst="textNoShape">
              <a:avLst/>
            </a:prstTxWarp>
          </a:bodyPr>
          <a:lstStyle>
            <a:lvl1pPr algn="r" defTabSz="959358" eaLnBrk="0" hangingPunct="0">
              <a:defRPr sz="1300">
                <a:latin typeface="Times New Roman" pitchFamily="18" charset="0"/>
              </a:defRPr>
            </a:lvl1pPr>
          </a:lstStyle>
          <a:p>
            <a:pPr>
              <a:defRPr/>
            </a:pPr>
            <a:fld id="{82D49F41-42BD-4A7F-84D4-B4F7E48B4FCD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  <p:sp>
        <p:nvSpPr>
          <p:cNvPr id="8" name="Date Placeholder 7"/>
          <p:cNvSpPr>
            <a:spLocks noGrp="1"/>
          </p:cNvSpPr>
          <p:nvPr>
            <p:ph type="dt" idx="1"/>
          </p:nvPr>
        </p:nvSpPr>
        <p:spPr>
          <a:xfrm>
            <a:off x="3971614" y="0"/>
            <a:ext cx="3037117" cy="465341"/>
          </a:xfrm>
          <a:prstGeom prst="rect">
            <a:avLst/>
          </a:prstGeom>
        </p:spPr>
        <p:txBody>
          <a:bodyPr vert="horz" lIns="92098" tIns="46049" rIns="92098" bIns="46049" rtlCol="0"/>
          <a:lstStyle>
            <a:lvl1pPr algn="r">
              <a:defRPr sz="1200"/>
            </a:lvl1pPr>
          </a:lstStyle>
          <a:p>
            <a:pPr>
              <a:defRPr/>
            </a:pPr>
            <a:fld id="{0AF3AFD6-2BC0-4B1C-A3C8-8C3FEB1DB624}" type="datetimeFigureOut">
              <a:rPr lang="en-US"/>
              <a:pPr>
                <a:defRPr/>
              </a:pPr>
              <a:t>2/19/2026</a:t>
            </a:fld>
            <a:endParaRPr lang="en-US" dirty="0"/>
          </a:p>
        </p:txBody>
      </p:sp>
      <p:sp>
        <p:nvSpPr>
          <p:cNvPr id="9" name="Slide Image Placeholder 8"/>
          <p:cNvSpPr>
            <a:spLocks noGrp="1" noRot="1" noChangeAspect="1"/>
          </p:cNvSpPr>
          <p:nvPr>
            <p:ph type="sldImg" idx="2"/>
          </p:nvPr>
        </p:nvSpPr>
        <p:spPr>
          <a:xfrm>
            <a:off x="1181100" y="696913"/>
            <a:ext cx="4648200" cy="3486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 dirty="0"/>
          </a:p>
        </p:txBody>
      </p:sp>
      <p:sp>
        <p:nvSpPr>
          <p:cNvPr id="11" name="Header Placeholder 10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117" cy="46534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r>
              <a:rPr lang="en-US" dirty="0"/>
              <a:t>CS1010 Programming  Methodology</a:t>
            </a:r>
          </a:p>
        </p:txBody>
      </p:sp>
    </p:spTree>
    <p:extLst>
      <p:ext uri="{BB962C8B-B14F-4D97-AF65-F5344CB8AC3E}">
        <p14:creationId xmlns:p14="http://schemas.microsoft.com/office/powerpoint/2010/main" val="1838096873"/>
      </p:ext>
    </p:extLst>
  </p:cSld>
  <p:clrMap bg1="lt1" tx1="dk1" bg2="lt2" tx2="dk2" accent1="accent1" accent2="accent2" accent3="accent3" accent4="accent4" accent5="accent5" accent6="accent6" hlink="hlink" folHlink="folHlink"/>
  <p:hf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Arial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Arial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Arial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Arial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 dirty="0"/>
              <a:t>CS1010 Programming Methodology</a:t>
            </a:r>
          </a:p>
        </p:txBody>
      </p:sp>
      <p:sp>
        <p:nvSpPr>
          <p:cNvPr id="63491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3492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 w="9525"/>
        </p:spPr>
        <p:txBody>
          <a:bodyPr/>
          <a:lstStyle/>
          <a:p>
            <a:pPr eaLnBrk="1" hangingPunct="1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2074482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 dirty="0"/>
              <a:t>CS1010 Programming Methodology</a:t>
            </a:r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186085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242865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861552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304097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864614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528459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728478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369835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C6B4A2-B6D2-ACE1-DD4B-31BE5DE90D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>
            <a:extLst>
              <a:ext uri="{FF2B5EF4-FFF2-40B4-BE49-F238E27FC236}">
                <a16:creationId xmlns:a16="http://schemas.microsoft.com/office/drawing/2014/main" id="{66FF1ACC-74A5-184F-21F0-1600841BDD7C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>
            <a:extLst>
              <a:ext uri="{FF2B5EF4-FFF2-40B4-BE49-F238E27FC236}">
                <a16:creationId xmlns:a16="http://schemas.microsoft.com/office/drawing/2014/main" id="{A223F143-7288-1654-4702-14FB6A99814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>
            <a:extLst>
              <a:ext uri="{FF2B5EF4-FFF2-40B4-BE49-F238E27FC236}">
                <a16:creationId xmlns:a16="http://schemas.microsoft.com/office/drawing/2014/main" id="{10863C80-2C56-BD60-B61C-56F74991723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300559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3491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3492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 w="9525"/>
        </p:spPr>
        <p:txBody>
          <a:bodyPr/>
          <a:lstStyle/>
          <a:p>
            <a:pPr eaLnBrk="1" hangingPunct="1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2074482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186085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ECF384-7023-6323-3FFD-5BF560871A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>
            <a:extLst>
              <a:ext uri="{FF2B5EF4-FFF2-40B4-BE49-F238E27FC236}">
                <a16:creationId xmlns:a16="http://schemas.microsoft.com/office/drawing/2014/main" id="{5E2FFD40-8B9D-E71F-8B03-AB4924DD4111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>
            <a:extLst>
              <a:ext uri="{FF2B5EF4-FFF2-40B4-BE49-F238E27FC236}">
                <a16:creationId xmlns:a16="http://schemas.microsoft.com/office/drawing/2014/main" id="{E784B40D-F350-E294-988D-C3968448EFDB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>
            <a:extLst>
              <a:ext uri="{FF2B5EF4-FFF2-40B4-BE49-F238E27FC236}">
                <a16:creationId xmlns:a16="http://schemas.microsoft.com/office/drawing/2014/main" id="{2F07A411-C578-230A-6E5A-EA26B3B2B5A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868017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458539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242865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734689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110803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B354AD-F18B-B313-0528-7D9B53909F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>
            <a:extLst>
              <a:ext uri="{FF2B5EF4-FFF2-40B4-BE49-F238E27FC236}">
                <a16:creationId xmlns:a16="http://schemas.microsoft.com/office/drawing/2014/main" id="{656EA589-B5E5-78DB-ED1D-ABE89110AF45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>
            <a:extLst>
              <a:ext uri="{FF2B5EF4-FFF2-40B4-BE49-F238E27FC236}">
                <a16:creationId xmlns:a16="http://schemas.microsoft.com/office/drawing/2014/main" id="{D135A176-E1BC-6319-FCDC-32A75284AC2A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>
            <a:extLst>
              <a:ext uri="{FF2B5EF4-FFF2-40B4-BE49-F238E27FC236}">
                <a16:creationId xmlns:a16="http://schemas.microsoft.com/office/drawing/2014/main" id="{C2B190CC-EC59-2B86-1FA7-600338C11F3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199678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66469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EC7E54-E002-CEC6-6147-199F85A908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>
            <a:extLst>
              <a:ext uri="{FF2B5EF4-FFF2-40B4-BE49-F238E27FC236}">
                <a16:creationId xmlns:a16="http://schemas.microsoft.com/office/drawing/2014/main" id="{54381458-D634-6B46-B7EC-892F6D6E5F51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>
            <a:extLst>
              <a:ext uri="{FF2B5EF4-FFF2-40B4-BE49-F238E27FC236}">
                <a16:creationId xmlns:a16="http://schemas.microsoft.com/office/drawing/2014/main" id="{878C85AC-1A2D-E226-2FB3-10E3FD817BCA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>
            <a:extLst>
              <a:ext uri="{FF2B5EF4-FFF2-40B4-BE49-F238E27FC236}">
                <a16:creationId xmlns:a16="http://schemas.microsoft.com/office/drawing/2014/main" id="{CD4F0585-E4FE-7F2C-E2D8-75A27A66ED6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697904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ADF047-6678-2651-6921-9081E56A43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>
            <a:extLst>
              <a:ext uri="{FF2B5EF4-FFF2-40B4-BE49-F238E27FC236}">
                <a16:creationId xmlns:a16="http://schemas.microsoft.com/office/drawing/2014/main" id="{CCB5DAA5-6A34-D388-405E-EA5D755CCEAB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>
            <a:extLst>
              <a:ext uri="{FF2B5EF4-FFF2-40B4-BE49-F238E27FC236}">
                <a16:creationId xmlns:a16="http://schemas.microsoft.com/office/drawing/2014/main" id="{C4F70E0D-79B3-D2F1-44EE-DC7B4449D1C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>
            <a:extLst>
              <a:ext uri="{FF2B5EF4-FFF2-40B4-BE49-F238E27FC236}">
                <a16:creationId xmlns:a16="http://schemas.microsoft.com/office/drawing/2014/main" id="{49458400-76E1-00CD-6D39-49676B36CEF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672640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334226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829331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740F64-F28F-9CCD-64C5-122B6791A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>
            <a:extLst>
              <a:ext uri="{FF2B5EF4-FFF2-40B4-BE49-F238E27FC236}">
                <a16:creationId xmlns:a16="http://schemas.microsoft.com/office/drawing/2014/main" id="{E9017B0B-5BC6-7D50-06EC-7FA59CA065D2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>
            <a:extLst>
              <a:ext uri="{FF2B5EF4-FFF2-40B4-BE49-F238E27FC236}">
                <a16:creationId xmlns:a16="http://schemas.microsoft.com/office/drawing/2014/main" id="{0DC81158-FBA3-E040-0DDD-22C7192D00F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>
            <a:extLst>
              <a:ext uri="{FF2B5EF4-FFF2-40B4-BE49-F238E27FC236}">
                <a16:creationId xmlns:a16="http://schemas.microsoft.com/office/drawing/2014/main" id="{A9CA068D-09CD-7973-64C7-256446D7497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531230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327401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175470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5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7475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7475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 w="9525"/>
        </p:spPr>
        <p:txBody>
          <a:bodyPr/>
          <a:lstStyle/>
          <a:p>
            <a:pPr eaLnBrk="1" hangingPunct="1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121674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F53B2B-BF7B-C90E-EA01-098BC2A0AF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54" name="Rectangle 2">
            <a:extLst>
              <a:ext uri="{FF2B5EF4-FFF2-40B4-BE49-F238E27FC236}">
                <a16:creationId xmlns:a16="http://schemas.microsoft.com/office/drawing/2014/main" id="{B46FEA5C-0438-DFD0-5C5C-493B70182389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74755" name="Rectangle 2">
            <a:extLst>
              <a:ext uri="{FF2B5EF4-FFF2-40B4-BE49-F238E27FC236}">
                <a16:creationId xmlns:a16="http://schemas.microsoft.com/office/drawing/2014/main" id="{F8FE9C7D-056E-9D11-6989-F0A64695771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74756" name="Rectangle 3">
            <a:extLst>
              <a:ext uri="{FF2B5EF4-FFF2-40B4-BE49-F238E27FC236}">
                <a16:creationId xmlns:a16="http://schemas.microsoft.com/office/drawing/2014/main" id="{5DDA9328-FE7C-9339-034A-6F0A5F15010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 w="9525"/>
        </p:spPr>
        <p:txBody>
          <a:bodyPr/>
          <a:lstStyle/>
          <a:p>
            <a:pPr eaLnBrk="1" hangingPunct="1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01220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371600"/>
            <a:ext cx="7848600" cy="1927225"/>
          </a:xfrm>
        </p:spPr>
        <p:txBody>
          <a:bodyPr anchor="b">
            <a:noAutofit/>
          </a:bodyPr>
          <a:lstStyle>
            <a:lvl1pPr>
              <a:defRPr sz="5400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5800" y="3505200"/>
            <a:ext cx="6400800" cy="1752600"/>
          </a:xfrm>
        </p:spPr>
        <p:txBody>
          <a:bodyPr/>
          <a:lstStyle>
            <a:lvl1pPr marL="0" indent="0" algn="l"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[35cce793-99a6-4f28-9e1a-625ba96e3db4]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© NUS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0"/>
            </a:lvl1pPr>
          </a:lstStyle>
          <a:p>
            <a:pPr>
              <a:defRPr/>
            </a:pPr>
            <a:r>
              <a:rPr lang="en-US" dirty="0"/>
              <a:t>Unit13 - </a:t>
            </a:r>
            <a:fld id="{2E4790E1-2590-4AEE-892D-AB46A7688113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cxnSp>
        <p:nvCxnSpPr>
          <p:cNvPr id="8" name="Straight Connector 7"/>
          <p:cNvCxnSpPr/>
          <p:nvPr/>
        </p:nvCxnSpPr>
        <p:spPr>
          <a:xfrm>
            <a:off x="685800" y="3398520"/>
            <a:ext cx="7848600" cy="1588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© NUS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200" b="0"/>
            </a:lvl1pPr>
          </a:lstStyle>
          <a:p>
            <a:pPr>
              <a:defRPr/>
            </a:pPr>
            <a:r>
              <a:rPr lang="en-US" dirty="0"/>
              <a:t>Unit13 - </a:t>
            </a:r>
            <a:fld id="{2E4790E1-2590-4AEE-892D-AB46A7688113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2362200"/>
            <a:ext cx="7772400" cy="2200275"/>
          </a:xfrm>
        </p:spPr>
        <p:txBody>
          <a:bodyPr anchor="b">
            <a:normAutofit/>
          </a:bodyPr>
          <a:lstStyle>
            <a:lvl1pPr algn="l">
              <a:defRPr sz="48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4626864"/>
            <a:ext cx="7772400" cy="1500187"/>
          </a:xfrm>
        </p:spPr>
        <p:txBody>
          <a:bodyPr anchor="t">
            <a:normAutofit/>
          </a:bodyPr>
          <a:lstStyle>
            <a:lvl1pPr marL="0" indent="0"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© NUS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200" b="0"/>
            </a:lvl1pPr>
          </a:lstStyle>
          <a:p>
            <a:pPr>
              <a:defRPr/>
            </a:pPr>
            <a:r>
              <a:rPr lang="en-US" dirty="0"/>
              <a:t>Unit13 - </a:t>
            </a:r>
            <a:fld id="{2E4790E1-2590-4AEE-892D-AB46A7688113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cxnSp>
        <p:nvCxnSpPr>
          <p:cNvPr id="7" name="Straight Connector 6"/>
          <p:cNvCxnSpPr/>
          <p:nvPr/>
        </p:nvCxnSpPr>
        <p:spPr>
          <a:xfrm>
            <a:off x="731520" y="4599432"/>
            <a:ext cx="7848600" cy="1588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73352"/>
            <a:ext cx="4038600" cy="471830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73352"/>
            <a:ext cx="4038600" cy="471830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© NUS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Unit13 - </a:t>
            </a:r>
            <a:fld id="{2E4790E1-2590-4AEE-892D-AB46A7688113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76400"/>
            <a:ext cx="3931920" cy="639762"/>
          </a:xfrm>
          <a:noFill/>
          <a:ln>
            <a:noFill/>
          </a:ln>
          <a:effectLst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none"/>
        </p:style>
        <p:txBody>
          <a:bodyPr anchor="ctr">
            <a:normAutofit/>
          </a:bodyPr>
          <a:lstStyle>
            <a:lvl1pPr marL="0" indent="0" algn="ctr">
              <a:buNone/>
              <a:defRPr sz="2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438400"/>
            <a:ext cx="393192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4880" y="1676400"/>
            <a:ext cx="3931920" cy="639762"/>
          </a:xfrm>
          <a:noFill/>
          <a:ln>
            <a:noFill/>
          </a:ln>
          <a:effectLst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none"/>
        </p:style>
        <p:txBody>
          <a:bodyPr anchor="ctr">
            <a:normAutofit/>
          </a:bodyPr>
          <a:lstStyle>
            <a:lvl1pPr marL="0" indent="0" algn="ctr">
              <a:buNone/>
              <a:defRPr lang="en-US" sz="2000" b="0" kern="1200" dirty="0" smtClean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4880" y="2438400"/>
            <a:ext cx="393192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© NUS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Unit13 - </a:t>
            </a:r>
            <a:fld id="{2E4790E1-2590-4AEE-892D-AB46A7688113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cxnSp>
        <p:nvCxnSpPr>
          <p:cNvPr id="11" name="Straight Connector 10"/>
          <p:cNvCxnSpPr/>
          <p:nvPr/>
        </p:nvCxnSpPr>
        <p:spPr>
          <a:xfrm rot="5400000">
            <a:off x="2217817" y="4045823"/>
            <a:ext cx="4709160" cy="794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© NUS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Unit13 - </a:t>
            </a:r>
            <a:fld id="{2E4790E1-2590-4AEE-892D-AB46A7688113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© NUS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Unit13 - </a:t>
            </a:r>
            <a:fld id="{2E4790E1-2590-4AEE-892D-AB46A7688113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92080"/>
            <a:ext cx="2139696" cy="1261872"/>
          </a:xfrm>
        </p:spPr>
        <p:txBody>
          <a:bodyPr anchor="b">
            <a:no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71800" y="792080"/>
            <a:ext cx="5715000" cy="557784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2130552"/>
            <a:ext cx="2139696" cy="424361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© NUS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Unit13 - </a:t>
            </a:r>
            <a:fld id="{2E4790E1-2590-4AEE-892D-AB46A7688113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cxnSp>
        <p:nvCxnSpPr>
          <p:cNvPr id="9" name="Straight Connector 8"/>
          <p:cNvCxnSpPr/>
          <p:nvPr/>
        </p:nvCxnSpPr>
        <p:spPr>
          <a:xfrm rot="5400000">
            <a:off x="-13116" y="3580206"/>
            <a:ext cx="5577840" cy="1588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92480"/>
            <a:ext cx="2142680" cy="126492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858610" y="838201"/>
            <a:ext cx="5904390" cy="5500456"/>
          </a:xfrm>
          <a:solidFill>
            <a:schemeClr val="bg2"/>
          </a:solidFill>
          <a:ln w="76200">
            <a:solidFill>
              <a:srgbClr val="FFFFFF"/>
            </a:solidFill>
            <a:miter lim="800000"/>
          </a:ln>
          <a:effectLst>
            <a:outerShdw blurRad="50800" dist="12700" dir="5400000" algn="t" rotWithShape="0">
              <a:prstClr val="black">
                <a:alpha val="59000"/>
              </a:prstClr>
            </a:outerShdw>
          </a:effectLst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133600"/>
            <a:ext cx="2139696" cy="424281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© NUS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Unit13 - </a:t>
            </a:r>
            <a:fld id="{2E4790E1-2590-4AEE-892D-AB46A7688113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© NUS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Unit13 - </a:t>
            </a:r>
            <a:fld id="{2E4790E1-2590-4AEE-892D-AB46A7688113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609600"/>
            <a:ext cx="2057400" cy="5867400"/>
          </a:xfrm>
        </p:spPr>
        <p:txBody>
          <a:bodyPr vert="eaVert"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609600"/>
            <a:ext cx="6019800" cy="58674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© NUS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Unit13 - </a:t>
            </a:r>
            <a:fld id="{2E4790E1-2590-4AEE-892D-AB46A7688113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0" y="220786"/>
            <a:ext cx="9144000" cy="228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533400"/>
            <a:ext cx="8229600" cy="990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876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9144000" cy="3657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18288"/>
            <a:ext cx="2895600" cy="3291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 lang="en-US"/>
              <a:t>© NUS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429000" y="18288"/>
            <a:ext cx="4114800" cy="3291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620000" y="18288"/>
            <a:ext cx="1066800" cy="3291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 lang="en-US" dirty="0"/>
              <a:t>Unit13 - </a:t>
            </a:r>
            <a:fld id="{2E4790E1-2590-4AEE-892D-AB46A7688113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5088" r:id="rId1"/>
    <p:sldLayoutId id="2147485089" r:id="rId2"/>
    <p:sldLayoutId id="2147485090" r:id="rId3"/>
    <p:sldLayoutId id="2147485091" r:id="rId4"/>
    <p:sldLayoutId id="2147485092" r:id="rId5"/>
    <p:sldLayoutId id="2147485093" r:id="rId6"/>
    <p:sldLayoutId id="2147485094" r:id="rId7"/>
    <p:sldLayoutId id="2147485095" r:id="rId8"/>
    <p:sldLayoutId id="2147485096" r:id="rId9"/>
    <p:sldLayoutId id="2147485097" r:id="rId10"/>
    <p:sldLayoutId id="2147485098" r:id="rId11"/>
  </p:sldLayoutIdLst>
  <p:transition>
    <p:fade/>
  </p:transition>
  <p:hf hdr="0"/>
  <p:txStyles>
    <p:titleStyle>
      <a:lvl1pPr algn="l" defTabSz="914400" rtl="0" eaLnBrk="1" latinLnBrk="0" hangingPunct="1">
        <a:spcBef>
          <a:spcPct val="0"/>
        </a:spcBef>
        <a:buNone/>
        <a:defRPr sz="4000" kern="1200" spc="-1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spcBef>
          <a:spcPct val="20000"/>
        </a:spcBef>
        <a:buClr>
          <a:schemeClr val="accent1"/>
        </a:buClr>
        <a:buSzPct val="85000"/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spcBef>
          <a:spcPct val="20000"/>
        </a:spcBef>
        <a:buClr>
          <a:schemeClr val="accent1"/>
        </a:buClr>
        <a:buSzPct val="85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spcBef>
          <a:spcPct val="20000"/>
        </a:spcBef>
        <a:buClr>
          <a:schemeClr val="accent1"/>
        </a:buClr>
        <a:buSzPct val="90000"/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188720" indent="-137160" algn="l" defTabSz="914400" rtl="0" eaLnBrk="1" latinLnBrk="0" hangingPunct="1">
        <a:spcBef>
          <a:spcPct val="20000"/>
        </a:spcBef>
        <a:buClr>
          <a:schemeClr val="accent1"/>
        </a:buClr>
        <a:buSzPct val="100000"/>
        <a:buFont typeface="Arial" pitchFamily="34" charset="0"/>
        <a:buChar char="•"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1371600" indent="-18288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1300" kern="1200">
          <a:solidFill>
            <a:schemeClr val="tx1"/>
          </a:solidFill>
          <a:latin typeface="+mn-lt"/>
          <a:ea typeface="+mn-ea"/>
          <a:cs typeface="+mn-cs"/>
        </a:defRPr>
      </a:lvl6pPr>
      <a:lvl7pPr marL="1554480" indent="-18288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1300" kern="1200">
          <a:solidFill>
            <a:schemeClr val="tx1"/>
          </a:solidFill>
          <a:latin typeface="+mn-lt"/>
          <a:ea typeface="+mn-ea"/>
          <a:cs typeface="+mn-cs"/>
        </a:defRPr>
      </a:lvl7pPr>
      <a:lvl8pPr marL="1737360" indent="-18288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1300" kern="1200">
          <a:solidFill>
            <a:schemeClr val="tx1"/>
          </a:solidFill>
          <a:latin typeface="+mn-lt"/>
          <a:ea typeface="+mn-ea"/>
          <a:cs typeface="+mn-cs"/>
        </a:defRPr>
      </a:lvl8pPr>
      <a:lvl9pPr marL="1920240" indent="-18288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13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5.png"/><Relationship Id="rId4" Type="http://schemas.openxmlformats.org/officeDocument/2006/relationships/image" Target="../media/image7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jpe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99913" y="4696884"/>
            <a:ext cx="2445774" cy="1263650"/>
          </a:xfrm>
          <a:prstGeom prst="rect">
            <a:avLst/>
          </a:prstGeom>
        </p:spPr>
      </p:pic>
      <p:sp>
        <p:nvSpPr>
          <p:cNvPr id="8" name="[TextBox 7]"/>
          <p:cNvSpPr txBox="1"/>
          <p:nvPr/>
        </p:nvSpPr>
        <p:spPr>
          <a:xfrm>
            <a:off x="3513667" y="2912533"/>
            <a:ext cx="22182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C00000"/>
                </a:solidFill>
                <a:latin typeface="Calibri" panose="020F0502020204030204" pitchFamily="34" charset="0"/>
              </a:rPr>
              <a:t>UNIT 13</a:t>
            </a:r>
          </a:p>
        </p:txBody>
      </p:sp>
      <p:sp>
        <p:nvSpPr>
          <p:cNvPr id="11" name="[TextBox 7]"/>
          <p:cNvSpPr txBox="1"/>
          <p:nvPr/>
        </p:nvSpPr>
        <p:spPr>
          <a:xfrm>
            <a:off x="1058333" y="3462867"/>
            <a:ext cx="712893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C00000"/>
                </a:solidFill>
                <a:latin typeface="Calibri" panose="020F0502020204030204" pitchFamily="34" charset="0"/>
              </a:rPr>
              <a:t>Call Stack</a:t>
            </a:r>
          </a:p>
        </p:txBody>
      </p:sp>
      <p:sp>
        <p:nvSpPr>
          <p:cNvPr id="9" name="Title 1"/>
          <p:cNvSpPr txBox="1">
            <a:spLocks/>
          </p:cNvSpPr>
          <p:nvPr/>
        </p:nvSpPr>
        <p:spPr>
          <a:xfrm>
            <a:off x="822960" y="1245704"/>
            <a:ext cx="7543800" cy="111318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6600" kern="1200" spc="-50" baseline="0">
                <a:solidFill>
                  <a:srgbClr val="003399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5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-38" normalizeH="0" baseline="0" noProof="0" dirty="0">
                <a:ln>
                  <a:noFill/>
                </a:ln>
                <a:solidFill>
                  <a:srgbClr val="003399"/>
                </a:solidFill>
                <a:effectLst/>
                <a:uLnTx/>
                <a:uFillTx/>
                <a:latin typeface="Arial"/>
              </a:rPr>
              <a:t>CS1010: </a:t>
            </a:r>
            <a:r>
              <a:rPr lang="en-US" sz="3600" spc="-38" dirty="0">
                <a:latin typeface="Arial"/>
              </a:rPr>
              <a:t>Programming Methodology</a:t>
            </a:r>
            <a:endParaRPr kumimoji="0" lang="en-SG" sz="7200" b="0" i="0" u="none" strike="noStrike" kern="1200" cap="none" spc="-50" normalizeH="0" baseline="0" noProof="0" dirty="0">
              <a:ln>
                <a:noFill/>
              </a:ln>
              <a:solidFill>
                <a:srgbClr val="003399"/>
              </a:solidFill>
              <a:effectLst/>
              <a:uLnTx/>
              <a:uFillTx/>
              <a:latin typeface="Arial"/>
              <a:ea typeface="+mj-ea"/>
              <a:cs typeface="+mj-cs"/>
            </a:endParaRPr>
          </a:p>
        </p:txBody>
      </p:sp>
      <p:pic>
        <p:nvPicPr>
          <p:cNvPr id="2" name="Picture 1" descr="Qr code&#10;&#10;Description automatically generated">
            <a:extLst>
              <a:ext uri="{FF2B5EF4-FFF2-40B4-BE49-F238E27FC236}">
                <a16:creationId xmlns:a16="http://schemas.microsoft.com/office/drawing/2014/main" id="{B4DA49F8-E18F-52EC-1CF6-52AD84D6D83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43800" y="4946796"/>
            <a:ext cx="1447800" cy="14478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FBB6C58-B228-D947-3E1F-039D749A4DE2}"/>
              </a:ext>
            </a:extLst>
          </p:cNvPr>
          <p:cNvSpPr txBox="1"/>
          <p:nvPr/>
        </p:nvSpPr>
        <p:spPr>
          <a:xfrm>
            <a:off x="6430765" y="5917365"/>
            <a:ext cx="264302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2000" dirty="0"/>
              <a:t>Live Q&amp;A </a:t>
            </a:r>
          </a:p>
          <a:p>
            <a:r>
              <a:rPr lang="en-SG" sz="2000" dirty="0"/>
              <a:t>https://pollev.com/jin</a:t>
            </a:r>
          </a:p>
        </p:txBody>
      </p:sp>
    </p:spTree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PTLabsHighlightBulletsSlide2014070809294006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GB" sz="3600" dirty="0">
                <a:solidFill>
                  <a:srgbClr val="0000FF"/>
                </a:solidFill>
              </a:rPr>
              <a:t>Unit 13: Call Stack</a:t>
            </a:r>
          </a:p>
        </p:txBody>
      </p:sp>
      <p:sp>
        <p:nvSpPr>
          <p:cNvPr id="14339" name="HighlightTextShape201406201824391195"/>
          <p:cNvSpPr>
            <a:spLocks noGrp="1" noChangeArrowheads="1"/>
          </p:cNvSpPr>
          <p:nvPr>
            <p:ph idx="1"/>
          </p:nvPr>
        </p:nvSpPr>
        <p:spPr>
          <a:xfrm>
            <a:off x="418641" y="1371600"/>
            <a:ext cx="8420559" cy="4495800"/>
          </a:xfrm>
        </p:spPr>
        <p:txBody>
          <a:bodyPr/>
          <a:lstStyle/>
          <a:p>
            <a:pPr marL="514350" indent="-514350" eaLnBrk="1" hangingPunct="1">
              <a:buClrTx/>
              <a:buSzPct val="100000"/>
              <a:buFont typeface="+mj-lt"/>
              <a:buAutoNum type="arabicPeriod"/>
            </a:pPr>
            <a:r>
              <a:rPr lang="en-GB" sz="2800" dirty="0">
                <a:latin typeface="+mj-lt"/>
              </a:rPr>
              <a:t>Stack Frame</a:t>
            </a:r>
          </a:p>
          <a:p>
            <a:pPr marL="514350" indent="-514350" eaLnBrk="1" hangingPunct="1">
              <a:buClrTx/>
              <a:buSzPct val="100000"/>
              <a:buFont typeface="+mj-lt"/>
              <a:buAutoNum type="arabicPeriod"/>
            </a:pPr>
            <a:r>
              <a:rPr lang="en-GB" sz="2800">
                <a:latin typeface="+mj-lt"/>
              </a:rPr>
              <a:t>Call Stack</a:t>
            </a:r>
            <a:endParaRPr lang="en-GB" sz="2800" dirty="0">
              <a:latin typeface="+mj-lt"/>
            </a:endParaRPr>
          </a:p>
          <a:p>
            <a:pPr marL="514350" indent="-514350" eaLnBrk="1" hangingPunct="1">
              <a:buClrTx/>
              <a:buSzPct val="100000"/>
              <a:buFont typeface="+mj-lt"/>
              <a:buAutoNum type="arabicPeriod"/>
            </a:pPr>
            <a:endParaRPr lang="en-GB" sz="2800" dirty="0">
              <a:latin typeface="+mj-lt"/>
            </a:endParaRPr>
          </a:p>
          <a:p>
            <a:pPr marL="514350" indent="-514350" eaLnBrk="1" hangingPunct="1">
              <a:buClrTx/>
              <a:buSzPct val="100000"/>
              <a:buFont typeface="+mj-lt"/>
              <a:buAutoNum type="arabicPeriod"/>
            </a:pPr>
            <a:endParaRPr lang="en-GB" sz="2800" dirty="0">
              <a:latin typeface="+mj-lt"/>
            </a:endParaRPr>
          </a:p>
          <a:p>
            <a:pPr marL="514350" indent="-514350" eaLnBrk="1" hangingPunct="1">
              <a:buClrTx/>
              <a:buSzPct val="100000"/>
              <a:buFont typeface="+mj-lt"/>
              <a:buAutoNum type="arabicPeriod"/>
            </a:pPr>
            <a:endParaRPr lang="en-GB" sz="2800" dirty="0">
              <a:latin typeface="+mj-lt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sz="1200" dirty="0"/>
              <a:t>Unit13</a:t>
            </a:r>
            <a:r>
              <a:rPr sz="1200" dirty="0"/>
              <a:t> - </a:t>
            </a:r>
            <a:fld id="{F7EC234A-9094-4BB8-9EA4-75ECDA8A365B}" type="slidenum">
              <a:rPr sz="1200" smtClean="0"/>
              <a:pPr>
                <a:defRPr/>
              </a:pPr>
              <a:t>2</a:t>
            </a:fld>
            <a:endParaRPr sz="1200" dirty="0"/>
          </a:p>
        </p:txBody>
      </p:sp>
      <p:sp>
        <p:nvSpPr>
          <p:cNvPr id="12" name="[Date Placeholder 3]"/>
          <p:cNvSpPr>
            <a:spLocks noGrp="1"/>
          </p:cNvSpPr>
          <p:nvPr>
            <p:ph type="dt" sz="half" idx="10"/>
          </p:nvPr>
        </p:nvSpPr>
        <p:spPr>
          <a:xfrm>
            <a:off x="457200" y="18288"/>
            <a:ext cx="2895600" cy="329184"/>
          </a:xfrm>
        </p:spPr>
        <p:txBody>
          <a:bodyPr/>
          <a:lstStyle/>
          <a:p>
            <a:pPr>
              <a:defRPr/>
            </a:pPr>
            <a:r>
              <a:rPr lang="en-US"/>
              <a:t>© NUS</a:t>
            </a:r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F3CE0239-B380-084D-6ECC-36B22CDE52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</p:spTree>
    <p:extLst>
      <p:ext uri="{BB962C8B-B14F-4D97-AF65-F5344CB8AC3E}">
        <p14:creationId xmlns:p14="http://schemas.microsoft.com/office/powerpoint/2010/main" val="2438607696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GB" sz="3600" dirty="0">
                <a:solidFill>
                  <a:srgbClr val="0000FF"/>
                </a:solidFill>
              </a:rPr>
              <a:t>Variable Declaration - redux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sz="1200" dirty="0"/>
              <a:t>Unit13</a:t>
            </a:r>
            <a:r>
              <a:rPr sz="1200" dirty="0"/>
              <a:t> - </a:t>
            </a:r>
            <a:fld id="{F7EC234A-9094-4BB8-9EA4-75ECDA8A365B}" type="slidenum">
              <a:rPr sz="1200" smtClean="0"/>
              <a:pPr>
                <a:defRPr/>
              </a:pPr>
              <a:t>3</a:t>
            </a:fld>
            <a:endParaRPr sz="1200" dirty="0"/>
          </a:p>
        </p:txBody>
      </p:sp>
      <p:sp>
        <p:nvSpPr>
          <p:cNvPr id="12" name="[Date Placeholder 3]"/>
          <p:cNvSpPr>
            <a:spLocks noGrp="1"/>
          </p:cNvSpPr>
          <p:nvPr>
            <p:ph type="dt" sz="half" idx="10"/>
          </p:nvPr>
        </p:nvSpPr>
        <p:spPr>
          <a:xfrm>
            <a:off x="457200" y="18288"/>
            <a:ext cx="2895600" cy="329184"/>
          </a:xfrm>
        </p:spPr>
        <p:txBody>
          <a:bodyPr/>
          <a:lstStyle/>
          <a:p>
            <a:pPr>
              <a:defRPr/>
            </a:pPr>
            <a:r>
              <a:rPr lang="en-US"/>
              <a:t>© NUS</a:t>
            </a:r>
            <a:endParaRPr lang="en-US" dirty="0"/>
          </a:p>
        </p:txBody>
      </p:sp>
      <p:sp>
        <p:nvSpPr>
          <p:cNvPr id="8" name="Content Placeholder 5"/>
          <p:cNvSpPr>
            <a:spLocks noGrp="1"/>
          </p:cNvSpPr>
          <p:nvPr>
            <p:ph idx="1"/>
          </p:nvPr>
        </p:nvSpPr>
        <p:spPr>
          <a:xfrm>
            <a:off x="587375" y="1187450"/>
            <a:ext cx="8292856" cy="5450114"/>
          </a:xfrm>
        </p:spPr>
        <p:txBody>
          <a:bodyPr>
            <a:normAutofit/>
          </a:bodyPr>
          <a:lstStyle/>
          <a:p>
            <a:pPr marL="342900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r>
              <a:rPr lang="en-US" sz="2800" dirty="0"/>
              <a:t>Type declaration </a:t>
            </a:r>
            <a:r>
              <a:rPr lang="en-US" sz="2800" dirty="0">
                <a:solidFill>
                  <a:srgbClr val="0000FF"/>
                </a:solidFill>
              </a:rPr>
              <a:t>for variables (before use)</a:t>
            </a:r>
            <a:r>
              <a:rPr lang="en-US" sz="2800" dirty="0"/>
              <a:t> is compulsory in C so that the computer can</a:t>
            </a:r>
          </a:p>
          <a:p>
            <a:pPr marL="800100" lvl="1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r>
              <a:rPr lang="en-US" sz="2400" dirty="0">
                <a:solidFill>
                  <a:srgbClr val="0000FF"/>
                </a:solidFill>
              </a:rPr>
              <a:t>Allocate</a:t>
            </a:r>
            <a:r>
              <a:rPr lang="en-US" sz="2400" dirty="0"/>
              <a:t> the right amount of space in memory</a:t>
            </a:r>
          </a:p>
          <a:p>
            <a:pPr marL="800100" lvl="1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r>
              <a:rPr lang="en-US" sz="2400" dirty="0">
                <a:solidFill>
                  <a:srgbClr val="0000FF"/>
                </a:solidFill>
              </a:rPr>
              <a:t>Handle</a:t>
            </a:r>
            <a:r>
              <a:rPr lang="en-US" sz="2400" dirty="0"/>
              <a:t> the value accordingly</a:t>
            </a:r>
          </a:p>
          <a:p>
            <a:pPr marL="274320" lvl="1" indent="0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None/>
              <a:defRPr/>
            </a:pPr>
            <a:endParaRPr lang="en-US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sz="2800" dirty="0"/>
              <a:t>Where do we </a:t>
            </a:r>
            <a:r>
              <a:rPr lang="en-US" sz="2800" dirty="0">
                <a:solidFill>
                  <a:srgbClr val="0000FF"/>
                </a:solidFill>
              </a:rPr>
              <a:t>declare variables</a:t>
            </a:r>
            <a:r>
              <a:rPr lang="en-US" sz="2800" dirty="0"/>
              <a:t>?</a:t>
            </a:r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sz="2400" dirty="0"/>
              <a:t>In the body of the functions</a:t>
            </a:r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sz="2400" dirty="0"/>
              <a:t>In the header of the functions</a:t>
            </a:r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sz="2400" dirty="0"/>
              <a:t>…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BCCA737-8DA3-91EA-087A-C6898AEA41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6" name="[TextBox 14]">
            <a:extLst>
              <a:ext uri="{FF2B5EF4-FFF2-40B4-BE49-F238E27FC236}">
                <a16:creationId xmlns:a16="http://schemas.microsoft.com/office/drawing/2014/main" id="{782602F1-4498-910D-BC7E-E2B3F4609A47}"/>
              </a:ext>
            </a:extLst>
          </p:cNvPr>
          <p:cNvSpPr txBox="1"/>
          <p:nvPr/>
        </p:nvSpPr>
        <p:spPr>
          <a:xfrm>
            <a:off x="5884468" y="4167908"/>
            <a:ext cx="2906241" cy="17543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0" lvl="1">
              <a:spcBef>
                <a:spcPts val="0"/>
              </a:spcBef>
              <a:buClr>
                <a:schemeClr val="accent2"/>
              </a:buClr>
              <a:buSzPct val="120000"/>
              <a:buFont typeface="Wingdings" pitchFamily="2" charset="2"/>
              <a:buNone/>
              <a:tabLst>
                <a:tab pos="344488" algn="l"/>
                <a:tab pos="688975" algn="l"/>
              </a:tabLst>
              <a:defRPr/>
            </a:pPr>
            <a:r>
              <a:rPr lang="en-GB" b="1" dirty="0">
                <a:solidFill>
                  <a:srgbClr val="0000FF"/>
                </a:solidFill>
                <a:latin typeface="Courier New" pitchFamily="49" charset="0"/>
              </a:rPr>
              <a:t>long</a:t>
            </a:r>
            <a:r>
              <a:rPr lang="en-GB" b="1" dirty="0">
                <a:solidFill>
                  <a:schemeClr val="tx1"/>
                </a:solidFill>
                <a:latin typeface="Courier New" pitchFamily="49" charset="0"/>
              </a:rPr>
              <a:t> square(</a:t>
            </a:r>
            <a:r>
              <a:rPr lang="en-GB" b="1" dirty="0">
                <a:solidFill>
                  <a:srgbClr val="0000FF"/>
                </a:solidFill>
                <a:latin typeface="Courier New" pitchFamily="49" charset="0"/>
              </a:rPr>
              <a:t>long </a:t>
            </a:r>
            <a:r>
              <a:rPr lang="en-GB" b="1" dirty="0">
                <a:solidFill>
                  <a:schemeClr val="tx1"/>
                </a:solidFill>
                <a:latin typeface="Courier New" pitchFamily="49" charset="0"/>
              </a:rPr>
              <a:t>x) {</a:t>
            </a:r>
            <a:br>
              <a:rPr lang="en-GB" b="1" dirty="0">
                <a:solidFill>
                  <a:srgbClr val="C00000"/>
                </a:solidFill>
                <a:latin typeface="Courier New" pitchFamily="49" charset="0"/>
              </a:rPr>
            </a:br>
            <a:r>
              <a:rPr lang="en-GB" b="1" dirty="0">
                <a:solidFill>
                  <a:srgbClr val="C00000"/>
                </a:solidFill>
                <a:latin typeface="Courier New" pitchFamily="49" charset="0"/>
              </a:rPr>
              <a:t>	</a:t>
            </a:r>
            <a:r>
              <a:rPr lang="en-GB" b="1" dirty="0">
                <a:solidFill>
                  <a:srgbClr val="0000FF"/>
                </a:solidFill>
                <a:latin typeface="Courier New" pitchFamily="49" charset="0"/>
              </a:rPr>
              <a:t>long</a:t>
            </a:r>
            <a:r>
              <a:rPr lang="en-GB" b="1" dirty="0">
                <a:latin typeface="Courier New" pitchFamily="49" charset="0"/>
              </a:rPr>
              <a:t> result;</a:t>
            </a:r>
          </a:p>
          <a:p>
            <a:pPr marL="0" lvl="1">
              <a:spcBef>
                <a:spcPts val="0"/>
              </a:spcBef>
              <a:buClr>
                <a:schemeClr val="accent2"/>
              </a:buClr>
              <a:buSzPct val="120000"/>
              <a:buFont typeface="Wingdings" pitchFamily="2" charset="2"/>
              <a:buNone/>
              <a:tabLst>
                <a:tab pos="344488" algn="l"/>
                <a:tab pos="688975" algn="l"/>
              </a:tabLst>
              <a:defRPr/>
            </a:pPr>
            <a:r>
              <a:rPr lang="en-GB" b="1" dirty="0">
                <a:latin typeface="Courier New" pitchFamily="49" charset="0"/>
              </a:rPr>
              <a:t>   …</a:t>
            </a:r>
            <a:br>
              <a:rPr lang="en-GB" b="1" dirty="0">
                <a:latin typeface="Courier New" pitchFamily="49" charset="0"/>
              </a:rPr>
            </a:br>
            <a:r>
              <a:rPr lang="en-GB" b="1" dirty="0">
                <a:latin typeface="Courier New" pitchFamily="49" charset="0"/>
              </a:rPr>
              <a:t>	</a:t>
            </a:r>
            <a:r>
              <a:rPr lang="en-GB" b="1" dirty="0">
                <a:solidFill>
                  <a:srgbClr val="0000FF"/>
                </a:solidFill>
                <a:latin typeface="Courier New" pitchFamily="49" charset="0"/>
              </a:rPr>
              <a:t>return</a:t>
            </a:r>
            <a:r>
              <a:rPr lang="en-GB" b="1" dirty="0">
                <a:latin typeface="Courier New" pitchFamily="49" charset="0"/>
              </a:rPr>
              <a:t> result;</a:t>
            </a:r>
          </a:p>
          <a:p>
            <a:pPr marL="0" lvl="1">
              <a:spcBef>
                <a:spcPts val="0"/>
              </a:spcBef>
              <a:buClr>
                <a:schemeClr val="accent2"/>
              </a:buClr>
              <a:buSzPct val="120000"/>
              <a:buFont typeface="Wingdings" pitchFamily="2" charset="2"/>
              <a:buNone/>
              <a:tabLst>
                <a:tab pos="344488" algn="l"/>
                <a:tab pos="688975" algn="l"/>
              </a:tabLst>
              <a:defRPr/>
            </a:pPr>
            <a:r>
              <a:rPr lang="en-GB" b="1" dirty="0">
                <a:latin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427618944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GB" sz="3600" dirty="0">
                <a:solidFill>
                  <a:srgbClr val="0000FF"/>
                </a:solidFill>
              </a:rPr>
              <a:t>Function Call - redux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sz="1200" dirty="0"/>
              <a:t>Unit13</a:t>
            </a:r>
            <a:r>
              <a:rPr sz="1200" dirty="0"/>
              <a:t> - </a:t>
            </a:r>
            <a:fld id="{F7EC234A-9094-4BB8-9EA4-75ECDA8A365B}" type="slidenum">
              <a:rPr sz="1200" smtClean="0"/>
              <a:pPr>
                <a:defRPr/>
              </a:pPr>
              <a:t>4</a:t>
            </a:fld>
            <a:endParaRPr sz="1200" dirty="0"/>
          </a:p>
        </p:txBody>
      </p:sp>
      <p:sp>
        <p:nvSpPr>
          <p:cNvPr id="12" name="[Date Placeholder 3]"/>
          <p:cNvSpPr>
            <a:spLocks noGrp="1"/>
          </p:cNvSpPr>
          <p:nvPr>
            <p:ph type="dt" sz="half" idx="10"/>
          </p:nvPr>
        </p:nvSpPr>
        <p:spPr>
          <a:xfrm>
            <a:off x="457200" y="18288"/>
            <a:ext cx="2895600" cy="329184"/>
          </a:xfrm>
        </p:spPr>
        <p:txBody>
          <a:bodyPr/>
          <a:lstStyle/>
          <a:p>
            <a:pPr>
              <a:defRPr/>
            </a:pPr>
            <a:r>
              <a:rPr lang="en-US"/>
              <a:t>© NUS</a:t>
            </a:r>
            <a:endParaRPr lang="en-US" dirty="0"/>
          </a:p>
        </p:txBody>
      </p:sp>
      <p:sp>
        <p:nvSpPr>
          <p:cNvPr id="8" name="Content Placeholder 5"/>
          <p:cNvSpPr>
            <a:spLocks noGrp="1"/>
          </p:cNvSpPr>
          <p:nvPr>
            <p:ph idx="1"/>
          </p:nvPr>
        </p:nvSpPr>
        <p:spPr>
          <a:xfrm>
            <a:off x="587375" y="1187450"/>
            <a:ext cx="8292856" cy="5450114"/>
          </a:xfrm>
        </p:spPr>
        <p:txBody>
          <a:bodyPr>
            <a:normAutofit/>
          </a:bodyPr>
          <a:lstStyle/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sz="2800" dirty="0"/>
              <a:t>What happens when a function is called?</a:t>
            </a:r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sz="2400" dirty="0"/>
              <a:t>The statements in the function will be executed based on the inputs (if any)</a:t>
            </a:r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1400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sz="2800" dirty="0"/>
              <a:t>What happens when the main() function below is called (by the operating system)?</a:t>
            </a:r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sz="2400" dirty="0"/>
              <a:t>Variable x is declared and initialized.</a:t>
            </a:r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sz="2400" dirty="0"/>
              <a:t>Variable y is declared.</a:t>
            </a:r>
          </a:p>
          <a:p>
            <a:pPr marL="274320" lvl="1" indent="0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None/>
              <a:defRPr/>
            </a:pP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BCCF1FD-7C45-41D0-AB05-C3F94D8F0496}"/>
              </a:ext>
            </a:extLst>
          </p:cNvPr>
          <p:cNvSpPr txBox="1"/>
          <p:nvPr/>
        </p:nvSpPr>
        <p:spPr>
          <a:xfrm>
            <a:off x="6565736" y="3387438"/>
            <a:ext cx="2108527" cy="1754326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lIns="91440" tIns="45720" rIns="91440" bIns="45720" rtlCol="0" anchor="t">
            <a:spAutoFit/>
          </a:bodyPr>
          <a:lstStyle/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main(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void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x =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y;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…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9B816B6-7492-D7CE-9820-85AAE3F31A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</p:spTree>
    <p:extLst>
      <p:ext uri="{BB962C8B-B14F-4D97-AF65-F5344CB8AC3E}">
        <p14:creationId xmlns:p14="http://schemas.microsoft.com/office/powerpoint/2010/main" val="193223856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GB" sz="3600" dirty="0">
                <a:solidFill>
                  <a:srgbClr val="0000FF"/>
                </a:solidFill>
              </a:rPr>
              <a:t>Stack Frame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sz="1200" dirty="0"/>
              <a:t>Unit13</a:t>
            </a:r>
            <a:r>
              <a:rPr sz="1200" dirty="0"/>
              <a:t> - </a:t>
            </a:r>
            <a:fld id="{F7EC234A-9094-4BB8-9EA4-75ECDA8A365B}" type="slidenum">
              <a:rPr sz="1200" smtClean="0"/>
              <a:pPr>
                <a:defRPr/>
              </a:pPr>
              <a:t>5</a:t>
            </a:fld>
            <a:endParaRPr sz="1200" dirty="0"/>
          </a:p>
        </p:txBody>
      </p:sp>
      <p:sp>
        <p:nvSpPr>
          <p:cNvPr id="12" name="[Date Placeholder 3]"/>
          <p:cNvSpPr>
            <a:spLocks noGrp="1"/>
          </p:cNvSpPr>
          <p:nvPr>
            <p:ph type="dt" sz="half" idx="10"/>
          </p:nvPr>
        </p:nvSpPr>
        <p:spPr>
          <a:xfrm>
            <a:off x="457200" y="18288"/>
            <a:ext cx="2895600" cy="329184"/>
          </a:xfrm>
        </p:spPr>
        <p:txBody>
          <a:bodyPr/>
          <a:lstStyle/>
          <a:p>
            <a:pPr>
              <a:defRPr/>
            </a:pPr>
            <a:r>
              <a:rPr lang="en-US"/>
              <a:t>© NUS</a:t>
            </a:r>
            <a:endParaRPr lang="en-US" dirty="0"/>
          </a:p>
        </p:txBody>
      </p:sp>
      <p:sp>
        <p:nvSpPr>
          <p:cNvPr id="8" name="Content Placeholder 5"/>
          <p:cNvSpPr>
            <a:spLocks noGrp="1"/>
          </p:cNvSpPr>
          <p:nvPr>
            <p:ph idx="1"/>
          </p:nvPr>
        </p:nvSpPr>
        <p:spPr>
          <a:xfrm>
            <a:off x="624993" y="1180666"/>
            <a:ext cx="7778227" cy="5450114"/>
          </a:xfrm>
        </p:spPr>
        <p:txBody>
          <a:bodyPr>
            <a:noAutofit/>
          </a:bodyPr>
          <a:lstStyle/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dirty="0"/>
              <a:t>What happens (in the memory) when you call this function…</a:t>
            </a:r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800" dirty="0"/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dirty="0"/>
              <a:t>A </a:t>
            </a:r>
            <a:r>
              <a:rPr lang="en-US" dirty="0">
                <a:solidFill>
                  <a:srgbClr val="0000FF"/>
                </a:solidFill>
              </a:rPr>
              <a:t>Stack Frame </a:t>
            </a:r>
            <a:r>
              <a:rPr lang="en-US" dirty="0"/>
              <a:t>is created for main()</a:t>
            </a:r>
            <a:endParaRPr lang="en-US" dirty="0">
              <a:solidFill>
                <a:srgbClr val="0000FF"/>
              </a:solidFill>
            </a:endParaRPr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dirty="0"/>
              <a:t>Some space (8 bytes) is allocated for variable x in the frame</a:t>
            </a:r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dirty="0"/>
              <a:t>The value 1 is stored into this space.</a:t>
            </a:r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dirty="0"/>
              <a:t>Some space (8 bytes) is allocated for variable y in the frame.</a:t>
            </a:r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dirty="0"/>
              <a:t>Stack Frame: The memory allocated to a function for storing variables (among other things).</a:t>
            </a:r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>
              <a:solidFill>
                <a:srgbClr val="0000FF"/>
              </a:solidFill>
            </a:endParaRP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4E05674-68A2-0D4E-8B47-F7A2C6A6B76F}"/>
              </a:ext>
            </a:extLst>
          </p:cNvPr>
          <p:cNvSpPr txBox="1"/>
          <p:nvPr/>
        </p:nvSpPr>
        <p:spPr>
          <a:xfrm>
            <a:off x="1052459" y="2151397"/>
            <a:ext cx="2108527" cy="1754326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lIns="91440" tIns="45720" rIns="91440" bIns="45720" rtlCol="0" anchor="t">
            <a:spAutoFit/>
          </a:bodyPr>
          <a:lstStyle/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main(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void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x =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y;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…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pic>
        <p:nvPicPr>
          <p:cNvPr id="9" name="Picture 8" descr="Diagram&#10;&#10;Description automatically generated with low confidence">
            <a:extLst>
              <a:ext uri="{FF2B5EF4-FFF2-40B4-BE49-F238E27FC236}">
                <a16:creationId xmlns:a16="http://schemas.microsoft.com/office/drawing/2014/main" id="{81880B36-0DB4-41E7-A0EF-F81E54E2ED4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09" t="55443" r="22138" b="1985"/>
          <a:stretch/>
        </p:blipFill>
        <p:spPr>
          <a:xfrm>
            <a:off x="3626070" y="2096218"/>
            <a:ext cx="4679732" cy="1551691"/>
          </a:xfrm>
          <a:prstGeom prst="rect">
            <a:avLst/>
          </a:prstGeom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BBFF22F-78B8-4550-8E4C-E82EAB50BFD9}"/>
              </a:ext>
            </a:extLst>
          </p:cNvPr>
          <p:cNvCxnSpPr/>
          <p:nvPr/>
        </p:nvCxnSpPr>
        <p:spPr>
          <a:xfrm flipV="1">
            <a:off x="2857500" y="2583733"/>
            <a:ext cx="1048407" cy="583326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0059D70C-B534-455C-8A9E-37DD90420FE7}"/>
              </a:ext>
            </a:extLst>
          </p:cNvPr>
          <p:cNvCxnSpPr>
            <a:cxnSpLocks/>
          </p:cNvCxnSpPr>
          <p:nvPr/>
        </p:nvCxnSpPr>
        <p:spPr>
          <a:xfrm>
            <a:off x="2923997" y="2872063"/>
            <a:ext cx="981910" cy="345049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EC608D3-BA78-26FF-8C69-43B97A684D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95D35FB-D5C0-DE5E-A61C-35B8237618DC}"/>
              </a:ext>
            </a:extLst>
          </p:cNvPr>
          <p:cNvSpPr/>
          <p:nvPr/>
        </p:nvSpPr>
        <p:spPr>
          <a:xfrm>
            <a:off x="3922226" y="2882214"/>
            <a:ext cx="2239837" cy="675798"/>
          </a:xfrm>
          <a:prstGeom prst="rect">
            <a:avLst/>
          </a:prstGeom>
          <a:solidFill>
            <a:srgbClr val="ECEA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602365E-BE5D-A4DC-8901-DF13C5A55BA8}"/>
              </a:ext>
            </a:extLst>
          </p:cNvPr>
          <p:cNvSpPr/>
          <p:nvPr/>
        </p:nvSpPr>
        <p:spPr>
          <a:xfrm>
            <a:off x="3922225" y="2232209"/>
            <a:ext cx="2239837" cy="639854"/>
          </a:xfrm>
          <a:prstGeom prst="rect">
            <a:avLst/>
          </a:prstGeom>
          <a:solidFill>
            <a:srgbClr val="ECEA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pic>
        <p:nvPicPr>
          <p:cNvPr id="3" name="Picture 2" descr="A waffle with many square holes&#10;&#10;AI-generated content may be incorrect.">
            <a:extLst>
              <a:ext uri="{FF2B5EF4-FFF2-40B4-BE49-F238E27FC236}">
                <a16:creationId xmlns:a16="http://schemas.microsoft.com/office/drawing/2014/main" id="{380E6ECF-BFC2-D0F0-542B-970C2B7C242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43800" y="2361570"/>
            <a:ext cx="691692" cy="691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5734217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5" grpId="1" animBg="1"/>
      <p:bldP spid="6" grpId="0" animBg="1"/>
      <p:bldP spid="6" grpId="1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GB" sz="3600" dirty="0">
                <a:solidFill>
                  <a:srgbClr val="0000FF"/>
                </a:solidFill>
              </a:rPr>
              <a:t>Call Stack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sz="1200" dirty="0"/>
              <a:t>Unit13</a:t>
            </a:r>
            <a:r>
              <a:rPr sz="1200" dirty="0"/>
              <a:t> - </a:t>
            </a:r>
            <a:fld id="{F7EC234A-9094-4BB8-9EA4-75ECDA8A365B}" type="slidenum">
              <a:rPr sz="1200" smtClean="0"/>
              <a:pPr>
                <a:defRPr/>
              </a:pPr>
              <a:t>6</a:t>
            </a:fld>
            <a:endParaRPr sz="1200" dirty="0"/>
          </a:p>
        </p:txBody>
      </p:sp>
      <p:sp>
        <p:nvSpPr>
          <p:cNvPr id="12" name="[Date Placeholder 3]"/>
          <p:cNvSpPr>
            <a:spLocks noGrp="1"/>
          </p:cNvSpPr>
          <p:nvPr>
            <p:ph type="dt" sz="half" idx="10"/>
          </p:nvPr>
        </p:nvSpPr>
        <p:spPr>
          <a:xfrm>
            <a:off x="457200" y="18288"/>
            <a:ext cx="2895600" cy="329184"/>
          </a:xfrm>
        </p:spPr>
        <p:txBody>
          <a:bodyPr/>
          <a:lstStyle/>
          <a:p>
            <a:pPr>
              <a:defRPr/>
            </a:pPr>
            <a:r>
              <a:rPr lang="en-US"/>
              <a:t>© NUS</a:t>
            </a:r>
            <a:endParaRPr lang="en-US" dirty="0"/>
          </a:p>
        </p:txBody>
      </p:sp>
      <p:sp>
        <p:nvSpPr>
          <p:cNvPr id="8" name="Content Placeholder 5"/>
          <p:cNvSpPr>
            <a:spLocks noGrp="1"/>
          </p:cNvSpPr>
          <p:nvPr>
            <p:ph idx="1"/>
          </p:nvPr>
        </p:nvSpPr>
        <p:spPr>
          <a:xfrm>
            <a:off x="587375" y="1187450"/>
            <a:ext cx="8292856" cy="5450114"/>
          </a:xfrm>
        </p:spPr>
        <p:txBody>
          <a:bodyPr>
            <a:noAutofit/>
          </a:bodyPr>
          <a:lstStyle/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dirty="0"/>
              <a:t>A </a:t>
            </a:r>
            <a:r>
              <a:rPr lang="en-US" dirty="0">
                <a:solidFill>
                  <a:srgbClr val="0000FF"/>
                </a:solidFill>
              </a:rPr>
              <a:t>Stack Frame </a:t>
            </a:r>
            <a:r>
              <a:rPr lang="en-US" dirty="0"/>
              <a:t>is added to the </a:t>
            </a:r>
            <a:r>
              <a:rPr lang="en-US" dirty="0">
                <a:solidFill>
                  <a:srgbClr val="0000FF"/>
                </a:solidFill>
              </a:rPr>
              <a:t>Call Stack </a:t>
            </a:r>
            <a:r>
              <a:rPr lang="en-US" dirty="0"/>
              <a:t>when a function is called </a:t>
            </a:r>
            <a:r>
              <a:rPr lang="en-US" dirty="0">
                <a:highlight>
                  <a:srgbClr val="FFFF00"/>
                </a:highlight>
              </a:rPr>
              <a:t>with the </a:t>
            </a:r>
            <a:r>
              <a:rPr lang="en-US" dirty="0">
                <a:solidFill>
                  <a:srgbClr val="0000FF"/>
                </a:solidFill>
                <a:highlight>
                  <a:srgbClr val="FFFF00"/>
                </a:highlight>
              </a:rPr>
              <a:t>values </a:t>
            </a:r>
            <a:r>
              <a:rPr lang="en-US" dirty="0">
                <a:highlight>
                  <a:srgbClr val="FFFF00"/>
                </a:highlight>
              </a:rPr>
              <a:t>of the arguments copied over</a:t>
            </a:r>
            <a:r>
              <a:rPr lang="en-US" dirty="0"/>
              <a:t>.</a:t>
            </a:r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0" indent="0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None/>
              <a:defRPr/>
            </a:pP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7437CA0-C20C-4626-A0E0-998E2B6D678A}"/>
              </a:ext>
            </a:extLst>
          </p:cNvPr>
          <p:cNvSpPr txBox="1"/>
          <p:nvPr/>
        </p:nvSpPr>
        <p:spPr>
          <a:xfrm>
            <a:off x="1004075" y="2168972"/>
            <a:ext cx="3846599" cy="3693319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lIns="91440" tIns="45720" rIns="91440" bIns="45720" rtlCol="0" anchor="t">
            <a:spAutoFit/>
          </a:bodyPr>
          <a:lstStyle/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add(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a, 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b) {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sum;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sum = a + b;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sum;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endParaRPr lang="en-US" b="1" dirty="0">
              <a:solidFill>
                <a:srgbClr val="0000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main(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void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x =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y;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 = add(x,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10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…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pic>
        <p:nvPicPr>
          <p:cNvPr id="3" name="Picture 2" descr="A picture containing diagram&#10;&#10;Description automatically generated">
            <a:extLst>
              <a:ext uri="{FF2B5EF4-FFF2-40B4-BE49-F238E27FC236}">
                <a16:creationId xmlns:a16="http://schemas.microsoft.com/office/drawing/2014/main" id="{D1A42C95-4840-4615-9807-715729F687F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182" t="55200" r="22545"/>
          <a:stretch>
            <a:fillRect/>
          </a:stretch>
        </p:blipFill>
        <p:spPr>
          <a:xfrm>
            <a:off x="3737695" y="4876800"/>
            <a:ext cx="4505499" cy="1600199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F3038EAF-AF17-4A89-988D-17592CF9D3C5}"/>
              </a:ext>
            </a:extLst>
          </p:cNvPr>
          <p:cNvCxnSpPr>
            <a:cxnSpLocks/>
          </p:cNvCxnSpPr>
          <p:nvPr/>
        </p:nvCxnSpPr>
        <p:spPr>
          <a:xfrm>
            <a:off x="529458" y="2618566"/>
            <a:ext cx="782007" cy="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45822D7A-4E90-BE15-B8F9-DD94E9C010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05836CB0-D4F5-A853-9090-1FFB00D8EE48}"/>
              </a:ext>
            </a:extLst>
          </p:cNvPr>
          <p:cNvCxnSpPr>
            <a:cxnSpLocks/>
          </p:cNvCxnSpPr>
          <p:nvPr/>
        </p:nvCxnSpPr>
        <p:spPr>
          <a:xfrm flipV="1">
            <a:off x="2534856" y="2488557"/>
            <a:ext cx="530957" cy="2462684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4AE3994A-05D5-3E99-9D62-CA5690DFC342}"/>
              </a:ext>
            </a:extLst>
          </p:cNvPr>
          <p:cNvSpPr txBox="1"/>
          <p:nvPr/>
        </p:nvSpPr>
        <p:spPr>
          <a:xfrm>
            <a:off x="5486401" y="2033397"/>
            <a:ext cx="2302446" cy="369332"/>
          </a:xfrm>
          <a:prstGeom prst="rect">
            <a:avLst/>
          </a:prstGeom>
          <a:solidFill>
            <a:srgbClr val="FFFF99"/>
          </a:solidFill>
          <a:ln w="127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a.k.a. </a:t>
            </a:r>
            <a:r>
              <a:rPr lang="en-US" b="1" dirty="0"/>
              <a:t>Call By Value</a:t>
            </a:r>
            <a:endParaRPr lang="en-US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62C001D3-8A63-BC2D-0AA0-D55835B660DD}"/>
              </a:ext>
            </a:extLst>
          </p:cNvPr>
          <p:cNvCxnSpPr>
            <a:cxnSpLocks/>
          </p:cNvCxnSpPr>
          <p:nvPr/>
        </p:nvCxnSpPr>
        <p:spPr>
          <a:xfrm>
            <a:off x="457200" y="5119311"/>
            <a:ext cx="782007" cy="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 descr="A picture containing diagram&#10;&#10;Description automatically generated">
            <a:extLst>
              <a:ext uri="{FF2B5EF4-FFF2-40B4-BE49-F238E27FC236}">
                <a16:creationId xmlns:a16="http://schemas.microsoft.com/office/drawing/2014/main" id="{3869DA3C-08EE-018E-F829-581A400139F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182" r="22545" b="44964"/>
          <a:stretch>
            <a:fillRect/>
          </a:stretch>
        </p:blipFill>
        <p:spPr>
          <a:xfrm>
            <a:off x="3737694" y="2945465"/>
            <a:ext cx="4505499" cy="1965834"/>
          </a:xfrm>
          <a:prstGeom prst="rect">
            <a:avLst/>
          </a:prstGeom>
        </p:spPr>
      </p:pic>
      <p:pic>
        <p:nvPicPr>
          <p:cNvPr id="13" name="Picture 12" descr="A waffles with a white background&#10;&#10;AI-generated content may be incorrect.">
            <a:extLst>
              <a:ext uri="{FF2B5EF4-FFF2-40B4-BE49-F238E27FC236}">
                <a16:creationId xmlns:a16="http://schemas.microsoft.com/office/drawing/2014/main" id="{3731ABF8-9D8D-EC49-3470-44E5819FF8D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751"/>
          <a:stretch/>
        </p:blipFill>
        <p:spPr>
          <a:xfrm>
            <a:off x="8253627" y="3773646"/>
            <a:ext cx="695539" cy="704225"/>
          </a:xfrm>
          <a:prstGeom prst="rect">
            <a:avLst/>
          </a:prstGeom>
        </p:spPr>
      </p:pic>
      <p:pic>
        <p:nvPicPr>
          <p:cNvPr id="16" name="Picture 15" descr="A waffle with many square holes&#10;&#10;AI-generated content may be incorrect.">
            <a:extLst>
              <a:ext uri="{FF2B5EF4-FFF2-40B4-BE49-F238E27FC236}">
                <a16:creationId xmlns:a16="http://schemas.microsoft.com/office/drawing/2014/main" id="{093AA06F-6AC3-FC99-D556-74E60C0F06F1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3627" y="5286943"/>
            <a:ext cx="691692" cy="691692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EAE10E3-8B14-B995-93FE-BD466BD11649}"/>
              </a:ext>
            </a:extLst>
          </p:cNvPr>
          <p:cNvCxnSpPr>
            <a:cxnSpLocks/>
          </p:cNvCxnSpPr>
          <p:nvPr/>
        </p:nvCxnSpPr>
        <p:spPr>
          <a:xfrm flipV="1">
            <a:off x="3065813" y="2488557"/>
            <a:ext cx="1054774" cy="243681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Picture 17">
            <a:extLst>
              <a:ext uri="{FF2B5EF4-FFF2-40B4-BE49-F238E27FC236}">
                <a16:creationId xmlns:a16="http://schemas.microsoft.com/office/drawing/2014/main" id="{292179CE-60D9-5B7F-23DB-DE4CADF5150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71428" y="3209179"/>
            <a:ext cx="2835494" cy="5644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0747522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5">
            <a:extLst>
              <a:ext uri="{FF2B5EF4-FFF2-40B4-BE49-F238E27FC236}">
                <a16:creationId xmlns:a16="http://schemas.microsoft.com/office/drawing/2014/main" id="{40E6B3F9-DCBC-DF20-8B9D-D6063B6870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7375" y="1187450"/>
            <a:ext cx="8292856" cy="5450114"/>
          </a:xfrm>
        </p:spPr>
        <p:txBody>
          <a:bodyPr>
            <a:noAutofit/>
          </a:bodyPr>
          <a:lstStyle/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dirty="0"/>
              <a:t>A </a:t>
            </a:r>
            <a:r>
              <a:rPr lang="en-US" dirty="0">
                <a:solidFill>
                  <a:srgbClr val="0000FF"/>
                </a:solidFill>
              </a:rPr>
              <a:t>Stack Frame </a:t>
            </a:r>
            <a:r>
              <a:rPr lang="en-US" dirty="0"/>
              <a:t>is added to the </a:t>
            </a:r>
            <a:r>
              <a:rPr lang="en-US" dirty="0">
                <a:solidFill>
                  <a:srgbClr val="0000FF"/>
                </a:solidFill>
              </a:rPr>
              <a:t>Call Stack </a:t>
            </a:r>
            <a:r>
              <a:rPr lang="en-US" dirty="0"/>
              <a:t>when a function is called with the values of the arguments copied over.</a:t>
            </a:r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0" indent="0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None/>
              <a:defRPr/>
            </a:pPr>
            <a:endParaRPr lang="en-US" dirty="0"/>
          </a:p>
        </p:txBody>
      </p:sp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GB" sz="3600" dirty="0">
                <a:solidFill>
                  <a:srgbClr val="0000FF"/>
                </a:solidFill>
              </a:rPr>
              <a:t>Call Stack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sz="1200" dirty="0"/>
              <a:t>Unit13</a:t>
            </a:r>
            <a:r>
              <a:rPr sz="1200" dirty="0"/>
              <a:t> - </a:t>
            </a:r>
            <a:fld id="{F7EC234A-9094-4BB8-9EA4-75ECDA8A365B}" type="slidenum">
              <a:rPr sz="1200" smtClean="0"/>
              <a:pPr>
                <a:defRPr/>
              </a:pPr>
              <a:t>7</a:t>
            </a:fld>
            <a:endParaRPr sz="1200" dirty="0"/>
          </a:p>
        </p:txBody>
      </p:sp>
      <p:sp>
        <p:nvSpPr>
          <p:cNvPr id="12" name="[Date Placeholder 3]"/>
          <p:cNvSpPr>
            <a:spLocks noGrp="1"/>
          </p:cNvSpPr>
          <p:nvPr>
            <p:ph type="dt" sz="half" idx="10"/>
          </p:nvPr>
        </p:nvSpPr>
        <p:spPr>
          <a:xfrm>
            <a:off x="457200" y="18288"/>
            <a:ext cx="2895600" cy="329184"/>
          </a:xfrm>
        </p:spPr>
        <p:txBody>
          <a:bodyPr/>
          <a:lstStyle/>
          <a:p>
            <a:pPr>
              <a:defRPr/>
            </a:pPr>
            <a:r>
              <a:rPr lang="en-US"/>
              <a:t>© NUS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7437CA0-C20C-4626-A0E0-998E2B6D678A}"/>
              </a:ext>
            </a:extLst>
          </p:cNvPr>
          <p:cNvSpPr txBox="1"/>
          <p:nvPr/>
        </p:nvSpPr>
        <p:spPr>
          <a:xfrm>
            <a:off x="1004075" y="2168972"/>
            <a:ext cx="3846599" cy="3693319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lIns="91440" tIns="45720" rIns="91440" bIns="45720" rtlCol="0" anchor="t">
            <a:spAutoFit/>
          </a:bodyPr>
          <a:lstStyle/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add(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a, 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b) {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sum;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sum = a + b;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sum;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endParaRPr lang="en-US" b="1" dirty="0">
              <a:solidFill>
                <a:srgbClr val="0000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main(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void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x =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y;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 = add(x,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10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…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pic>
        <p:nvPicPr>
          <p:cNvPr id="5" name="Picture 4" descr="A picture containing diagram&#10;&#10;Description automatically generated">
            <a:extLst>
              <a:ext uri="{FF2B5EF4-FFF2-40B4-BE49-F238E27FC236}">
                <a16:creationId xmlns:a16="http://schemas.microsoft.com/office/drawing/2014/main" id="{242BC886-F834-413A-AE89-A5BA4EA2603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857" r="22000"/>
          <a:stretch/>
        </p:blipFill>
        <p:spPr>
          <a:xfrm>
            <a:off x="3796707" y="2911653"/>
            <a:ext cx="4493623" cy="3571875"/>
          </a:xfrm>
          <a:prstGeom prst="rect">
            <a:avLst/>
          </a:prstGeom>
        </p:spPr>
      </p:pic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370E7FFF-A963-44C1-90E8-1FD6843962A5}"/>
              </a:ext>
            </a:extLst>
          </p:cNvPr>
          <p:cNvCxnSpPr>
            <a:cxnSpLocks/>
          </p:cNvCxnSpPr>
          <p:nvPr/>
        </p:nvCxnSpPr>
        <p:spPr>
          <a:xfrm>
            <a:off x="533400" y="2905949"/>
            <a:ext cx="782007" cy="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20D0644B-FF1A-C055-B8D7-86B9BC8272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pic>
        <p:nvPicPr>
          <p:cNvPr id="3" name="Picture 2" descr="A waffles with a white background&#10;&#10;AI-generated content may be incorrect.">
            <a:extLst>
              <a:ext uri="{FF2B5EF4-FFF2-40B4-BE49-F238E27FC236}">
                <a16:creationId xmlns:a16="http://schemas.microsoft.com/office/drawing/2014/main" id="{3BF0CE0F-7A7B-C32F-DBCB-34C96CB9A5F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751"/>
          <a:stretch/>
        </p:blipFill>
        <p:spPr>
          <a:xfrm>
            <a:off x="8253627" y="3773646"/>
            <a:ext cx="695539" cy="704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7516905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GB" sz="3600" dirty="0">
                <a:solidFill>
                  <a:srgbClr val="0000FF"/>
                </a:solidFill>
              </a:rPr>
              <a:t>Call Stack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sz="1200" dirty="0"/>
              <a:t>Unit13</a:t>
            </a:r>
            <a:r>
              <a:rPr sz="1200" dirty="0"/>
              <a:t> - </a:t>
            </a:r>
            <a:fld id="{F7EC234A-9094-4BB8-9EA4-75ECDA8A365B}" type="slidenum">
              <a:rPr sz="1200" smtClean="0"/>
              <a:pPr>
                <a:defRPr/>
              </a:pPr>
              <a:t>8</a:t>
            </a:fld>
            <a:endParaRPr sz="1200" dirty="0"/>
          </a:p>
        </p:txBody>
      </p:sp>
      <p:sp>
        <p:nvSpPr>
          <p:cNvPr id="12" name="[Date Placeholder 3]"/>
          <p:cNvSpPr>
            <a:spLocks noGrp="1"/>
          </p:cNvSpPr>
          <p:nvPr>
            <p:ph type="dt" sz="half" idx="10"/>
          </p:nvPr>
        </p:nvSpPr>
        <p:spPr>
          <a:xfrm>
            <a:off x="457200" y="18288"/>
            <a:ext cx="2895600" cy="329184"/>
          </a:xfrm>
        </p:spPr>
        <p:txBody>
          <a:bodyPr/>
          <a:lstStyle/>
          <a:p>
            <a:pPr>
              <a:defRPr/>
            </a:pPr>
            <a:r>
              <a:rPr lang="en-US"/>
              <a:t>© NUS</a:t>
            </a:r>
            <a:endParaRPr lang="en-US" dirty="0"/>
          </a:p>
        </p:txBody>
      </p:sp>
      <p:sp>
        <p:nvSpPr>
          <p:cNvPr id="8" name="Content Placeholder 5"/>
          <p:cNvSpPr>
            <a:spLocks noGrp="1"/>
          </p:cNvSpPr>
          <p:nvPr>
            <p:ph idx="1"/>
          </p:nvPr>
        </p:nvSpPr>
        <p:spPr>
          <a:xfrm>
            <a:off x="587375" y="1187450"/>
            <a:ext cx="8292856" cy="5450114"/>
          </a:xfrm>
        </p:spPr>
        <p:txBody>
          <a:bodyPr>
            <a:noAutofit/>
          </a:bodyPr>
          <a:lstStyle/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dirty="0"/>
              <a:t>A </a:t>
            </a:r>
            <a:r>
              <a:rPr lang="en-US" dirty="0">
                <a:solidFill>
                  <a:srgbClr val="0000FF"/>
                </a:solidFill>
              </a:rPr>
              <a:t>Stack Frame </a:t>
            </a:r>
            <a:r>
              <a:rPr lang="en-US" dirty="0"/>
              <a:t>is removed from the </a:t>
            </a:r>
            <a:r>
              <a:rPr lang="en-US" dirty="0">
                <a:solidFill>
                  <a:srgbClr val="0000FF"/>
                </a:solidFill>
              </a:rPr>
              <a:t>Call Stack </a:t>
            </a:r>
            <a:r>
              <a:rPr lang="en-US" dirty="0"/>
              <a:t>after the function has completed.</a:t>
            </a:r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0" indent="0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None/>
              <a:defRPr/>
            </a:pP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7437CA0-C20C-4626-A0E0-998E2B6D678A}"/>
              </a:ext>
            </a:extLst>
          </p:cNvPr>
          <p:cNvSpPr txBox="1"/>
          <p:nvPr/>
        </p:nvSpPr>
        <p:spPr>
          <a:xfrm>
            <a:off x="1004075" y="2168972"/>
            <a:ext cx="3846599" cy="3693319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lIns="91440" tIns="45720" rIns="91440" bIns="45720" rtlCol="0" anchor="t">
            <a:spAutoFit/>
          </a:bodyPr>
          <a:lstStyle/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add(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a, 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b) {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sum;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sum = a + b;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sum;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endParaRPr lang="en-US" b="1" dirty="0">
              <a:solidFill>
                <a:srgbClr val="0000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main(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void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x =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y;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 = add(x,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10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…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370E7FFF-A963-44C1-90E8-1FD6843962A5}"/>
              </a:ext>
            </a:extLst>
          </p:cNvPr>
          <p:cNvCxnSpPr>
            <a:cxnSpLocks/>
          </p:cNvCxnSpPr>
          <p:nvPr/>
        </p:nvCxnSpPr>
        <p:spPr>
          <a:xfrm>
            <a:off x="457200" y="5109218"/>
            <a:ext cx="782007" cy="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 descr="Diagram&#10;&#10;Description automatically generated with medium confidence">
            <a:extLst>
              <a:ext uri="{FF2B5EF4-FFF2-40B4-BE49-F238E27FC236}">
                <a16:creationId xmlns:a16="http://schemas.microsoft.com/office/drawing/2014/main" id="{4C110457-59E1-495F-BA30-0588411DBE5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857" t="54206" r="22666"/>
          <a:stretch/>
        </p:blipFill>
        <p:spPr>
          <a:xfrm>
            <a:off x="3796937" y="4847599"/>
            <a:ext cx="4432663" cy="1635709"/>
          </a:xfrm>
          <a:prstGeom prst="rect">
            <a:avLst/>
          </a:prstGeom>
        </p:spPr>
      </p:pic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9B22162-C52E-B8FF-16C1-46C4EE7D53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pic>
        <p:nvPicPr>
          <p:cNvPr id="5" name="Picture 4" descr="A waffle with many square holes&#10;&#10;AI-generated content may be incorrect.">
            <a:extLst>
              <a:ext uri="{FF2B5EF4-FFF2-40B4-BE49-F238E27FC236}">
                <a16:creationId xmlns:a16="http://schemas.microsoft.com/office/drawing/2014/main" id="{3F64B18E-9DA3-77F7-C514-86E603A10DA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3627" y="5286943"/>
            <a:ext cx="691692" cy="691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4825191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GB" sz="3600" dirty="0">
                <a:solidFill>
                  <a:srgbClr val="0000FF"/>
                </a:solidFill>
              </a:rPr>
              <a:t>Call Stack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sz="1200" dirty="0"/>
              <a:t>Unit13</a:t>
            </a:r>
            <a:r>
              <a:rPr sz="1200" dirty="0"/>
              <a:t> - </a:t>
            </a:r>
            <a:fld id="{F7EC234A-9094-4BB8-9EA4-75ECDA8A365B}" type="slidenum">
              <a:rPr sz="1200" smtClean="0"/>
              <a:pPr>
                <a:defRPr/>
              </a:pPr>
              <a:t>9</a:t>
            </a:fld>
            <a:endParaRPr sz="1200" dirty="0"/>
          </a:p>
        </p:txBody>
      </p:sp>
      <p:sp>
        <p:nvSpPr>
          <p:cNvPr id="12" name="[Date Placeholder 3]"/>
          <p:cNvSpPr>
            <a:spLocks noGrp="1"/>
          </p:cNvSpPr>
          <p:nvPr>
            <p:ph type="dt" sz="half" idx="10"/>
          </p:nvPr>
        </p:nvSpPr>
        <p:spPr>
          <a:xfrm>
            <a:off x="457200" y="18288"/>
            <a:ext cx="2895600" cy="329184"/>
          </a:xfrm>
        </p:spPr>
        <p:txBody>
          <a:bodyPr/>
          <a:lstStyle/>
          <a:p>
            <a:pPr>
              <a:defRPr/>
            </a:pPr>
            <a:r>
              <a:rPr lang="en-US"/>
              <a:t>© NUS</a:t>
            </a:r>
            <a:endParaRPr lang="en-US" dirty="0"/>
          </a:p>
        </p:txBody>
      </p:sp>
      <p:sp>
        <p:nvSpPr>
          <p:cNvPr id="8" name="Content Placeholder 5"/>
          <p:cNvSpPr>
            <a:spLocks noGrp="1"/>
          </p:cNvSpPr>
          <p:nvPr>
            <p:ph idx="1"/>
          </p:nvPr>
        </p:nvSpPr>
        <p:spPr>
          <a:xfrm>
            <a:off x="587375" y="1187450"/>
            <a:ext cx="8292856" cy="5450114"/>
          </a:xfrm>
        </p:spPr>
        <p:txBody>
          <a:bodyPr>
            <a:noAutofit/>
          </a:bodyPr>
          <a:lstStyle/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dirty="0"/>
              <a:t>Each </a:t>
            </a:r>
            <a:r>
              <a:rPr lang="en-US" dirty="0">
                <a:solidFill>
                  <a:srgbClr val="0000FF"/>
                </a:solidFill>
              </a:rPr>
              <a:t>Stack Frame </a:t>
            </a:r>
            <a:r>
              <a:rPr lang="en-US" dirty="0"/>
              <a:t>is independent from another.</a:t>
            </a:r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0" indent="0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None/>
              <a:defRPr/>
            </a:pP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7437CA0-C20C-4626-A0E0-998E2B6D678A}"/>
              </a:ext>
            </a:extLst>
          </p:cNvPr>
          <p:cNvSpPr txBox="1"/>
          <p:nvPr/>
        </p:nvSpPr>
        <p:spPr>
          <a:xfrm>
            <a:off x="1004075" y="2168972"/>
            <a:ext cx="3846599" cy="3693319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lIns="91440" tIns="45720" rIns="91440" bIns="45720" rtlCol="0" anchor="t">
            <a:spAutoFit/>
          </a:bodyPr>
          <a:lstStyle/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add(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a, 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b) {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x;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x = a + b;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x;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endParaRPr lang="en-US" b="1" dirty="0">
              <a:solidFill>
                <a:srgbClr val="0000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main(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void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x =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y;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 = add(x,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10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…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pic>
        <p:nvPicPr>
          <p:cNvPr id="5" name="Picture 4" descr="A picture containing diagram&#10;&#10;Description automatically generated">
            <a:extLst>
              <a:ext uri="{FF2B5EF4-FFF2-40B4-BE49-F238E27FC236}">
                <a16:creationId xmlns:a16="http://schemas.microsoft.com/office/drawing/2014/main" id="{242BC886-F834-413A-AE89-A5BA4EA2603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857" r="22000"/>
          <a:stretch/>
        </p:blipFill>
        <p:spPr>
          <a:xfrm>
            <a:off x="3796707" y="2911653"/>
            <a:ext cx="4493623" cy="3571875"/>
          </a:xfrm>
          <a:prstGeom prst="rect">
            <a:avLst/>
          </a:prstGeom>
        </p:spPr>
      </p:pic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370E7FFF-A963-44C1-90E8-1FD6843962A5}"/>
              </a:ext>
            </a:extLst>
          </p:cNvPr>
          <p:cNvCxnSpPr>
            <a:cxnSpLocks/>
          </p:cNvCxnSpPr>
          <p:nvPr/>
        </p:nvCxnSpPr>
        <p:spPr>
          <a:xfrm>
            <a:off x="533400" y="2905949"/>
            <a:ext cx="782007" cy="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51C58C27-3B14-42B9-A7E7-EA4CB9CA7257}"/>
              </a:ext>
            </a:extLst>
          </p:cNvPr>
          <p:cNvSpPr txBox="1"/>
          <p:nvPr/>
        </p:nvSpPr>
        <p:spPr>
          <a:xfrm>
            <a:off x="5956667" y="3244334"/>
            <a:ext cx="619046" cy="369332"/>
          </a:xfrm>
          <a:prstGeom prst="rect">
            <a:avLst/>
          </a:prstGeom>
          <a:solidFill>
            <a:srgbClr val="ECEAEA"/>
          </a:solidFill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pic>
        <p:nvPicPr>
          <p:cNvPr id="13" name="Picture 12" descr="A picture containing diagram&#10;&#10;Description automatically generated">
            <a:extLst>
              <a:ext uri="{FF2B5EF4-FFF2-40B4-BE49-F238E27FC236}">
                <a16:creationId xmlns:a16="http://schemas.microsoft.com/office/drawing/2014/main" id="{099946CC-D55C-427B-87A8-2A28E4640BC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948" t="78185" r="45293" b="14941"/>
          <a:stretch/>
        </p:blipFill>
        <p:spPr>
          <a:xfrm>
            <a:off x="6009650" y="3281926"/>
            <a:ext cx="160867" cy="245533"/>
          </a:xfrm>
          <a:prstGeom prst="rect">
            <a:avLst/>
          </a:prstGeom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7F3781-DFEA-9EEC-A834-82005A0B1D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pic>
        <p:nvPicPr>
          <p:cNvPr id="6" name="Picture 5" descr="A waffles with a white background&#10;&#10;AI-generated content may be incorrect.">
            <a:extLst>
              <a:ext uri="{FF2B5EF4-FFF2-40B4-BE49-F238E27FC236}">
                <a16:creationId xmlns:a16="http://schemas.microsoft.com/office/drawing/2014/main" id="{45BFDC36-E3FE-97B0-F7DD-6C10D99F178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751"/>
          <a:stretch/>
        </p:blipFill>
        <p:spPr>
          <a:xfrm>
            <a:off x="8253627" y="3773646"/>
            <a:ext cx="695539" cy="704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0598186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7398A8-DD65-7367-147F-9F8EC0A9F1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>
            <a:extLst>
              <a:ext uri="{FF2B5EF4-FFF2-40B4-BE49-F238E27FC236}">
                <a16:creationId xmlns:a16="http://schemas.microsoft.com/office/drawing/2014/main" id="{511BAED5-69AE-138E-C135-F64EBA71D56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GB" sz="3600" dirty="0">
                <a:solidFill>
                  <a:srgbClr val="0000FF"/>
                </a:solidFill>
              </a:rPr>
              <a:t>Common Mistake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3C8CD3-15D3-AB0A-CC6D-BE87B446E9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sz="1200" dirty="0"/>
              <a:t>Unit13</a:t>
            </a:r>
            <a:r>
              <a:rPr sz="1200" dirty="0"/>
              <a:t> - </a:t>
            </a:r>
            <a:fld id="{F7EC234A-9094-4BB8-9EA4-75ECDA8A365B}" type="slidenum">
              <a:rPr sz="1200" smtClean="0"/>
              <a:pPr>
                <a:defRPr/>
              </a:pPr>
              <a:t>10</a:t>
            </a:fld>
            <a:endParaRPr sz="1200" dirty="0"/>
          </a:p>
        </p:txBody>
      </p:sp>
      <p:sp>
        <p:nvSpPr>
          <p:cNvPr id="12" name="[Date Placeholder 3]">
            <a:extLst>
              <a:ext uri="{FF2B5EF4-FFF2-40B4-BE49-F238E27FC236}">
                <a16:creationId xmlns:a16="http://schemas.microsoft.com/office/drawing/2014/main" id="{A9FD7083-C28D-DA5E-D8E7-0CFBD41B4C8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57200" y="18288"/>
            <a:ext cx="2895600" cy="329184"/>
          </a:xfrm>
        </p:spPr>
        <p:txBody>
          <a:bodyPr/>
          <a:lstStyle/>
          <a:p>
            <a:pPr>
              <a:defRPr/>
            </a:pPr>
            <a:r>
              <a:rPr lang="en-US"/>
              <a:t>© NUS</a:t>
            </a:r>
            <a:endParaRPr lang="en-US" dirty="0"/>
          </a:p>
        </p:txBody>
      </p:sp>
      <p:sp>
        <p:nvSpPr>
          <p:cNvPr id="8" name="Content Placeholder 5">
            <a:extLst>
              <a:ext uri="{FF2B5EF4-FFF2-40B4-BE49-F238E27FC236}">
                <a16:creationId xmlns:a16="http://schemas.microsoft.com/office/drawing/2014/main" id="{53DB4126-ECC8-1652-B1CE-482C4DA07F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7375" y="1187450"/>
            <a:ext cx="8292856" cy="5450114"/>
          </a:xfrm>
        </p:spPr>
        <p:txBody>
          <a:bodyPr>
            <a:noAutofit/>
          </a:bodyPr>
          <a:lstStyle/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dirty="0"/>
              <a:t>What happens when you call factorial(5) with the following function?</a:t>
            </a:r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0" indent="0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None/>
              <a:defRPr/>
            </a:pP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694B077-577B-F8AB-A6AE-4B3CE0C0062E}"/>
              </a:ext>
            </a:extLst>
          </p:cNvPr>
          <p:cNvSpPr txBox="1"/>
          <p:nvPr/>
        </p:nvSpPr>
        <p:spPr>
          <a:xfrm>
            <a:off x="1004076" y="2168972"/>
            <a:ext cx="5614008" cy="230832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lIns="91440" tIns="45720" rIns="91440" bIns="45720" rtlCol="0" anchor="t">
            <a:spAutoFit/>
          </a:bodyPr>
          <a:lstStyle/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factorial(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n) 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 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answer; 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answer = n * factorial(n -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 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endParaRPr lang="en-US" b="1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answer;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7977CC-F841-30B0-222E-330C0BBFFC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342767D-0A7C-2482-EA26-050EED4B5DE4}"/>
              </a:ext>
            </a:extLst>
          </p:cNvPr>
          <p:cNvSpPr txBox="1"/>
          <p:nvPr/>
        </p:nvSpPr>
        <p:spPr>
          <a:xfrm>
            <a:off x="6295056" y="2445971"/>
            <a:ext cx="2391743" cy="1754326"/>
          </a:xfrm>
          <a:prstGeom prst="rect">
            <a:avLst/>
          </a:prstGeom>
          <a:solidFill>
            <a:srgbClr val="FFFF99"/>
          </a:solidFill>
          <a:ln w="127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Infinite recursion. </a:t>
            </a:r>
          </a:p>
          <a:p>
            <a:endParaRPr lang="en-US" dirty="0"/>
          </a:p>
          <a:p>
            <a:r>
              <a:rPr lang="en-US" dirty="0"/>
              <a:t>May cause </a:t>
            </a:r>
            <a:r>
              <a:rPr lang="en-US" dirty="0">
                <a:solidFill>
                  <a:srgbClr val="0000FF"/>
                </a:solidFill>
              </a:rPr>
              <a:t>stack overflow</a:t>
            </a:r>
            <a:r>
              <a:rPr lang="en-US" dirty="0"/>
              <a:t> as signaled by segmentation fault or crashing…</a:t>
            </a:r>
          </a:p>
        </p:txBody>
      </p:sp>
      <p:pic>
        <p:nvPicPr>
          <p:cNvPr id="2" name="Picture 1" descr="A waffles with a white background&#10;&#10;AI-generated content may be incorrect.">
            <a:extLst>
              <a:ext uri="{FF2B5EF4-FFF2-40B4-BE49-F238E27FC236}">
                <a16:creationId xmlns:a16="http://schemas.microsoft.com/office/drawing/2014/main" id="{8E5434C3-669A-8AA8-3381-1A6C1E843EA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751"/>
          <a:stretch/>
        </p:blipFill>
        <p:spPr>
          <a:xfrm>
            <a:off x="6794286" y="4302522"/>
            <a:ext cx="695539" cy="704225"/>
          </a:xfrm>
          <a:prstGeom prst="rect">
            <a:avLst/>
          </a:prstGeom>
        </p:spPr>
      </p:pic>
      <p:pic>
        <p:nvPicPr>
          <p:cNvPr id="4" name="Picture 3" descr="A waffles with a white background&#10;&#10;AI-generated content may be incorrect.">
            <a:extLst>
              <a:ext uri="{FF2B5EF4-FFF2-40B4-BE49-F238E27FC236}">
                <a16:creationId xmlns:a16="http://schemas.microsoft.com/office/drawing/2014/main" id="{0406AC9C-45DA-1B75-552B-971E4083885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751"/>
          <a:stretch/>
        </p:blipFill>
        <p:spPr>
          <a:xfrm>
            <a:off x="6946686" y="4454922"/>
            <a:ext cx="695539" cy="704225"/>
          </a:xfrm>
          <a:prstGeom prst="rect">
            <a:avLst/>
          </a:prstGeom>
        </p:spPr>
      </p:pic>
      <p:pic>
        <p:nvPicPr>
          <p:cNvPr id="5" name="Picture 4" descr="A waffles with a white background&#10;&#10;AI-generated content may be incorrect.">
            <a:extLst>
              <a:ext uri="{FF2B5EF4-FFF2-40B4-BE49-F238E27FC236}">
                <a16:creationId xmlns:a16="http://schemas.microsoft.com/office/drawing/2014/main" id="{FDED8B56-2BA3-C6FA-36E1-783FFCBC3AD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751"/>
          <a:stretch/>
        </p:blipFill>
        <p:spPr>
          <a:xfrm>
            <a:off x="7099086" y="4607322"/>
            <a:ext cx="695539" cy="704225"/>
          </a:xfrm>
          <a:prstGeom prst="rect">
            <a:avLst/>
          </a:prstGeom>
        </p:spPr>
      </p:pic>
      <p:pic>
        <p:nvPicPr>
          <p:cNvPr id="9" name="Picture 8" descr="A waffles with a white background&#10;&#10;AI-generated content may be incorrect.">
            <a:extLst>
              <a:ext uri="{FF2B5EF4-FFF2-40B4-BE49-F238E27FC236}">
                <a16:creationId xmlns:a16="http://schemas.microsoft.com/office/drawing/2014/main" id="{BD6CE2B6-62BF-DCAE-E514-B5DEBF8F4B1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751"/>
          <a:stretch/>
        </p:blipFill>
        <p:spPr>
          <a:xfrm>
            <a:off x="7251486" y="4759722"/>
            <a:ext cx="695539" cy="704225"/>
          </a:xfrm>
          <a:prstGeom prst="rect">
            <a:avLst/>
          </a:prstGeom>
        </p:spPr>
      </p:pic>
      <p:pic>
        <p:nvPicPr>
          <p:cNvPr id="10" name="Picture 9" descr="A waffles with a white background&#10;&#10;AI-generated content may be incorrect.">
            <a:extLst>
              <a:ext uri="{FF2B5EF4-FFF2-40B4-BE49-F238E27FC236}">
                <a16:creationId xmlns:a16="http://schemas.microsoft.com/office/drawing/2014/main" id="{0EBDBE63-ACB6-8792-3215-ED70A5A6FFF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751"/>
          <a:stretch/>
        </p:blipFill>
        <p:spPr>
          <a:xfrm>
            <a:off x="7403886" y="4912122"/>
            <a:ext cx="695539" cy="704225"/>
          </a:xfrm>
          <a:prstGeom prst="rect">
            <a:avLst/>
          </a:prstGeom>
        </p:spPr>
      </p:pic>
      <p:pic>
        <p:nvPicPr>
          <p:cNvPr id="13" name="Picture 12" descr="A waffles with a white background&#10;&#10;AI-generated content may be incorrect.">
            <a:extLst>
              <a:ext uri="{FF2B5EF4-FFF2-40B4-BE49-F238E27FC236}">
                <a16:creationId xmlns:a16="http://schemas.microsoft.com/office/drawing/2014/main" id="{F95E0B42-D548-8BB2-F1E0-005CF005758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751"/>
          <a:stretch/>
        </p:blipFill>
        <p:spPr>
          <a:xfrm>
            <a:off x="7556286" y="5064522"/>
            <a:ext cx="695539" cy="704225"/>
          </a:xfrm>
          <a:prstGeom prst="rect">
            <a:avLst/>
          </a:prstGeom>
        </p:spPr>
      </p:pic>
      <p:pic>
        <p:nvPicPr>
          <p:cNvPr id="14" name="Picture 13" descr="A waffles with a white background&#10;&#10;AI-generated content may be incorrect.">
            <a:extLst>
              <a:ext uri="{FF2B5EF4-FFF2-40B4-BE49-F238E27FC236}">
                <a16:creationId xmlns:a16="http://schemas.microsoft.com/office/drawing/2014/main" id="{CB356C64-F8A5-983D-6729-6C27D0C1250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751"/>
          <a:stretch/>
        </p:blipFill>
        <p:spPr>
          <a:xfrm>
            <a:off x="7708686" y="5216922"/>
            <a:ext cx="695539" cy="704225"/>
          </a:xfrm>
          <a:prstGeom prst="rect">
            <a:avLst/>
          </a:prstGeom>
        </p:spPr>
      </p:pic>
      <p:pic>
        <p:nvPicPr>
          <p:cNvPr id="15" name="Picture 14" descr="A waffles with a white background&#10;&#10;AI-generated content may be incorrect.">
            <a:extLst>
              <a:ext uri="{FF2B5EF4-FFF2-40B4-BE49-F238E27FC236}">
                <a16:creationId xmlns:a16="http://schemas.microsoft.com/office/drawing/2014/main" id="{86CA064A-DEBC-771C-FCC3-49CDEDA646C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751"/>
          <a:stretch/>
        </p:blipFill>
        <p:spPr>
          <a:xfrm>
            <a:off x="7861086" y="5369322"/>
            <a:ext cx="695539" cy="704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2427802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99913" y="4696884"/>
            <a:ext cx="2445774" cy="1263650"/>
          </a:xfrm>
          <a:prstGeom prst="rect">
            <a:avLst/>
          </a:prstGeom>
        </p:spPr>
      </p:pic>
      <p:sp>
        <p:nvSpPr>
          <p:cNvPr id="8" name="[TextBox 7]"/>
          <p:cNvSpPr txBox="1"/>
          <p:nvPr/>
        </p:nvSpPr>
        <p:spPr>
          <a:xfrm>
            <a:off x="3513667" y="2912533"/>
            <a:ext cx="22182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C00000"/>
                </a:solidFill>
                <a:latin typeface="Calibri" panose="020F0502020204030204" pitchFamily="34" charset="0"/>
              </a:rPr>
              <a:t>UNIT 14</a:t>
            </a:r>
          </a:p>
        </p:txBody>
      </p:sp>
      <p:sp>
        <p:nvSpPr>
          <p:cNvPr id="11" name="[TextBox 7]"/>
          <p:cNvSpPr txBox="1"/>
          <p:nvPr/>
        </p:nvSpPr>
        <p:spPr>
          <a:xfrm>
            <a:off x="1058333" y="3462867"/>
            <a:ext cx="712893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C00000"/>
                </a:solidFill>
                <a:latin typeface="Calibri" panose="020F0502020204030204" pitchFamily="34" charset="0"/>
              </a:rPr>
              <a:t>Fixed-Length Array</a:t>
            </a:r>
          </a:p>
        </p:txBody>
      </p:sp>
      <p:sp>
        <p:nvSpPr>
          <p:cNvPr id="9" name="Title 1"/>
          <p:cNvSpPr txBox="1">
            <a:spLocks/>
          </p:cNvSpPr>
          <p:nvPr/>
        </p:nvSpPr>
        <p:spPr>
          <a:xfrm>
            <a:off x="822960" y="1245704"/>
            <a:ext cx="7543800" cy="111318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6600" kern="1200" spc="-50" baseline="0">
                <a:solidFill>
                  <a:srgbClr val="003399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5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-38" normalizeH="0" baseline="0" noProof="0">
                <a:ln>
                  <a:noFill/>
                </a:ln>
                <a:solidFill>
                  <a:srgbClr val="003399"/>
                </a:solidFill>
                <a:effectLst/>
                <a:uLnTx/>
                <a:uFillTx/>
                <a:latin typeface="Arial"/>
              </a:rPr>
              <a:t>CS1010: </a:t>
            </a:r>
            <a:r>
              <a:rPr lang="en-US" sz="3600" spc="-38">
                <a:latin typeface="Arial"/>
              </a:rPr>
              <a:t>Programming Methodology</a:t>
            </a:r>
            <a:endParaRPr kumimoji="0" lang="en-SG" sz="7200" b="0" i="0" u="none" strike="noStrike" kern="1200" cap="none" spc="-50" normalizeH="0" baseline="0" noProof="0">
              <a:ln>
                <a:noFill/>
              </a:ln>
              <a:solidFill>
                <a:srgbClr val="003399"/>
              </a:solidFill>
              <a:effectLst/>
              <a:uLnTx/>
              <a:uFillTx/>
              <a:latin typeface="Arial"/>
              <a:ea typeface="+mj-ea"/>
              <a:cs typeface="+mj-cs"/>
            </a:endParaRPr>
          </a:p>
        </p:txBody>
      </p:sp>
      <p:pic>
        <p:nvPicPr>
          <p:cNvPr id="2" name="Picture 1" descr="Qr code&#10;&#10;Description automatically generated">
            <a:extLst>
              <a:ext uri="{FF2B5EF4-FFF2-40B4-BE49-F238E27FC236}">
                <a16:creationId xmlns:a16="http://schemas.microsoft.com/office/drawing/2014/main" id="{00AFD87E-4140-DA13-C177-8179A510C01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43800" y="4946796"/>
            <a:ext cx="1447800" cy="14478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8C62017-F5BC-C7C2-DB29-3938B809BFDA}"/>
              </a:ext>
            </a:extLst>
          </p:cNvPr>
          <p:cNvSpPr txBox="1"/>
          <p:nvPr/>
        </p:nvSpPr>
        <p:spPr>
          <a:xfrm>
            <a:off x="6430765" y="5917365"/>
            <a:ext cx="264302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2000" dirty="0"/>
              <a:t>Live Q&amp;A </a:t>
            </a:r>
          </a:p>
          <a:p>
            <a:r>
              <a:rPr lang="en-SG" sz="2000" dirty="0"/>
              <a:t>https://pollev.com/jin</a:t>
            </a:r>
          </a:p>
        </p:txBody>
      </p:sp>
    </p:spTree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GB" sz="3600">
                <a:solidFill>
                  <a:srgbClr val="0000FF"/>
                </a:solidFill>
              </a:rPr>
              <a:t>Unit 15: Array</a:t>
            </a:r>
          </a:p>
        </p:txBody>
      </p:sp>
      <p:sp>
        <p:nvSpPr>
          <p:cNvPr id="14339" name="HighlightTextShape201406201824391195"/>
          <p:cNvSpPr>
            <a:spLocks noGrp="1" noChangeArrowheads="1"/>
          </p:cNvSpPr>
          <p:nvPr>
            <p:ph idx="1"/>
          </p:nvPr>
        </p:nvSpPr>
        <p:spPr>
          <a:xfrm>
            <a:off x="418641" y="1371600"/>
            <a:ext cx="8420559" cy="4495800"/>
          </a:xfrm>
        </p:spPr>
        <p:txBody>
          <a:bodyPr/>
          <a:lstStyle/>
          <a:p>
            <a:pPr marL="514350" indent="-514350" eaLnBrk="1" hangingPunct="1">
              <a:buClrTx/>
              <a:buSzPct val="100000"/>
              <a:buFont typeface="+mj-lt"/>
              <a:buAutoNum type="arabicPeriod"/>
            </a:pPr>
            <a:r>
              <a:rPr lang="en-GB" sz="2800" dirty="0"/>
              <a:t>Fixed-Length Array</a:t>
            </a:r>
            <a:r>
              <a:rPr lang="en-GB" sz="2800" dirty="0">
                <a:latin typeface="+mj-lt"/>
              </a:rPr>
              <a:t> </a:t>
            </a:r>
          </a:p>
          <a:p>
            <a:pPr marL="514350" indent="-514350" eaLnBrk="1" hangingPunct="1">
              <a:buClrTx/>
              <a:buSzPct val="100000"/>
              <a:buFont typeface="+mj-lt"/>
              <a:buAutoNum type="arabicPeriod"/>
            </a:pPr>
            <a:r>
              <a:rPr lang="en-GB" sz="2800" dirty="0"/>
              <a:t>Array as Lookup Table</a:t>
            </a:r>
          </a:p>
          <a:p>
            <a:pPr marL="514350" indent="-514350" eaLnBrk="1" hangingPunct="1">
              <a:buClrTx/>
              <a:buSzPct val="100000"/>
              <a:buFont typeface="+mj-lt"/>
              <a:buAutoNum type="arabicPeriod"/>
            </a:pPr>
            <a:r>
              <a:rPr lang="en-GB" sz="2800" dirty="0"/>
              <a:t>Array as List</a:t>
            </a:r>
          </a:p>
          <a:p>
            <a:pPr marL="514350" indent="-514350">
              <a:buClrTx/>
              <a:buSzPct val="100000"/>
              <a:buFont typeface="+mj-lt"/>
              <a:buAutoNum type="arabicPeriod"/>
            </a:pPr>
            <a:r>
              <a:rPr lang="en-GB" sz="2800" dirty="0"/>
              <a:t>Common Mistakes</a:t>
            </a:r>
            <a:endParaRPr lang="en-GB" sz="2800" dirty="0">
              <a:latin typeface="+mj-lt"/>
            </a:endParaRPr>
          </a:p>
          <a:p>
            <a:pPr marL="514350" indent="-514350">
              <a:buClrTx/>
              <a:buSzPct val="100000"/>
              <a:buFont typeface="+mj-lt"/>
              <a:buAutoNum type="arabicPeriod"/>
            </a:pPr>
            <a:r>
              <a:rPr lang="en-GB" sz="2800" dirty="0"/>
              <a:t>Array and Pointer</a:t>
            </a:r>
            <a:endParaRPr lang="en-GB" sz="2800" dirty="0">
              <a:latin typeface="+mj-lt"/>
            </a:endParaRPr>
          </a:p>
          <a:p>
            <a:pPr marL="514350" indent="-514350">
              <a:buClrTx/>
              <a:buSzPct val="100000"/>
              <a:buFont typeface="+mj-lt"/>
              <a:buAutoNum type="arabicPeriod"/>
            </a:pPr>
            <a:r>
              <a:rPr lang="en-GB" sz="2800" dirty="0"/>
              <a:t>Function Definition / Call with Array</a:t>
            </a:r>
            <a:endParaRPr lang="en-GB" sz="2800" dirty="0">
              <a:latin typeface="+mj-lt"/>
            </a:endParaRPr>
          </a:p>
          <a:p>
            <a:pPr marL="514350" indent="-514350" eaLnBrk="1" hangingPunct="1">
              <a:buClrTx/>
              <a:buSzPct val="100000"/>
              <a:buFont typeface="+mj-lt"/>
              <a:buAutoNum type="arabicPeriod"/>
            </a:pPr>
            <a:endParaRPr lang="en-GB" sz="2800" dirty="0">
              <a:latin typeface="+mj-lt"/>
            </a:endParaRPr>
          </a:p>
          <a:p>
            <a:pPr marL="514350" indent="-514350" eaLnBrk="1" hangingPunct="1">
              <a:buClrTx/>
              <a:buSzPct val="100000"/>
              <a:buFont typeface="+mj-lt"/>
              <a:buAutoNum type="arabicPeriod"/>
            </a:pPr>
            <a:endParaRPr lang="en-GB" sz="2800" dirty="0">
              <a:latin typeface="+mj-lt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E8CF685-973B-08CF-8432-4E4095D82D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Unit14 - </a:t>
            </a:r>
            <a:fld id="{2E4790E1-2590-4AEE-892D-AB46A7688113}" type="slidenum">
              <a:rPr lang="en-US" smtClean="0"/>
              <a:pPr>
                <a:defRPr/>
              </a:pPr>
              <a:t>12</a:t>
            </a:fld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F8D4A18-A800-B567-3285-EFC0CD3EC1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</p:spTree>
    <p:extLst>
      <p:ext uri="{BB962C8B-B14F-4D97-AF65-F5344CB8AC3E}">
        <p14:creationId xmlns:p14="http://schemas.microsoft.com/office/powerpoint/2010/main" val="5985675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C91A66-0DF6-EAAC-3A13-C7AED68A8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>
            <a:extLst>
              <a:ext uri="{FF2B5EF4-FFF2-40B4-BE49-F238E27FC236}">
                <a16:creationId xmlns:a16="http://schemas.microsoft.com/office/drawing/2014/main" id="{9B49EB73-B4C3-DC42-99F8-82C42D3FD87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GB" sz="3600" dirty="0">
                <a:solidFill>
                  <a:srgbClr val="0000FF"/>
                </a:solidFill>
              </a:rPr>
              <a:t>Variables – re-redux</a:t>
            </a:r>
          </a:p>
        </p:txBody>
      </p:sp>
      <p:sp>
        <p:nvSpPr>
          <p:cNvPr id="56" name="Rectangle 3">
            <a:extLst>
              <a:ext uri="{FF2B5EF4-FFF2-40B4-BE49-F238E27FC236}">
                <a16:creationId xmlns:a16="http://schemas.microsoft.com/office/drawing/2014/main" id="{4FBCE43F-C67B-6223-7E44-C08A44D182C9}"/>
              </a:ext>
            </a:extLst>
          </p:cNvPr>
          <p:cNvSpPr txBox="1">
            <a:spLocks noChangeArrowheads="1"/>
          </p:cNvSpPr>
          <p:nvPr/>
        </p:nvSpPr>
        <p:spPr>
          <a:xfrm>
            <a:off x="686898" y="5302573"/>
            <a:ext cx="8259762" cy="15554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90000"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88720" indent="-13716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3716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5544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73736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9202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fontAlgn="auto">
              <a:spcAft>
                <a:spcPts val="0"/>
              </a:spcAft>
              <a:buSzPct val="120000"/>
              <a:buFont typeface="Wingdings" pitchFamily="2" charset="2"/>
              <a:buNone/>
            </a:pPr>
            <a:endParaRPr lang="en-GB" b="1">
              <a:solidFill>
                <a:srgbClr val="0000FF"/>
              </a:solidFill>
            </a:endParaRPr>
          </a:p>
          <a:p>
            <a:pPr marL="457200" indent="-457200" fontAlgn="auto">
              <a:spcAft>
                <a:spcPts val="0"/>
              </a:spcAft>
              <a:buSzPct val="120000"/>
              <a:buFont typeface="Wingdings" pitchFamily="2" charset="2"/>
              <a:buNone/>
            </a:pPr>
            <a:endParaRPr lang="en-GB" b="1">
              <a:solidFill>
                <a:srgbClr val="0000FF"/>
              </a:solidFill>
            </a:endParaRPr>
          </a:p>
          <a:p>
            <a:pPr marL="457200" indent="-457200" fontAlgn="auto">
              <a:spcAft>
                <a:spcPts val="0"/>
              </a:spcAft>
              <a:buSzPct val="120000"/>
              <a:buFont typeface="Wingdings" pitchFamily="2" charset="2"/>
              <a:buNone/>
            </a:pPr>
            <a:endParaRPr lang="en-GB" b="1">
              <a:solidFill>
                <a:srgbClr val="0000FF"/>
              </a:solidFill>
            </a:endParaRPr>
          </a:p>
          <a:p>
            <a:pPr marL="457200" indent="-457200" fontAlgn="auto">
              <a:spcAft>
                <a:spcPts val="0"/>
              </a:spcAft>
              <a:buSzPct val="120000"/>
              <a:buFont typeface="Wingdings" pitchFamily="2" charset="2"/>
              <a:buNone/>
            </a:pPr>
            <a:endParaRPr lang="en-GB" sz="2000">
              <a:solidFill>
                <a:srgbClr val="0000FF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CF70437-B74D-1BF3-114C-17C9FB41F1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Unit14 - </a:t>
            </a:r>
            <a:fld id="{2E4790E1-2590-4AEE-892D-AB46A7688113}" type="slidenum">
              <a:rPr lang="en-US" smtClean="0"/>
              <a:pPr>
                <a:defRPr/>
              </a:pPr>
              <a:t>13</a:t>
            </a:fld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84F2B7C-53BA-D07A-2045-92DF233BE3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393C2B2-B910-A777-54E8-8FB949A08B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7375" y="1187450"/>
            <a:ext cx="8292856" cy="5450114"/>
          </a:xfrm>
        </p:spPr>
        <p:txBody>
          <a:bodyPr>
            <a:normAutofit/>
          </a:bodyPr>
          <a:lstStyle/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sz="2800" dirty="0"/>
              <a:t>What are the limitations of the variables we have learn so far?</a:t>
            </a:r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sz="2400" dirty="0"/>
              <a:t>It can only hold </a:t>
            </a:r>
            <a:r>
              <a:rPr lang="en-US" sz="2400" dirty="0">
                <a:solidFill>
                  <a:srgbClr val="0000FF"/>
                </a:solidFill>
              </a:rPr>
              <a:t>a single value</a:t>
            </a:r>
            <a:r>
              <a:rPr lang="en-US" sz="2400" dirty="0"/>
              <a:t>.</a:t>
            </a:r>
          </a:p>
          <a:p>
            <a:pPr marL="0" indent="0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None/>
              <a:defRPr/>
            </a:pPr>
            <a:endParaRPr lang="en-US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sz="2800" dirty="0"/>
              <a:t>What happens if we need to hold many different values of the same type for processing?</a:t>
            </a:r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sz="2400" dirty="0"/>
              <a:t>E.g.,</a:t>
            </a:r>
          </a:p>
          <a:p>
            <a:pPr marL="896303" lvl="2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sz="2200" dirty="0"/>
              <a:t>Marks of a class of 100 students</a:t>
            </a:r>
          </a:p>
          <a:p>
            <a:pPr marL="896303" lvl="2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sz="2200" dirty="0"/>
              <a:t>Number of days in each month</a:t>
            </a:r>
          </a:p>
          <a:p>
            <a:pPr marL="896303" lvl="2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sz="2200" dirty="0"/>
              <a:t>Postal codes in Singapore</a:t>
            </a:r>
          </a:p>
          <a:p>
            <a:pPr marL="896303" lvl="2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200" dirty="0"/>
          </a:p>
          <a:p>
            <a:pPr marL="896303" lvl="2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200" dirty="0"/>
          </a:p>
          <a:p>
            <a:pPr marL="896303" lvl="2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200" dirty="0"/>
          </a:p>
          <a:p>
            <a:pPr marL="896303" lvl="2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200" dirty="0"/>
          </a:p>
          <a:p>
            <a:pPr marL="896303" lvl="2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200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839518406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GB" sz="3600" dirty="0">
                <a:solidFill>
                  <a:srgbClr val="0000FF"/>
                </a:solidFill>
              </a:rPr>
              <a:t>Fixed-Length Array</a:t>
            </a:r>
          </a:p>
        </p:txBody>
      </p:sp>
      <p:sp>
        <p:nvSpPr>
          <p:cNvPr id="11" name="Content Placeholder 1"/>
          <p:cNvSpPr>
            <a:spLocks noGrp="1"/>
          </p:cNvSpPr>
          <p:nvPr>
            <p:ph sz="half" idx="1"/>
          </p:nvPr>
        </p:nvSpPr>
        <p:spPr>
          <a:xfrm>
            <a:off x="457199" y="1213945"/>
            <a:ext cx="8008883" cy="1019301"/>
          </a:xfrm>
        </p:spPr>
        <p:txBody>
          <a:bodyPr>
            <a:noAutofit/>
          </a:bodyPr>
          <a:lstStyle/>
          <a:p>
            <a:pPr marL="352425" indent="-352425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r>
              <a:rPr lang="en-GB" sz="2800" dirty="0"/>
              <a:t>A collection of data of a particular type, each accessible through an index.</a:t>
            </a:r>
          </a:p>
          <a:p>
            <a:pPr marL="352425" indent="-352425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endParaRPr lang="en-GB" sz="2400" dirty="0">
              <a:latin typeface="Arial" pitchFamily="34" charset="0"/>
              <a:cs typeface="Arial" pitchFamily="34" charset="0"/>
            </a:endParaRPr>
          </a:p>
          <a:p>
            <a:pPr marL="352425" indent="-352425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endParaRPr lang="en-GB" dirty="0">
              <a:latin typeface="Arial" pitchFamily="34" charset="0"/>
              <a:cs typeface="Arial" pitchFamily="34" charset="0"/>
            </a:endParaRPr>
          </a:p>
          <a:p>
            <a:pPr marL="352425" indent="-352425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endParaRPr lang="en-GB" sz="2400" dirty="0">
              <a:latin typeface="Arial" pitchFamily="34" charset="0"/>
              <a:cs typeface="Arial" pitchFamily="34" charset="0"/>
            </a:endParaRPr>
          </a:p>
          <a:p>
            <a:pPr marL="352425" indent="-352425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endParaRPr lang="en-GB" dirty="0">
              <a:latin typeface="Arial" pitchFamily="34" charset="0"/>
              <a:cs typeface="Arial" pitchFamily="34" charset="0"/>
            </a:endParaRPr>
          </a:p>
          <a:p>
            <a:pPr marL="352425" indent="-352425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endParaRPr lang="en-GB" sz="2400" dirty="0">
              <a:latin typeface="Arial" pitchFamily="34" charset="0"/>
              <a:cs typeface="Arial" pitchFamily="34" charset="0"/>
            </a:endParaRPr>
          </a:p>
          <a:p>
            <a:pPr marL="0" indent="0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None/>
            </a:pPr>
            <a:br>
              <a:rPr lang="en-GB" sz="1200" dirty="0">
                <a:latin typeface="Arial" pitchFamily="34" charset="0"/>
                <a:cs typeface="Arial" pitchFamily="34" charset="0"/>
              </a:rPr>
            </a:br>
            <a:endParaRPr lang="en-GB" sz="1200" dirty="0">
              <a:latin typeface="Arial" pitchFamily="34" charset="0"/>
              <a:cs typeface="Arial" pitchFamily="34" charset="0"/>
            </a:endParaRPr>
          </a:p>
          <a:p>
            <a:pPr lvl="1">
              <a:spcBef>
                <a:spcPts val="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r>
              <a:rPr lang="en-GB" sz="2400" dirty="0"/>
              <a:t> Element type can be any data type (e.g., </a:t>
            </a:r>
            <a:r>
              <a:rPr lang="en-GB" sz="2400" dirty="0">
                <a:solidFill>
                  <a:srgbClr val="0000FF"/>
                </a:solidFill>
              </a:rPr>
              <a:t>long</a:t>
            </a:r>
            <a:r>
              <a:rPr lang="en-GB" sz="2400" dirty="0"/>
              <a:t>, </a:t>
            </a:r>
            <a:r>
              <a:rPr lang="en-GB" sz="2400" dirty="0">
                <a:solidFill>
                  <a:srgbClr val="0000FF"/>
                </a:solidFill>
              </a:rPr>
              <a:t>double,</a:t>
            </a:r>
            <a:r>
              <a:rPr lang="en-GB" sz="2400" dirty="0"/>
              <a:t> </a:t>
            </a:r>
            <a:r>
              <a:rPr lang="en-GB" sz="2400" dirty="0">
                <a:solidFill>
                  <a:srgbClr val="0000FF"/>
                </a:solidFill>
              </a:rPr>
              <a:t>char</a:t>
            </a:r>
            <a:r>
              <a:rPr lang="en-GB" sz="2400" dirty="0"/>
              <a:t>)</a:t>
            </a:r>
          </a:p>
          <a:p>
            <a:pPr lvl="1">
              <a:spcBef>
                <a:spcPts val="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r>
              <a:rPr lang="en-GB" sz="2400" dirty="0"/>
              <a:t> Array </a:t>
            </a:r>
            <a:r>
              <a:rPr lang="en-GB" sz="2400" dirty="0">
                <a:solidFill>
                  <a:srgbClr val="0000FF"/>
                </a:solidFill>
              </a:rPr>
              <a:t>size</a:t>
            </a:r>
            <a:r>
              <a:rPr lang="en-GB" sz="2400" dirty="0"/>
              <a:t> should be a positive integer.</a:t>
            </a:r>
          </a:p>
          <a:p>
            <a:pPr lvl="1">
              <a:spcBef>
                <a:spcPts val="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r>
              <a:rPr lang="en-GB" sz="2400" dirty="0"/>
              <a:t> Array </a:t>
            </a:r>
            <a:r>
              <a:rPr lang="en-GB" sz="2400" dirty="0">
                <a:solidFill>
                  <a:srgbClr val="0000FF"/>
                </a:solidFill>
              </a:rPr>
              <a:t>index</a:t>
            </a:r>
            <a:r>
              <a:rPr lang="en-GB" sz="2400" dirty="0"/>
              <a:t> is from </a:t>
            </a:r>
            <a:r>
              <a:rPr lang="en-GB" sz="2400" dirty="0">
                <a:solidFill>
                  <a:srgbClr val="0000FF"/>
                </a:solidFill>
              </a:rPr>
              <a:t>0</a:t>
            </a:r>
            <a:r>
              <a:rPr lang="en-GB" sz="2400" dirty="0"/>
              <a:t> to Array </a:t>
            </a:r>
            <a:r>
              <a:rPr lang="en-GB" sz="2400" dirty="0">
                <a:solidFill>
                  <a:srgbClr val="0000FF"/>
                </a:solidFill>
              </a:rPr>
              <a:t>size - 1 </a:t>
            </a:r>
          </a:p>
        </p:txBody>
      </p:sp>
      <p:sp>
        <p:nvSpPr>
          <p:cNvPr id="27" name="TextBox 26"/>
          <p:cNvSpPr txBox="1">
            <a:spLocks noChangeArrowheads="1"/>
          </p:cNvSpPr>
          <p:nvPr/>
        </p:nvSpPr>
        <p:spPr bwMode="auto">
          <a:xfrm>
            <a:off x="2588126" y="2214473"/>
            <a:ext cx="3065022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n-US" sz="2400" b="1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long</a:t>
            </a:r>
            <a:r>
              <a:rPr lang="en-US" sz="2400" b="1">
                <a:solidFill>
                  <a:srgbClr val="80000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2400" b="1">
                <a:latin typeface="Courier New" pitchFamily="49" charset="0"/>
                <a:cs typeface="Courier New" pitchFamily="49" charset="0"/>
              </a:rPr>
              <a:t>marks</a:t>
            </a:r>
            <a:r>
              <a:rPr lang="en-US" sz="2400" b="1">
                <a:solidFill>
                  <a:srgbClr val="800000"/>
                </a:solidFill>
                <a:latin typeface="Courier New" pitchFamily="49" charset="0"/>
                <a:cs typeface="Courier New" pitchFamily="49" charset="0"/>
              </a:rPr>
              <a:t>[</a:t>
            </a:r>
            <a:r>
              <a:rPr lang="en-US" sz="2400" b="1">
                <a:solidFill>
                  <a:srgbClr val="008000"/>
                </a:solidFill>
                <a:latin typeface="Courier New" pitchFamily="49" charset="0"/>
                <a:cs typeface="Courier New" pitchFamily="49" charset="0"/>
              </a:rPr>
              <a:t>10</a:t>
            </a:r>
            <a:r>
              <a:rPr lang="en-US" sz="2400" b="1">
                <a:solidFill>
                  <a:srgbClr val="800000"/>
                </a:solidFill>
                <a:latin typeface="Courier New" pitchFamily="49" charset="0"/>
                <a:cs typeface="Courier New" pitchFamily="49" charset="0"/>
              </a:rPr>
              <a:t>]</a:t>
            </a:r>
            <a:r>
              <a:rPr lang="en-US" sz="2400" b="1">
                <a:latin typeface="Courier New" pitchFamily="49" charset="0"/>
                <a:cs typeface="Courier New" pitchFamily="49" charset="0"/>
              </a:rPr>
              <a:t>;</a:t>
            </a:r>
            <a:endParaRPr lang="en-SG" sz="2400" b="1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29" name="Group 43"/>
          <p:cNvGrpSpPr>
            <a:grpSpLocks/>
          </p:cNvGrpSpPr>
          <p:nvPr/>
        </p:nvGrpSpPr>
        <p:grpSpPr bwMode="auto">
          <a:xfrm>
            <a:off x="3173413" y="2569654"/>
            <a:ext cx="1927225" cy="768769"/>
            <a:chOff x="3172857" y="3289476"/>
            <a:chExt cx="1927953" cy="770507"/>
          </a:xfrm>
        </p:grpSpPr>
        <p:sp>
          <p:nvSpPr>
            <p:cNvPr id="30" name="TextBox 29"/>
            <p:cNvSpPr txBox="1"/>
            <p:nvPr/>
          </p:nvSpPr>
          <p:spPr>
            <a:xfrm>
              <a:off x="3172857" y="3690850"/>
              <a:ext cx="1927953" cy="369133"/>
            </a:xfrm>
            <a:prstGeom prst="rect">
              <a:avLst/>
            </a:prstGeom>
            <a:solidFill>
              <a:srgbClr val="FFFFCC"/>
            </a:solidFill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algn="ctr" eaLnBrk="1" hangingPunct="1">
                <a:defRPr/>
              </a:pPr>
              <a:r>
                <a:rPr lang="en-US">
                  <a:solidFill>
                    <a:srgbClr val="000000"/>
                  </a:solidFill>
                </a:rPr>
                <a:t>Array name</a:t>
              </a:r>
              <a:endParaRPr lang="en-SG">
                <a:solidFill>
                  <a:srgbClr val="000000"/>
                </a:solidFill>
              </a:endParaRPr>
            </a:p>
          </p:txBody>
        </p:sp>
        <p:cxnSp>
          <p:nvCxnSpPr>
            <p:cNvPr id="31" name="Straight Arrow Connector 34"/>
            <p:cNvCxnSpPr>
              <a:cxnSpLocks noChangeShapeType="1"/>
              <a:stCxn id="30" idx="0"/>
            </p:cNvCxnSpPr>
            <p:nvPr/>
          </p:nvCxnSpPr>
          <p:spPr bwMode="auto">
            <a:xfrm flipH="1" flipV="1">
              <a:off x="4002131" y="3289476"/>
              <a:ext cx="134703" cy="401377"/>
            </a:xfrm>
            <a:prstGeom prst="straightConnector1">
              <a:avLst/>
            </a:prstGeom>
            <a:noFill/>
            <a:ln w="12700" cap="sq" algn="ctr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32" name="Group 44"/>
          <p:cNvGrpSpPr>
            <a:grpSpLocks/>
          </p:cNvGrpSpPr>
          <p:nvPr/>
        </p:nvGrpSpPr>
        <p:grpSpPr bwMode="auto">
          <a:xfrm>
            <a:off x="912813" y="2554662"/>
            <a:ext cx="2280092" cy="661524"/>
            <a:chOff x="912564" y="3276040"/>
            <a:chExt cx="2281036" cy="660922"/>
          </a:xfrm>
        </p:grpSpPr>
        <p:sp>
          <p:nvSpPr>
            <p:cNvPr id="33" name="TextBox 32"/>
            <p:cNvSpPr txBox="1"/>
            <p:nvPr/>
          </p:nvSpPr>
          <p:spPr>
            <a:xfrm>
              <a:off x="912564" y="3567411"/>
              <a:ext cx="1928023" cy="369551"/>
            </a:xfrm>
            <a:prstGeom prst="rect">
              <a:avLst/>
            </a:prstGeom>
            <a:solidFill>
              <a:srgbClr val="FFFFCC"/>
            </a:solidFill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algn="ctr" eaLnBrk="1" hangingPunct="1">
                <a:defRPr/>
              </a:pPr>
              <a:r>
                <a:rPr lang="en-US">
                  <a:solidFill>
                    <a:srgbClr val="0000FF"/>
                  </a:solidFill>
                </a:rPr>
                <a:t>Element type</a:t>
              </a:r>
              <a:endParaRPr lang="en-SG">
                <a:solidFill>
                  <a:srgbClr val="0000FF"/>
                </a:solidFill>
              </a:endParaRPr>
            </a:p>
          </p:txBody>
        </p:sp>
        <p:cxnSp>
          <p:nvCxnSpPr>
            <p:cNvPr id="34" name="Straight Arrow Connector 37"/>
            <p:cNvCxnSpPr>
              <a:cxnSpLocks noChangeShapeType="1"/>
            </p:cNvCxnSpPr>
            <p:nvPr/>
          </p:nvCxnSpPr>
          <p:spPr bwMode="auto">
            <a:xfrm flipV="1">
              <a:off x="2555913" y="3276040"/>
              <a:ext cx="637687" cy="282409"/>
            </a:xfrm>
            <a:prstGeom prst="straightConnector1">
              <a:avLst/>
            </a:prstGeom>
            <a:noFill/>
            <a:ln w="12700" cap="sq" algn="ctr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35" name="Group 42"/>
          <p:cNvGrpSpPr>
            <a:grpSpLocks/>
          </p:cNvGrpSpPr>
          <p:nvPr/>
        </p:nvGrpSpPr>
        <p:grpSpPr bwMode="auto">
          <a:xfrm>
            <a:off x="4946495" y="2585391"/>
            <a:ext cx="2465543" cy="553008"/>
            <a:chOff x="4946514" y="3306963"/>
            <a:chExt cx="2466002" cy="552880"/>
          </a:xfrm>
        </p:grpSpPr>
        <p:sp>
          <p:nvSpPr>
            <p:cNvPr id="36" name="TextBox 35"/>
            <p:cNvSpPr txBox="1"/>
            <p:nvPr/>
          </p:nvSpPr>
          <p:spPr>
            <a:xfrm>
              <a:off x="5484932" y="3490042"/>
              <a:ext cx="1927584" cy="369801"/>
            </a:xfrm>
            <a:prstGeom prst="rect">
              <a:avLst/>
            </a:prstGeom>
            <a:solidFill>
              <a:srgbClr val="FFFFCC"/>
            </a:solidFill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algn="ctr" eaLnBrk="1" hangingPunct="1">
                <a:defRPr/>
              </a:pPr>
              <a:r>
                <a:rPr lang="en-US" dirty="0">
                  <a:solidFill>
                    <a:srgbClr val="008000"/>
                  </a:solidFill>
                </a:rPr>
                <a:t>Array size</a:t>
              </a:r>
              <a:endParaRPr lang="en-SG" dirty="0">
                <a:solidFill>
                  <a:srgbClr val="008000"/>
                </a:solidFill>
              </a:endParaRPr>
            </a:p>
          </p:txBody>
        </p:sp>
        <p:cxnSp>
          <p:nvCxnSpPr>
            <p:cNvPr id="37" name="Straight Arrow Connector 40"/>
            <p:cNvCxnSpPr>
              <a:cxnSpLocks noChangeShapeType="1"/>
              <a:stCxn id="36" idx="1"/>
            </p:cNvCxnSpPr>
            <p:nvPr/>
          </p:nvCxnSpPr>
          <p:spPr bwMode="auto">
            <a:xfrm flipH="1" flipV="1">
              <a:off x="4946514" y="3306963"/>
              <a:ext cx="538418" cy="367980"/>
            </a:xfrm>
            <a:prstGeom prst="straightConnector1">
              <a:avLst/>
            </a:prstGeom>
            <a:noFill/>
            <a:ln w="12700" cap="sq" algn="ctr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38" name="Group 37"/>
          <p:cNvGrpSpPr/>
          <p:nvPr/>
        </p:nvGrpSpPr>
        <p:grpSpPr>
          <a:xfrm>
            <a:off x="1101969" y="3688081"/>
            <a:ext cx="6633090" cy="777343"/>
            <a:chOff x="1101969" y="4738972"/>
            <a:chExt cx="6633090" cy="777343"/>
          </a:xfrm>
        </p:grpSpPr>
        <p:grpSp>
          <p:nvGrpSpPr>
            <p:cNvPr id="39" name="Group 38"/>
            <p:cNvGrpSpPr/>
            <p:nvPr/>
          </p:nvGrpSpPr>
          <p:grpSpPr>
            <a:xfrm>
              <a:off x="1101969" y="5140785"/>
              <a:ext cx="6543293" cy="375530"/>
              <a:chOff x="1101969" y="5140785"/>
              <a:chExt cx="6543293" cy="375530"/>
            </a:xfrm>
          </p:grpSpPr>
          <p:sp>
            <p:nvSpPr>
              <p:cNvPr id="47" name="Rectangle 16"/>
              <p:cNvSpPr>
                <a:spLocks noChangeArrowheads="1"/>
              </p:cNvSpPr>
              <p:nvPr/>
            </p:nvSpPr>
            <p:spPr bwMode="auto">
              <a:xfrm>
                <a:off x="1948868" y="5140785"/>
                <a:ext cx="846898" cy="375530"/>
              </a:xfrm>
              <a:prstGeom prst="rect">
                <a:avLst/>
              </a:prstGeom>
              <a:noFill/>
              <a:ln w="12700" cap="sq" algn="ctr">
                <a:solidFill>
                  <a:schemeClr val="tx1"/>
                </a:solidFill>
                <a:round/>
                <a:headEnd type="none" w="sm" len="sm"/>
                <a:tailEnd type="none" w="sm" len="sm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pPr algn="ctr"/>
                <a:r>
                  <a:rPr lang="en-SG"/>
                  <a:t>2</a:t>
                </a:r>
              </a:p>
            </p:txBody>
          </p:sp>
          <p:sp>
            <p:nvSpPr>
              <p:cNvPr id="48" name="Rectangle 16"/>
              <p:cNvSpPr>
                <a:spLocks noChangeArrowheads="1"/>
              </p:cNvSpPr>
              <p:nvPr/>
            </p:nvSpPr>
            <p:spPr bwMode="auto">
              <a:xfrm>
                <a:off x="4548188" y="5140785"/>
                <a:ext cx="537183" cy="35208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 cap="sq" algn="ctr">
                    <a:solidFill>
                      <a:srgbClr val="000000"/>
                    </a:solidFill>
                    <a:round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/>
              <a:lstStyle/>
              <a:p>
                <a:pPr algn="ctr"/>
                <a:r>
                  <a:rPr lang="en-US" sz="2400" b="1"/>
                  <a:t>…</a:t>
                </a:r>
                <a:endParaRPr lang="en-SG" sz="2400" b="1"/>
              </a:p>
            </p:txBody>
          </p:sp>
          <p:sp>
            <p:nvSpPr>
              <p:cNvPr id="49" name="Rectangle 16"/>
              <p:cNvSpPr>
                <a:spLocks noChangeArrowheads="1"/>
              </p:cNvSpPr>
              <p:nvPr/>
            </p:nvSpPr>
            <p:spPr bwMode="auto">
              <a:xfrm>
                <a:off x="2799131" y="5140785"/>
                <a:ext cx="846898" cy="375530"/>
              </a:xfrm>
              <a:prstGeom prst="rect">
                <a:avLst/>
              </a:prstGeom>
              <a:noFill/>
              <a:ln w="12700" cap="sq" algn="ctr">
                <a:solidFill>
                  <a:schemeClr val="tx1"/>
                </a:solidFill>
                <a:round/>
                <a:headEnd type="none" w="sm" len="sm"/>
                <a:tailEnd type="none" w="sm" len="sm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pPr algn="ctr"/>
                <a:r>
                  <a:rPr lang="en-SG"/>
                  <a:t>4</a:t>
                </a:r>
              </a:p>
            </p:txBody>
          </p:sp>
          <p:sp>
            <p:nvSpPr>
              <p:cNvPr id="50" name="Rectangle 16"/>
              <p:cNvSpPr>
                <a:spLocks noChangeArrowheads="1"/>
              </p:cNvSpPr>
              <p:nvPr/>
            </p:nvSpPr>
            <p:spPr bwMode="auto">
              <a:xfrm>
                <a:off x="1101969" y="5140785"/>
                <a:ext cx="846898" cy="375530"/>
              </a:xfrm>
              <a:prstGeom prst="rect">
                <a:avLst/>
              </a:prstGeom>
              <a:noFill/>
              <a:ln w="12700" cap="sq" algn="ctr">
                <a:solidFill>
                  <a:schemeClr val="tx1"/>
                </a:solidFill>
                <a:round/>
                <a:headEnd type="none" w="sm" len="sm"/>
                <a:tailEnd type="none" w="sm" len="sm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pPr algn="ctr"/>
                <a:r>
                  <a:rPr lang="en-SG"/>
                  <a:t>1</a:t>
                </a:r>
              </a:p>
            </p:txBody>
          </p:sp>
          <p:sp>
            <p:nvSpPr>
              <p:cNvPr id="51" name="Rectangle 16"/>
              <p:cNvSpPr>
                <a:spLocks noChangeArrowheads="1"/>
              </p:cNvSpPr>
              <p:nvPr/>
            </p:nvSpPr>
            <p:spPr bwMode="auto">
              <a:xfrm>
                <a:off x="3652457" y="5140785"/>
                <a:ext cx="846898" cy="375530"/>
              </a:xfrm>
              <a:prstGeom prst="rect">
                <a:avLst/>
              </a:prstGeom>
              <a:noFill/>
              <a:ln w="12700" cap="sq" algn="ctr">
                <a:solidFill>
                  <a:schemeClr val="tx1"/>
                </a:solidFill>
                <a:round/>
                <a:headEnd type="none" w="sm" len="sm"/>
                <a:tailEnd type="none" w="sm" len="sm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pPr algn="ctr"/>
                <a:r>
                  <a:rPr lang="en-SG"/>
                  <a:t>20</a:t>
                </a:r>
              </a:p>
            </p:txBody>
          </p:sp>
          <p:sp>
            <p:nvSpPr>
              <p:cNvPr id="52" name="Rectangle 16"/>
              <p:cNvSpPr>
                <a:spLocks noChangeArrowheads="1"/>
              </p:cNvSpPr>
              <p:nvPr/>
            </p:nvSpPr>
            <p:spPr bwMode="auto">
              <a:xfrm>
                <a:off x="5104568" y="5140785"/>
                <a:ext cx="846898" cy="375530"/>
              </a:xfrm>
              <a:prstGeom prst="rect">
                <a:avLst/>
              </a:prstGeom>
              <a:noFill/>
              <a:ln w="12700" cap="sq" algn="ctr">
                <a:solidFill>
                  <a:schemeClr val="tx1"/>
                </a:solidFill>
                <a:round/>
                <a:headEnd type="none" w="sm" len="sm"/>
                <a:tailEnd type="none" w="sm" len="sm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pPr algn="ctr"/>
                <a:endParaRPr lang="en-SG"/>
              </a:p>
            </p:txBody>
          </p:sp>
          <p:sp>
            <p:nvSpPr>
              <p:cNvPr id="53" name="Rectangle 16"/>
              <p:cNvSpPr>
                <a:spLocks noChangeArrowheads="1"/>
              </p:cNvSpPr>
              <p:nvPr/>
            </p:nvSpPr>
            <p:spPr bwMode="auto">
              <a:xfrm>
                <a:off x="5951466" y="5140785"/>
                <a:ext cx="846898" cy="375530"/>
              </a:xfrm>
              <a:prstGeom prst="rect">
                <a:avLst/>
              </a:prstGeom>
              <a:noFill/>
              <a:ln w="12700" cap="sq" algn="ctr">
                <a:solidFill>
                  <a:schemeClr val="tx1"/>
                </a:solidFill>
                <a:round/>
                <a:headEnd type="none" w="sm" len="sm"/>
                <a:tailEnd type="none" w="sm" len="sm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pPr algn="ctr"/>
                <a:r>
                  <a:rPr lang="en-SG"/>
                  <a:t>42</a:t>
                </a:r>
              </a:p>
            </p:txBody>
          </p:sp>
          <p:sp>
            <p:nvSpPr>
              <p:cNvPr id="54" name="Rectangle 16"/>
              <p:cNvSpPr>
                <a:spLocks noChangeArrowheads="1"/>
              </p:cNvSpPr>
              <p:nvPr/>
            </p:nvSpPr>
            <p:spPr bwMode="auto">
              <a:xfrm>
                <a:off x="6798364" y="5140785"/>
                <a:ext cx="846898" cy="375530"/>
              </a:xfrm>
              <a:prstGeom prst="rect">
                <a:avLst/>
              </a:prstGeom>
              <a:noFill/>
              <a:ln w="12700" cap="sq" algn="ctr">
                <a:solidFill>
                  <a:schemeClr val="tx1"/>
                </a:solidFill>
                <a:round/>
                <a:headEnd type="none" w="sm" len="sm"/>
                <a:tailEnd type="none" w="sm" len="sm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pPr algn="ctr"/>
                <a:r>
                  <a:rPr lang="en-SG"/>
                  <a:t>7</a:t>
                </a:r>
              </a:p>
            </p:txBody>
          </p:sp>
        </p:grpSp>
        <p:grpSp>
          <p:nvGrpSpPr>
            <p:cNvPr id="40" name="Group 39"/>
            <p:cNvGrpSpPr/>
            <p:nvPr/>
          </p:nvGrpSpPr>
          <p:grpSpPr>
            <a:xfrm>
              <a:off x="1948868" y="4738972"/>
              <a:ext cx="5786191" cy="400110"/>
              <a:chOff x="1948868" y="4738972"/>
              <a:chExt cx="5786191" cy="400110"/>
            </a:xfrm>
          </p:grpSpPr>
          <p:sp>
            <p:nvSpPr>
              <p:cNvPr id="42" name="TextBox 23"/>
              <p:cNvSpPr txBox="1">
                <a:spLocks noChangeArrowheads="1"/>
              </p:cNvSpPr>
              <p:nvPr/>
            </p:nvSpPr>
            <p:spPr bwMode="auto">
              <a:xfrm>
                <a:off x="3698141" y="4738972"/>
                <a:ext cx="489373" cy="40011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algn="ctr" eaLnBrk="1" hangingPunct="1"/>
                <a:r>
                  <a:rPr lang="en-US" sz="2000" b="1"/>
                  <a:t>…</a:t>
                </a:r>
                <a:endParaRPr lang="en-SG" sz="2000" b="1"/>
              </a:p>
            </p:txBody>
          </p:sp>
          <p:sp>
            <p:nvSpPr>
              <p:cNvPr id="43" name="TextBox 15"/>
              <p:cNvSpPr txBox="1">
                <a:spLocks noChangeArrowheads="1"/>
              </p:cNvSpPr>
              <p:nvPr/>
            </p:nvSpPr>
            <p:spPr bwMode="auto">
              <a:xfrm>
                <a:off x="1948868" y="4738972"/>
                <a:ext cx="846898" cy="40011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algn="ctr" eaLnBrk="1" hangingPunct="1"/>
                <a:r>
                  <a:rPr lang="en-US" sz="2000" b="1">
                    <a:solidFill>
                      <a:srgbClr val="C00000"/>
                    </a:solidFill>
                    <a:latin typeface="Courier New" pitchFamily="49" charset="0"/>
                    <a:cs typeface="Courier New" pitchFamily="49" charset="0"/>
                  </a:rPr>
                  <a:t>[1]</a:t>
                </a:r>
                <a:endParaRPr lang="en-SG" sz="1600" b="1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endParaRPr>
              </a:p>
            </p:txBody>
          </p:sp>
          <p:sp>
            <p:nvSpPr>
              <p:cNvPr id="44" name="TextBox 15"/>
              <p:cNvSpPr txBox="1">
                <a:spLocks noChangeArrowheads="1"/>
              </p:cNvSpPr>
              <p:nvPr/>
            </p:nvSpPr>
            <p:spPr bwMode="auto">
              <a:xfrm>
                <a:off x="2792997" y="4738972"/>
                <a:ext cx="846898" cy="40011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algn="ctr" eaLnBrk="1" hangingPunct="1"/>
                <a:r>
                  <a:rPr lang="en-US" sz="2000" b="1">
                    <a:solidFill>
                      <a:srgbClr val="C00000"/>
                    </a:solidFill>
                    <a:latin typeface="Courier New" pitchFamily="49" charset="0"/>
                    <a:cs typeface="Courier New" pitchFamily="49" charset="0"/>
                  </a:rPr>
                  <a:t>[2]</a:t>
                </a:r>
                <a:endParaRPr lang="en-SG" sz="1600" b="1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endParaRPr>
              </a:p>
            </p:txBody>
          </p:sp>
          <p:sp>
            <p:nvSpPr>
              <p:cNvPr id="45" name="TextBox 15"/>
              <p:cNvSpPr txBox="1">
                <a:spLocks noChangeArrowheads="1"/>
              </p:cNvSpPr>
              <p:nvPr/>
            </p:nvSpPr>
            <p:spPr bwMode="auto">
              <a:xfrm>
                <a:off x="5871943" y="4738972"/>
                <a:ext cx="1018887" cy="40011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algn="ctr" eaLnBrk="1" hangingPunct="1"/>
                <a:r>
                  <a:rPr lang="en-US" sz="2000" b="1">
                    <a:solidFill>
                      <a:srgbClr val="C00000"/>
                    </a:solidFill>
                    <a:latin typeface="Courier New" pitchFamily="49" charset="0"/>
                    <a:cs typeface="Courier New" pitchFamily="49" charset="0"/>
                  </a:rPr>
                  <a:t>[8]</a:t>
                </a:r>
                <a:endParaRPr lang="en-SG" sz="1600" b="1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endParaRPr>
              </a:p>
            </p:txBody>
          </p:sp>
          <p:sp>
            <p:nvSpPr>
              <p:cNvPr id="46" name="TextBox 15"/>
              <p:cNvSpPr txBox="1">
                <a:spLocks noChangeArrowheads="1"/>
              </p:cNvSpPr>
              <p:nvPr/>
            </p:nvSpPr>
            <p:spPr bwMode="auto">
              <a:xfrm>
                <a:off x="6716172" y="4738972"/>
                <a:ext cx="1018887" cy="40011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algn="ctr" eaLnBrk="1" hangingPunct="1"/>
                <a:r>
                  <a:rPr lang="en-US" sz="2000" b="1">
                    <a:solidFill>
                      <a:srgbClr val="C00000"/>
                    </a:solidFill>
                    <a:latin typeface="Courier New" pitchFamily="49" charset="0"/>
                    <a:cs typeface="Courier New" pitchFamily="49" charset="0"/>
                  </a:rPr>
                  <a:t>[9]</a:t>
                </a:r>
                <a:endParaRPr lang="en-SG" sz="1600" b="1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endParaRPr>
              </a:p>
            </p:txBody>
          </p:sp>
        </p:grpSp>
      </p:grpSp>
      <p:sp>
        <p:nvSpPr>
          <p:cNvPr id="56" name="Rectangle 3">
            <a:extLst>
              <a:ext uri="{FF2B5EF4-FFF2-40B4-BE49-F238E27FC236}">
                <a16:creationId xmlns:a16="http://schemas.microsoft.com/office/drawing/2014/main" id="{D7777BBB-9548-44D3-BE4E-2A2814C6B616}"/>
              </a:ext>
            </a:extLst>
          </p:cNvPr>
          <p:cNvSpPr txBox="1">
            <a:spLocks noChangeArrowheads="1"/>
          </p:cNvSpPr>
          <p:nvPr/>
        </p:nvSpPr>
        <p:spPr>
          <a:xfrm>
            <a:off x="686898" y="5302573"/>
            <a:ext cx="8259762" cy="15554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90000"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88720" indent="-13716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3716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5544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73736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9202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fontAlgn="auto">
              <a:spcAft>
                <a:spcPts val="0"/>
              </a:spcAft>
              <a:buSzPct val="120000"/>
              <a:buFont typeface="Wingdings" pitchFamily="2" charset="2"/>
              <a:buNone/>
            </a:pPr>
            <a:endParaRPr lang="en-GB" b="1">
              <a:solidFill>
                <a:srgbClr val="0000FF"/>
              </a:solidFill>
            </a:endParaRPr>
          </a:p>
          <a:p>
            <a:pPr marL="457200" indent="-457200" fontAlgn="auto">
              <a:spcAft>
                <a:spcPts val="0"/>
              </a:spcAft>
              <a:buSzPct val="120000"/>
              <a:buFont typeface="Wingdings" pitchFamily="2" charset="2"/>
              <a:buNone/>
            </a:pPr>
            <a:endParaRPr lang="en-GB" b="1">
              <a:solidFill>
                <a:srgbClr val="0000FF"/>
              </a:solidFill>
            </a:endParaRPr>
          </a:p>
          <a:p>
            <a:pPr marL="457200" indent="-457200" fontAlgn="auto">
              <a:spcAft>
                <a:spcPts val="0"/>
              </a:spcAft>
              <a:buSzPct val="120000"/>
              <a:buFont typeface="Wingdings" pitchFamily="2" charset="2"/>
              <a:buNone/>
            </a:pPr>
            <a:endParaRPr lang="en-GB" b="1">
              <a:solidFill>
                <a:srgbClr val="0000FF"/>
              </a:solidFill>
            </a:endParaRPr>
          </a:p>
          <a:p>
            <a:pPr marL="457200" indent="-457200" fontAlgn="auto">
              <a:spcAft>
                <a:spcPts val="0"/>
              </a:spcAft>
              <a:buSzPct val="120000"/>
              <a:buFont typeface="Wingdings" pitchFamily="2" charset="2"/>
              <a:buNone/>
            </a:pPr>
            <a:endParaRPr lang="en-GB" sz="2000">
              <a:solidFill>
                <a:srgbClr val="0000FF"/>
              </a:solidFill>
            </a:endParaRPr>
          </a:p>
        </p:txBody>
      </p:sp>
      <p:sp>
        <p:nvSpPr>
          <p:cNvPr id="57" name="TextBox 15">
            <a:extLst>
              <a:ext uri="{FF2B5EF4-FFF2-40B4-BE49-F238E27FC236}">
                <a16:creationId xmlns:a16="http://schemas.microsoft.com/office/drawing/2014/main" id="{41214AF2-9C50-4F49-943C-8D0F16377E6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8609" y="3708718"/>
            <a:ext cx="176672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n-US" sz="2000" b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marks [0]</a:t>
            </a:r>
            <a:endParaRPr lang="en-SG" sz="1600" b="1">
              <a:solidFill>
                <a:srgbClr val="C00000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58" name="Group 42">
            <a:extLst>
              <a:ext uri="{FF2B5EF4-FFF2-40B4-BE49-F238E27FC236}">
                <a16:creationId xmlns:a16="http://schemas.microsoft.com/office/drawing/2014/main" id="{20930A2E-7169-4FD9-B44C-A10994FAF528}"/>
              </a:ext>
            </a:extLst>
          </p:cNvPr>
          <p:cNvGrpSpPr>
            <a:grpSpLocks/>
          </p:cNvGrpSpPr>
          <p:nvPr/>
        </p:nvGrpSpPr>
        <p:grpSpPr bwMode="auto">
          <a:xfrm>
            <a:off x="6348236" y="3260948"/>
            <a:ext cx="2334371" cy="442892"/>
            <a:chOff x="5077710" y="3490042"/>
            <a:chExt cx="2334806" cy="442789"/>
          </a:xfrm>
        </p:grpSpPr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D7660850-0452-43D1-8D53-C01C953B203F}"/>
                </a:ext>
              </a:extLst>
            </p:cNvPr>
            <p:cNvSpPr txBox="1"/>
            <p:nvPr/>
          </p:nvSpPr>
          <p:spPr>
            <a:xfrm>
              <a:off x="5484932" y="3490042"/>
              <a:ext cx="1927584" cy="369801"/>
            </a:xfrm>
            <a:prstGeom prst="rect">
              <a:avLst/>
            </a:prstGeom>
            <a:solidFill>
              <a:srgbClr val="FFFFCC"/>
            </a:solidFill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algn="ctr" eaLnBrk="1" hangingPunct="1">
                <a:defRPr/>
              </a:pPr>
              <a:r>
                <a:rPr lang="en-US">
                  <a:solidFill>
                    <a:srgbClr val="C00000"/>
                  </a:solidFill>
                </a:rPr>
                <a:t>Array index</a:t>
              </a:r>
              <a:endParaRPr lang="en-SG">
                <a:solidFill>
                  <a:srgbClr val="C00000"/>
                </a:solidFill>
              </a:endParaRPr>
            </a:p>
          </p:txBody>
        </p:sp>
        <p:cxnSp>
          <p:nvCxnSpPr>
            <p:cNvPr id="60" name="Straight Arrow Connector 40">
              <a:extLst>
                <a:ext uri="{FF2B5EF4-FFF2-40B4-BE49-F238E27FC236}">
                  <a16:creationId xmlns:a16="http://schemas.microsoft.com/office/drawing/2014/main" id="{B4F52614-6F02-4715-83ED-E075D5DAFBDA}"/>
                </a:ext>
              </a:extLst>
            </p:cNvPr>
            <p:cNvCxnSpPr>
              <a:cxnSpLocks noChangeShapeType="1"/>
              <a:stCxn id="59" idx="1"/>
            </p:cNvCxnSpPr>
            <p:nvPr/>
          </p:nvCxnSpPr>
          <p:spPr bwMode="auto">
            <a:xfrm flipH="1">
              <a:off x="5077710" y="3674943"/>
              <a:ext cx="407222" cy="257888"/>
            </a:xfrm>
            <a:prstGeom prst="straightConnector1">
              <a:avLst/>
            </a:prstGeom>
            <a:noFill/>
            <a:ln w="12700" cap="sq" algn="ctr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18E22BE-5051-8BB7-E836-8B45E4A79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Unit14 - </a:t>
            </a:r>
            <a:fld id="{2E4790E1-2590-4AEE-892D-AB46A7688113}" type="slidenum">
              <a:rPr lang="en-US" smtClean="0"/>
              <a:pPr>
                <a:defRPr/>
              </a:pPr>
              <a:t>14</a:t>
            </a:fld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44AFD633-CC55-14D9-D7D2-795F12B74C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</p:spTree>
    <p:extLst>
      <p:ext uri="{BB962C8B-B14F-4D97-AF65-F5344CB8AC3E}">
        <p14:creationId xmlns:p14="http://schemas.microsoft.com/office/powerpoint/2010/main" val="2900383044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GB" sz="3600" dirty="0">
                <a:solidFill>
                  <a:srgbClr val="0000FF"/>
                </a:solidFill>
              </a:rPr>
              <a:t>Fixed-Length Array</a:t>
            </a:r>
          </a:p>
        </p:txBody>
      </p:sp>
      <p:sp>
        <p:nvSpPr>
          <p:cNvPr id="8" name="Content Placeholder 5"/>
          <p:cNvSpPr>
            <a:spLocks noGrp="1"/>
          </p:cNvSpPr>
          <p:nvPr>
            <p:ph idx="1"/>
          </p:nvPr>
        </p:nvSpPr>
        <p:spPr>
          <a:xfrm>
            <a:off x="587375" y="1187450"/>
            <a:ext cx="8292856" cy="1415073"/>
          </a:xfrm>
        </p:spPr>
        <p:txBody>
          <a:bodyPr>
            <a:normAutofit/>
          </a:bodyPr>
          <a:lstStyle/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sz="2800"/>
              <a:t>Declare an array </a:t>
            </a:r>
            <a:r>
              <a:rPr lang="en-US" sz="2800" i="1"/>
              <a:t>marks </a:t>
            </a:r>
            <a:r>
              <a:rPr lang="en-US" sz="2800"/>
              <a:t>of size 10 and initialize  the first 3 elements </a:t>
            </a:r>
            <a:r>
              <a:rPr lang="en-US" sz="2800">
                <a:solidFill>
                  <a:srgbClr val="0000FF"/>
                </a:solidFill>
              </a:rPr>
              <a:t>later</a:t>
            </a:r>
            <a:r>
              <a:rPr lang="en-US" sz="2800"/>
              <a:t> through array index.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4E05674-68A2-0D4E-8B47-F7A2C6A6B76F}"/>
              </a:ext>
            </a:extLst>
          </p:cNvPr>
          <p:cNvSpPr txBox="1"/>
          <p:nvPr/>
        </p:nvSpPr>
        <p:spPr>
          <a:xfrm>
            <a:off x="998343" y="2249194"/>
            <a:ext cx="2270051" cy="1200329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lIns="91440" tIns="45720" rIns="91440" bIns="45720" rtlCol="0" anchor="t">
            <a:spAutoFit/>
          </a:bodyPr>
          <a:lstStyle/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marks[</a:t>
            </a:r>
            <a:r>
              <a:rPr lang="en-US" b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10</a:t>
            </a: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marks[</a:t>
            </a:r>
            <a:r>
              <a:rPr lang="en-US" b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 = </a:t>
            </a:r>
            <a:r>
              <a:rPr lang="en-US" b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marks[</a:t>
            </a:r>
            <a:r>
              <a:rPr lang="en-US" b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 = </a:t>
            </a:r>
            <a:r>
              <a:rPr lang="en-US" b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marks[</a:t>
            </a:r>
            <a:r>
              <a:rPr lang="en-US" b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 = </a:t>
            </a:r>
            <a:r>
              <a:rPr lang="en-US" b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4</a:t>
            </a: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0FF1190-164C-4A90-A31F-F0106EA54F16}"/>
              </a:ext>
            </a:extLst>
          </p:cNvPr>
          <p:cNvGrpSpPr/>
          <p:nvPr/>
        </p:nvGrpSpPr>
        <p:grpSpPr>
          <a:xfrm>
            <a:off x="582839" y="3646979"/>
            <a:ext cx="7542637" cy="777343"/>
            <a:chOff x="182148" y="4738972"/>
            <a:chExt cx="7542637" cy="777343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2CC0007E-7686-48B0-BFEC-C69838937E88}"/>
                </a:ext>
              </a:extLst>
            </p:cNvPr>
            <p:cNvGrpSpPr/>
            <p:nvPr/>
          </p:nvGrpSpPr>
          <p:grpSpPr>
            <a:xfrm>
              <a:off x="1101969" y="5140785"/>
              <a:ext cx="6543293" cy="375530"/>
              <a:chOff x="1101969" y="5140785"/>
              <a:chExt cx="6543293" cy="375530"/>
            </a:xfrm>
          </p:grpSpPr>
          <p:sp>
            <p:nvSpPr>
              <p:cNvPr id="19" name="Rectangle 16">
                <a:extLst>
                  <a:ext uri="{FF2B5EF4-FFF2-40B4-BE49-F238E27FC236}">
                    <a16:creationId xmlns:a16="http://schemas.microsoft.com/office/drawing/2014/main" id="{10891AE8-CFD9-4F7C-966C-531E3759B0F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948868" y="5140785"/>
                <a:ext cx="846898" cy="375530"/>
              </a:xfrm>
              <a:prstGeom prst="rect">
                <a:avLst/>
              </a:prstGeom>
              <a:noFill/>
              <a:ln w="12700" cap="sq" algn="ctr">
                <a:solidFill>
                  <a:schemeClr val="tx1"/>
                </a:solidFill>
                <a:round/>
                <a:headEnd type="none" w="sm" len="sm"/>
                <a:tailEnd type="none" w="sm" len="sm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pPr algn="ctr"/>
                <a:r>
                  <a:rPr lang="en-SG"/>
                  <a:t>2</a:t>
                </a:r>
              </a:p>
            </p:txBody>
          </p:sp>
          <p:sp>
            <p:nvSpPr>
              <p:cNvPr id="20" name="Rectangle 16">
                <a:extLst>
                  <a:ext uri="{FF2B5EF4-FFF2-40B4-BE49-F238E27FC236}">
                    <a16:creationId xmlns:a16="http://schemas.microsoft.com/office/drawing/2014/main" id="{5D0AA28A-D11F-4880-8D3A-D26B1E3A5F3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548188" y="5140785"/>
                <a:ext cx="537183" cy="35208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 cap="sq" algn="ctr">
                    <a:solidFill>
                      <a:srgbClr val="000000"/>
                    </a:solidFill>
                    <a:round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/>
              <a:lstStyle/>
              <a:p>
                <a:pPr algn="ctr"/>
                <a:r>
                  <a:rPr lang="en-US" sz="2400" b="1"/>
                  <a:t>…</a:t>
                </a:r>
                <a:endParaRPr lang="en-SG" sz="2400" b="1"/>
              </a:p>
            </p:txBody>
          </p:sp>
          <p:sp>
            <p:nvSpPr>
              <p:cNvPr id="21" name="Rectangle 16">
                <a:extLst>
                  <a:ext uri="{FF2B5EF4-FFF2-40B4-BE49-F238E27FC236}">
                    <a16:creationId xmlns:a16="http://schemas.microsoft.com/office/drawing/2014/main" id="{F42387F1-0AFA-4D77-B6D1-FA674BDDF3B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799131" y="5140785"/>
                <a:ext cx="846898" cy="375530"/>
              </a:xfrm>
              <a:prstGeom prst="rect">
                <a:avLst/>
              </a:prstGeom>
              <a:noFill/>
              <a:ln w="12700" cap="sq" algn="ctr">
                <a:solidFill>
                  <a:schemeClr val="tx1"/>
                </a:solidFill>
                <a:round/>
                <a:headEnd type="none" w="sm" len="sm"/>
                <a:tailEnd type="none" w="sm" len="sm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pPr algn="ctr"/>
                <a:r>
                  <a:rPr lang="en-SG"/>
                  <a:t>4</a:t>
                </a:r>
              </a:p>
            </p:txBody>
          </p:sp>
          <p:sp>
            <p:nvSpPr>
              <p:cNvPr id="22" name="Rectangle 16">
                <a:extLst>
                  <a:ext uri="{FF2B5EF4-FFF2-40B4-BE49-F238E27FC236}">
                    <a16:creationId xmlns:a16="http://schemas.microsoft.com/office/drawing/2014/main" id="{A4EFC21B-3102-4F5A-A862-5B30555EB9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01969" y="5140785"/>
                <a:ext cx="846898" cy="375530"/>
              </a:xfrm>
              <a:prstGeom prst="rect">
                <a:avLst/>
              </a:prstGeom>
              <a:noFill/>
              <a:ln w="12700" cap="sq" algn="ctr">
                <a:solidFill>
                  <a:schemeClr val="tx1"/>
                </a:solidFill>
                <a:round/>
                <a:headEnd type="none" w="sm" len="sm"/>
                <a:tailEnd type="none" w="sm" len="sm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pPr algn="ctr"/>
                <a:r>
                  <a:rPr lang="en-SG"/>
                  <a:t>1</a:t>
                </a:r>
              </a:p>
            </p:txBody>
          </p:sp>
          <p:sp>
            <p:nvSpPr>
              <p:cNvPr id="23" name="Rectangle 16">
                <a:extLst>
                  <a:ext uri="{FF2B5EF4-FFF2-40B4-BE49-F238E27FC236}">
                    <a16:creationId xmlns:a16="http://schemas.microsoft.com/office/drawing/2014/main" id="{DCD06FF1-472F-4150-8163-9068F99D90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652457" y="5140785"/>
                <a:ext cx="846898" cy="375530"/>
              </a:xfrm>
              <a:prstGeom prst="rect">
                <a:avLst/>
              </a:prstGeom>
              <a:noFill/>
              <a:ln w="12700" cap="sq" algn="ctr">
                <a:solidFill>
                  <a:schemeClr val="tx1"/>
                </a:solidFill>
                <a:round/>
                <a:headEnd type="none" w="sm" len="sm"/>
                <a:tailEnd type="none" w="sm" len="sm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pPr algn="ctr"/>
                <a:r>
                  <a:rPr lang="en-SG"/>
                  <a:t>??</a:t>
                </a:r>
              </a:p>
            </p:txBody>
          </p:sp>
          <p:sp>
            <p:nvSpPr>
              <p:cNvPr id="24" name="Rectangle 16">
                <a:extLst>
                  <a:ext uri="{FF2B5EF4-FFF2-40B4-BE49-F238E27FC236}">
                    <a16:creationId xmlns:a16="http://schemas.microsoft.com/office/drawing/2014/main" id="{78020CF5-3B57-46B1-B1DE-5EDFAAFE1A7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104568" y="5140785"/>
                <a:ext cx="846898" cy="375530"/>
              </a:xfrm>
              <a:prstGeom prst="rect">
                <a:avLst/>
              </a:prstGeom>
              <a:noFill/>
              <a:ln w="12700" cap="sq" algn="ctr">
                <a:solidFill>
                  <a:schemeClr val="tx1"/>
                </a:solidFill>
                <a:round/>
                <a:headEnd type="none" w="sm" len="sm"/>
                <a:tailEnd type="none" w="sm" len="sm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pPr algn="ctr"/>
                <a:endParaRPr lang="en-SG"/>
              </a:p>
            </p:txBody>
          </p:sp>
          <p:sp>
            <p:nvSpPr>
              <p:cNvPr id="25" name="Rectangle 16">
                <a:extLst>
                  <a:ext uri="{FF2B5EF4-FFF2-40B4-BE49-F238E27FC236}">
                    <a16:creationId xmlns:a16="http://schemas.microsoft.com/office/drawing/2014/main" id="{D196C2E0-94DD-44F4-A5A0-1ECE9AA3324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951466" y="5140785"/>
                <a:ext cx="846898" cy="375530"/>
              </a:xfrm>
              <a:prstGeom prst="rect">
                <a:avLst/>
              </a:prstGeom>
              <a:noFill/>
              <a:ln w="12700" cap="sq" algn="ctr">
                <a:solidFill>
                  <a:schemeClr val="tx1"/>
                </a:solidFill>
                <a:round/>
                <a:headEnd type="none" w="sm" len="sm"/>
                <a:tailEnd type="none" w="sm" len="sm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pPr algn="ctr"/>
                <a:r>
                  <a:rPr lang="en-SG"/>
                  <a:t>??</a:t>
                </a:r>
              </a:p>
            </p:txBody>
          </p:sp>
          <p:sp>
            <p:nvSpPr>
              <p:cNvPr id="26" name="Rectangle 16">
                <a:extLst>
                  <a:ext uri="{FF2B5EF4-FFF2-40B4-BE49-F238E27FC236}">
                    <a16:creationId xmlns:a16="http://schemas.microsoft.com/office/drawing/2014/main" id="{3FC3C42B-9134-4A1D-960A-26F5B870EA3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98364" y="5140785"/>
                <a:ext cx="846898" cy="375530"/>
              </a:xfrm>
              <a:prstGeom prst="rect">
                <a:avLst/>
              </a:prstGeom>
              <a:noFill/>
              <a:ln w="12700" cap="sq" algn="ctr">
                <a:solidFill>
                  <a:schemeClr val="tx1"/>
                </a:solidFill>
                <a:round/>
                <a:headEnd type="none" w="sm" len="sm"/>
                <a:tailEnd type="none" w="sm" len="sm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pPr algn="ctr"/>
                <a:r>
                  <a:rPr lang="en-SG"/>
                  <a:t>??</a:t>
                </a:r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659570D3-70F7-4477-B8E5-A83D58235BEB}"/>
                </a:ext>
              </a:extLst>
            </p:cNvPr>
            <p:cNvGrpSpPr/>
            <p:nvPr/>
          </p:nvGrpSpPr>
          <p:grpSpPr>
            <a:xfrm>
              <a:off x="182148" y="4738972"/>
              <a:ext cx="7542637" cy="400110"/>
              <a:chOff x="182148" y="4738972"/>
              <a:chExt cx="7542637" cy="400110"/>
            </a:xfrm>
          </p:grpSpPr>
          <p:sp>
            <p:nvSpPr>
              <p:cNvPr id="13" name="TextBox 15">
                <a:extLst>
                  <a:ext uri="{FF2B5EF4-FFF2-40B4-BE49-F238E27FC236}">
                    <a16:creationId xmlns:a16="http://schemas.microsoft.com/office/drawing/2014/main" id="{7A7D6850-5E41-4C67-AEF2-01F01AC5487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82148" y="4738972"/>
                <a:ext cx="1766720" cy="40011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algn="ctr" eaLnBrk="1" hangingPunct="1"/>
                <a:r>
                  <a:rPr lang="en-US" sz="2000" b="1">
                    <a:solidFill>
                      <a:srgbClr val="C00000"/>
                    </a:solidFill>
                    <a:latin typeface="Courier New" pitchFamily="49" charset="0"/>
                    <a:cs typeface="Courier New" pitchFamily="49" charset="0"/>
                  </a:rPr>
                  <a:t>marks [0]</a:t>
                </a:r>
                <a:endParaRPr lang="en-SG" sz="1600" b="1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endParaRPr>
              </a:p>
            </p:txBody>
          </p:sp>
          <p:sp>
            <p:nvSpPr>
              <p:cNvPr id="14" name="TextBox 23">
                <a:extLst>
                  <a:ext uri="{FF2B5EF4-FFF2-40B4-BE49-F238E27FC236}">
                    <a16:creationId xmlns:a16="http://schemas.microsoft.com/office/drawing/2014/main" id="{446CC019-B40F-40E8-A348-62E8CC86841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698141" y="4738972"/>
                <a:ext cx="489373" cy="40011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algn="ctr" eaLnBrk="1" hangingPunct="1"/>
                <a:r>
                  <a:rPr lang="en-US" sz="2000" b="1"/>
                  <a:t>…</a:t>
                </a:r>
                <a:endParaRPr lang="en-SG" sz="2000" b="1"/>
              </a:p>
            </p:txBody>
          </p:sp>
          <p:sp>
            <p:nvSpPr>
              <p:cNvPr id="15" name="TextBox 15">
                <a:extLst>
                  <a:ext uri="{FF2B5EF4-FFF2-40B4-BE49-F238E27FC236}">
                    <a16:creationId xmlns:a16="http://schemas.microsoft.com/office/drawing/2014/main" id="{8CC1B3EA-4FF8-4845-862B-01355E1B217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948868" y="4738972"/>
                <a:ext cx="846898" cy="40011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algn="ctr" eaLnBrk="1" hangingPunct="1"/>
                <a:r>
                  <a:rPr lang="en-US" sz="2000" b="1">
                    <a:solidFill>
                      <a:srgbClr val="C00000"/>
                    </a:solidFill>
                    <a:latin typeface="Courier New" pitchFamily="49" charset="0"/>
                    <a:cs typeface="Courier New" pitchFamily="49" charset="0"/>
                  </a:rPr>
                  <a:t>[1]</a:t>
                </a:r>
                <a:endParaRPr lang="en-SG" sz="1600" b="1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endParaRP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BD2BBF7-865B-4F65-A011-E2C4859B255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792997" y="4738972"/>
                <a:ext cx="846898" cy="40011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algn="ctr" eaLnBrk="1" hangingPunct="1"/>
                <a:r>
                  <a:rPr lang="en-US" sz="2000" b="1">
                    <a:solidFill>
                      <a:srgbClr val="C00000"/>
                    </a:solidFill>
                    <a:latin typeface="Courier New" pitchFamily="49" charset="0"/>
                    <a:cs typeface="Courier New" pitchFamily="49" charset="0"/>
                  </a:rPr>
                  <a:t>[2]</a:t>
                </a:r>
                <a:endParaRPr lang="en-SG" sz="1600" b="1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endParaRPr>
              </a:p>
            </p:txBody>
          </p:sp>
          <p:sp>
            <p:nvSpPr>
              <p:cNvPr id="17" name="TextBox 15">
                <a:extLst>
                  <a:ext uri="{FF2B5EF4-FFF2-40B4-BE49-F238E27FC236}">
                    <a16:creationId xmlns:a16="http://schemas.microsoft.com/office/drawing/2014/main" id="{EE163681-1E1C-4296-9294-9B81FEDE336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861669" y="4738972"/>
                <a:ext cx="1018887" cy="40011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algn="ctr" eaLnBrk="1" hangingPunct="1"/>
                <a:r>
                  <a:rPr lang="en-US" sz="2000" b="1">
                    <a:solidFill>
                      <a:srgbClr val="C00000"/>
                    </a:solidFill>
                    <a:latin typeface="Courier New" pitchFamily="49" charset="0"/>
                    <a:cs typeface="Courier New" pitchFamily="49" charset="0"/>
                  </a:rPr>
                  <a:t>[8]</a:t>
                </a:r>
                <a:endParaRPr lang="en-SG" sz="1600" b="1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endParaRPr>
              </a:p>
            </p:txBody>
          </p:sp>
          <p:sp>
            <p:nvSpPr>
              <p:cNvPr id="18" name="TextBox 15">
                <a:extLst>
                  <a:ext uri="{FF2B5EF4-FFF2-40B4-BE49-F238E27FC236}">
                    <a16:creationId xmlns:a16="http://schemas.microsoft.com/office/drawing/2014/main" id="{E301F663-A837-4A75-A347-E2E55BB2635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705898" y="4738972"/>
                <a:ext cx="1018887" cy="40011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algn="ctr" eaLnBrk="1" hangingPunct="1"/>
                <a:r>
                  <a:rPr lang="en-US" sz="2000" b="1">
                    <a:solidFill>
                      <a:srgbClr val="C00000"/>
                    </a:solidFill>
                    <a:latin typeface="Courier New" pitchFamily="49" charset="0"/>
                    <a:cs typeface="Courier New" pitchFamily="49" charset="0"/>
                  </a:rPr>
                  <a:t>[9]</a:t>
                </a:r>
                <a:endParaRPr lang="en-SG" sz="1600" b="1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endParaRPr>
              </a:p>
            </p:txBody>
          </p:sp>
        </p:grp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BA8A0495-32FB-4670-BC43-C0E563925D66}"/>
              </a:ext>
            </a:extLst>
          </p:cNvPr>
          <p:cNvSpPr txBox="1"/>
          <p:nvPr/>
        </p:nvSpPr>
        <p:spPr>
          <a:xfrm>
            <a:off x="2542016" y="4624942"/>
            <a:ext cx="4364767" cy="369332"/>
          </a:xfrm>
          <a:prstGeom prst="rect">
            <a:avLst/>
          </a:prstGeom>
          <a:solidFill>
            <a:srgbClr val="FFFF99"/>
          </a:solidFill>
          <a:ln w="127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/>
              <a:t>The rest of the elements are uninitialized.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D96014F-133D-96D6-BA3E-89C1ED6C96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Unit14 - </a:t>
            </a:r>
            <a:fld id="{2E4790E1-2590-4AEE-892D-AB46A7688113}" type="slidenum">
              <a:rPr lang="en-US" smtClean="0"/>
              <a:pPr>
                <a:defRPr/>
              </a:pPr>
              <a:t>15</a:t>
            </a:fld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724373A-25D0-192E-734B-7D6BD90408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</p:spTree>
    <p:extLst>
      <p:ext uri="{BB962C8B-B14F-4D97-AF65-F5344CB8AC3E}">
        <p14:creationId xmlns:p14="http://schemas.microsoft.com/office/powerpoint/2010/main" val="99929070"/>
      </p:ext>
    </p:extLst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GB" sz="3600" dirty="0">
                <a:solidFill>
                  <a:srgbClr val="0000FF"/>
                </a:solidFill>
              </a:rPr>
              <a:t>Fixed-Length Array</a:t>
            </a:r>
          </a:p>
        </p:txBody>
      </p:sp>
      <p:sp>
        <p:nvSpPr>
          <p:cNvPr id="8" name="Content Placeholder 5"/>
          <p:cNvSpPr>
            <a:spLocks noGrp="1"/>
          </p:cNvSpPr>
          <p:nvPr>
            <p:ph idx="1"/>
          </p:nvPr>
        </p:nvSpPr>
        <p:spPr>
          <a:xfrm>
            <a:off x="587375" y="1187450"/>
            <a:ext cx="8292856" cy="1415073"/>
          </a:xfrm>
        </p:spPr>
        <p:txBody>
          <a:bodyPr>
            <a:normAutofit/>
          </a:bodyPr>
          <a:lstStyle/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sz="2800"/>
              <a:t>Declare an array </a:t>
            </a:r>
            <a:r>
              <a:rPr lang="en-US" sz="2800" i="1"/>
              <a:t>marks</a:t>
            </a:r>
            <a:r>
              <a:rPr lang="en-US" sz="2800"/>
              <a:t> of size 10 and initialize it </a:t>
            </a:r>
            <a:r>
              <a:rPr lang="en-US" sz="2800">
                <a:solidFill>
                  <a:srgbClr val="0000FF"/>
                </a:solidFill>
              </a:rPr>
              <a:t>at the same time </a:t>
            </a:r>
            <a:r>
              <a:rPr lang="en-US" sz="2800"/>
              <a:t>using an initializer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4E05674-68A2-0D4E-8B47-F7A2C6A6B76F}"/>
              </a:ext>
            </a:extLst>
          </p:cNvPr>
          <p:cNvSpPr txBox="1"/>
          <p:nvPr/>
        </p:nvSpPr>
        <p:spPr>
          <a:xfrm>
            <a:off x="998343" y="2249194"/>
            <a:ext cx="4087365" cy="369332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lIns="91440" tIns="45720" rIns="91440" bIns="45720" rtlCol="0" anchor="t">
            <a:spAutoFit/>
          </a:bodyPr>
          <a:lstStyle/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marks[</a:t>
            </a:r>
            <a:r>
              <a:rPr lang="en-US" b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10</a:t>
            </a: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 = {</a:t>
            </a:r>
            <a:r>
              <a:rPr lang="en-US" b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4</a:t>
            </a: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,};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0FF1190-164C-4A90-A31F-F0106EA54F16}"/>
              </a:ext>
            </a:extLst>
          </p:cNvPr>
          <p:cNvGrpSpPr/>
          <p:nvPr/>
        </p:nvGrpSpPr>
        <p:grpSpPr>
          <a:xfrm>
            <a:off x="582839" y="3009983"/>
            <a:ext cx="7542637" cy="777343"/>
            <a:chOff x="182148" y="4738972"/>
            <a:chExt cx="7542637" cy="777343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2CC0007E-7686-48B0-BFEC-C69838937E88}"/>
                </a:ext>
              </a:extLst>
            </p:cNvPr>
            <p:cNvGrpSpPr/>
            <p:nvPr/>
          </p:nvGrpSpPr>
          <p:grpSpPr>
            <a:xfrm>
              <a:off x="1101969" y="5140785"/>
              <a:ext cx="6543293" cy="375530"/>
              <a:chOff x="1101969" y="5140785"/>
              <a:chExt cx="6543293" cy="375530"/>
            </a:xfrm>
          </p:grpSpPr>
          <p:sp>
            <p:nvSpPr>
              <p:cNvPr id="19" name="Rectangle 16">
                <a:extLst>
                  <a:ext uri="{FF2B5EF4-FFF2-40B4-BE49-F238E27FC236}">
                    <a16:creationId xmlns:a16="http://schemas.microsoft.com/office/drawing/2014/main" id="{10891AE8-CFD9-4F7C-966C-531E3759B0F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948868" y="5140785"/>
                <a:ext cx="846898" cy="375530"/>
              </a:xfrm>
              <a:prstGeom prst="rect">
                <a:avLst/>
              </a:prstGeom>
              <a:noFill/>
              <a:ln w="12700" cap="sq" algn="ctr">
                <a:solidFill>
                  <a:schemeClr val="tx1"/>
                </a:solidFill>
                <a:round/>
                <a:headEnd type="none" w="sm" len="sm"/>
                <a:tailEnd type="none" w="sm" len="sm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pPr algn="ctr"/>
                <a:r>
                  <a:rPr lang="en-SG"/>
                  <a:t>2</a:t>
                </a:r>
              </a:p>
            </p:txBody>
          </p:sp>
          <p:sp>
            <p:nvSpPr>
              <p:cNvPr id="20" name="Rectangle 16">
                <a:extLst>
                  <a:ext uri="{FF2B5EF4-FFF2-40B4-BE49-F238E27FC236}">
                    <a16:creationId xmlns:a16="http://schemas.microsoft.com/office/drawing/2014/main" id="{5D0AA28A-D11F-4880-8D3A-D26B1E3A5F3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548188" y="5140785"/>
                <a:ext cx="537183" cy="35208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 cap="sq" algn="ctr">
                    <a:solidFill>
                      <a:srgbClr val="000000"/>
                    </a:solidFill>
                    <a:round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/>
              <a:lstStyle/>
              <a:p>
                <a:pPr algn="ctr"/>
                <a:r>
                  <a:rPr lang="en-US" sz="2400" b="1"/>
                  <a:t>…</a:t>
                </a:r>
                <a:endParaRPr lang="en-SG" sz="2400" b="1"/>
              </a:p>
            </p:txBody>
          </p:sp>
          <p:sp>
            <p:nvSpPr>
              <p:cNvPr id="21" name="Rectangle 16">
                <a:extLst>
                  <a:ext uri="{FF2B5EF4-FFF2-40B4-BE49-F238E27FC236}">
                    <a16:creationId xmlns:a16="http://schemas.microsoft.com/office/drawing/2014/main" id="{F42387F1-0AFA-4D77-B6D1-FA674BDDF3B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799131" y="5140785"/>
                <a:ext cx="846898" cy="375530"/>
              </a:xfrm>
              <a:prstGeom prst="rect">
                <a:avLst/>
              </a:prstGeom>
              <a:noFill/>
              <a:ln w="12700" cap="sq" algn="ctr">
                <a:solidFill>
                  <a:schemeClr val="tx1"/>
                </a:solidFill>
                <a:round/>
                <a:headEnd type="none" w="sm" len="sm"/>
                <a:tailEnd type="none" w="sm" len="sm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pPr algn="ctr"/>
                <a:r>
                  <a:rPr lang="en-SG"/>
                  <a:t>4</a:t>
                </a:r>
              </a:p>
            </p:txBody>
          </p:sp>
          <p:sp>
            <p:nvSpPr>
              <p:cNvPr id="22" name="Rectangle 16">
                <a:extLst>
                  <a:ext uri="{FF2B5EF4-FFF2-40B4-BE49-F238E27FC236}">
                    <a16:creationId xmlns:a16="http://schemas.microsoft.com/office/drawing/2014/main" id="{A4EFC21B-3102-4F5A-A862-5B30555EB9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01969" y="5140785"/>
                <a:ext cx="846898" cy="375530"/>
              </a:xfrm>
              <a:prstGeom prst="rect">
                <a:avLst/>
              </a:prstGeom>
              <a:noFill/>
              <a:ln w="12700" cap="sq" algn="ctr">
                <a:solidFill>
                  <a:schemeClr val="tx1"/>
                </a:solidFill>
                <a:round/>
                <a:headEnd type="none" w="sm" len="sm"/>
                <a:tailEnd type="none" w="sm" len="sm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pPr algn="ctr"/>
                <a:r>
                  <a:rPr lang="en-SG"/>
                  <a:t>1</a:t>
                </a:r>
              </a:p>
            </p:txBody>
          </p:sp>
          <p:sp>
            <p:nvSpPr>
              <p:cNvPr id="23" name="Rectangle 16">
                <a:extLst>
                  <a:ext uri="{FF2B5EF4-FFF2-40B4-BE49-F238E27FC236}">
                    <a16:creationId xmlns:a16="http://schemas.microsoft.com/office/drawing/2014/main" id="{DCD06FF1-472F-4150-8163-9068F99D90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652457" y="5140785"/>
                <a:ext cx="846898" cy="375530"/>
              </a:xfrm>
              <a:prstGeom prst="rect">
                <a:avLst/>
              </a:prstGeom>
              <a:noFill/>
              <a:ln w="12700" cap="sq" algn="ctr">
                <a:solidFill>
                  <a:schemeClr val="tx1"/>
                </a:solidFill>
                <a:round/>
                <a:headEnd type="none" w="sm" len="sm"/>
                <a:tailEnd type="none" w="sm" len="sm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pPr algn="ctr"/>
                <a:r>
                  <a:rPr lang="en-SG"/>
                  <a:t>0</a:t>
                </a:r>
              </a:p>
            </p:txBody>
          </p:sp>
          <p:sp>
            <p:nvSpPr>
              <p:cNvPr id="24" name="Rectangle 16">
                <a:extLst>
                  <a:ext uri="{FF2B5EF4-FFF2-40B4-BE49-F238E27FC236}">
                    <a16:creationId xmlns:a16="http://schemas.microsoft.com/office/drawing/2014/main" id="{78020CF5-3B57-46B1-B1DE-5EDFAAFE1A7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104568" y="5140785"/>
                <a:ext cx="846898" cy="375530"/>
              </a:xfrm>
              <a:prstGeom prst="rect">
                <a:avLst/>
              </a:prstGeom>
              <a:noFill/>
              <a:ln w="12700" cap="sq" algn="ctr">
                <a:solidFill>
                  <a:schemeClr val="tx1"/>
                </a:solidFill>
                <a:round/>
                <a:headEnd type="none" w="sm" len="sm"/>
                <a:tailEnd type="none" w="sm" len="sm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pPr algn="ctr"/>
                <a:endParaRPr lang="en-SG"/>
              </a:p>
            </p:txBody>
          </p:sp>
          <p:sp>
            <p:nvSpPr>
              <p:cNvPr id="25" name="Rectangle 16">
                <a:extLst>
                  <a:ext uri="{FF2B5EF4-FFF2-40B4-BE49-F238E27FC236}">
                    <a16:creationId xmlns:a16="http://schemas.microsoft.com/office/drawing/2014/main" id="{D196C2E0-94DD-44F4-A5A0-1ECE9AA3324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951466" y="5140785"/>
                <a:ext cx="846898" cy="375530"/>
              </a:xfrm>
              <a:prstGeom prst="rect">
                <a:avLst/>
              </a:prstGeom>
              <a:noFill/>
              <a:ln w="12700" cap="sq" algn="ctr">
                <a:solidFill>
                  <a:schemeClr val="tx1"/>
                </a:solidFill>
                <a:round/>
                <a:headEnd type="none" w="sm" len="sm"/>
                <a:tailEnd type="none" w="sm" len="sm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pPr algn="ctr"/>
                <a:r>
                  <a:rPr lang="en-SG"/>
                  <a:t>0</a:t>
                </a:r>
              </a:p>
            </p:txBody>
          </p:sp>
          <p:sp>
            <p:nvSpPr>
              <p:cNvPr id="26" name="Rectangle 16">
                <a:extLst>
                  <a:ext uri="{FF2B5EF4-FFF2-40B4-BE49-F238E27FC236}">
                    <a16:creationId xmlns:a16="http://schemas.microsoft.com/office/drawing/2014/main" id="{3FC3C42B-9134-4A1D-960A-26F5B870EA3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98364" y="5140785"/>
                <a:ext cx="846898" cy="375530"/>
              </a:xfrm>
              <a:prstGeom prst="rect">
                <a:avLst/>
              </a:prstGeom>
              <a:noFill/>
              <a:ln w="12700" cap="sq" algn="ctr">
                <a:solidFill>
                  <a:schemeClr val="tx1"/>
                </a:solidFill>
                <a:round/>
                <a:headEnd type="none" w="sm" len="sm"/>
                <a:tailEnd type="none" w="sm" len="sm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pPr algn="ctr"/>
                <a:r>
                  <a:rPr lang="en-SG"/>
                  <a:t>0</a:t>
                </a:r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659570D3-70F7-4477-B8E5-A83D58235BEB}"/>
                </a:ext>
              </a:extLst>
            </p:cNvPr>
            <p:cNvGrpSpPr/>
            <p:nvPr/>
          </p:nvGrpSpPr>
          <p:grpSpPr>
            <a:xfrm>
              <a:off x="182148" y="4738972"/>
              <a:ext cx="7542637" cy="400110"/>
              <a:chOff x="182148" y="4738972"/>
              <a:chExt cx="7542637" cy="400110"/>
            </a:xfrm>
          </p:grpSpPr>
          <p:sp>
            <p:nvSpPr>
              <p:cNvPr id="13" name="TextBox 15">
                <a:extLst>
                  <a:ext uri="{FF2B5EF4-FFF2-40B4-BE49-F238E27FC236}">
                    <a16:creationId xmlns:a16="http://schemas.microsoft.com/office/drawing/2014/main" id="{7A7D6850-5E41-4C67-AEF2-01F01AC5487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82148" y="4738972"/>
                <a:ext cx="1766720" cy="40011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algn="ctr" eaLnBrk="1" hangingPunct="1"/>
                <a:r>
                  <a:rPr lang="en-US" sz="2000" b="1">
                    <a:solidFill>
                      <a:srgbClr val="C00000"/>
                    </a:solidFill>
                    <a:latin typeface="Courier New" pitchFamily="49" charset="0"/>
                    <a:cs typeface="Courier New" pitchFamily="49" charset="0"/>
                  </a:rPr>
                  <a:t>marks [0]</a:t>
                </a:r>
                <a:endParaRPr lang="en-SG" sz="1600" b="1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endParaRPr>
              </a:p>
            </p:txBody>
          </p:sp>
          <p:sp>
            <p:nvSpPr>
              <p:cNvPr id="14" name="TextBox 23">
                <a:extLst>
                  <a:ext uri="{FF2B5EF4-FFF2-40B4-BE49-F238E27FC236}">
                    <a16:creationId xmlns:a16="http://schemas.microsoft.com/office/drawing/2014/main" id="{446CC019-B40F-40E8-A348-62E8CC86841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698141" y="4738972"/>
                <a:ext cx="489373" cy="40011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algn="ctr" eaLnBrk="1" hangingPunct="1"/>
                <a:r>
                  <a:rPr lang="en-US" sz="2000" b="1"/>
                  <a:t>…</a:t>
                </a:r>
                <a:endParaRPr lang="en-SG" sz="2000" b="1"/>
              </a:p>
            </p:txBody>
          </p:sp>
          <p:sp>
            <p:nvSpPr>
              <p:cNvPr id="15" name="TextBox 15">
                <a:extLst>
                  <a:ext uri="{FF2B5EF4-FFF2-40B4-BE49-F238E27FC236}">
                    <a16:creationId xmlns:a16="http://schemas.microsoft.com/office/drawing/2014/main" id="{8CC1B3EA-4FF8-4845-862B-01355E1B217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948868" y="4738972"/>
                <a:ext cx="846898" cy="40011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algn="ctr" eaLnBrk="1" hangingPunct="1"/>
                <a:r>
                  <a:rPr lang="en-US" sz="2000" b="1">
                    <a:solidFill>
                      <a:srgbClr val="C00000"/>
                    </a:solidFill>
                    <a:latin typeface="Courier New" pitchFamily="49" charset="0"/>
                    <a:cs typeface="Courier New" pitchFamily="49" charset="0"/>
                  </a:rPr>
                  <a:t>[1]</a:t>
                </a:r>
                <a:endParaRPr lang="en-SG" sz="1600" b="1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endParaRP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BD2BBF7-865B-4F65-A011-E2C4859B255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792997" y="4738972"/>
                <a:ext cx="846898" cy="40011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algn="ctr" eaLnBrk="1" hangingPunct="1"/>
                <a:r>
                  <a:rPr lang="en-US" sz="2000" b="1">
                    <a:solidFill>
                      <a:srgbClr val="C00000"/>
                    </a:solidFill>
                    <a:latin typeface="Courier New" pitchFamily="49" charset="0"/>
                    <a:cs typeface="Courier New" pitchFamily="49" charset="0"/>
                  </a:rPr>
                  <a:t>[2]</a:t>
                </a:r>
                <a:endParaRPr lang="en-SG" sz="1600" b="1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endParaRPr>
              </a:p>
            </p:txBody>
          </p:sp>
          <p:sp>
            <p:nvSpPr>
              <p:cNvPr id="17" name="TextBox 15">
                <a:extLst>
                  <a:ext uri="{FF2B5EF4-FFF2-40B4-BE49-F238E27FC236}">
                    <a16:creationId xmlns:a16="http://schemas.microsoft.com/office/drawing/2014/main" id="{EE163681-1E1C-4296-9294-9B81FEDE336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861669" y="4738972"/>
                <a:ext cx="1018887" cy="40011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algn="ctr" eaLnBrk="1" hangingPunct="1"/>
                <a:r>
                  <a:rPr lang="en-US" sz="2000" b="1">
                    <a:solidFill>
                      <a:srgbClr val="C00000"/>
                    </a:solidFill>
                    <a:latin typeface="Courier New" pitchFamily="49" charset="0"/>
                    <a:cs typeface="Courier New" pitchFamily="49" charset="0"/>
                  </a:rPr>
                  <a:t>[8]</a:t>
                </a:r>
                <a:endParaRPr lang="en-SG" sz="1600" b="1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endParaRPr>
              </a:p>
            </p:txBody>
          </p:sp>
          <p:sp>
            <p:nvSpPr>
              <p:cNvPr id="18" name="TextBox 15">
                <a:extLst>
                  <a:ext uri="{FF2B5EF4-FFF2-40B4-BE49-F238E27FC236}">
                    <a16:creationId xmlns:a16="http://schemas.microsoft.com/office/drawing/2014/main" id="{E301F663-A837-4A75-A347-E2E55BB2635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705898" y="4738972"/>
                <a:ext cx="1018887" cy="40011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algn="ctr" eaLnBrk="1" hangingPunct="1"/>
                <a:r>
                  <a:rPr lang="en-US" sz="2000" b="1">
                    <a:solidFill>
                      <a:srgbClr val="C00000"/>
                    </a:solidFill>
                    <a:latin typeface="Courier New" pitchFamily="49" charset="0"/>
                    <a:cs typeface="Courier New" pitchFamily="49" charset="0"/>
                  </a:rPr>
                  <a:t>[9]</a:t>
                </a:r>
                <a:endParaRPr lang="en-SG" sz="1600" b="1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endParaRPr>
              </a:p>
            </p:txBody>
          </p:sp>
        </p:grp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49F353E1-DD5B-4191-B683-4A793342B04B}"/>
              </a:ext>
            </a:extLst>
          </p:cNvPr>
          <p:cNvSpPr txBox="1"/>
          <p:nvPr/>
        </p:nvSpPr>
        <p:spPr>
          <a:xfrm>
            <a:off x="2518531" y="4034700"/>
            <a:ext cx="4564573" cy="369332"/>
          </a:xfrm>
          <a:prstGeom prst="rect">
            <a:avLst/>
          </a:prstGeom>
          <a:solidFill>
            <a:srgbClr val="FFFF99"/>
          </a:solidFill>
          <a:ln w="127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/>
              <a:t>The rest of the elements are initialized to 0.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BC43EC0-BFC4-41DB-AB62-1FBDFC646D4F}"/>
              </a:ext>
            </a:extLst>
          </p:cNvPr>
          <p:cNvSpPr txBox="1"/>
          <p:nvPr/>
        </p:nvSpPr>
        <p:spPr>
          <a:xfrm>
            <a:off x="998342" y="5778896"/>
            <a:ext cx="4087365" cy="646331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lIns="91440" tIns="45720" rIns="91440" bIns="45720" rtlCol="0" anchor="t">
            <a:spAutoFit/>
          </a:bodyPr>
          <a:lstStyle/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marks[] = {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4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,};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marks has only 3 elements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2D22E88-082D-4970-AC98-99144B0205C8}"/>
              </a:ext>
            </a:extLst>
          </p:cNvPr>
          <p:cNvSpPr txBox="1"/>
          <p:nvPr/>
        </p:nvSpPr>
        <p:spPr>
          <a:xfrm>
            <a:off x="5232583" y="5640396"/>
            <a:ext cx="3017566" cy="923330"/>
          </a:xfrm>
          <a:prstGeom prst="rect">
            <a:avLst/>
          </a:prstGeom>
          <a:solidFill>
            <a:srgbClr val="FFFF99"/>
          </a:solidFill>
          <a:ln w="127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/>
              <a:t>If array size is not specified, there will be no extra elements in the array.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88930EE-6D87-48BC-2ADA-AAE34DE9A2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Unit14 - </a:t>
            </a:r>
            <a:fld id="{2E4790E1-2590-4AEE-892D-AB46A7688113}" type="slidenum">
              <a:rPr lang="en-US" smtClean="0"/>
              <a:pPr>
                <a:defRPr/>
              </a:pPr>
              <a:t>16</a:t>
            </a:fld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98436D9-5A0F-3F90-8D90-2E476EBA6C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</p:spTree>
    <p:extLst>
      <p:ext uri="{BB962C8B-B14F-4D97-AF65-F5344CB8AC3E}">
        <p14:creationId xmlns:p14="http://schemas.microsoft.com/office/powerpoint/2010/main" val="3134748163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 animBg="1"/>
      <p:bldP spid="32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GB" sz="3600">
                <a:solidFill>
                  <a:srgbClr val="0000FF"/>
                </a:solidFill>
              </a:rPr>
              <a:t>Array as Look-up Table </a:t>
            </a:r>
          </a:p>
        </p:txBody>
      </p:sp>
      <p:sp>
        <p:nvSpPr>
          <p:cNvPr id="9" name="Content Placeholder 5">
            <a:extLst>
              <a:ext uri="{FF2B5EF4-FFF2-40B4-BE49-F238E27FC236}">
                <a16:creationId xmlns:a16="http://schemas.microsoft.com/office/drawing/2014/main" id="{E822A0D5-9D76-43F4-AB94-614D7B22B2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7375" y="1187450"/>
            <a:ext cx="8292856" cy="5289550"/>
          </a:xfrm>
        </p:spPr>
        <p:txBody>
          <a:bodyPr>
            <a:noAutofit/>
          </a:bodyPr>
          <a:lstStyle/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sz="2800" dirty="0"/>
              <a:t>Problem: Compute the number of days since 1 Jan until the 1</a:t>
            </a:r>
            <a:r>
              <a:rPr lang="en-US" sz="2800" baseline="30000" dirty="0"/>
              <a:t>st</a:t>
            </a:r>
            <a:r>
              <a:rPr lang="en-US" sz="2800" dirty="0"/>
              <a:t> of a given month (1-12)</a:t>
            </a:r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sz="2400" dirty="0"/>
              <a:t>E.g., days(1) </a:t>
            </a:r>
            <a:r>
              <a:rPr lang="en-US" sz="2400" dirty="0">
                <a:sym typeface="Wingdings" panose="05000000000000000000" pitchFamily="2" charset="2"/>
              </a:rPr>
              <a:t> </a:t>
            </a:r>
            <a:r>
              <a:rPr lang="en-US" sz="2400" dirty="0"/>
              <a:t>0,  days(2) </a:t>
            </a:r>
            <a:r>
              <a:rPr lang="en-US" sz="2400" dirty="0">
                <a:sym typeface="Wingdings" panose="05000000000000000000" pitchFamily="2" charset="2"/>
              </a:rPr>
              <a:t> </a:t>
            </a:r>
            <a:r>
              <a:rPr lang="en-US" sz="2400" dirty="0"/>
              <a:t>31, days(3) </a:t>
            </a:r>
            <a:r>
              <a:rPr lang="en-US" sz="2400" dirty="0">
                <a:sym typeface="Wingdings" panose="05000000000000000000" pitchFamily="2" charset="2"/>
              </a:rPr>
              <a:t></a:t>
            </a:r>
            <a:r>
              <a:rPr lang="en-US" sz="2400" dirty="0"/>
              <a:t> 31+28 = 59 (assuming non-leap year).</a:t>
            </a:r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400" dirty="0"/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400" dirty="0"/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400" dirty="0"/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4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1346AF2-5E9D-7F2E-7011-C826599DB2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Unit14 - </a:t>
            </a:r>
            <a:fld id="{2E4790E1-2590-4AEE-892D-AB46A7688113}" type="slidenum">
              <a:rPr lang="en-US" smtClean="0"/>
              <a:pPr>
                <a:defRPr/>
              </a:pPr>
              <a:t>17</a:t>
            </a:fld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1E466EDA-F111-A369-F2BC-BCE03F3624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3D65509-8F00-8A36-A97E-6E7BFCB83E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91378769"/>
              </p:ext>
            </p:extLst>
          </p:nvPr>
        </p:nvGraphicFramePr>
        <p:xfrm>
          <a:off x="1299602" y="3054309"/>
          <a:ext cx="2537460" cy="219456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932180">
                  <a:extLst>
                    <a:ext uri="{9D8B030D-6E8A-4147-A177-3AD203B41FA5}">
                      <a16:colId xmlns:a16="http://schemas.microsoft.com/office/drawing/2014/main" val="2631727857"/>
                    </a:ext>
                  </a:extLst>
                </a:gridCol>
                <a:gridCol w="1605280">
                  <a:extLst>
                    <a:ext uri="{9D8B030D-6E8A-4147-A177-3AD203B41FA5}">
                      <a16:colId xmlns:a16="http://schemas.microsoft.com/office/drawing/2014/main" val="36447949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 fontAlgn="t"/>
                      <a:r>
                        <a:rPr lang="en-US" b="1" dirty="0">
                          <a:effectLst/>
                        </a:rPr>
                        <a:t>Month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b="1" dirty="0">
                          <a:effectLst/>
                        </a:rPr>
                        <a:t>Days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8725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t"/>
                      <a:r>
                        <a:rPr lang="en-US" b="0" dirty="0">
                          <a:effectLst/>
                        </a:rPr>
                        <a:t>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b="0" dirty="0">
                          <a:effectLst/>
                        </a:rPr>
                        <a:t>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13719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t"/>
                      <a:r>
                        <a:rPr lang="en-US" b="1" dirty="0">
                          <a:effectLst/>
                        </a:rPr>
                        <a:t>Else</a:t>
                      </a:r>
                      <a:r>
                        <a:rPr lang="en-US" b="0" dirty="0">
                          <a:effectLst/>
                        </a:rPr>
                        <a:t> 2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b="0" dirty="0">
                          <a:effectLst/>
                        </a:rPr>
                        <a:t>31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7816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t"/>
                      <a:r>
                        <a:rPr lang="en-US" b="1" dirty="0">
                          <a:effectLst/>
                        </a:rPr>
                        <a:t>Else</a:t>
                      </a:r>
                      <a:r>
                        <a:rPr lang="en-US" b="0" dirty="0">
                          <a:effectLst/>
                        </a:rPr>
                        <a:t> 3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b="0" dirty="0">
                          <a:effectLst/>
                        </a:rPr>
                        <a:t>31 + 28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08957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t"/>
                      <a:r>
                        <a:rPr lang="en-US" b="1" dirty="0">
                          <a:effectLst/>
                        </a:rPr>
                        <a:t>Else </a:t>
                      </a:r>
                      <a:r>
                        <a:rPr lang="en-US" b="0" dirty="0">
                          <a:effectLst/>
                        </a:rPr>
                        <a:t>4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b="0" dirty="0">
                          <a:effectLst/>
                        </a:rPr>
                        <a:t>31 + 28 + 31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71793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t"/>
                      <a:r>
                        <a:rPr lang="en-US" b="0" dirty="0">
                          <a:effectLst/>
                        </a:rPr>
                        <a:t>…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b="0" dirty="0">
                          <a:effectLst/>
                        </a:rPr>
                        <a:t>…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2094208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4E583137-1FEF-B8C7-5EE8-D19957E733C2}"/>
              </a:ext>
            </a:extLst>
          </p:cNvPr>
          <p:cNvSpPr txBox="1"/>
          <p:nvPr/>
        </p:nvSpPr>
        <p:spPr>
          <a:xfrm>
            <a:off x="4024798" y="3054060"/>
            <a:ext cx="4890602" cy="378565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>
              <a:tabLst>
                <a:tab pos="293688" algn="l"/>
                <a:tab pos="620713" algn="l"/>
              </a:tabLst>
            </a:pPr>
            <a:r>
              <a:rPr lang="en-US" sz="2000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days(</a:t>
            </a:r>
            <a:r>
              <a:rPr lang="en-US" sz="2000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month)</a:t>
            </a:r>
          </a:p>
          <a:p>
            <a:pPr>
              <a:tabLst>
                <a:tab pos="293688" algn="l"/>
                <a:tab pos="620713" algn="l"/>
              </a:tabLst>
            </a:pP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pPr>
              <a:tabLst>
                <a:tab pos="293688" algn="l"/>
                <a:tab pos="620713" algn="l"/>
              </a:tabLst>
            </a:pP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2000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days_since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>
              <a:tabLst>
                <a:tab pos="293688" algn="l"/>
                <a:tab pos="620713" algn="l"/>
              </a:tabLst>
            </a:pP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2000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(month == </a:t>
            </a:r>
            <a:r>
              <a:rPr lang="en-US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pPr>
              <a:tabLst>
                <a:tab pos="293688" algn="l"/>
                <a:tab pos="620713" algn="l"/>
              </a:tabLst>
            </a:pP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days_since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31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>
              <a:tabLst>
                <a:tab pos="293688" algn="l"/>
                <a:tab pos="620713" algn="l"/>
              </a:tabLst>
            </a:pP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} </a:t>
            </a:r>
            <a:r>
              <a:rPr lang="en-US" sz="2000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 if 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(month == </a:t>
            </a:r>
            <a:r>
              <a:rPr lang="en-US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pPr>
              <a:tabLst>
                <a:tab pos="293688" algn="l"/>
                <a:tab pos="620713" algn="l"/>
              </a:tabLst>
            </a:pP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days_since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31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+ </a:t>
            </a:r>
            <a:r>
              <a:rPr lang="en-US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28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>
              <a:tabLst>
                <a:tab pos="293688" algn="l"/>
                <a:tab pos="620713" algn="l"/>
              </a:tabLst>
            </a:pP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} </a:t>
            </a:r>
            <a:r>
              <a:rPr lang="en-US" sz="2000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 if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(month == </a:t>
            </a:r>
            <a:r>
              <a:rPr lang="en-US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4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pPr>
              <a:tabLst>
                <a:tab pos="293688" algn="l"/>
                <a:tab pos="620713" algn="l"/>
              </a:tabLst>
            </a:pP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days_since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31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+ </a:t>
            </a:r>
            <a:r>
              <a:rPr lang="en-US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28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+ </a:t>
            </a:r>
            <a:r>
              <a:rPr lang="en-US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31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>
              <a:tabLst>
                <a:tab pos="293688" algn="l"/>
                <a:tab pos="620713" algn="l"/>
              </a:tabLst>
            </a:pP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} … </a:t>
            </a:r>
            <a:r>
              <a:rPr lang="en-US" sz="2000" b="1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8 more cases</a:t>
            </a:r>
          </a:p>
          <a:p>
            <a:pPr>
              <a:tabLst>
                <a:tab pos="293688" algn="l"/>
                <a:tab pos="620713" algn="l"/>
              </a:tabLst>
            </a:pP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2000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days_since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>
              <a:tabLst>
                <a:tab pos="293688" algn="l"/>
                <a:tab pos="620713" algn="l"/>
              </a:tabLst>
            </a:pP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894186310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77B4C2-85B1-28F2-58CA-65548B8B76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>
            <a:extLst>
              <a:ext uri="{FF2B5EF4-FFF2-40B4-BE49-F238E27FC236}">
                <a16:creationId xmlns:a16="http://schemas.microsoft.com/office/drawing/2014/main" id="{69237063-98DD-F482-984D-527EAA6C7AF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GB" sz="3600">
                <a:solidFill>
                  <a:srgbClr val="0000FF"/>
                </a:solidFill>
              </a:rPr>
              <a:t>Array as Look-up Table </a:t>
            </a:r>
          </a:p>
        </p:txBody>
      </p:sp>
      <p:sp>
        <p:nvSpPr>
          <p:cNvPr id="9" name="Content Placeholder 5">
            <a:extLst>
              <a:ext uri="{FF2B5EF4-FFF2-40B4-BE49-F238E27FC236}">
                <a16:creationId xmlns:a16="http://schemas.microsoft.com/office/drawing/2014/main" id="{828117B0-1BF3-ACD4-51F5-FE00481FA8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7375" y="1187450"/>
            <a:ext cx="8292856" cy="5289550"/>
          </a:xfrm>
        </p:spPr>
        <p:txBody>
          <a:bodyPr>
            <a:noAutofit/>
          </a:bodyPr>
          <a:lstStyle/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sz="2800" dirty="0"/>
              <a:t>Problem: Compute the number of days since 1 Jan until the 1</a:t>
            </a:r>
            <a:r>
              <a:rPr lang="en-US" sz="2800" baseline="30000" dirty="0"/>
              <a:t>st</a:t>
            </a:r>
            <a:r>
              <a:rPr lang="en-US" sz="2800" dirty="0"/>
              <a:t> of a given month (1-12)</a:t>
            </a:r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sz="2400" dirty="0"/>
              <a:t>E.g., days(1) </a:t>
            </a:r>
            <a:r>
              <a:rPr lang="en-US" sz="2400" dirty="0">
                <a:sym typeface="Wingdings" panose="05000000000000000000" pitchFamily="2" charset="2"/>
              </a:rPr>
              <a:t> </a:t>
            </a:r>
            <a:r>
              <a:rPr lang="en-US" sz="2400" dirty="0"/>
              <a:t>0,  days(2) </a:t>
            </a:r>
            <a:r>
              <a:rPr lang="en-US" sz="2400" dirty="0">
                <a:sym typeface="Wingdings" panose="05000000000000000000" pitchFamily="2" charset="2"/>
              </a:rPr>
              <a:t> </a:t>
            </a:r>
            <a:r>
              <a:rPr lang="en-US" sz="2400" dirty="0"/>
              <a:t>31, days(3) </a:t>
            </a:r>
            <a:r>
              <a:rPr lang="en-US" sz="2400" dirty="0">
                <a:sym typeface="Wingdings" panose="05000000000000000000" pitchFamily="2" charset="2"/>
              </a:rPr>
              <a:t></a:t>
            </a:r>
            <a:r>
              <a:rPr lang="en-US" sz="2400" dirty="0"/>
              <a:t> 31+28 = 59 (assuming non-leap year).</a:t>
            </a:r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400" dirty="0"/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400" dirty="0"/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400" dirty="0"/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4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E922C74-49BE-A8F1-C282-5E07E4EE0D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Unit14 - </a:t>
            </a:r>
            <a:fld id="{2E4790E1-2590-4AEE-892D-AB46A7688113}" type="slidenum">
              <a:rPr lang="en-US" smtClean="0"/>
              <a:pPr>
                <a:defRPr/>
              </a:pPr>
              <a:t>18</a:t>
            </a:fld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BB01088A-DE90-38DD-9E8B-5A40C7FBB1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EDCB690-317E-B5F3-8BBA-381A883ABF62}"/>
              </a:ext>
            </a:extLst>
          </p:cNvPr>
          <p:cNvGrpSpPr/>
          <p:nvPr/>
        </p:nvGrpSpPr>
        <p:grpSpPr>
          <a:xfrm>
            <a:off x="1041067" y="3347874"/>
            <a:ext cx="7084409" cy="777343"/>
            <a:chOff x="640376" y="4738972"/>
            <a:chExt cx="7084409" cy="777343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E89405CD-D14E-298F-A50C-950ADD410712}"/>
                </a:ext>
              </a:extLst>
            </p:cNvPr>
            <p:cNvGrpSpPr/>
            <p:nvPr/>
          </p:nvGrpSpPr>
          <p:grpSpPr>
            <a:xfrm>
              <a:off x="1101969" y="5140785"/>
              <a:ext cx="6543293" cy="375530"/>
              <a:chOff x="1101969" y="5140785"/>
              <a:chExt cx="6543293" cy="37553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0844FE-4AAD-56AF-27B9-87CDB1C7CE1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948868" y="5140785"/>
                <a:ext cx="846898" cy="375530"/>
              </a:xfrm>
              <a:prstGeom prst="rect">
                <a:avLst/>
              </a:prstGeom>
              <a:noFill/>
              <a:ln w="12700" cap="sq" algn="ctr">
                <a:solidFill>
                  <a:schemeClr val="tx1"/>
                </a:solidFill>
                <a:round/>
                <a:headEnd type="none" w="sm" len="sm"/>
                <a:tailEnd type="none" w="sm" len="sm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pPr algn="ctr"/>
                <a:r>
                  <a:rPr lang="en-SG" dirty="0"/>
                  <a:t>28</a:t>
                </a:r>
              </a:p>
            </p:txBody>
          </p:sp>
          <p:sp>
            <p:nvSpPr>
              <p:cNvPr id="18" name="Rectangle 16">
                <a:extLst>
                  <a:ext uri="{FF2B5EF4-FFF2-40B4-BE49-F238E27FC236}">
                    <a16:creationId xmlns:a16="http://schemas.microsoft.com/office/drawing/2014/main" id="{D8849EC0-9499-36DE-7501-CF0BC085F4A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548188" y="5140785"/>
                <a:ext cx="537183" cy="35208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 cap="sq" algn="ctr">
                    <a:solidFill>
                      <a:srgbClr val="000000"/>
                    </a:solidFill>
                    <a:round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/>
              <a:lstStyle/>
              <a:p>
                <a:pPr algn="ctr"/>
                <a:r>
                  <a:rPr lang="en-US" sz="2400" b="1"/>
                  <a:t>…</a:t>
                </a:r>
                <a:endParaRPr lang="en-SG" sz="2400" b="1"/>
              </a:p>
            </p:txBody>
          </p:sp>
          <p:sp>
            <p:nvSpPr>
              <p:cNvPr id="19" name="Rectangle 16">
                <a:extLst>
                  <a:ext uri="{FF2B5EF4-FFF2-40B4-BE49-F238E27FC236}">
                    <a16:creationId xmlns:a16="http://schemas.microsoft.com/office/drawing/2014/main" id="{B76731C4-73F9-AF4A-2711-598FCDB777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799131" y="5140785"/>
                <a:ext cx="846898" cy="375530"/>
              </a:xfrm>
              <a:prstGeom prst="rect">
                <a:avLst/>
              </a:prstGeom>
              <a:noFill/>
              <a:ln w="12700" cap="sq" algn="ctr">
                <a:solidFill>
                  <a:schemeClr val="tx1"/>
                </a:solidFill>
                <a:round/>
                <a:headEnd type="none" w="sm" len="sm"/>
                <a:tailEnd type="none" w="sm" len="sm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pPr algn="ctr"/>
                <a:r>
                  <a:rPr lang="en-SG" dirty="0"/>
                  <a:t>31</a:t>
                </a:r>
              </a:p>
            </p:txBody>
          </p:sp>
          <p:sp>
            <p:nvSpPr>
              <p:cNvPr id="20" name="Rectangle 16">
                <a:extLst>
                  <a:ext uri="{FF2B5EF4-FFF2-40B4-BE49-F238E27FC236}">
                    <a16:creationId xmlns:a16="http://schemas.microsoft.com/office/drawing/2014/main" id="{51C7AA0F-6DED-FFBD-CD1E-123D92699E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01969" y="5140785"/>
                <a:ext cx="846898" cy="375530"/>
              </a:xfrm>
              <a:prstGeom prst="rect">
                <a:avLst/>
              </a:prstGeom>
              <a:noFill/>
              <a:ln w="12700" cap="sq" algn="ctr">
                <a:solidFill>
                  <a:schemeClr val="tx1"/>
                </a:solidFill>
                <a:round/>
                <a:headEnd type="none" w="sm" len="sm"/>
                <a:tailEnd type="none" w="sm" len="sm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pPr algn="ctr"/>
                <a:r>
                  <a:rPr lang="en-SG" dirty="0"/>
                  <a:t>31</a:t>
                </a:r>
              </a:p>
            </p:txBody>
          </p:sp>
          <p:sp>
            <p:nvSpPr>
              <p:cNvPr id="21" name="Rectangle 16">
                <a:extLst>
                  <a:ext uri="{FF2B5EF4-FFF2-40B4-BE49-F238E27FC236}">
                    <a16:creationId xmlns:a16="http://schemas.microsoft.com/office/drawing/2014/main" id="{C1BDA81E-7991-9422-A861-74BE5351224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652457" y="5140785"/>
                <a:ext cx="846898" cy="375530"/>
              </a:xfrm>
              <a:prstGeom prst="rect">
                <a:avLst/>
              </a:prstGeom>
              <a:noFill/>
              <a:ln w="12700" cap="sq" algn="ctr">
                <a:solidFill>
                  <a:schemeClr val="tx1"/>
                </a:solidFill>
                <a:round/>
                <a:headEnd type="none" w="sm" len="sm"/>
                <a:tailEnd type="none" w="sm" len="sm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pPr algn="ctr"/>
                <a:r>
                  <a:rPr lang="en-SG"/>
                  <a:t>??</a:t>
                </a:r>
              </a:p>
            </p:txBody>
          </p:sp>
          <p:sp>
            <p:nvSpPr>
              <p:cNvPr id="22" name="Rectangle 16">
                <a:extLst>
                  <a:ext uri="{FF2B5EF4-FFF2-40B4-BE49-F238E27FC236}">
                    <a16:creationId xmlns:a16="http://schemas.microsoft.com/office/drawing/2014/main" id="{BE5861C0-1914-D62B-8FCE-D14E51B1C4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104568" y="5140785"/>
                <a:ext cx="846898" cy="375530"/>
              </a:xfrm>
              <a:prstGeom prst="rect">
                <a:avLst/>
              </a:prstGeom>
              <a:noFill/>
              <a:ln w="12700" cap="sq" algn="ctr">
                <a:solidFill>
                  <a:schemeClr val="tx1"/>
                </a:solidFill>
                <a:round/>
                <a:headEnd type="none" w="sm" len="sm"/>
                <a:tailEnd type="none" w="sm" len="sm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pPr algn="ctr"/>
                <a:endParaRPr lang="en-SG"/>
              </a:p>
            </p:txBody>
          </p:sp>
          <p:sp>
            <p:nvSpPr>
              <p:cNvPr id="23" name="Rectangle 16">
                <a:extLst>
                  <a:ext uri="{FF2B5EF4-FFF2-40B4-BE49-F238E27FC236}">
                    <a16:creationId xmlns:a16="http://schemas.microsoft.com/office/drawing/2014/main" id="{06EC9C40-9759-121E-6E5B-4730009625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951466" y="5140785"/>
                <a:ext cx="846898" cy="375530"/>
              </a:xfrm>
              <a:prstGeom prst="rect">
                <a:avLst/>
              </a:prstGeom>
              <a:noFill/>
              <a:ln w="12700" cap="sq" algn="ctr">
                <a:solidFill>
                  <a:schemeClr val="tx1"/>
                </a:solidFill>
                <a:round/>
                <a:headEnd type="none" w="sm" len="sm"/>
                <a:tailEnd type="none" w="sm" len="sm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pPr algn="ctr"/>
                <a:r>
                  <a:rPr lang="en-SG" dirty="0"/>
                  <a:t>30	</a:t>
                </a:r>
              </a:p>
            </p:txBody>
          </p:sp>
          <p:sp>
            <p:nvSpPr>
              <p:cNvPr id="24" name="Rectangle 16">
                <a:extLst>
                  <a:ext uri="{FF2B5EF4-FFF2-40B4-BE49-F238E27FC236}">
                    <a16:creationId xmlns:a16="http://schemas.microsoft.com/office/drawing/2014/main" id="{C585DDE4-94A1-ED38-A59B-25D333B138C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98364" y="5140785"/>
                <a:ext cx="846898" cy="375530"/>
              </a:xfrm>
              <a:prstGeom prst="rect">
                <a:avLst/>
              </a:prstGeom>
              <a:noFill/>
              <a:ln w="12700" cap="sq" algn="ctr">
                <a:solidFill>
                  <a:schemeClr val="tx1"/>
                </a:solidFill>
                <a:round/>
                <a:headEnd type="none" w="sm" len="sm"/>
                <a:tailEnd type="none" w="sm" len="sm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pPr algn="ctr"/>
                <a:r>
                  <a:rPr lang="en-SG" dirty="0"/>
                  <a:t>31</a:t>
                </a: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774C32B2-3C8D-4D30-060D-572881847DB6}"/>
                </a:ext>
              </a:extLst>
            </p:cNvPr>
            <p:cNvGrpSpPr/>
            <p:nvPr/>
          </p:nvGrpSpPr>
          <p:grpSpPr>
            <a:xfrm>
              <a:off x="640376" y="4738972"/>
              <a:ext cx="7084409" cy="400110"/>
              <a:chOff x="640376" y="4738972"/>
              <a:chExt cx="7084409" cy="400110"/>
            </a:xfrm>
          </p:grpSpPr>
          <p:sp>
            <p:nvSpPr>
              <p:cNvPr id="7" name="TextBox 15">
                <a:extLst>
                  <a:ext uri="{FF2B5EF4-FFF2-40B4-BE49-F238E27FC236}">
                    <a16:creationId xmlns:a16="http://schemas.microsoft.com/office/drawing/2014/main" id="{CB74838E-A7AE-1019-6996-FDB06DF9897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40376" y="4738972"/>
                <a:ext cx="1766720" cy="40011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algn="ctr" eaLnBrk="1" hangingPunct="1"/>
                <a:r>
                  <a:rPr lang="en-US" sz="2000" b="1" dirty="0">
                    <a:solidFill>
                      <a:srgbClr val="C00000"/>
                    </a:solidFill>
                    <a:latin typeface="Courier New" pitchFamily="49" charset="0"/>
                    <a:cs typeface="Courier New" pitchFamily="49" charset="0"/>
                  </a:rPr>
                  <a:t>[0]</a:t>
                </a:r>
                <a:endParaRPr lang="en-SG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endParaRPr>
              </a:p>
            </p:txBody>
          </p:sp>
          <p:sp>
            <p:nvSpPr>
              <p:cNvPr id="8" name="TextBox 23">
                <a:extLst>
                  <a:ext uri="{FF2B5EF4-FFF2-40B4-BE49-F238E27FC236}">
                    <a16:creationId xmlns:a16="http://schemas.microsoft.com/office/drawing/2014/main" id="{89FD45AC-C0A4-5B20-F636-9605D1DC97D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698141" y="4738972"/>
                <a:ext cx="489373" cy="40011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algn="ctr" eaLnBrk="1" hangingPunct="1"/>
                <a:r>
                  <a:rPr lang="en-US" sz="2000" b="1"/>
                  <a:t>…</a:t>
                </a:r>
                <a:endParaRPr lang="en-SG" sz="2000" b="1"/>
              </a:p>
            </p:txBody>
          </p:sp>
          <p:sp>
            <p:nvSpPr>
              <p:cNvPr id="12" name="TextBox 15">
                <a:extLst>
                  <a:ext uri="{FF2B5EF4-FFF2-40B4-BE49-F238E27FC236}">
                    <a16:creationId xmlns:a16="http://schemas.microsoft.com/office/drawing/2014/main" id="{1D469EB8-46EF-9379-56B1-B0BF9C2CEC7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948868" y="4738972"/>
                <a:ext cx="846898" cy="40011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algn="ctr" eaLnBrk="1" hangingPunct="1"/>
                <a:r>
                  <a:rPr lang="en-US" sz="2000" b="1">
                    <a:solidFill>
                      <a:srgbClr val="C00000"/>
                    </a:solidFill>
                    <a:latin typeface="Courier New" pitchFamily="49" charset="0"/>
                    <a:cs typeface="Courier New" pitchFamily="49" charset="0"/>
                  </a:rPr>
                  <a:t>[1]</a:t>
                </a:r>
                <a:endParaRPr lang="en-SG" sz="1600" b="1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endParaRP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1AA4415-FE36-887F-994B-CE770D09EF1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792997" y="4738972"/>
                <a:ext cx="846898" cy="40011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algn="ctr" eaLnBrk="1" hangingPunct="1"/>
                <a:r>
                  <a:rPr lang="en-US" sz="2000" b="1">
                    <a:solidFill>
                      <a:srgbClr val="C00000"/>
                    </a:solidFill>
                    <a:latin typeface="Courier New" pitchFamily="49" charset="0"/>
                    <a:cs typeface="Courier New" pitchFamily="49" charset="0"/>
                  </a:rPr>
                  <a:t>[2]</a:t>
                </a:r>
                <a:endParaRPr lang="en-SG" sz="1600" b="1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endParaRPr>
              </a:p>
            </p:txBody>
          </p:sp>
          <p:sp>
            <p:nvSpPr>
              <p:cNvPr id="15" name="TextBox 15">
                <a:extLst>
                  <a:ext uri="{FF2B5EF4-FFF2-40B4-BE49-F238E27FC236}">
                    <a16:creationId xmlns:a16="http://schemas.microsoft.com/office/drawing/2014/main" id="{515360B6-7EDD-D119-BE9A-C83FD45626B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861669" y="4738972"/>
                <a:ext cx="1018887" cy="40011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algn="ctr" eaLnBrk="1" hangingPunct="1"/>
                <a:r>
                  <a:rPr lang="en-US" sz="2000" b="1" dirty="0">
                    <a:solidFill>
                      <a:srgbClr val="C00000"/>
                    </a:solidFill>
                    <a:latin typeface="Courier New" pitchFamily="49" charset="0"/>
                    <a:cs typeface="Courier New" pitchFamily="49" charset="0"/>
                  </a:rPr>
                  <a:t>[10]</a:t>
                </a:r>
                <a:endParaRPr lang="en-SG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endParaRP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11906856-0C2D-570D-62A1-18BC9B0AF5E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705898" y="4738972"/>
                <a:ext cx="1018887" cy="40011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algn="ctr" eaLnBrk="1" hangingPunct="1"/>
                <a:r>
                  <a:rPr lang="en-US" sz="2000" b="1" dirty="0">
                    <a:solidFill>
                      <a:srgbClr val="C00000"/>
                    </a:solidFill>
                    <a:latin typeface="Courier New" pitchFamily="49" charset="0"/>
                    <a:cs typeface="Courier New" pitchFamily="49" charset="0"/>
                  </a:rPr>
                  <a:t>[11]</a:t>
                </a:r>
                <a:endParaRPr lang="en-SG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endParaRPr>
              </a:p>
            </p:txBody>
          </p:sp>
        </p:grpSp>
      </p:grpSp>
      <p:sp>
        <p:nvSpPr>
          <p:cNvPr id="25" name="TextBox 15">
            <a:extLst>
              <a:ext uri="{FF2B5EF4-FFF2-40B4-BE49-F238E27FC236}">
                <a16:creationId xmlns:a16="http://schemas.microsoft.com/office/drawing/2014/main" id="{F475C28A-1CE1-A8FD-B137-5C2F03B9320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0225" y="3327441"/>
            <a:ext cx="1354475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n-US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days_in_month</a:t>
            </a:r>
            <a:endParaRPr lang="en-SG" sz="1400" b="1" dirty="0">
              <a:solidFill>
                <a:srgbClr val="C00000"/>
              </a:solidFill>
              <a:latin typeface="Courier New" pitchFamily="49" charset="0"/>
              <a:cs typeface="Courier New" pitchFamily="49" charset="0"/>
            </a:endParaRPr>
          </a:p>
        </p:txBody>
      </p:sp>
      <p:graphicFrame>
        <p:nvGraphicFramePr>
          <p:cNvPr id="28" name="Table 27">
            <a:extLst>
              <a:ext uri="{FF2B5EF4-FFF2-40B4-BE49-F238E27FC236}">
                <a16:creationId xmlns:a16="http://schemas.microsoft.com/office/drawing/2014/main" id="{4F1BA0EF-C51E-8668-5F82-CD1BB02575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7224322"/>
              </p:ext>
            </p:extLst>
          </p:nvPr>
        </p:nvGraphicFramePr>
        <p:xfrm>
          <a:off x="777102" y="4361051"/>
          <a:ext cx="4440368" cy="219456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932180">
                  <a:extLst>
                    <a:ext uri="{9D8B030D-6E8A-4147-A177-3AD203B41FA5}">
                      <a16:colId xmlns:a16="http://schemas.microsoft.com/office/drawing/2014/main" val="2620739216"/>
                    </a:ext>
                  </a:extLst>
                </a:gridCol>
                <a:gridCol w="3508188">
                  <a:extLst>
                    <a:ext uri="{9D8B030D-6E8A-4147-A177-3AD203B41FA5}">
                      <a16:colId xmlns:a16="http://schemas.microsoft.com/office/drawing/2014/main" val="201669326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 fontAlgn="t"/>
                      <a:r>
                        <a:rPr lang="en-US" b="1" dirty="0">
                          <a:effectLst/>
                        </a:rPr>
                        <a:t>Month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b="1" dirty="0">
                          <a:effectLst/>
                        </a:rPr>
                        <a:t>Days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55169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t"/>
                      <a:r>
                        <a:rPr lang="en-US" b="0" dirty="0">
                          <a:effectLst/>
                        </a:rPr>
                        <a:t>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b="0" dirty="0">
                          <a:effectLst/>
                        </a:rPr>
                        <a:t>0 (does not sum up anything)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07481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t"/>
                      <a:r>
                        <a:rPr lang="en-US" b="0" dirty="0">
                          <a:effectLst/>
                        </a:rPr>
                        <a:t>Else 2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b="0" dirty="0">
                          <a:effectLst/>
                        </a:rPr>
                        <a:t>sum up from slot 0 to slot 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70027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t"/>
                      <a:r>
                        <a:rPr lang="en-US" b="0" dirty="0">
                          <a:effectLst/>
                        </a:rPr>
                        <a:t>Else 3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b="0" dirty="0">
                          <a:effectLst/>
                        </a:rPr>
                        <a:t>sum up from slot 0 to slot 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73016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t"/>
                      <a:r>
                        <a:rPr lang="en-US" b="0" dirty="0">
                          <a:effectLst/>
                        </a:rPr>
                        <a:t>Else 4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b="0" dirty="0">
                          <a:effectLst/>
                        </a:rPr>
                        <a:t>sum up from slot 0 to slot 2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62780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t"/>
                      <a:r>
                        <a:rPr lang="en-US" b="0" dirty="0">
                          <a:effectLst/>
                        </a:rPr>
                        <a:t>…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b="0" dirty="0">
                          <a:effectLst/>
                        </a:rPr>
                        <a:t>…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54243247"/>
                  </a:ext>
                </a:extLst>
              </a:tr>
            </a:tbl>
          </a:graphicData>
        </a:graphic>
      </p:graphicFrame>
      <p:sp>
        <p:nvSpPr>
          <p:cNvPr id="29" name="TextBox 28">
            <a:extLst>
              <a:ext uri="{FF2B5EF4-FFF2-40B4-BE49-F238E27FC236}">
                <a16:creationId xmlns:a16="http://schemas.microsoft.com/office/drawing/2014/main" id="{5AEF65CB-4AB6-7D7B-0CE1-42EF815B7B53}"/>
              </a:ext>
            </a:extLst>
          </p:cNvPr>
          <p:cNvSpPr txBox="1"/>
          <p:nvPr/>
        </p:nvSpPr>
        <p:spPr>
          <a:xfrm>
            <a:off x="5420777" y="5135165"/>
            <a:ext cx="3126921" cy="646331"/>
          </a:xfrm>
          <a:prstGeom prst="rect">
            <a:avLst/>
          </a:prstGeom>
          <a:solidFill>
            <a:srgbClr val="FFFF99"/>
          </a:solidFill>
          <a:ln w="127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sum up from slot 0 to slot month – 2 in general!</a:t>
            </a:r>
          </a:p>
        </p:txBody>
      </p:sp>
    </p:spTree>
    <p:extLst>
      <p:ext uri="{BB962C8B-B14F-4D97-AF65-F5344CB8AC3E}">
        <p14:creationId xmlns:p14="http://schemas.microsoft.com/office/powerpoint/2010/main" val="2409481063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GB" sz="3600">
                <a:solidFill>
                  <a:srgbClr val="0000FF"/>
                </a:solidFill>
              </a:rPr>
              <a:t>Array as Look-up Table </a:t>
            </a:r>
          </a:p>
        </p:txBody>
      </p:sp>
      <p:sp>
        <p:nvSpPr>
          <p:cNvPr id="9" name="Content Placeholder 5">
            <a:extLst>
              <a:ext uri="{FF2B5EF4-FFF2-40B4-BE49-F238E27FC236}">
                <a16:creationId xmlns:a16="http://schemas.microsoft.com/office/drawing/2014/main" id="{E822A0D5-9D76-43F4-AB94-614D7B22B2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7375" y="1187450"/>
            <a:ext cx="8292856" cy="5289550"/>
          </a:xfrm>
        </p:spPr>
        <p:txBody>
          <a:bodyPr>
            <a:noAutofit/>
          </a:bodyPr>
          <a:lstStyle/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sz="2800" dirty="0"/>
              <a:t>Problem: Compute the number of days since 1 Jan until the 1</a:t>
            </a:r>
            <a:r>
              <a:rPr lang="en-US" sz="2800" baseline="30000" dirty="0"/>
              <a:t>st</a:t>
            </a:r>
            <a:r>
              <a:rPr lang="en-US" sz="2800" dirty="0"/>
              <a:t> of a given month (1-12)</a:t>
            </a:r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sz="2400" dirty="0"/>
              <a:t>E.g., days(1) </a:t>
            </a:r>
            <a:r>
              <a:rPr lang="en-US" sz="2400" dirty="0">
                <a:sym typeface="Wingdings" panose="05000000000000000000" pitchFamily="2" charset="2"/>
              </a:rPr>
              <a:t> </a:t>
            </a:r>
            <a:r>
              <a:rPr lang="en-US" sz="2400" dirty="0"/>
              <a:t>0,  days(2) </a:t>
            </a:r>
            <a:r>
              <a:rPr lang="en-US" sz="2400" dirty="0">
                <a:sym typeface="Wingdings" panose="05000000000000000000" pitchFamily="2" charset="2"/>
              </a:rPr>
              <a:t> </a:t>
            </a:r>
            <a:r>
              <a:rPr lang="en-US" sz="2400" dirty="0"/>
              <a:t>31, days(3) </a:t>
            </a:r>
            <a:r>
              <a:rPr lang="en-US" sz="2400" dirty="0">
                <a:sym typeface="Wingdings" panose="05000000000000000000" pitchFamily="2" charset="2"/>
              </a:rPr>
              <a:t></a:t>
            </a:r>
            <a:r>
              <a:rPr lang="en-US" sz="2400" dirty="0"/>
              <a:t> 31+28 = 59 (assuming non-leap year).</a:t>
            </a:r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400" dirty="0"/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400" dirty="0"/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400" dirty="0"/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6C30920-C994-477D-BF38-FB31A7971AB0}"/>
              </a:ext>
            </a:extLst>
          </p:cNvPr>
          <p:cNvSpPr txBox="1"/>
          <p:nvPr/>
        </p:nvSpPr>
        <p:spPr>
          <a:xfrm>
            <a:off x="1273893" y="2961592"/>
            <a:ext cx="6930070" cy="378565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>
              <a:tabLst>
                <a:tab pos="293688" algn="l"/>
                <a:tab pos="620713" algn="l"/>
              </a:tabLst>
            </a:pPr>
            <a:r>
              <a:rPr lang="en-US" sz="2000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days(</a:t>
            </a:r>
            <a:r>
              <a:rPr lang="en-US" sz="2000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 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month)</a:t>
            </a:r>
          </a:p>
          <a:p>
            <a:pPr>
              <a:tabLst>
                <a:tab pos="293688" algn="l"/>
                <a:tab pos="620713" algn="l"/>
              </a:tabLst>
            </a:pP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pPr>
              <a:tabLst>
                <a:tab pos="293688" algn="l"/>
                <a:tab pos="620713" algn="l"/>
              </a:tabLst>
            </a:pP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2000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days_in_month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12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] = {</a:t>
            </a:r>
            <a:r>
              <a:rPr lang="en-US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31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28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31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30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31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30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31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31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30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31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30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31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pPr>
              <a:tabLst>
                <a:tab pos="293688" algn="l"/>
                <a:tab pos="620713" algn="l"/>
              </a:tabLst>
            </a:pPr>
            <a:endParaRPr lang="en-US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tabLst>
                <a:tab pos="293688" algn="l"/>
                <a:tab pos="620713" algn="l"/>
              </a:tabLst>
            </a:pP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2000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(month == </a:t>
            </a:r>
            <a:r>
              <a:rPr lang="en-US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{ </a:t>
            </a:r>
            <a:r>
              <a:rPr lang="en-US" sz="2000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;}</a:t>
            </a:r>
          </a:p>
          <a:p>
            <a:pPr>
              <a:tabLst>
                <a:tab pos="293688" algn="l"/>
                <a:tab pos="620713" algn="l"/>
              </a:tabLst>
            </a:pP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2000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days_since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>
              <a:tabLst>
                <a:tab pos="293688" algn="l"/>
                <a:tab pos="620713" algn="l"/>
              </a:tabLst>
            </a:pPr>
            <a:r>
              <a:rPr lang="en-US" sz="2000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for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en-US" sz="2000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&lt;= month - 2; </a:t>
            </a: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+= </a:t>
            </a:r>
            <a:r>
              <a:rPr lang="en-US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pPr>
              <a:tabLst>
                <a:tab pos="293688" algn="l"/>
                <a:tab pos="620713" algn="l"/>
              </a:tabLst>
            </a:pP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days_since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+= </a:t>
            </a:r>
            <a:r>
              <a:rPr lang="en-US" sz="2000" b="1" dirty="0" err="1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days_in_month</a:t>
            </a:r>
            <a:r>
              <a:rPr lang="en-US" sz="2000" b="1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sz="2000" b="1" dirty="0" err="1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2000" b="1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>
              <a:tabLst>
                <a:tab pos="293688" algn="l"/>
                <a:tab pos="620713" algn="l"/>
              </a:tabLst>
            </a:pP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</a:p>
          <a:p>
            <a:pPr>
              <a:tabLst>
                <a:tab pos="293688" algn="l"/>
                <a:tab pos="620713" algn="l"/>
              </a:tabLst>
            </a:pP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pPr>
              <a:tabLst>
                <a:tab pos="293688" algn="l"/>
                <a:tab pos="620713" algn="l"/>
              </a:tabLst>
            </a:pP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C015A31-59EB-4945-B34A-AB4D01672DA6}"/>
              </a:ext>
            </a:extLst>
          </p:cNvPr>
          <p:cNvSpPr txBox="1"/>
          <p:nvPr/>
        </p:nvSpPr>
        <p:spPr>
          <a:xfrm>
            <a:off x="6611803" y="4405894"/>
            <a:ext cx="2268428" cy="646331"/>
          </a:xfrm>
          <a:prstGeom prst="rect">
            <a:avLst/>
          </a:prstGeom>
          <a:solidFill>
            <a:srgbClr val="CCFFFF"/>
          </a:solidFill>
          <a:ln w="127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Why a </a:t>
            </a:r>
            <a:r>
              <a:rPr lang="en-US" i="1" dirty="0"/>
              <a:t>for</a:t>
            </a:r>
            <a:r>
              <a:rPr lang="en-US" dirty="0"/>
              <a:t> loop with these components?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692DA3A9-F762-430E-A74A-81B0C7CCC482}"/>
              </a:ext>
            </a:extLst>
          </p:cNvPr>
          <p:cNvCxnSpPr>
            <a:cxnSpLocks/>
            <a:stCxn id="10" idx="1"/>
          </p:cNvCxnSpPr>
          <p:nvPr/>
        </p:nvCxnSpPr>
        <p:spPr>
          <a:xfrm flipH="1">
            <a:off x="5418034" y="4729060"/>
            <a:ext cx="1193769" cy="415515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D8557CD-BA2F-5081-DB46-EAAAFFAE66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Unit14 - </a:t>
            </a:r>
            <a:fld id="{2E4790E1-2590-4AEE-892D-AB46A7688113}" type="slidenum">
              <a:rPr lang="en-US" smtClean="0"/>
              <a:pPr>
                <a:defRPr/>
              </a:pPr>
              <a:t>19</a:t>
            </a:fld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4A9B90B5-B8CD-FF5D-6ED3-5808EB8F0B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</p:spTree>
    <p:extLst>
      <p:ext uri="{BB962C8B-B14F-4D97-AF65-F5344CB8AC3E}">
        <p14:creationId xmlns:p14="http://schemas.microsoft.com/office/powerpoint/2010/main" val="4199745321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DABD4D-AF27-21D8-02ED-9D1D81FE84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>
            <a:extLst>
              <a:ext uri="{FF2B5EF4-FFF2-40B4-BE49-F238E27FC236}">
                <a16:creationId xmlns:a16="http://schemas.microsoft.com/office/drawing/2014/main" id="{B50E10FC-7EBB-40F6-E0F5-C2AAFAC7B84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GB" sz="3600">
                <a:solidFill>
                  <a:srgbClr val="0000FF"/>
                </a:solidFill>
              </a:rPr>
              <a:t>Array as List</a:t>
            </a:r>
          </a:p>
        </p:txBody>
      </p:sp>
      <p:sp>
        <p:nvSpPr>
          <p:cNvPr id="9" name="Content Placeholder 5">
            <a:extLst>
              <a:ext uri="{FF2B5EF4-FFF2-40B4-BE49-F238E27FC236}">
                <a16:creationId xmlns:a16="http://schemas.microsoft.com/office/drawing/2014/main" id="{F54866C3-C03A-742C-AF87-19084D6E7F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7375" y="1187450"/>
            <a:ext cx="8292856" cy="5289550"/>
          </a:xfrm>
        </p:spPr>
        <p:txBody>
          <a:bodyPr>
            <a:noAutofit/>
          </a:bodyPr>
          <a:lstStyle/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sz="2800" dirty="0"/>
              <a:t>Problem: Find the maximum among a list of numbers.</a:t>
            </a:r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400" dirty="0"/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400" dirty="0"/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9CBC44F-C102-B12E-52D0-57B2FA93B19A}"/>
              </a:ext>
            </a:extLst>
          </p:cNvPr>
          <p:cNvSpPr txBox="1"/>
          <p:nvPr/>
        </p:nvSpPr>
        <p:spPr>
          <a:xfrm>
            <a:off x="986216" y="2265685"/>
            <a:ext cx="6524192" cy="317009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>
              <a:tabLst>
                <a:tab pos="293688" algn="l"/>
                <a:tab pos="620713" algn="l"/>
              </a:tabLst>
            </a:pPr>
            <a:r>
              <a:rPr lang="en-US" sz="2000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 </a:t>
            </a: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find_max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000" b="1" dirty="0">
                <a:solidFill>
                  <a:srgbClr val="0000FF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sz="2000" b="1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list[], </a:t>
            </a:r>
            <a:r>
              <a:rPr lang="en-US" sz="2000" b="1" dirty="0">
                <a:solidFill>
                  <a:srgbClr val="0000FF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sz="2000" b="1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length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>
              <a:tabLst>
                <a:tab pos="293688" algn="l"/>
                <a:tab pos="620713" algn="l"/>
              </a:tabLst>
            </a:pP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pPr>
              <a:tabLst>
                <a:tab pos="293688" algn="l"/>
                <a:tab pos="620713" algn="l"/>
              </a:tabLst>
            </a:pP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2000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max_so_far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list[</a:t>
            </a:r>
            <a:r>
              <a:rPr lang="en-US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];</a:t>
            </a:r>
          </a:p>
          <a:p>
            <a:pPr>
              <a:tabLst>
                <a:tab pos="293688" algn="l"/>
                <a:tab pos="620713" algn="l"/>
              </a:tabLst>
            </a:pP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2000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en-US" sz="2000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!= length; </a:t>
            </a: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+= </a:t>
            </a:r>
            <a:r>
              <a:rPr lang="en-US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pPr>
              <a:tabLst>
                <a:tab pos="293688" algn="l"/>
                <a:tab pos="620713" algn="l"/>
              </a:tabLst>
            </a:pPr>
            <a:r>
              <a:rPr lang="en-US" sz="2000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if 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(list[</a:t>
            </a: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] &gt; </a:t>
            </a: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max_so_far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pPr>
              <a:tabLst>
                <a:tab pos="293688" algn="l"/>
                <a:tab pos="620713" algn="l"/>
              </a:tabLst>
            </a:pP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max_so_far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list[</a:t>
            </a: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];</a:t>
            </a:r>
          </a:p>
          <a:p>
            <a:pPr>
              <a:tabLst>
                <a:tab pos="293688" algn="l"/>
                <a:tab pos="620713" algn="l"/>
              </a:tabLst>
            </a:pP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pPr>
              <a:tabLst>
                <a:tab pos="293688" algn="l"/>
                <a:tab pos="620713" algn="l"/>
              </a:tabLst>
            </a:pP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</a:p>
          <a:p>
            <a:pPr>
              <a:tabLst>
                <a:tab pos="293688" algn="l"/>
                <a:tab pos="620713" algn="l"/>
              </a:tabLst>
            </a:pP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2000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max_so_far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>
              <a:tabLst>
                <a:tab pos="293688" algn="l"/>
                <a:tab pos="620713" algn="l"/>
              </a:tabLst>
            </a:pP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E5E66F1-0229-7461-3318-18EF83DB18F4}"/>
              </a:ext>
            </a:extLst>
          </p:cNvPr>
          <p:cNvSpPr txBox="1"/>
          <p:nvPr/>
        </p:nvSpPr>
        <p:spPr>
          <a:xfrm>
            <a:off x="6472719" y="2594533"/>
            <a:ext cx="2274240" cy="369332"/>
          </a:xfrm>
          <a:prstGeom prst="rect">
            <a:avLst/>
          </a:prstGeom>
          <a:solidFill>
            <a:srgbClr val="CCFFFF"/>
          </a:solidFill>
          <a:ln w="127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/>
              <a:t>Why this condition?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0123D5AA-BAE2-055A-D663-35C814912751}"/>
              </a:ext>
            </a:extLst>
          </p:cNvPr>
          <p:cNvCxnSpPr>
            <a:cxnSpLocks/>
          </p:cNvCxnSpPr>
          <p:nvPr/>
        </p:nvCxnSpPr>
        <p:spPr>
          <a:xfrm flipH="1">
            <a:off x="4880225" y="2779199"/>
            <a:ext cx="1592494" cy="508535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0EBBF4-6409-8047-1CBD-0876942A48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Unit14 - </a:t>
            </a:r>
            <a:fld id="{2E4790E1-2590-4AEE-892D-AB46A7688113}" type="slidenum">
              <a:rPr lang="en-US" smtClean="0"/>
              <a:pPr>
                <a:defRPr/>
              </a:pPr>
              <a:t>20</a:t>
            </a:fld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9103E96E-110E-01B6-7F0E-7C2AE5083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48078B-0F5A-8C42-F0D5-0DFDBF898380}"/>
              </a:ext>
            </a:extLst>
          </p:cNvPr>
          <p:cNvSpPr txBox="1"/>
          <p:nvPr/>
        </p:nvSpPr>
        <p:spPr>
          <a:xfrm>
            <a:off x="2608355" y="1824262"/>
            <a:ext cx="3279914" cy="369332"/>
          </a:xfrm>
          <a:prstGeom prst="rect">
            <a:avLst/>
          </a:prstGeom>
          <a:solidFill>
            <a:srgbClr val="FFFF99"/>
          </a:solidFill>
          <a:ln w="127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Function definition with arrays.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AB42B03-B71A-846A-F96D-D5D03DF16A57}"/>
              </a:ext>
            </a:extLst>
          </p:cNvPr>
          <p:cNvSpPr txBox="1"/>
          <p:nvPr/>
        </p:nvSpPr>
        <p:spPr>
          <a:xfrm>
            <a:off x="3612387" y="5628587"/>
            <a:ext cx="5321819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>
              <a:tabLst>
                <a:tab pos="293688" algn="l"/>
                <a:tab pos="620713" algn="l"/>
              </a:tabLst>
            </a:pPr>
            <a:r>
              <a:rPr lang="en-US" sz="2000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 </a:t>
            </a: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6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] = {</a:t>
            </a:r>
            <a:r>
              <a:rPr lang="en-US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5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9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8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pPr>
              <a:tabLst>
                <a:tab pos="293688" algn="l"/>
                <a:tab pos="620713" algn="l"/>
              </a:tabLst>
            </a:pPr>
            <a:r>
              <a:rPr lang="en-US" sz="2000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 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max = </a:t>
            </a:r>
            <a:r>
              <a:rPr lang="en-US" sz="2000" b="1" dirty="0" err="1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find_max</a:t>
            </a:r>
            <a:r>
              <a:rPr lang="en-US" sz="2000" b="1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000" b="1" dirty="0" err="1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arr</a:t>
            </a:r>
            <a:r>
              <a:rPr lang="en-US" sz="2000" b="1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2000" b="1" dirty="0">
                <a:solidFill>
                  <a:srgbClr val="C0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6</a:t>
            </a:r>
            <a:r>
              <a:rPr lang="en-US" sz="2000" b="1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9FDDBA0-D26A-1B00-9251-52AAFC78F2E2}"/>
              </a:ext>
            </a:extLst>
          </p:cNvPr>
          <p:cNvSpPr txBox="1"/>
          <p:nvPr/>
        </p:nvSpPr>
        <p:spPr>
          <a:xfrm>
            <a:off x="851767" y="5944926"/>
            <a:ext cx="2706645" cy="369332"/>
          </a:xfrm>
          <a:prstGeom prst="rect">
            <a:avLst/>
          </a:prstGeom>
          <a:solidFill>
            <a:srgbClr val="FFFF99"/>
          </a:solidFill>
          <a:ln w="127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Function call with arrays.</a:t>
            </a:r>
          </a:p>
        </p:txBody>
      </p:sp>
    </p:spTree>
    <p:extLst>
      <p:ext uri="{BB962C8B-B14F-4D97-AF65-F5344CB8AC3E}">
        <p14:creationId xmlns:p14="http://schemas.microsoft.com/office/powerpoint/2010/main" val="659351006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3F3F60-0CD5-C059-BF67-FDC8ADF34C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>
            <a:extLst>
              <a:ext uri="{FF2B5EF4-FFF2-40B4-BE49-F238E27FC236}">
                <a16:creationId xmlns:a16="http://schemas.microsoft.com/office/drawing/2014/main" id="{5143472B-B791-01E5-D7E0-D435A7E0CF5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GB" sz="3600" dirty="0">
                <a:solidFill>
                  <a:srgbClr val="0000FF"/>
                </a:solidFill>
              </a:rPr>
              <a:t>Common Mistakes (1/2)</a:t>
            </a:r>
          </a:p>
        </p:txBody>
      </p:sp>
      <p:sp>
        <p:nvSpPr>
          <p:cNvPr id="9" name="Content Placeholder 5">
            <a:extLst>
              <a:ext uri="{FF2B5EF4-FFF2-40B4-BE49-F238E27FC236}">
                <a16:creationId xmlns:a16="http://schemas.microsoft.com/office/drawing/2014/main" id="{9B22ADDC-C335-FE20-A85C-44FB7A7722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7375" y="1187450"/>
            <a:ext cx="8292856" cy="5289550"/>
          </a:xfrm>
        </p:spPr>
        <p:txBody>
          <a:bodyPr>
            <a:noAutofit/>
          </a:bodyPr>
          <a:lstStyle/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sz="2800" dirty="0"/>
              <a:t>Array index out of bound</a:t>
            </a:r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800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800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800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800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1200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sz="2800" dirty="0"/>
              <a:t>Array elements not initialized before use</a:t>
            </a:r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800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800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800" dirty="0"/>
          </a:p>
          <a:p>
            <a:pPr marL="0" indent="0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None/>
              <a:defRPr/>
            </a:pPr>
            <a:endParaRPr lang="en-US" sz="2800" dirty="0"/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400" dirty="0"/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400" dirty="0"/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D77822-3964-7071-2A02-27B52DE0B51D}"/>
              </a:ext>
            </a:extLst>
          </p:cNvPr>
          <p:cNvSpPr txBox="1"/>
          <p:nvPr/>
        </p:nvSpPr>
        <p:spPr>
          <a:xfrm>
            <a:off x="953559" y="1759500"/>
            <a:ext cx="5577870" cy="132343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>
              <a:tabLst>
                <a:tab pos="293688" algn="l"/>
                <a:tab pos="620713" algn="l"/>
              </a:tabLst>
            </a:pPr>
            <a:r>
              <a:rPr lang="en-US" sz="2000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a[</a:t>
            </a:r>
            <a:r>
              <a:rPr lang="en-US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10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];</a:t>
            </a:r>
          </a:p>
          <a:p>
            <a:pPr>
              <a:tabLst>
                <a:tab pos="293688" algn="l"/>
                <a:tab pos="620713" algn="l"/>
              </a:tabLst>
            </a:pPr>
            <a:r>
              <a:rPr lang="en-US" sz="2000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en-US" sz="2000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&lt;= </a:t>
            </a:r>
            <a:r>
              <a:rPr lang="en-US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10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+= </a:t>
            </a:r>
            <a:r>
              <a:rPr lang="en-US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pPr>
              <a:tabLst>
                <a:tab pos="293688" algn="l"/>
                <a:tab pos="620713" algn="l"/>
              </a:tabLst>
            </a:pP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a[</a:t>
            </a: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] = </a:t>
            </a:r>
            <a:r>
              <a:rPr lang="en-US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>
              <a:tabLst>
                <a:tab pos="293688" algn="l"/>
                <a:tab pos="620713" algn="l"/>
              </a:tabLst>
            </a:pP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F75D3F0-9B90-0804-E3C9-D6F928879BA9}"/>
              </a:ext>
            </a:extLst>
          </p:cNvPr>
          <p:cNvSpPr txBox="1"/>
          <p:nvPr/>
        </p:nvSpPr>
        <p:spPr>
          <a:xfrm>
            <a:off x="4571999" y="2759773"/>
            <a:ext cx="3126921" cy="923330"/>
          </a:xfrm>
          <a:prstGeom prst="rect">
            <a:avLst/>
          </a:prstGeom>
          <a:solidFill>
            <a:srgbClr val="FFFF99"/>
          </a:solidFill>
          <a:ln w="127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a[10] is NOT a valid element in the array. </a:t>
            </a:r>
            <a:br>
              <a:rPr lang="en-US" dirty="0"/>
            </a:br>
            <a:r>
              <a:rPr lang="en-US" dirty="0"/>
              <a:t>Strange errors may occur!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F0B7E8-1E4A-30EE-5DD9-36F29C8338B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01470" y="2433785"/>
            <a:ext cx="362361" cy="490032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EDB7EB2-6F76-5EDF-0532-96BA83B725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Unit14 - </a:t>
            </a:r>
            <a:fld id="{2E4790E1-2590-4AEE-892D-AB46A7688113}" type="slidenum">
              <a:rPr lang="en-US" smtClean="0"/>
              <a:pPr>
                <a:defRPr/>
              </a:pPr>
              <a:t>21</a:t>
            </a:fld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60242C57-FF8D-536F-4B4C-3D5AEBA1FE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0264062-6988-BA01-8AD0-08DA36D8C97B}"/>
              </a:ext>
            </a:extLst>
          </p:cNvPr>
          <p:cNvSpPr txBox="1"/>
          <p:nvPr/>
        </p:nvSpPr>
        <p:spPr>
          <a:xfrm>
            <a:off x="953559" y="4572005"/>
            <a:ext cx="5577870" cy="163121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>
              <a:tabLst>
                <a:tab pos="293688" algn="l"/>
                <a:tab pos="620713" algn="l"/>
              </a:tabLst>
            </a:pPr>
            <a:r>
              <a:rPr lang="en-US" sz="2000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a[</a:t>
            </a:r>
            <a:r>
              <a:rPr lang="en-US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10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];</a:t>
            </a:r>
          </a:p>
          <a:p>
            <a:pPr>
              <a:tabLst>
                <a:tab pos="293688" algn="l"/>
                <a:tab pos="620713" algn="l"/>
              </a:tabLst>
            </a:pPr>
            <a:r>
              <a:rPr lang="en-US" sz="2000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sum = </a:t>
            </a:r>
            <a:r>
              <a:rPr lang="en-US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>
              <a:tabLst>
                <a:tab pos="293688" algn="l"/>
                <a:tab pos="620713" algn="l"/>
              </a:tabLst>
            </a:pPr>
            <a:r>
              <a:rPr lang="en-US" sz="2000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en-US" sz="2000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 </a:t>
            </a:r>
            <a:r>
              <a:rPr lang="en-US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10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+= </a:t>
            </a:r>
            <a:r>
              <a:rPr lang="en-US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pPr>
              <a:tabLst>
                <a:tab pos="293688" algn="l"/>
                <a:tab pos="620713" algn="l"/>
              </a:tabLst>
            </a:pP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sum += a[</a:t>
            </a: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];</a:t>
            </a:r>
          </a:p>
          <a:p>
            <a:pPr>
              <a:tabLst>
                <a:tab pos="293688" algn="l"/>
                <a:tab pos="620713" algn="l"/>
              </a:tabLst>
            </a:pP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1FA08B-3FE6-8B73-7DA2-CC357AF0D271}"/>
              </a:ext>
            </a:extLst>
          </p:cNvPr>
          <p:cNvSpPr txBox="1"/>
          <p:nvPr/>
        </p:nvSpPr>
        <p:spPr>
          <a:xfrm>
            <a:off x="4578909" y="5676153"/>
            <a:ext cx="3120011" cy="646331"/>
          </a:xfrm>
          <a:prstGeom prst="rect">
            <a:avLst/>
          </a:prstGeom>
          <a:solidFill>
            <a:srgbClr val="FFFF99"/>
          </a:solidFill>
          <a:ln w="127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Value of a[</a:t>
            </a:r>
            <a:r>
              <a:rPr lang="en-US" dirty="0" err="1"/>
              <a:t>i</a:t>
            </a:r>
            <a:r>
              <a:rPr lang="en-US" dirty="0"/>
              <a:t>] is uninitialized and hence unknown.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9CA26A1-74FA-A86C-24ED-95F4F32CC55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01470" y="5605063"/>
            <a:ext cx="362361" cy="490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7784666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7" grpId="0" animBg="1"/>
      <p:bldP spid="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GB" sz="3600" dirty="0">
                <a:solidFill>
                  <a:srgbClr val="0000FF"/>
                </a:solidFill>
              </a:rPr>
              <a:t>Common Mistakes (2/2)</a:t>
            </a:r>
          </a:p>
        </p:txBody>
      </p:sp>
      <p:sp>
        <p:nvSpPr>
          <p:cNvPr id="9" name="Content Placeholder 5">
            <a:extLst>
              <a:ext uri="{FF2B5EF4-FFF2-40B4-BE49-F238E27FC236}">
                <a16:creationId xmlns:a16="http://schemas.microsoft.com/office/drawing/2014/main" id="{E822A0D5-9D76-43F4-AB94-614D7B22B2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7375" y="1187450"/>
            <a:ext cx="8292856" cy="5289550"/>
          </a:xfrm>
        </p:spPr>
        <p:txBody>
          <a:bodyPr>
            <a:noAutofit/>
          </a:bodyPr>
          <a:lstStyle/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sz="2800" dirty="0"/>
              <a:t>Use of initializer after declaration</a:t>
            </a:r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800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800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1600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sz="2800" dirty="0"/>
              <a:t>Array copy via direct assignment</a:t>
            </a:r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800" dirty="0"/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400" dirty="0"/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400" dirty="0"/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69F4979-B9C6-43F0-93A3-6BF77776027D}"/>
              </a:ext>
            </a:extLst>
          </p:cNvPr>
          <p:cNvSpPr txBox="1"/>
          <p:nvPr/>
        </p:nvSpPr>
        <p:spPr>
          <a:xfrm>
            <a:off x="953559" y="3667535"/>
            <a:ext cx="4051892" cy="10156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>
              <a:tabLst>
                <a:tab pos="293688" algn="l"/>
                <a:tab pos="620713" algn="l"/>
              </a:tabLst>
            </a:pPr>
            <a:r>
              <a:rPr lang="en-US" sz="2000" b="1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sz="2000" b="1">
                <a:latin typeface="Courier New" panose="02070309020205020404" pitchFamily="49" charset="0"/>
                <a:cs typeface="Courier New" panose="02070309020205020404" pitchFamily="49" charset="0"/>
              </a:rPr>
              <a:t> a[</a:t>
            </a:r>
            <a:r>
              <a:rPr lang="en-US" sz="2000" b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4</a:t>
            </a:r>
            <a:r>
              <a:rPr lang="en-US" sz="2000" b="1">
                <a:latin typeface="Courier New" panose="02070309020205020404" pitchFamily="49" charset="0"/>
                <a:cs typeface="Courier New" panose="02070309020205020404" pitchFamily="49" charset="0"/>
              </a:rPr>
              <a:t>] = {</a:t>
            </a:r>
            <a:r>
              <a:rPr lang="en-US" sz="2000" b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sz="2000" b="1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2000" b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  <a:r>
              <a:rPr lang="en-US" sz="2000" b="1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2000" b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</a:t>
            </a:r>
            <a:r>
              <a:rPr lang="en-US" sz="2000" b="1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2000" b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4</a:t>
            </a:r>
            <a:r>
              <a:rPr lang="en-US" sz="2000" b="1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pPr>
              <a:tabLst>
                <a:tab pos="293688" algn="l"/>
                <a:tab pos="620713" algn="l"/>
              </a:tabLst>
            </a:pPr>
            <a:r>
              <a:rPr lang="en-US" sz="2000" b="1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sz="2000" b="1">
                <a:latin typeface="Courier New" panose="02070309020205020404" pitchFamily="49" charset="0"/>
                <a:cs typeface="Courier New" panose="02070309020205020404" pitchFamily="49" charset="0"/>
              </a:rPr>
              <a:t> b[</a:t>
            </a:r>
            <a:r>
              <a:rPr lang="en-US" sz="2000" b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4</a:t>
            </a:r>
            <a:r>
              <a:rPr lang="en-US" sz="2000" b="1">
                <a:latin typeface="Courier New" panose="02070309020205020404" pitchFamily="49" charset="0"/>
                <a:cs typeface="Courier New" panose="02070309020205020404" pitchFamily="49" charset="0"/>
              </a:rPr>
              <a:t>];</a:t>
            </a:r>
          </a:p>
          <a:p>
            <a:pPr>
              <a:tabLst>
                <a:tab pos="293688" algn="l"/>
                <a:tab pos="620713" algn="l"/>
              </a:tabLst>
            </a:pPr>
            <a:r>
              <a:rPr lang="en-US" sz="2000" b="1">
                <a:latin typeface="Courier New" panose="02070309020205020404" pitchFamily="49" charset="0"/>
                <a:cs typeface="Courier New" panose="02070309020205020404" pitchFamily="49" charset="0"/>
              </a:rPr>
              <a:t>b = a;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00EF6BD-9BC4-4E8E-939F-E9349ECF5954}"/>
              </a:ext>
            </a:extLst>
          </p:cNvPr>
          <p:cNvSpPr txBox="1"/>
          <p:nvPr/>
        </p:nvSpPr>
        <p:spPr>
          <a:xfrm>
            <a:off x="5224155" y="3667535"/>
            <a:ext cx="2474766" cy="923330"/>
          </a:xfrm>
          <a:prstGeom prst="rect">
            <a:avLst/>
          </a:prstGeom>
          <a:solidFill>
            <a:srgbClr val="FFFF99"/>
          </a:solidFill>
          <a:ln w="127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Array copy should be done element by element using a loop.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DCA8A0B-40B7-4F43-B8F2-60ABE9261219}"/>
              </a:ext>
            </a:extLst>
          </p:cNvPr>
          <p:cNvSpPr txBox="1"/>
          <p:nvPr/>
        </p:nvSpPr>
        <p:spPr>
          <a:xfrm>
            <a:off x="953559" y="4854985"/>
            <a:ext cx="5406144" cy="132343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>
              <a:tabLst>
                <a:tab pos="293688" algn="l"/>
                <a:tab pos="620713" algn="l"/>
              </a:tabLst>
            </a:pPr>
            <a:r>
              <a:rPr lang="en-US" sz="2000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en-US" sz="2000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 </a:t>
            </a:r>
            <a:r>
              <a:rPr lang="en-US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4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+= </a:t>
            </a:r>
            <a:r>
              <a:rPr lang="en-US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>
              <a:tabLst>
                <a:tab pos="293688" algn="l"/>
                <a:tab pos="620713" algn="l"/>
              </a:tabLst>
            </a:pP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pPr>
              <a:tabLst>
                <a:tab pos="293688" algn="l"/>
                <a:tab pos="620713" algn="l"/>
              </a:tabLst>
            </a:pP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b[</a:t>
            </a: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] = a[</a:t>
            </a: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];</a:t>
            </a:r>
          </a:p>
          <a:p>
            <a:pPr>
              <a:tabLst>
                <a:tab pos="293688" algn="l"/>
                <a:tab pos="620713" algn="l"/>
              </a:tabLst>
            </a:pP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60E33BCF-77C3-4B9B-A4E9-A93160326CF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9503" y="4100833"/>
            <a:ext cx="362361" cy="490032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F16529B6-D452-44B4-B7CE-293D5E13FBB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5737" y="5465166"/>
            <a:ext cx="415645" cy="523714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9A1FFEC-C9E9-C7C9-04C0-897B17CD8F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Unit14 - </a:t>
            </a:r>
            <a:fld id="{2E4790E1-2590-4AEE-892D-AB46A7688113}" type="slidenum">
              <a:rPr lang="en-US" smtClean="0"/>
              <a:pPr>
                <a:defRPr/>
              </a:pPr>
              <a:t>22</a:t>
            </a:fld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2BB8185C-EB4A-D223-E911-1403B442EF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4F9894A-FE3F-4ADA-8CBB-E7F37F45CFEA}"/>
              </a:ext>
            </a:extLst>
          </p:cNvPr>
          <p:cNvSpPr txBox="1"/>
          <p:nvPr/>
        </p:nvSpPr>
        <p:spPr>
          <a:xfrm>
            <a:off x="4352854" y="2023745"/>
            <a:ext cx="2813370" cy="646331"/>
          </a:xfrm>
          <a:prstGeom prst="rect">
            <a:avLst/>
          </a:prstGeom>
          <a:solidFill>
            <a:srgbClr val="FFFF99"/>
          </a:solidFill>
          <a:ln w="127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/>
              <a:t>The initializer CANNOT be used after declaration.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180184E-1FEE-4283-B943-E40427E90E6B}"/>
              </a:ext>
            </a:extLst>
          </p:cNvPr>
          <p:cNvSpPr txBox="1"/>
          <p:nvPr/>
        </p:nvSpPr>
        <p:spPr>
          <a:xfrm>
            <a:off x="1057978" y="2013342"/>
            <a:ext cx="2813370" cy="646331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lIns="91440" tIns="45720" rIns="91440" bIns="45720" rtlCol="0" anchor="t">
            <a:spAutoFit/>
          </a:bodyPr>
          <a:lstStyle/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marks[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10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marks = {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4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,};</a:t>
            </a: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42EE6A6A-07FA-4491-ABB7-0448B7DB15A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50422" y="2082542"/>
            <a:ext cx="362361" cy="490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2416160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5" grpId="0" animBg="1"/>
      <p:bldP spid="17" grpId="0" animBg="1"/>
      <p:bldP spid="28" grpId="0" animBg="1"/>
      <p:bldP spid="2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GB" sz="3600" dirty="0">
                <a:solidFill>
                  <a:srgbClr val="0000FF"/>
                </a:solidFill>
              </a:rPr>
              <a:t>Array and Memory</a:t>
            </a:r>
          </a:p>
        </p:txBody>
      </p:sp>
      <p:sp>
        <p:nvSpPr>
          <p:cNvPr id="10" name="HighlightTextShape201406241503265130"/>
          <p:cNvSpPr>
            <a:spLocks noChangeArrowheads="1"/>
          </p:cNvSpPr>
          <p:nvPr/>
        </p:nvSpPr>
        <p:spPr bwMode="auto">
          <a:xfrm>
            <a:off x="491320" y="1219201"/>
            <a:ext cx="8127386" cy="6652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342900" indent="-342900">
              <a:spcBef>
                <a:spcPts val="1200"/>
              </a:spcBef>
              <a:buClr>
                <a:schemeClr val="tx1">
                  <a:lumMod val="90000"/>
                  <a:lumOff val="10000"/>
                </a:schemeClr>
              </a:buClr>
              <a:buSzPct val="75000"/>
              <a:buFont typeface="Wingdings" pitchFamily="2" charset="2"/>
              <a:buChar char="n"/>
            </a:pPr>
            <a:r>
              <a:rPr lang="en-GB" sz="2400" dirty="0"/>
              <a:t>Example: </a:t>
            </a:r>
            <a:r>
              <a:rPr lang="en-GB" sz="24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long</a:t>
            </a:r>
            <a:r>
              <a:rPr lang="en-GB" sz="2400" b="1" dirty="0">
                <a:solidFill>
                  <a:srgbClr val="80000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GB" sz="2400" b="1" dirty="0">
                <a:latin typeface="Courier New" pitchFamily="49" charset="0"/>
                <a:cs typeface="Courier New" pitchFamily="49" charset="0"/>
              </a:rPr>
              <a:t>a[</a:t>
            </a:r>
            <a:r>
              <a:rPr lang="en-GB" sz="24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10</a:t>
            </a:r>
            <a:r>
              <a:rPr lang="en-GB" sz="2400" b="1" dirty="0">
                <a:latin typeface="Courier New" pitchFamily="49" charset="0"/>
                <a:cs typeface="Courier New" pitchFamily="49" charset="0"/>
              </a:rPr>
              <a:t>]</a:t>
            </a:r>
            <a:r>
              <a:rPr lang="en-GB" sz="2400" dirty="0"/>
              <a:t> </a:t>
            </a:r>
            <a:endParaRPr lang="en-US" sz="2000" dirty="0"/>
          </a:p>
        </p:txBody>
      </p:sp>
      <p:sp>
        <p:nvSpPr>
          <p:cNvPr id="13" name="HighlightTextShape201406241503265130"/>
          <p:cNvSpPr>
            <a:spLocks noChangeArrowheads="1"/>
          </p:cNvSpPr>
          <p:nvPr/>
        </p:nvSpPr>
        <p:spPr bwMode="auto">
          <a:xfrm>
            <a:off x="491320" y="2690448"/>
            <a:ext cx="8127386" cy="12133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342900" indent="-342900">
              <a:spcBef>
                <a:spcPts val="1200"/>
              </a:spcBef>
              <a:buClr>
                <a:schemeClr val="tx1">
                  <a:lumMod val="90000"/>
                  <a:lumOff val="10000"/>
                </a:schemeClr>
              </a:buClr>
              <a:buSzPct val="75000"/>
              <a:buFont typeface="Wingdings" pitchFamily="2" charset="2"/>
              <a:buChar char="n"/>
            </a:pPr>
            <a:r>
              <a:rPr lang="en-GB" sz="2400" b="1" dirty="0">
                <a:solidFill>
                  <a:srgbClr val="800000"/>
                </a:solidFill>
                <a:latin typeface="Courier New" pitchFamily="49" charset="0"/>
                <a:cs typeface="Courier New" pitchFamily="49" charset="0"/>
              </a:rPr>
              <a:t>&amp;a[</a:t>
            </a:r>
            <a:r>
              <a:rPr lang="en-GB" sz="2400" b="1" dirty="0" err="1">
                <a:solidFill>
                  <a:srgbClr val="800000"/>
                </a:solidFill>
                <a:latin typeface="Courier New" pitchFamily="49" charset="0"/>
                <a:cs typeface="Courier New" pitchFamily="49" charset="0"/>
              </a:rPr>
              <a:t>i</a:t>
            </a:r>
            <a:r>
              <a:rPr lang="en-GB" sz="2400" b="1" dirty="0">
                <a:solidFill>
                  <a:srgbClr val="800000"/>
                </a:solidFill>
                <a:latin typeface="Courier New" pitchFamily="49" charset="0"/>
                <a:cs typeface="Courier New" pitchFamily="49" charset="0"/>
              </a:rPr>
              <a:t>]</a:t>
            </a:r>
            <a:r>
              <a:rPr lang="en-GB" sz="2400" dirty="0"/>
              <a:t> can be used to get the </a:t>
            </a:r>
            <a:r>
              <a:rPr lang="en-GB" sz="2400" dirty="0">
                <a:solidFill>
                  <a:srgbClr val="0000FF"/>
                </a:solidFill>
              </a:rPr>
              <a:t>address (location)</a:t>
            </a:r>
            <a:r>
              <a:rPr lang="en-GB" sz="2400" dirty="0"/>
              <a:t> of element </a:t>
            </a:r>
            <a:r>
              <a:rPr lang="en-GB" sz="2400" dirty="0" err="1"/>
              <a:t>i</a:t>
            </a:r>
            <a:r>
              <a:rPr lang="en-GB" sz="2400" dirty="0"/>
              <a:t> in memory.</a:t>
            </a:r>
          </a:p>
          <a:p>
            <a:pPr marL="342900" indent="-342900">
              <a:spcBef>
                <a:spcPts val="1200"/>
              </a:spcBef>
              <a:buClr>
                <a:schemeClr val="tx1">
                  <a:lumMod val="90000"/>
                  <a:lumOff val="10000"/>
                </a:schemeClr>
              </a:buClr>
              <a:buSzPct val="75000"/>
              <a:buFont typeface="Wingdings" pitchFamily="2" charset="2"/>
              <a:buChar char="n"/>
            </a:pPr>
            <a:r>
              <a:rPr lang="en-GB" sz="2400" dirty="0"/>
              <a:t>When the array name </a:t>
            </a:r>
            <a:r>
              <a:rPr lang="en-GB" sz="2400" b="1" dirty="0">
                <a:solidFill>
                  <a:srgbClr val="800000"/>
                </a:solidFill>
                <a:latin typeface="Courier New" pitchFamily="49" charset="0"/>
                <a:cs typeface="Courier New" pitchFamily="49" charset="0"/>
              </a:rPr>
              <a:t>a</a:t>
            </a:r>
            <a:r>
              <a:rPr lang="en-GB" sz="2400" dirty="0"/>
              <a:t> appears in an expression, it </a:t>
            </a:r>
            <a:r>
              <a:rPr lang="en-GB" sz="2400" dirty="0">
                <a:solidFill>
                  <a:srgbClr val="0000FF"/>
                </a:solidFill>
              </a:rPr>
              <a:t>refers to the address (location) of the first element </a:t>
            </a:r>
            <a:r>
              <a:rPr lang="en-GB" sz="2400" dirty="0"/>
              <a:t>(i.e. </a:t>
            </a:r>
            <a:r>
              <a:rPr lang="en-GB" sz="2400" b="1" dirty="0">
                <a:solidFill>
                  <a:srgbClr val="800000"/>
                </a:solidFill>
                <a:latin typeface="Courier New" pitchFamily="49" charset="0"/>
                <a:cs typeface="Courier New" pitchFamily="49" charset="0"/>
              </a:rPr>
              <a:t>&amp;a[0]</a:t>
            </a:r>
            <a:r>
              <a:rPr lang="en-GB" sz="2400" dirty="0"/>
              <a:t>) of that array (a.k.a., Array Decay).</a:t>
            </a:r>
            <a:endParaRPr lang="en-US" sz="2000" dirty="0"/>
          </a:p>
        </p:txBody>
      </p:sp>
      <p:grpSp>
        <p:nvGrpSpPr>
          <p:cNvPr id="16" name="Group 15"/>
          <p:cNvGrpSpPr/>
          <p:nvPr/>
        </p:nvGrpSpPr>
        <p:grpSpPr>
          <a:xfrm>
            <a:off x="1567655" y="1805597"/>
            <a:ext cx="5413620" cy="629489"/>
            <a:chOff x="1482725" y="1914525"/>
            <a:chExt cx="5413620" cy="629489"/>
          </a:xfrm>
        </p:grpSpPr>
        <p:grpSp>
          <p:nvGrpSpPr>
            <p:cNvPr id="17" name="Group 35"/>
            <p:cNvGrpSpPr>
              <a:grpSpLocks/>
            </p:cNvGrpSpPr>
            <p:nvPr/>
          </p:nvGrpSpPr>
          <p:grpSpPr bwMode="auto">
            <a:xfrm>
              <a:off x="1495439" y="1914525"/>
              <a:ext cx="5400906" cy="307882"/>
              <a:chOff x="1494905" y="2069828"/>
              <a:chExt cx="5402075" cy="307766"/>
            </a:xfrm>
          </p:grpSpPr>
          <p:sp>
            <p:nvSpPr>
              <p:cNvPr id="29" name="TextBox 15"/>
              <p:cNvSpPr txBox="1">
                <a:spLocks noChangeArrowheads="1"/>
              </p:cNvSpPr>
              <p:nvPr/>
            </p:nvSpPr>
            <p:spPr bwMode="auto">
              <a:xfrm>
                <a:off x="1494905" y="2069828"/>
                <a:ext cx="489400" cy="30776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algn="ctr" eaLnBrk="1" hangingPunct="1"/>
                <a:r>
                  <a:rPr lang="en-US" sz="1400"/>
                  <a:t>a[0]</a:t>
                </a:r>
                <a:endParaRPr lang="en-SG" sz="1400"/>
              </a:p>
            </p:txBody>
          </p:sp>
          <p:sp>
            <p:nvSpPr>
              <p:cNvPr id="30" name="TextBox 17"/>
              <p:cNvSpPr txBox="1">
                <a:spLocks noChangeArrowheads="1"/>
              </p:cNvSpPr>
              <p:nvPr/>
            </p:nvSpPr>
            <p:spPr bwMode="auto">
              <a:xfrm>
                <a:off x="2033675" y="2069828"/>
                <a:ext cx="489400" cy="30776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algn="ctr" eaLnBrk="1" hangingPunct="1"/>
                <a:r>
                  <a:rPr lang="en-US" sz="1400"/>
                  <a:t>a[1]</a:t>
                </a:r>
                <a:endParaRPr lang="en-SG" sz="1400"/>
              </a:p>
            </p:txBody>
          </p:sp>
          <p:sp>
            <p:nvSpPr>
              <p:cNvPr id="31" name="TextBox 19"/>
              <p:cNvSpPr txBox="1">
                <a:spLocks noChangeArrowheads="1"/>
              </p:cNvSpPr>
              <p:nvPr/>
            </p:nvSpPr>
            <p:spPr bwMode="auto">
              <a:xfrm>
                <a:off x="2596001" y="2069828"/>
                <a:ext cx="489400" cy="30776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algn="ctr" eaLnBrk="1" hangingPunct="1"/>
                <a:r>
                  <a:rPr lang="en-US" sz="1400"/>
                  <a:t>a[2]</a:t>
                </a:r>
                <a:endParaRPr lang="en-SG" sz="1400"/>
              </a:p>
            </p:txBody>
          </p:sp>
          <p:sp>
            <p:nvSpPr>
              <p:cNvPr id="32" name="TextBox 21"/>
              <p:cNvSpPr txBox="1">
                <a:spLocks noChangeArrowheads="1"/>
              </p:cNvSpPr>
              <p:nvPr/>
            </p:nvSpPr>
            <p:spPr bwMode="auto">
              <a:xfrm>
                <a:off x="3134771" y="2069828"/>
                <a:ext cx="489400" cy="30776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algn="ctr" eaLnBrk="1" hangingPunct="1"/>
                <a:r>
                  <a:rPr lang="en-US" sz="1400"/>
                  <a:t>a[3]</a:t>
                </a:r>
                <a:endParaRPr lang="en-SG" sz="1400"/>
              </a:p>
            </p:txBody>
          </p:sp>
          <p:sp>
            <p:nvSpPr>
              <p:cNvPr id="33" name="TextBox 23"/>
              <p:cNvSpPr txBox="1">
                <a:spLocks noChangeArrowheads="1"/>
              </p:cNvSpPr>
              <p:nvPr/>
            </p:nvSpPr>
            <p:spPr bwMode="auto">
              <a:xfrm>
                <a:off x="3693288" y="2069828"/>
                <a:ext cx="489400" cy="30776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algn="ctr" eaLnBrk="1" hangingPunct="1"/>
                <a:r>
                  <a:rPr lang="en-US" sz="1400"/>
                  <a:t>a[4]</a:t>
                </a:r>
                <a:endParaRPr lang="en-SG" sz="1400"/>
              </a:p>
            </p:txBody>
          </p:sp>
          <p:sp>
            <p:nvSpPr>
              <p:cNvPr id="34" name="TextBox 25"/>
              <p:cNvSpPr txBox="1">
                <a:spLocks noChangeArrowheads="1"/>
              </p:cNvSpPr>
              <p:nvPr/>
            </p:nvSpPr>
            <p:spPr bwMode="auto">
              <a:xfrm>
                <a:off x="4232058" y="2069828"/>
                <a:ext cx="489400" cy="30776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algn="ctr" eaLnBrk="1" hangingPunct="1"/>
                <a:r>
                  <a:rPr lang="en-US" sz="1400"/>
                  <a:t>a[5]</a:t>
                </a:r>
                <a:endParaRPr lang="en-SG" sz="1400"/>
              </a:p>
            </p:txBody>
          </p:sp>
          <p:sp>
            <p:nvSpPr>
              <p:cNvPr id="35" name="TextBox 34"/>
              <p:cNvSpPr txBox="1">
                <a:spLocks noChangeArrowheads="1"/>
              </p:cNvSpPr>
              <p:nvPr/>
            </p:nvSpPr>
            <p:spPr bwMode="auto">
              <a:xfrm>
                <a:off x="4771524" y="2069828"/>
                <a:ext cx="489400" cy="30776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algn="ctr" eaLnBrk="1" hangingPunct="1"/>
                <a:r>
                  <a:rPr lang="en-US" sz="1400"/>
                  <a:t>a[6]</a:t>
                </a:r>
                <a:endParaRPr lang="en-SG" sz="1400"/>
              </a:p>
            </p:txBody>
          </p:sp>
          <p:sp>
            <p:nvSpPr>
              <p:cNvPr id="36" name="TextBox 35"/>
              <p:cNvSpPr txBox="1">
                <a:spLocks noChangeArrowheads="1"/>
              </p:cNvSpPr>
              <p:nvPr/>
            </p:nvSpPr>
            <p:spPr bwMode="auto">
              <a:xfrm>
                <a:off x="5310294" y="2069828"/>
                <a:ext cx="489400" cy="30776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algn="ctr" eaLnBrk="1" hangingPunct="1"/>
                <a:r>
                  <a:rPr lang="en-US" sz="1400"/>
                  <a:t>a[7]</a:t>
                </a:r>
                <a:endParaRPr lang="en-SG" sz="1400"/>
              </a:p>
            </p:txBody>
          </p:sp>
          <p:sp>
            <p:nvSpPr>
              <p:cNvPr id="37" name="TextBox 36"/>
              <p:cNvSpPr txBox="1">
                <a:spLocks noChangeArrowheads="1"/>
              </p:cNvSpPr>
              <p:nvPr/>
            </p:nvSpPr>
            <p:spPr bwMode="auto">
              <a:xfrm>
                <a:off x="5868810" y="2069828"/>
                <a:ext cx="489400" cy="30776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algn="ctr" eaLnBrk="1" hangingPunct="1"/>
                <a:r>
                  <a:rPr lang="en-US" sz="1400"/>
                  <a:t>a[8]</a:t>
                </a:r>
                <a:endParaRPr lang="en-SG" sz="1400"/>
              </a:p>
            </p:txBody>
          </p:sp>
          <p:sp>
            <p:nvSpPr>
              <p:cNvPr id="38" name="TextBox 37"/>
              <p:cNvSpPr txBox="1">
                <a:spLocks noChangeArrowheads="1"/>
              </p:cNvSpPr>
              <p:nvPr/>
            </p:nvSpPr>
            <p:spPr bwMode="auto">
              <a:xfrm>
                <a:off x="6407580" y="2069828"/>
                <a:ext cx="489400" cy="30776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algn="ctr" eaLnBrk="1" hangingPunct="1"/>
                <a:r>
                  <a:rPr lang="en-US" sz="1400"/>
                  <a:t>a[9]</a:t>
                </a:r>
                <a:endParaRPr lang="en-SG" sz="1400"/>
              </a:p>
            </p:txBody>
          </p:sp>
        </p:grpSp>
        <p:grpSp>
          <p:nvGrpSpPr>
            <p:cNvPr id="18" name="Group 17"/>
            <p:cNvGrpSpPr/>
            <p:nvPr/>
          </p:nvGrpSpPr>
          <p:grpSpPr>
            <a:xfrm>
              <a:off x="1482725" y="2200997"/>
              <a:ext cx="5390669" cy="343017"/>
              <a:chOff x="1482725" y="2200997"/>
              <a:chExt cx="5390669" cy="343017"/>
            </a:xfrm>
          </p:grpSpPr>
          <p:sp>
            <p:nvSpPr>
              <p:cNvPr id="19" name="Rectangle 6"/>
              <p:cNvSpPr>
                <a:spLocks noChangeArrowheads="1"/>
              </p:cNvSpPr>
              <p:nvPr/>
            </p:nvSpPr>
            <p:spPr bwMode="auto">
              <a:xfrm>
                <a:off x="1482725" y="2200997"/>
                <a:ext cx="537097" cy="343017"/>
              </a:xfrm>
              <a:prstGeom prst="rect">
                <a:avLst/>
              </a:prstGeom>
              <a:noFill/>
              <a:ln w="12700" cap="sq" algn="ctr">
                <a:solidFill>
                  <a:schemeClr val="tx1"/>
                </a:solidFill>
                <a:round/>
                <a:headEnd type="none" w="sm" len="sm"/>
                <a:tailEnd type="none" w="sm" len="sm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en-SG"/>
              </a:p>
            </p:txBody>
          </p:sp>
          <p:sp>
            <p:nvSpPr>
              <p:cNvPr id="20" name="Rectangle 16"/>
              <p:cNvSpPr>
                <a:spLocks noChangeArrowheads="1"/>
              </p:cNvSpPr>
              <p:nvPr/>
            </p:nvSpPr>
            <p:spPr bwMode="auto">
              <a:xfrm>
                <a:off x="2022532" y="2200997"/>
                <a:ext cx="537097" cy="343017"/>
              </a:xfrm>
              <a:prstGeom prst="rect">
                <a:avLst/>
              </a:prstGeom>
              <a:noFill/>
              <a:ln w="12700" cap="sq" algn="ctr">
                <a:solidFill>
                  <a:schemeClr val="tx1"/>
                </a:solidFill>
                <a:round/>
                <a:headEnd type="none" w="sm" len="sm"/>
                <a:tailEnd type="none" w="sm" len="sm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en-SG"/>
              </a:p>
            </p:txBody>
          </p:sp>
          <p:sp>
            <p:nvSpPr>
              <p:cNvPr id="21" name="Rectangle 18"/>
              <p:cNvSpPr>
                <a:spLocks noChangeArrowheads="1"/>
              </p:cNvSpPr>
              <p:nvPr/>
            </p:nvSpPr>
            <p:spPr bwMode="auto">
              <a:xfrm>
                <a:off x="2563035" y="2200997"/>
                <a:ext cx="537097" cy="343017"/>
              </a:xfrm>
              <a:prstGeom prst="rect">
                <a:avLst/>
              </a:prstGeom>
              <a:noFill/>
              <a:ln w="12700" cap="sq" algn="ctr">
                <a:solidFill>
                  <a:schemeClr val="tx1"/>
                </a:solidFill>
                <a:round/>
                <a:headEnd type="none" w="sm" len="sm"/>
                <a:tailEnd type="none" w="sm" len="sm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en-SG"/>
              </a:p>
            </p:txBody>
          </p:sp>
          <p:sp>
            <p:nvSpPr>
              <p:cNvPr id="22" name="Rectangle 20"/>
              <p:cNvSpPr>
                <a:spLocks noChangeArrowheads="1"/>
              </p:cNvSpPr>
              <p:nvPr/>
            </p:nvSpPr>
            <p:spPr bwMode="auto">
              <a:xfrm>
                <a:off x="3102841" y="2200997"/>
                <a:ext cx="537097" cy="343017"/>
              </a:xfrm>
              <a:prstGeom prst="rect">
                <a:avLst/>
              </a:prstGeom>
              <a:noFill/>
              <a:ln w="12700" cap="sq" algn="ctr">
                <a:solidFill>
                  <a:schemeClr val="tx1"/>
                </a:solidFill>
                <a:round/>
                <a:headEnd type="none" w="sm" len="sm"/>
                <a:tailEnd type="none" w="sm" len="sm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en-SG"/>
              </a:p>
            </p:txBody>
          </p:sp>
          <p:sp>
            <p:nvSpPr>
              <p:cNvPr id="23" name="Rectangle 22"/>
              <p:cNvSpPr>
                <a:spLocks noChangeArrowheads="1"/>
              </p:cNvSpPr>
              <p:nvPr/>
            </p:nvSpPr>
            <p:spPr bwMode="auto">
              <a:xfrm>
                <a:off x="3639535" y="2200997"/>
                <a:ext cx="537097" cy="343017"/>
              </a:xfrm>
              <a:prstGeom prst="rect">
                <a:avLst/>
              </a:prstGeom>
              <a:noFill/>
              <a:ln w="12700" cap="sq" algn="ctr">
                <a:solidFill>
                  <a:schemeClr val="tx1"/>
                </a:solidFill>
                <a:round/>
                <a:headEnd type="none" w="sm" len="sm"/>
                <a:tailEnd type="none" w="sm" len="sm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en-SG"/>
              </a:p>
            </p:txBody>
          </p:sp>
          <p:sp>
            <p:nvSpPr>
              <p:cNvPr id="24" name="Rectangle 6"/>
              <p:cNvSpPr>
                <a:spLocks noChangeArrowheads="1"/>
              </p:cNvSpPr>
              <p:nvPr/>
            </p:nvSpPr>
            <p:spPr bwMode="auto">
              <a:xfrm>
                <a:off x="4179487" y="2200997"/>
                <a:ext cx="537097" cy="343017"/>
              </a:xfrm>
              <a:prstGeom prst="rect">
                <a:avLst/>
              </a:prstGeom>
              <a:noFill/>
              <a:ln w="12700" cap="sq" algn="ctr">
                <a:solidFill>
                  <a:schemeClr val="tx1"/>
                </a:solidFill>
                <a:round/>
                <a:headEnd type="none" w="sm" len="sm"/>
                <a:tailEnd type="none" w="sm" len="sm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en-SG"/>
              </a:p>
            </p:txBody>
          </p:sp>
          <p:sp>
            <p:nvSpPr>
              <p:cNvPr id="25" name="Rectangle 16"/>
              <p:cNvSpPr>
                <a:spLocks noChangeArrowheads="1"/>
              </p:cNvSpPr>
              <p:nvPr/>
            </p:nvSpPr>
            <p:spPr bwMode="auto">
              <a:xfrm>
                <a:off x="4719293" y="2200997"/>
                <a:ext cx="537097" cy="343017"/>
              </a:xfrm>
              <a:prstGeom prst="rect">
                <a:avLst/>
              </a:prstGeom>
              <a:noFill/>
              <a:ln w="12700" cap="sq" algn="ctr">
                <a:solidFill>
                  <a:schemeClr val="tx1"/>
                </a:solidFill>
                <a:round/>
                <a:headEnd type="none" w="sm" len="sm"/>
                <a:tailEnd type="none" w="sm" len="sm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en-SG"/>
              </a:p>
            </p:txBody>
          </p:sp>
          <p:sp>
            <p:nvSpPr>
              <p:cNvPr id="26" name="Rectangle 18"/>
              <p:cNvSpPr>
                <a:spLocks noChangeArrowheads="1"/>
              </p:cNvSpPr>
              <p:nvPr/>
            </p:nvSpPr>
            <p:spPr bwMode="auto">
              <a:xfrm>
                <a:off x="5259796" y="2200997"/>
                <a:ext cx="537097" cy="343017"/>
              </a:xfrm>
              <a:prstGeom prst="rect">
                <a:avLst/>
              </a:prstGeom>
              <a:noFill/>
              <a:ln w="12700" cap="sq" algn="ctr">
                <a:solidFill>
                  <a:schemeClr val="tx1"/>
                </a:solidFill>
                <a:round/>
                <a:headEnd type="none" w="sm" len="sm"/>
                <a:tailEnd type="none" w="sm" len="sm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en-SG"/>
              </a:p>
            </p:txBody>
          </p:sp>
          <p:sp>
            <p:nvSpPr>
              <p:cNvPr id="27" name="Rectangle 20"/>
              <p:cNvSpPr>
                <a:spLocks noChangeArrowheads="1"/>
              </p:cNvSpPr>
              <p:nvPr/>
            </p:nvSpPr>
            <p:spPr bwMode="auto">
              <a:xfrm>
                <a:off x="5799603" y="2200997"/>
                <a:ext cx="537097" cy="343017"/>
              </a:xfrm>
              <a:prstGeom prst="rect">
                <a:avLst/>
              </a:prstGeom>
              <a:noFill/>
              <a:ln w="12700" cap="sq" algn="ctr">
                <a:solidFill>
                  <a:schemeClr val="tx1"/>
                </a:solidFill>
                <a:round/>
                <a:headEnd type="none" w="sm" len="sm"/>
                <a:tailEnd type="none" w="sm" len="sm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en-SG"/>
              </a:p>
            </p:txBody>
          </p:sp>
          <p:sp>
            <p:nvSpPr>
              <p:cNvPr id="28" name="Rectangle 22"/>
              <p:cNvSpPr>
                <a:spLocks noChangeArrowheads="1"/>
              </p:cNvSpPr>
              <p:nvPr/>
            </p:nvSpPr>
            <p:spPr bwMode="auto">
              <a:xfrm>
                <a:off x="6336297" y="2200997"/>
                <a:ext cx="537097" cy="343017"/>
              </a:xfrm>
              <a:prstGeom prst="rect">
                <a:avLst/>
              </a:prstGeom>
              <a:noFill/>
              <a:ln w="12700" cap="sq" algn="ctr">
                <a:solidFill>
                  <a:schemeClr val="tx1"/>
                </a:solidFill>
                <a:round/>
                <a:headEnd type="none" w="sm" len="sm"/>
                <a:tailEnd type="none" w="sm" len="sm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en-SG"/>
              </a:p>
            </p:txBody>
          </p:sp>
        </p:grpSp>
      </p:grpSp>
      <p:sp>
        <p:nvSpPr>
          <p:cNvPr id="39" name="TextBox 38"/>
          <p:cNvSpPr txBox="1"/>
          <p:nvPr/>
        </p:nvSpPr>
        <p:spPr>
          <a:xfrm>
            <a:off x="305258" y="5064311"/>
            <a:ext cx="5242926" cy="1323439"/>
          </a:xfrm>
          <a:prstGeom prst="rect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tabLst>
                <a:tab pos="347663" algn="l"/>
                <a:tab pos="682625" algn="l"/>
                <a:tab pos="1030288" algn="l"/>
              </a:tabLst>
              <a:defRPr/>
            </a:pPr>
            <a:r>
              <a:rPr lang="en-US" sz="20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long</a:t>
            </a:r>
            <a:r>
              <a:rPr lang="en-US" sz="2000" b="1" dirty="0">
                <a:solidFill>
                  <a:srgbClr val="000000"/>
                </a:solidFill>
                <a:latin typeface="Courier New" pitchFamily="49" charset="0"/>
                <a:cs typeface="Courier New" pitchFamily="49" charset="0"/>
              </a:rPr>
              <a:t> a[</a:t>
            </a:r>
            <a:r>
              <a:rPr lang="en-US" sz="20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3</a:t>
            </a:r>
            <a:r>
              <a:rPr lang="en-US" sz="2000" b="1" dirty="0">
                <a:solidFill>
                  <a:srgbClr val="000000"/>
                </a:solidFill>
                <a:latin typeface="Courier New" pitchFamily="49" charset="0"/>
                <a:cs typeface="Courier New" pitchFamily="49" charset="0"/>
              </a:rPr>
              <a:t>];</a:t>
            </a:r>
          </a:p>
          <a:p>
            <a:pPr eaLnBrk="1" hangingPunct="1">
              <a:tabLst>
                <a:tab pos="347663" algn="l"/>
                <a:tab pos="682625" algn="l"/>
                <a:tab pos="1030288" algn="l"/>
              </a:tabLst>
              <a:defRPr/>
            </a:pPr>
            <a:r>
              <a:rPr lang="en-US" sz="2000" b="1" dirty="0">
                <a:solidFill>
                  <a:srgbClr val="000000"/>
                </a:solidFill>
                <a:latin typeface="Courier New" pitchFamily="49" charset="0"/>
                <a:cs typeface="Courier New" pitchFamily="49" charset="0"/>
              </a:rPr>
              <a:t>cs1010_println_pointer</a:t>
            </a:r>
            <a:r>
              <a:rPr lang="en-US" sz="2000" b="1" dirty="0">
                <a:latin typeface="Courier New" pitchFamily="49" charset="0"/>
                <a:cs typeface="Courier New" pitchFamily="49" charset="0"/>
              </a:rPr>
              <a:t>(a</a:t>
            </a:r>
            <a:r>
              <a:rPr lang="en-US" sz="2000" b="1" dirty="0">
                <a:solidFill>
                  <a:srgbClr val="000000"/>
                </a:solidFill>
                <a:latin typeface="Courier New" pitchFamily="49" charset="0"/>
                <a:cs typeface="Courier New" pitchFamily="49" charset="0"/>
              </a:rPr>
              <a:t>);</a:t>
            </a:r>
          </a:p>
          <a:p>
            <a:pPr eaLnBrk="1" hangingPunct="1">
              <a:tabLst>
                <a:tab pos="347663" algn="l"/>
                <a:tab pos="682625" algn="l"/>
                <a:tab pos="1030288" algn="l"/>
              </a:tabLst>
              <a:defRPr/>
            </a:pPr>
            <a:r>
              <a:rPr lang="en-US" sz="2000" b="1" dirty="0">
                <a:solidFill>
                  <a:srgbClr val="000000"/>
                </a:solidFill>
                <a:latin typeface="Courier New" pitchFamily="49" charset="0"/>
                <a:cs typeface="Courier New" pitchFamily="49" charset="0"/>
              </a:rPr>
              <a:t>cs1010_println_pointer</a:t>
            </a:r>
            <a:r>
              <a:rPr lang="en-US" sz="2000" b="1" dirty="0">
                <a:latin typeface="Courier New" pitchFamily="49" charset="0"/>
                <a:cs typeface="Courier New" pitchFamily="49" charset="0"/>
              </a:rPr>
              <a:t>(&amp;a[</a:t>
            </a:r>
            <a:r>
              <a:rPr lang="en-US" sz="20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en-US" sz="2000" b="1" dirty="0">
                <a:latin typeface="Courier New" pitchFamily="49" charset="0"/>
                <a:cs typeface="Courier New" pitchFamily="49" charset="0"/>
              </a:rPr>
              <a:t>]</a:t>
            </a:r>
            <a:r>
              <a:rPr lang="en-US" sz="2000" b="1" dirty="0">
                <a:solidFill>
                  <a:srgbClr val="000000"/>
                </a:solidFill>
                <a:latin typeface="Courier New" pitchFamily="49" charset="0"/>
                <a:cs typeface="Courier New" pitchFamily="49" charset="0"/>
              </a:rPr>
              <a:t>);</a:t>
            </a:r>
          </a:p>
          <a:p>
            <a:pPr eaLnBrk="1" hangingPunct="1">
              <a:tabLst>
                <a:tab pos="347663" algn="l"/>
                <a:tab pos="682625" algn="l"/>
                <a:tab pos="1030288" algn="l"/>
              </a:tabLst>
              <a:defRPr/>
            </a:pPr>
            <a:r>
              <a:rPr lang="en-US" sz="2000" b="1" dirty="0">
                <a:solidFill>
                  <a:srgbClr val="000000"/>
                </a:solidFill>
                <a:latin typeface="Courier New" pitchFamily="49" charset="0"/>
                <a:cs typeface="Courier New" pitchFamily="49" charset="0"/>
              </a:rPr>
              <a:t>cs1010_println_pointer</a:t>
            </a:r>
            <a:r>
              <a:rPr lang="en-US" sz="2000" b="1" dirty="0">
                <a:latin typeface="Courier New" pitchFamily="49" charset="0"/>
                <a:cs typeface="Courier New" pitchFamily="49" charset="0"/>
              </a:rPr>
              <a:t>(&amp;a[</a:t>
            </a:r>
            <a:r>
              <a:rPr lang="en-US" sz="20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en-US" sz="2000" b="1" dirty="0">
                <a:latin typeface="Courier New" pitchFamily="49" charset="0"/>
                <a:cs typeface="Courier New" pitchFamily="49" charset="0"/>
              </a:rPr>
              <a:t>]</a:t>
            </a:r>
            <a:r>
              <a:rPr lang="en-US" sz="2000" b="1" dirty="0">
                <a:solidFill>
                  <a:srgbClr val="000000"/>
                </a:solidFill>
                <a:latin typeface="Courier New" pitchFamily="49" charset="0"/>
                <a:cs typeface="Courier New" pitchFamily="49" charset="0"/>
              </a:rPr>
              <a:t>);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48450" y="5064311"/>
            <a:ext cx="1762179" cy="1015663"/>
          </a:xfrm>
          <a:prstGeom prst="rect">
            <a:avLst/>
          </a:prstGeom>
          <a:solidFill>
            <a:srgbClr val="99FFCC"/>
          </a:solidFill>
          <a:ln w="952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tabLst>
                <a:tab pos="347663" algn="l"/>
                <a:tab pos="682625" algn="l"/>
                <a:tab pos="1030288" algn="l"/>
              </a:tabLst>
              <a:defRPr/>
            </a:pPr>
            <a:r>
              <a:rPr lang="en-US" sz="2000" b="1" dirty="0">
                <a:solidFill>
                  <a:srgbClr val="000000"/>
                </a:solidFill>
                <a:latin typeface="Courier New" pitchFamily="49" charset="0"/>
                <a:cs typeface="Courier New" pitchFamily="49" charset="0"/>
              </a:rPr>
              <a:t>55224724</a:t>
            </a:r>
          </a:p>
          <a:p>
            <a:pPr eaLnBrk="1" hangingPunct="1">
              <a:tabLst>
                <a:tab pos="347663" algn="l"/>
                <a:tab pos="682625" algn="l"/>
                <a:tab pos="1030288" algn="l"/>
              </a:tabLst>
              <a:defRPr/>
            </a:pPr>
            <a:r>
              <a:rPr lang="en-US" sz="2000" b="1" dirty="0">
                <a:solidFill>
                  <a:srgbClr val="000000"/>
                </a:solidFill>
                <a:latin typeface="Courier New" pitchFamily="49" charset="0"/>
                <a:cs typeface="Courier New" pitchFamily="49" charset="0"/>
              </a:rPr>
              <a:t>55224724</a:t>
            </a:r>
          </a:p>
          <a:p>
            <a:pPr eaLnBrk="1" hangingPunct="1">
              <a:tabLst>
                <a:tab pos="347663" algn="l"/>
                <a:tab pos="682625" algn="l"/>
                <a:tab pos="1030288" algn="l"/>
              </a:tabLst>
              <a:defRPr/>
            </a:pPr>
            <a:r>
              <a:rPr lang="en-US" sz="2000" b="1" dirty="0">
                <a:solidFill>
                  <a:srgbClr val="000000"/>
                </a:solidFill>
                <a:latin typeface="Courier New" pitchFamily="49" charset="0"/>
                <a:cs typeface="Courier New" pitchFamily="49" charset="0"/>
              </a:rPr>
              <a:t>55224732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7061064" y="4995894"/>
            <a:ext cx="1928226" cy="646331"/>
            <a:chOff x="6958324" y="4204885"/>
            <a:chExt cx="1928226" cy="646331"/>
          </a:xfrm>
        </p:grpSpPr>
        <p:cxnSp>
          <p:nvCxnSpPr>
            <p:cNvPr id="3" name="Straight Arrow Connector 2"/>
            <p:cNvCxnSpPr/>
            <p:nvPr/>
          </p:nvCxnSpPr>
          <p:spPr>
            <a:xfrm flipH="1" flipV="1">
              <a:off x="6958324" y="4448908"/>
              <a:ext cx="603061" cy="145866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Arrow Connector 41"/>
            <p:cNvCxnSpPr/>
            <p:nvPr/>
          </p:nvCxnSpPr>
          <p:spPr>
            <a:xfrm flipH="1">
              <a:off x="6981276" y="4594774"/>
              <a:ext cx="580109" cy="152400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Box 42"/>
            <p:cNvSpPr txBox="1"/>
            <p:nvPr/>
          </p:nvSpPr>
          <p:spPr>
            <a:xfrm>
              <a:off x="7561385" y="4204885"/>
              <a:ext cx="132516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Always the same</a:t>
              </a:r>
              <a:endParaRPr lang="en-SG" dirty="0">
                <a:solidFill>
                  <a:srgbClr val="C00000"/>
                </a:solidFill>
              </a:endParaRPr>
            </a:p>
          </p:txBody>
        </p:sp>
      </p:grp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EF9C34-0B12-529E-BBB6-CB5163F0A9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Unit14 - </a:t>
            </a:r>
            <a:fld id="{2E4790E1-2590-4AEE-892D-AB46A7688113}" type="slidenum">
              <a:rPr lang="en-US" smtClean="0"/>
              <a:pPr>
                <a:defRPr/>
              </a:pPr>
              <a:t>23</a:t>
            </a:fld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A6A236A-F986-236B-BB3B-F31D1B35CE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1D5DDA06-7BD2-87CE-073A-48BF7D66D747}"/>
              </a:ext>
            </a:extLst>
          </p:cNvPr>
          <p:cNvCxnSpPr>
            <a:cxnSpLocks/>
          </p:cNvCxnSpPr>
          <p:nvPr/>
        </p:nvCxnSpPr>
        <p:spPr>
          <a:xfrm flipH="1" flipV="1">
            <a:off x="7084016" y="5848881"/>
            <a:ext cx="659809" cy="303873"/>
          </a:xfrm>
          <a:prstGeom prst="straightConnector1">
            <a:avLst/>
          </a:prstGeom>
          <a:ln w="28575">
            <a:solidFill>
              <a:srgbClr val="C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007B0F2B-6A05-2556-6F20-5D1194837053}"/>
              </a:ext>
            </a:extLst>
          </p:cNvPr>
          <p:cNvSpPr txBox="1"/>
          <p:nvPr/>
        </p:nvSpPr>
        <p:spPr>
          <a:xfrm>
            <a:off x="7724775" y="5657671"/>
            <a:ext cx="132516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Depends on the data type</a:t>
            </a:r>
            <a:endParaRPr lang="en-SG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3582036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 animBg="1"/>
      <p:bldP spid="40" grpId="0" animBg="1"/>
      <p:bldP spid="9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B79837-DDB9-FF95-D460-E1BE4740C0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20">
            <a:extLst>
              <a:ext uri="{FF2B5EF4-FFF2-40B4-BE49-F238E27FC236}">
                <a16:creationId xmlns:a16="http://schemas.microsoft.com/office/drawing/2014/main" id="{1B57747C-B8A6-AA55-691B-25223C2E0E3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12816" y="6327644"/>
            <a:ext cx="502378" cy="36925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n-US" dirty="0"/>
              <a:t>44</a:t>
            </a:r>
            <a:endParaRPr lang="en-SG" dirty="0"/>
          </a:p>
        </p:txBody>
      </p:sp>
      <p:sp>
        <p:nvSpPr>
          <p:cNvPr id="14338" name="Rectangle 2">
            <a:extLst>
              <a:ext uri="{FF2B5EF4-FFF2-40B4-BE49-F238E27FC236}">
                <a16:creationId xmlns:a16="http://schemas.microsoft.com/office/drawing/2014/main" id="{2E44E9B3-7632-88FA-7407-0CBB4AA9B66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r>
              <a:rPr lang="en-GB" sz="3600" dirty="0">
                <a:solidFill>
                  <a:srgbClr val="0000FF"/>
                </a:solidFill>
              </a:rPr>
              <a:t>Call By Value - redux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5DFB3EC-D540-3366-65BF-786A37AD5631}"/>
              </a:ext>
            </a:extLst>
          </p:cNvPr>
          <p:cNvSpPr txBox="1"/>
          <p:nvPr/>
        </p:nvSpPr>
        <p:spPr>
          <a:xfrm>
            <a:off x="643721" y="1281410"/>
            <a:ext cx="6065838" cy="2862322"/>
          </a:xfrm>
          <a:prstGeom prst="rect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defRPr/>
            </a:pPr>
            <a:r>
              <a:rPr lang="en-US" b="1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pPr eaLnBrk="1" hangingPunct="1">
              <a:defRPr/>
            </a:pPr>
            <a:r>
              <a:rPr lang="en-US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b="1" dirty="0">
                <a:solidFill>
                  <a:srgbClr val="000000"/>
                </a:solidFill>
                <a:latin typeface="Courier New" pitchFamily="49" charset="0"/>
                <a:cs typeface="Courier New" pitchFamily="49" charset="0"/>
              </a:rPr>
              <a:t> main(</a:t>
            </a:r>
            <a:r>
              <a:rPr lang="en-US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void</a:t>
            </a:r>
            <a:r>
              <a:rPr lang="en-US" b="1" dirty="0">
                <a:solidFill>
                  <a:srgbClr val="000000"/>
                </a:solidFill>
                <a:latin typeface="Courier New" pitchFamily="49" charset="0"/>
                <a:cs typeface="Courier New" pitchFamily="49" charset="0"/>
              </a:rPr>
              <a:t>) {</a:t>
            </a:r>
          </a:p>
          <a:p>
            <a:pPr eaLnBrk="1" hangingPunct="1">
              <a:defRPr/>
            </a:pPr>
            <a:r>
              <a:rPr lang="en-US" b="1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long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 foo[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4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] = {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44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9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17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};</a:t>
            </a:r>
          </a:p>
          <a:p>
            <a:pPr eaLnBrk="1" hangingPunct="1">
              <a:defRPr/>
            </a:pPr>
            <a:r>
              <a:rPr lang="en-US" b="1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b="1" dirty="0" err="1">
                <a:latin typeface="Courier New" pitchFamily="49" charset="0"/>
                <a:cs typeface="Courier New" pitchFamily="49" charset="0"/>
              </a:rPr>
              <a:t>double_value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(foo[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]);</a:t>
            </a:r>
          </a:p>
          <a:p>
            <a:pPr eaLnBrk="1" hangingPunct="1">
              <a:defRPr/>
            </a:pPr>
            <a:r>
              <a:rPr lang="en-US" b="1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return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pPr eaLnBrk="1" hangingPunct="1">
              <a:defRPr/>
            </a:pPr>
            <a:r>
              <a:rPr lang="en-US" b="1" dirty="0">
                <a:solidFill>
                  <a:srgbClr val="000000"/>
                </a:solidFill>
                <a:latin typeface="Courier New" pitchFamily="49" charset="0"/>
                <a:cs typeface="Courier New" pitchFamily="49" charset="0"/>
              </a:rPr>
              <a:t>}</a:t>
            </a:r>
            <a:endParaRPr lang="en-US" b="1" dirty="0">
              <a:solidFill>
                <a:srgbClr val="0000FF"/>
              </a:solidFill>
              <a:latin typeface="Courier New" pitchFamily="49" charset="0"/>
              <a:cs typeface="Courier New" pitchFamily="49" charset="0"/>
            </a:endParaRPr>
          </a:p>
          <a:p>
            <a:pPr eaLnBrk="1" hangingPunct="1">
              <a:defRPr/>
            </a:pPr>
            <a:endParaRPr lang="en-US" b="1" dirty="0">
              <a:solidFill>
                <a:srgbClr val="800000"/>
              </a:solidFill>
              <a:latin typeface="Courier New" pitchFamily="49" charset="0"/>
              <a:cs typeface="Courier New" pitchFamily="49" charset="0"/>
            </a:endParaRPr>
          </a:p>
          <a:p>
            <a:pPr eaLnBrk="1" hangingPunct="1">
              <a:defRPr/>
            </a:pPr>
            <a:r>
              <a:rPr lang="en-US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void</a:t>
            </a:r>
            <a:r>
              <a:rPr lang="en-US" b="1" dirty="0">
                <a:solidFill>
                  <a:srgbClr val="00000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 err="1">
                <a:solidFill>
                  <a:srgbClr val="000000"/>
                </a:solidFill>
                <a:latin typeface="Courier New" pitchFamily="49" charset="0"/>
                <a:cs typeface="Courier New" pitchFamily="49" charset="0"/>
              </a:rPr>
              <a:t>double_value</a:t>
            </a:r>
            <a:r>
              <a:rPr lang="en-US" b="1" dirty="0">
                <a:solidFill>
                  <a:srgbClr val="000000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long 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value</a:t>
            </a:r>
            <a:r>
              <a:rPr lang="en-US" b="1" dirty="0">
                <a:solidFill>
                  <a:srgbClr val="000000"/>
                </a:solidFill>
                <a:latin typeface="Courier New" pitchFamily="49" charset="0"/>
                <a:cs typeface="Courier New" pitchFamily="49" charset="0"/>
              </a:rPr>
              <a:t>) {</a:t>
            </a:r>
          </a:p>
          <a:p>
            <a:pPr eaLnBrk="1" hangingPunct="1">
              <a:defRPr/>
            </a:pPr>
            <a:r>
              <a:rPr lang="en-US" b="1" dirty="0">
                <a:latin typeface="Courier New" pitchFamily="49" charset="0"/>
                <a:cs typeface="Courier New" pitchFamily="49" charset="0"/>
              </a:rPr>
              <a:t>    value *= 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2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pPr eaLnBrk="1" hangingPunct="1">
              <a:defRPr/>
            </a:pPr>
            <a:r>
              <a:rPr lang="en-US" b="1" dirty="0">
                <a:solidFill>
                  <a:srgbClr val="000000"/>
                </a:solidFill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9" name="Group 51">
            <a:extLst>
              <a:ext uri="{FF2B5EF4-FFF2-40B4-BE49-F238E27FC236}">
                <a16:creationId xmlns:a16="http://schemas.microsoft.com/office/drawing/2014/main" id="{FD530470-0FBA-23E9-F1B8-5D7BA58D118B}"/>
              </a:ext>
            </a:extLst>
          </p:cNvPr>
          <p:cNvGrpSpPr>
            <a:grpSpLocks/>
          </p:cNvGrpSpPr>
          <p:nvPr/>
        </p:nvGrpSpPr>
        <p:grpSpPr bwMode="auto">
          <a:xfrm>
            <a:off x="643721" y="4697730"/>
            <a:ext cx="8101012" cy="1249362"/>
            <a:chOff x="373063" y="4186238"/>
            <a:chExt cx="8101012" cy="1249362"/>
          </a:xfrm>
        </p:grpSpPr>
        <p:cxnSp>
          <p:nvCxnSpPr>
            <p:cNvPr id="15" name="Straight Connector 37">
              <a:extLst>
                <a:ext uri="{FF2B5EF4-FFF2-40B4-BE49-F238E27FC236}">
                  <a16:creationId xmlns:a16="http://schemas.microsoft.com/office/drawing/2014/main" id="{746D5006-3377-CACE-B0A5-EEE247FA150D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373063" y="5435600"/>
              <a:ext cx="8101012" cy="0"/>
            </a:xfrm>
            <a:prstGeom prst="line">
              <a:avLst/>
            </a:prstGeom>
            <a:noFill/>
            <a:ln w="19050" cap="sq" algn="ctr">
              <a:solidFill>
                <a:schemeClr val="tx1"/>
              </a:solidFill>
              <a:prstDash val="dash"/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grpSp>
          <p:nvGrpSpPr>
            <p:cNvPr id="16" name="Group 50">
              <a:extLst>
                <a:ext uri="{FF2B5EF4-FFF2-40B4-BE49-F238E27FC236}">
                  <a16:creationId xmlns:a16="http://schemas.microsoft.com/office/drawing/2014/main" id="{59722B48-867C-A686-53EE-254B5A151EB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6250" y="4186238"/>
              <a:ext cx="7116763" cy="969962"/>
              <a:chOff x="476250" y="4186238"/>
              <a:chExt cx="7116763" cy="969962"/>
            </a:xfrm>
          </p:grpSpPr>
          <p:grpSp>
            <p:nvGrpSpPr>
              <p:cNvPr id="17" name="Group 81">
                <a:extLst>
                  <a:ext uri="{FF2B5EF4-FFF2-40B4-BE49-F238E27FC236}">
                    <a16:creationId xmlns:a16="http://schemas.microsoft.com/office/drawing/2014/main" id="{23E2CA60-C03B-1A3F-4DA5-F8775CCF111D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884488" y="4502150"/>
                <a:ext cx="4708525" cy="654050"/>
                <a:chOff x="2305318" y="4630579"/>
                <a:chExt cx="4707567" cy="654191"/>
              </a:xfrm>
            </p:grpSpPr>
            <p:sp>
              <p:nvSpPr>
                <p:cNvPr id="19" name="TextBox 10">
                  <a:extLst>
                    <a:ext uri="{FF2B5EF4-FFF2-40B4-BE49-F238E27FC236}">
                      <a16:creationId xmlns:a16="http://schemas.microsoft.com/office/drawing/2014/main" id="{17378E3F-7779-7A7C-58C2-6271D04D0227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305318" y="4630579"/>
                  <a:ext cx="669701" cy="307777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>
                  <a:spAutoFit/>
                </a:bodyPr>
                <a:lstStyle>
                  <a:lvl1pPr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1pPr>
                  <a:lvl2pPr marL="742950" indent="-28575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2pPr>
                  <a:lvl3pPr marL="11430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3pPr>
                  <a:lvl4pPr marL="16002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4pPr>
                  <a:lvl5pPr marL="20574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9pPr>
                </a:lstStyle>
                <a:p>
                  <a:pPr algn="ctr" eaLnBrk="1" hangingPunct="1"/>
                  <a:r>
                    <a:rPr lang="en-US" sz="1400"/>
                    <a:t>foo[0]</a:t>
                  </a:r>
                  <a:endParaRPr lang="en-SG" sz="1400"/>
                </a:p>
              </p:txBody>
            </p:sp>
            <p:sp>
              <p:nvSpPr>
                <p:cNvPr id="20" name="TextBox 11">
                  <a:extLst>
                    <a:ext uri="{FF2B5EF4-FFF2-40B4-BE49-F238E27FC236}">
                      <a16:creationId xmlns:a16="http://schemas.microsoft.com/office/drawing/2014/main" id="{2E3CF418-BE90-2785-3A95-5530B26E13A8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846231" y="4630579"/>
                  <a:ext cx="631065" cy="307777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>
                  <a:spAutoFit/>
                </a:bodyPr>
                <a:lstStyle>
                  <a:lvl1pPr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1pPr>
                  <a:lvl2pPr marL="742950" indent="-28575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2pPr>
                  <a:lvl3pPr marL="11430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3pPr>
                  <a:lvl4pPr marL="16002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4pPr>
                  <a:lvl5pPr marL="20574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9pPr>
                </a:lstStyle>
                <a:p>
                  <a:pPr algn="ctr" eaLnBrk="1" hangingPunct="1"/>
                  <a:r>
                    <a:rPr lang="en-US" sz="1400"/>
                    <a:t>foo[1]</a:t>
                  </a:r>
                  <a:endParaRPr lang="en-SG" sz="1400"/>
                </a:p>
              </p:txBody>
            </p:sp>
            <p:sp>
              <p:nvSpPr>
                <p:cNvPr id="21" name="TextBox 19">
                  <a:extLst>
                    <a:ext uri="{FF2B5EF4-FFF2-40B4-BE49-F238E27FC236}">
                      <a16:creationId xmlns:a16="http://schemas.microsoft.com/office/drawing/2014/main" id="{EC8240FD-B02E-906E-C87A-D8AE5B0FE08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430980" y="4630579"/>
                  <a:ext cx="489400" cy="307766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>
                  <a:spAutoFit/>
                </a:bodyPr>
                <a:lstStyle>
                  <a:lvl1pPr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1pPr>
                  <a:lvl2pPr marL="742950" indent="-28575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2pPr>
                  <a:lvl3pPr marL="11430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3pPr>
                  <a:lvl4pPr marL="16002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4pPr>
                  <a:lvl5pPr marL="20574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9pPr>
                </a:lstStyle>
                <a:p>
                  <a:pPr algn="ctr" eaLnBrk="1" hangingPunct="1"/>
                  <a:endParaRPr lang="en-SG" sz="1400"/>
                </a:p>
              </p:txBody>
            </p:sp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E8257CAC-0A10-6832-D5F8-D77EFDB1381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969750" y="4630579"/>
                  <a:ext cx="489400" cy="307766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>
                  <a:spAutoFit/>
                </a:bodyPr>
                <a:lstStyle>
                  <a:lvl1pPr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1pPr>
                  <a:lvl2pPr marL="742950" indent="-28575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2pPr>
                  <a:lvl3pPr marL="11430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3pPr>
                  <a:lvl4pPr marL="16002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4pPr>
                  <a:lvl5pPr marL="20574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9pPr>
                </a:lstStyle>
                <a:p>
                  <a:pPr algn="ctr" eaLnBrk="1" hangingPunct="1"/>
                  <a:endParaRPr lang="en-SG" sz="1400"/>
                </a:p>
              </p:txBody>
            </p:sp>
            <p:sp>
              <p:nvSpPr>
                <p:cNvPr id="23" name="TextBox 23">
                  <a:extLst>
                    <a:ext uri="{FF2B5EF4-FFF2-40B4-BE49-F238E27FC236}">
                      <a16:creationId xmlns:a16="http://schemas.microsoft.com/office/drawing/2014/main" id="{3854BD43-E249-1FE4-0069-9E24B558E819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4476751" y="4630579"/>
                  <a:ext cx="489400" cy="307766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>
                  <a:spAutoFit/>
                </a:bodyPr>
                <a:lstStyle>
                  <a:lvl1pPr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1pPr>
                  <a:lvl2pPr marL="742950" indent="-28575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2pPr>
                  <a:lvl3pPr marL="11430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3pPr>
                  <a:lvl4pPr marL="16002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4pPr>
                  <a:lvl5pPr marL="20574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9pPr>
                </a:lstStyle>
                <a:p>
                  <a:pPr algn="ctr" eaLnBrk="1" hangingPunct="1"/>
                  <a:endParaRPr lang="en-SG" sz="1400"/>
                </a:p>
              </p:txBody>
            </p:sp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907A8177-69F8-1F87-1F5D-DD89DF7F5B4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4964006" y="4630579"/>
                  <a:ext cx="489400" cy="307766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>
                  <a:spAutoFit/>
                </a:bodyPr>
                <a:lstStyle>
                  <a:lvl1pPr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1pPr>
                  <a:lvl2pPr marL="742950" indent="-28575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2pPr>
                  <a:lvl3pPr marL="11430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3pPr>
                  <a:lvl4pPr marL="16002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4pPr>
                  <a:lvl5pPr marL="20574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9pPr>
                </a:lstStyle>
                <a:p>
                  <a:pPr algn="ctr" eaLnBrk="1" hangingPunct="1"/>
                  <a:endParaRPr lang="en-SG" sz="1400"/>
                </a:p>
              </p:txBody>
            </p:sp>
            <p:sp>
              <p:nvSpPr>
                <p:cNvPr id="25" name="TextBox 34">
                  <a:extLst>
                    <a:ext uri="{FF2B5EF4-FFF2-40B4-BE49-F238E27FC236}">
                      <a16:creationId xmlns:a16="http://schemas.microsoft.com/office/drawing/2014/main" id="{A469B457-0BC1-5369-F923-2A3F6EC1B335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5503472" y="4630579"/>
                  <a:ext cx="489400" cy="307766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>
                  <a:spAutoFit/>
                </a:bodyPr>
                <a:lstStyle>
                  <a:lvl1pPr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1pPr>
                  <a:lvl2pPr marL="742950" indent="-28575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2pPr>
                  <a:lvl3pPr marL="11430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3pPr>
                  <a:lvl4pPr marL="16002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4pPr>
                  <a:lvl5pPr marL="20574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9pPr>
                </a:lstStyle>
                <a:p>
                  <a:pPr algn="ctr" eaLnBrk="1" hangingPunct="1"/>
                  <a:endParaRPr lang="en-SG" sz="1400"/>
                </a:p>
              </p:txBody>
            </p:sp>
            <p:sp>
              <p:nvSpPr>
                <p:cNvPr id="27" name="TextBox 36">
                  <a:extLst>
                    <a:ext uri="{FF2B5EF4-FFF2-40B4-BE49-F238E27FC236}">
                      <a16:creationId xmlns:a16="http://schemas.microsoft.com/office/drawing/2014/main" id="{7F00E6D3-2247-22B0-5239-10BAF239703C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6523485" y="4630579"/>
                  <a:ext cx="489400" cy="307766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>
                  <a:spAutoFit/>
                </a:bodyPr>
                <a:lstStyle>
                  <a:lvl1pPr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1pPr>
                  <a:lvl2pPr marL="742950" indent="-28575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2pPr>
                  <a:lvl3pPr marL="11430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3pPr>
                  <a:lvl4pPr marL="16002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4pPr>
                  <a:lvl5pPr marL="20574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9pPr>
                </a:lstStyle>
                <a:p>
                  <a:pPr algn="ctr" eaLnBrk="1" hangingPunct="1"/>
                  <a:endParaRPr lang="en-SG" sz="1400"/>
                </a:p>
              </p:txBody>
            </p:sp>
            <p:sp>
              <p:nvSpPr>
                <p:cNvPr id="29" name="TextBox 20">
                  <a:extLst>
                    <a:ext uri="{FF2B5EF4-FFF2-40B4-BE49-F238E27FC236}">
                      <a16:creationId xmlns:a16="http://schemas.microsoft.com/office/drawing/2014/main" id="{1C6B223E-920C-2455-1841-AFCE38596227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421228" y="4915438"/>
                  <a:ext cx="502276" cy="369332"/>
                </a:xfrm>
                <a:prstGeom prst="rect">
                  <a:avLst/>
                </a:prstGeom>
                <a:solidFill>
                  <a:schemeClr val="bg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>
                  <a:spAutoFit/>
                </a:bodyPr>
                <a:lstStyle>
                  <a:lvl1pPr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1pPr>
                  <a:lvl2pPr marL="742950" indent="-28575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2pPr>
                  <a:lvl3pPr marL="11430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3pPr>
                  <a:lvl4pPr marL="16002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4pPr>
                  <a:lvl5pPr marL="20574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9pPr>
                </a:lstStyle>
                <a:p>
                  <a:pPr algn="ctr" eaLnBrk="1" hangingPunct="1"/>
                  <a:r>
                    <a:rPr lang="en-US" dirty="0"/>
                    <a:t>44</a:t>
                  </a:r>
                  <a:endParaRPr lang="en-SG" dirty="0"/>
                </a:p>
              </p:txBody>
            </p:sp>
            <p:sp>
              <p:nvSpPr>
                <p:cNvPr id="30" name="TextBox 21">
                  <a:extLst>
                    <a:ext uri="{FF2B5EF4-FFF2-40B4-BE49-F238E27FC236}">
                      <a16:creationId xmlns:a16="http://schemas.microsoft.com/office/drawing/2014/main" id="{22BC360A-2FE7-3622-AD37-875B1EC1008B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34237" y="4915438"/>
                  <a:ext cx="502276" cy="369332"/>
                </a:xfrm>
                <a:prstGeom prst="rect">
                  <a:avLst/>
                </a:prstGeom>
                <a:solidFill>
                  <a:schemeClr val="bg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>
                  <a:spAutoFit/>
                </a:bodyPr>
                <a:lstStyle>
                  <a:lvl1pPr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1pPr>
                  <a:lvl2pPr marL="742950" indent="-28575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2pPr>
                  <a:lvl3pPr marL="11430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3pPr>
                  <a:lvl4pPr marL="16002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4pPr>
                  <a:lvl5pPr marL="20574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9pPr>
                </a:lstStyle>
                <a:p>
                  <a:pPr algn="ctr" eaLnBrk="1" hangingPunct="1"/>
                  <a:r>
                    <a:rPr lang="en-US"/>
                    <a:t>9</a:t>
                  </a:r>
                  <a:endParaRPr lang="en-SG"/>
                </a:p>
              </p:txBody>
            </p:sp>
            <p:sp>
              <p:nvSpPr>
                <p:cNvPr id="31" name="TextBox 22">
                  <a:extLst>
                    <a:ext uri="{FF2B5EF4-FFF2-40B4-BE49-F238E27FC236}">
                      <a16:creationId xmlns:a16="http://schemas.microsoft.com/office/drawing/2014/main" id="{6DDC688A-DD2E-2C2C-0293-70C816BA3F6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447245" y="4915438"/>
                  <a:ext cx="502276" cy="369332"/>
                </a:xfrm>
                <a:prstGeom prst="rect">
                  <a:avLst/>
                </a:prstGeom>
                <a:solidFill>
                  <a:schemeClr val="bg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>
                  <a:spAutoFit/>
                </a:bodyPr>
                <a:lstStyle>
                  <a:lvl1pPr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1pPr>
                  <a:lvl2pPr marL="742950" indent="-28575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2pPr>
                  <a:lvl3pPr marL="11430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3pPr>
                  <a:lvl4pPr marL="16002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4pPr>
                  <a:lvl5pPr marL="20574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9pPr>
                </a:lstStyle>
                <a:p>
                  <a:pPr algn="ctr" eaLnBrk="1" hangingPunct="1"/>
                  <a:r>
                    <a:rPr lang="en-US"/>
                    <a:t>17</a:t>
                  </a:r>
                  <a:endParaRPr lang="en-SG"/>
                </a:p>
              </p:txBody>
            </p:sp>
            <p:sp>
              <p:nvSpPr>
                <p:cNvPr id="32" name="TextBox 23">
                  <a:extLst>
                    <a:ext uri="{FF2B5EF4-FFF2-40B4-BE49-F238E27FC236}">
                      <a16:creationId xmlns:a16="http://schemas.microsoft.com/office/drawing/2014/main" id="{C3D2AF80-DA86-D5BA-6D49-28BCB9325161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962401" y="4915438"/>
                  <a:ext cx="502276" cy="369332"/>
                </a:xfrm>
                <a:prstGeom prst="rect">
                  <a:avLst/>
                </a:prstGeom>
                <a:solidFill>
                  <a:schemeClr val="bg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>
                  <a:spAutoFit/>
                </a:bodyPr>
                <a:lstStyle>
                  <a:lvl1pPr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1pPr>
                  <a:lvl2pPr marL="742950" indent="-28575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2pPr>
                  <a:lvl3pPr marL="11430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3pPr>
                  <a:lvl4pPr marL="16002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4pPr>
                  <a:lvl5pPr marL="20574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9pPr>
                </a:lstStyle>
                <a:p>
                  <a:pPr algn="ctr" eaLnBrk="1" hangingPunct="1"/>
                  <a:r>
                    <a:rPr lang="en-US"/>
                    <a:t>1</a:t>
                  </a:r>
                  <a:endParaRPr lang="en-SG"/>
                </a:p>
              </p:txBody>
            </p:sp>
          </p:grpSp>
          <p:sp>
            <p:nvSpPr>
              <p:cNvPr id="18" name="TextBox 28">
                <a:extLst>
                  <a:ext uri="{FF2B5EF4-FFF2-40B4-BE49-F238E27FC236}">
                    <a16:creationId xmlns:a16="http://schemas.microsoft.com/office/drawing/2014/main" id="{258ABC7A-A7B0-3898-6D98-E3B3E11245B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76250" y="4186238"/>
                <a:ext cx="1287463" cy="3683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eaLnBrk="1" hangingPunct="1"/>
                <a:r>
                  <a:rPr lang="en-US" dirty="0"/>
                  <a:t>In main():</a:t>
                </a:r>
                <a:endParaRPr lang="en-SG" dirty="0"/>
              </a:p>
            </p:txBody>
          </p:sp>
        </p:grpSp>
      </p:grpSp>
      <p:grpSp>
        <p:nvGrpSpPr>
          <p:cNvPr id="37" name="Group 52">
            <a:extLst>
              <a:ext uri="{FF2B5EF4-FFF2-40B4-BE49-F238E27FC236}">
                <a16:creationId xmlns:a16="http://schemas.microsoft.com/office/drawing/2014/main" id="{0E3A3566-EE12-7D50-B5A2-33948A8CDC58}"/>
              </a:ext>
            </a:extLst>
          </p:cNvPr>
          <p:cNvGrpSpPr>
            <a:grpSpLocks/>
          </p:cNvGrpSpPr>
          <p:nvPr/>
        </p:nvGrpSpPr>
        <p:grpSpPr bwMode="auto">
          <a:xfrm>
            <a:off x="533400" y="6009005"/>
            <a:ext cx="2640795" cy="369332"/>
            <a:chOff x="262742" y="5497513"/>
            <a:chExt cx="2640795" cy="369332"/>
          </a:xfrm>
        </p:grpSpPr>
        <p:sp>
          <p:nvSpPr>
            <p:cNvPr id="38" name="TextBox 29">
              <a:extLst>
                <a:ext uri="{FF2B5EF4-FFF2-40B4-BE49-F238E27FC236}">
                  <a16:creationId xmlns:a16="http://schemas.microsoft.com/office/drawing/2014/main" id="{559095E9-643A-BFC8-3C4B-5740819BD53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62742" y="5497513"/>
              <a:ext cx="2077687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dirty="0"/>
                <a:t>In </a:t>
              </a:r>
              <a:r>
                <a:rPr lang="en-US" dirty="0" err="1"/>
                <a:t>double_value</a:t>
              </a:r>
              <a:r>
                <a:rPr lang="en-US" dirty="0"/>
                <a:t>():</a:t>
              </a:r>
              <a:endParaRPr lang="en-SG" dirty="0"/>
            </a:p>
          </p:txBody>
        </p:sp>
        <p:sp>
          <p:nvSpPr>
            <p:cNvPr id="47" name="TextBox 31">
              <a:extLst>
                <a:ext uri="{FF2B5EF4-FFF2-40B4-BE49-F238E27FC236}">
                  <a16:creationId xmlns:a16="http://schemas.microsoft.com/office/drawing/2014/main" id="{EFF1CBBB-CF67-62FC-9601-F49F73EB8C8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212974" y="5521425"/>
              <a:ext cx="690563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sz="1400" dirty="0"/>
                <a:t>value</a:t>
              </a:r>
              <a:endParaRPr lang="en-SG" sz="1400" dirty="0"/>
            </a:p>
          </p:txBody>
        </p:sp>
      </p:grp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D1B7C66-E1EC-420D-91EE-18DF588D58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Unit14 - </a:t>
            </a:r>
            <a:fld id="{2E4790E1-2590-4AEE-892D-AB46A7688113}" type="slidenum">
              <a:rPr lang="en-US" smtClean="0"/>
              <a:pPr>
                <a:defRPr/>
              </a:pPr>
              <a:t>24</a:t>
            </a:fld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467DA80B-BC16-7C3E-3718-2808BB410F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88A9CFC-012B-2F4B-61CC-D8AF4113E23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40961" y="6337514"/>
            <a:ext cx="446088" cy="338138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n-US" sz="1600" dirty="0">
                <a:solidFill>
                  <a:srgbClr val="800000"/>
                </a:solidFill>
              </a:rPr>
              <a:t>88</a:t>
            </a:r>
            <a:endParaRPr lang="en-SG" sz="1600" dirty="0">
              <a:solidFill>
                <a:srgbClr val="8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2076643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id="15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r>
              <a:rPr lang="en-GB" sz="3600" dirty="0">
                <a:solidFill>
                  <a:srgbClr val="0000FF"/>
                </a:solidFill>
              </a:rPr>
              <a:t>Call By Reference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3721" y="1281410"/>
            <a:ext cx="6065838" cy="3416320"/>
          </a:xfrm>
          <a:prstGeom prst="rect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defRPr/>
            </a:pPr>
            <a:r>
              <a:rPr lang="en-US" b="1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pPr eaLnBrk="1" hangingPunct="1">
              <a:defRPr/>
            </a:pPr>
            <a:r>
              <a:rPr lang="en-US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b="1" dirty="0">
                <a:solidFill>
                  <a:srgbClr val="000000"/>
                </a:solidFill>
                <a:latin typeface="Courier New" pitchFamily="49" charset="0"/>
                <a:cs typeface="Courier New" pitchFamily="49" charset="0"/>
              </a:rPr>
              <a:t> main(</a:t>
            </a:r>
            <a:r>
              <a:rPr lang="en-US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void</a:t>
            </a:r>
            <a:r>
              <a:rPr lang="en-US" b="1" dirty="0">
                <a:solidFill>
                  <a:srgbClr val="000000"/>
                </a:solidFill>
                <a:latin typeface="Courier New" pitchFamily="49" charset="0"/>
                <a:cs typeface="Courier New" pitchFamily="49" charset="0"/>
              </a:rPr>
              <a:t>) {</a:t>
            </a:r>
          </a:p>
          <a:p>
            <a:pPr eaLnBrk="1" hangingPunct="1">
              <a:defRPr/>
            </a:pPr>
            <a:r>
              <a:rPr lang="en-US" b="1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long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 foo[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4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] = {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44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9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17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};</a:t>
            </a:r>
          </a:p>
          <a:p>
            <a:pPr eaLnBrk="1" hangingPunct="1">
              <a:defRPr/>
            </a:pPr>
            <a:r>
              <a:rPr lang="en-US" b="1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b="1" dirty="0" err="1">
                <a:latin typeface="Courier New" pitchFamily="49" charset="0"/>
                <a:cs typeface="Courier New" pitchFamily="49" charset="0"/>
              </a:rPr>
              <a:t>double_array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(foo, 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4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pPr eaLnBrk="1" hangingPunct="1">
              <a:defRPr/>
            </a:pPr>
            <a:r>
              <a:rPr lang="en-US" b="1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return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pPr eaLnBrk="1" hangingPunct="1">
              <a:defRPr/>
            </a:pPr>
            <a:r>
              <a:rPr lang="en-US" b="1" dirty="0">
                <a:solidFill>
                  <a:srgbClr val="000000"/>
                </a:solidFill>
                <a:latin typeface="Courier New" pitchFamily="49" charset="0"/>
                <a:cs typeface="Courier New" pitchFamily="49" charset="0"/>
              </a:rPr>
              <a:t>}</a:t>
            </a:r>
            <a:endParaRPr lang="en-US" b="1" dirty="0">
              <a:solidFill>
                <a:srgbClr val="0000FF"/>
              </a:solidFill>
              <a:latin typeface="Courier New" pitchFamily="49" charset="0"/>
              <a:cs typeface="Courier New" pitchFamily="49" charset="0"/>
            </a:endParaRPr>
          </a:p>
          <a:p>
            <a:pPr eaLnBrk="1" hangingPunct="1">
              <a:defRPr/>
            </a:pPr>
            <a:endParaRPr lang="en-US" b="1" dirty="0">
              <a:solidFill>
                <a:srgbClr val="800000"/>
              </a:solidFill>
              <a:latin typeface="Courier New" pitchFamily="49" charset="0"/>
              <a:cs typeface="Courier New" pitchFamily="49" charset="0"/>
            </a:endParaRPr>
          </a:p>
          <a:p>
            <a:pPr eaLnBrk="1" hangingPunct="1">
              <a:defRPr/>
            </a:pPr>
            <a:r>
              <a:rPr lang="en-US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void</a:t>
            </a:r>
            <a:r>
              <a:rPr lang="en-US" b="1" dirty="0">
                <a:solidFill>
                  <a:srgbClr val="00000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 err="1">
                <a:solidFill>
                  <a:srgbClr val="000000"/>
                </a:solidFill>
                <a:latin typeface="Courier New" pitchFamily="49" charset="0"/>
                <a:cs typeface="Courier New" pitchFamily="49" charset="0"/>
              </a:rPr>
              <a:t>double_array</a:t>
            </a:r>
            <a:r>
              <a:rPr lang="en-US" b="1" dirty="0">
                <a:solidFill>
                  <a:srgbClr val="000000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long</a:t>
            </a:r>
            <a:r>
              <a:rPr lang="en-US" b="1" dirty="0">
                <a:solidFill>
                  <a:srgbClr val="000000"/>
                </a:solidFill>
                <a:latin typeface="Courier New" pitchFamily="49" charset="0"/>
                <a:cs typeface="Courier New" pitchFamily="49" charset="0"/>
              </a:rPr>
              <a:t> list[], </a:t>
            </a:r>
            <a:r>
              <a:rPr lang="en-US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long</a:t>
            </a:r>
            <a:r>
              <a:rPr lang="en-US" b="1" dirty="0">
                <a:solidFill>
                  <a:srgbClr val="00000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 err="1">
                <a:solidFill>
                  <a:srgbClr val="000000"/>
                </a:solidFill>
                <a:latin typeface="Courier New" pitchFamily="49" charset="0"/>
                <a:cs typeface="Courier New" pitchFamily="49" charset="0"/>
              </a:rPr>
              <a:t>len</a:t>
            </a:r>
            <a:r>
              <a:rPr lang="en-US" b="1" dirty="0">
                <a:solidFill>
                  <a:srgbClr val="000000"/>
                </a:solidFill>
                <a:latin typeface="Courier New" pitchFamily="49" charset="0"/>
                <a:cs typeface="Courier New" pitchFamily="49" charset="0"/>
              </a:rPr>
              <a:t>) {</a:t>
            </a:r>
          </a:p>
          <a:p>
            <a:pPr eaLnBrk="1" hangingPunct="1">
              <a:defRPr/>
            </a:pPr>
            <a:r>
              <a:rPr lang="en-US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    for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 (</a:t>
            </a:r>
            <a:r>
              <a:rPr lang="en-US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long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; </a:t>
            </a:r>
            <a:r>
              <a:rPr lang="en-US" b="1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 &lt; </a:t>
            </a:r>
            <a:r>
              <a:rPr lang="en-US" b="1" dirty="0" err="1">
                <a:latin typeface="Courier New" pitchFamily="49" charset="0"/>
                <a:cs typeface="Courier New" pitchFamily="49" charset="0"/>
              </a:rPr>
              <a:t>len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; </a:t>
            </a:r>
            <a:r>
              <a:rPr lang="en-US" b="1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 += 1){</a:t>
            </a:r>
          </a:p>
          <a:p>
            <a:pPr eaLnBrk="1" hangingPunct="1">
              <a:defRPr/>
            </a:pPr>
            <a:r>
              <a:rPr lang="en-US" b="1" dirty="0">
                <a:latin typeface="Courier New" pitchFamily="49" charset="0"/>
                <a:cs typeface="Courier New" pitchFamily="49" charset="0"/>
              </a:rPr>
              <a:t>        list[</a:t>
            </a:r>
            <a:r>
              <a:rPr lang="en-US" b="1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] *= 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2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pPr eaLnBrk="1" hangingPunct="1">
              <a:defRPr/>
            </a:pPr>
            <a:r>
              <a:rPr lang="en-US" b="1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pPr eaLnBrk="1" hangingPunct="1">
              <a:defRPr/>
            </a:pPr>
            <a:r>
              <a:rPr lang="en-US" b="1" dirty="0">
                <a:solidFill>
                  <a:srgbClr val="000000"/>
                </a:solidFill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9" name="Group 51">
            <a:extLst>
              <a:ext uri="{FF2B5EF4-FFF2-40B4-BE49-F238E27FC236}">
                <a16:creationId xmlns:a16="http://schemas.microsoft.com/office/drawing/2014/main" id="{0505F6B1-3520-4D00-AC15-E8F39F302EDE}"/>
              </a:ext>
            </a:extLst>
          </p:cNvPr>
          <p:cNvGrpSpPr>
            <a:grpSpLocks/>
          </p:cNvGrpSpPr>
          <p:nvPr/>
        </p:nvGrpSpPr>
        <p:grpSpPr bwMode="auto">
          <a:xfrm>
            <a:off x="643721" y="4697730"/>
            <a:ext cx="8101012" cy="1249362"/>
            <a:chOff x="373063" y="4186238"/>
            <a:chExt cx="8101012" cy="1249362"/>
          </a:xfrm>
        </p:grpSpPr>
        <p:cxnSp>
          <p:nvCxnSpPr>
            <p:cNvPr id="15" name="Straight Connector 37">
              <a:extLst>
                <a:ext uri="{FF2B5EF4-FFF2-40B4-BE49-F238E27FC236}">
                  <a16:creationId xmlns:a16="http://schemas.microsoft.com/office/drawing/2014/main" id="{108C93AB-E15B-4C52-BE7A-3C2F68F40E79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373063" y="5435600"/>
              <a:ext cx="8101012" cy="0"/>
            </a:xfrm>
            <a:prstGeom prst="line">
              <a:avLst/>
            </a:prstGeom>
            <a:noFill/>
            <a:ln w="19050" cap="sq" algn="ctr">
              <a:solidFill>
                <a:schemeClr val="tx1"/>
              </a:solidFill>
              <a:prstDash val="dash"/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grpSp>
          <p:nvGrpSpPr>
            <p:cNvPr id="16" name="Group 50">
              <a:extLst>
                <a:ext uri="{FF2B5EF4-FFF2-40B4-BE49-F238E27FC236}">
                  <a16:creationId xmlns:a16="http://schemas.microsoft.com/office/drawing/2014/main" id="{69104579-07AA-42DD-95FC-A742F9AE607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6250" y="4186238"/>
              <a:ext cx="7116763" cy="969962"/>
              <a:chOff x="476250" y="4186238"/>
              <a:chExt cx="7116763" cy="969962"/>
            </a:xfrm>
          </p:grpSpPr>
          <p:grpSp>
            <p:nvGrpSpPr>
              <p:cNvPr id="17" name="Group 81">
                <a:extLst>
                  <a:ext uri="{FF2B5EF4-FFF2-40B4-BE49-F238E27FC236}">
                    <a16:creationId xmlns:a16="http://schemas.microsoft.com/office/drawing/2014/main" id="{D69B7199-F08E-4372-9973-65D001685B0D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884488" y="4502150"/>
                <a:ext cx="4708525" cy="654050"/>
                <a:chOff x="2305318" y="4630579"/>
                <a:chExt cx="4707567" cy="654191"/>
              </a:xfrm>
            </p:grpSpPr>
            <p:sp>
              <p:nvSpPr>
                <p:cNvPr id="19" name="TextBox 10">
                  <a:extLst>
                    <a:ext uri="{FF2B5EF4-FFF2-40B4-BE49-F238E27FC236}">
                      <a16:creationId xmlns:a16="http://schemas.microsoft.com/office/drawing/2014/main" id="{B7658147-2434-4D7D-97CA-B88E979AA3D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305318" y="4630579"/>
                  <a:ext cx="669701" cy="307777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>
                  <a:spAutoFit/>
                </a:bodyPr>
                <a:lstStyle>
                  <a:lvl1pPr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1pPr>
                  <a:lvl2pPr marL="742950" indent="-28575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2pPr>
                  <a:lvl3pPr marL="11430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3pPr>
                  <a:lvl4pPr marL="16002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4pPr>
                  <a:lvl5pPr marL="20574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9pPr>
                </a:lstStyle>
                <a:p>
                  <a:pPr algn="ctr" eaLnBrk="1" hangingPunct="1"/>
                  <a:r>
                    <a:rPr lang="en-US" sz="1400"/>
                    <a:t>foo[0]</a:t>
                  </a:r>
                  <a:endParaRPr lang="en-SG" sz="1400"/>
                </a:p>
              </p:txBody>
            </p:sp>
            <p:sp>
              <p:nvSpPr>
                <p:cNvPr id="20" name="TextBox 11">
                  <a:extLst>
                    <a:ext uri="{FF2B5EF4-FFF2-40B4-BE49-F238E27FC236}">
                      <a16:creationId xmlns:a16="http://schemas.microsoft.com/office/drawing/2014/main" id="{651D1076-0A21-492D-99AA-EFE29ECACE2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846231" y="4630579"/>
                  <a:ext cx="631065" cy="307777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>
                  <a:spAutoFit/>
                </a:bodyPr>
                <a:lstStyle>
                  <a:lvl1pPr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1pPr>
                  <a:lvl2pPr marL="742950" indent="-28575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2pPr>
                  <a:lvl3pPr marL="11430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3pPr>
                  <a:lvl4pPr marL="16002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4pPr>
                  <a:lvl5pPr marL="20574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9pPr>
                </a:lstStyle>
                <a:p>
                  <a:pPr algn="ctr" eaLnBrk="1" hangingPunct="1"/>
                  <a:r>
                    <a:rPr lang="en-US" sz="1400"/>
                    <a:t>foo[1]</a:t>
                  </a:r>
                  <a:endParaRPr lang="en-SG" sz="1400"/>
                </a:p>
              </p:txBody>
            </p:sp>
            <p:sp>
              <p:nvSpPr>
                <p:cNvPr id="21" name="TextBox 19">
                  <a:extLst>
                    <a:ext uri="{FF2B5EF4-FFF2-40B4-BE49-F238E27FC236}">
                      <a16:creationId xmlns:a16="http://schemas.microsoft.com/office/drawing/2014/main" id="{49C8D063-9EB9-4E7B-9479-1035D1B93883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430980" y="4630579"/>
                  <a:ext cx="489400" cy="307766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>
                  <a:spAutoFit/>
                </a:bodyPr>
                <a:lstStyle>
                  <a:lvl1pPr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1pPr>
                  <a:lvl2pPr marL="742950" indent="-28575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2pPr>
                  <a:lvl3pPr marL="11430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3pPr>
                  <a:lvl4pPr marL="16002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4pPr>
                  <a:lvl5pPr marL="20574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9pPr>
                </a:lstStyle>
                <a:p>
                  <a:pPr algn="ctr" eaLnBrk="1" hangingPunct="1"/>
                  <a:endParaRPr lang="en-SG" sz="1400"/>
                </a:p>
              </p:txBody>
            </p:sp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C3A82632-6702-4C9C-9D5A-8A546E5F8D71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969750" y="4630579"/>
                  <a:ext cx="489400" cy="307766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>
                  <a:spAutoFit/>
                </a:bodyPr>
                <a:lstStyle>
                  <a:lvl1pPr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1pPr>
                  <a:lvl2pPr marL="742950" indent="-28575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2pPr>
                  <a:lvl3pPr marL="11430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3pPr>
                  <a:lvl4pPr marL="16002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4pPr>
                  <a:lvl5pPr marL="20574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9pPr>
                </a:lstStyle>
                <a:p>
                  <a:pPr algn="ctr" eaLnBrk="1" hangingPunct="1"/>
                  <a:endParaRPr lang="en-SG" sz="1400"/>
                </a:p>
              </p:txBody>
            </p:sp>
            <p:sp>
              <p:nvSpPr>
                <p:cNvPr id="23" name="TextBox 23">
                  <a:extLst>
                    <a:ext uri="{FF2B5EF4-FFF2-40B4-BE49-F238E27FC236}">
                      <a16:creationId xmlns:a16="http://schemas.microsoft.com/office/drawing/2014/main" id="{BFF581A2-3063-420A-AC3A-D22E698AF883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4476751" y="4630579"/>
                  <a:ext cx="489400" cy="307766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>
                  <a:spAutoFit/>
                </a:bodyPr>
                <a:lstStyle>
                  <a:lvl1pPr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1pPr>
                  <a:lvl2pPr marL="742950" indent="-28575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2pPr>
                  <a:lvl3pPr marL="11430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3pPr>
                  <a:lvl4pPr marL="16002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4pPr>
                  <a:lvl5pPr marL="20574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9pPr>
                </a:lstStyle>
                <a:p>
                  <a:pPr algn="ctr" eaLnBrk="1" hangingPunct="1"/>
                  <a:endParaRPr lang="en-SG" sz="1400"/>
                </a:p>
              </p:txBody>
            </p:sp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A61983A8-ECE0-4326-B1D6-DB9BE5689B18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4964006" y="4630579"/>
                  <a:ext cx="489400" cy="307766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>
                  <a:spAutoFit/>
                </a:bodyPr>
                <a:lstStyle>
                  <a:lvl1pPr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1pPr>
                  <a:lvl2pPr marL="742950" indent="-28575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2pPr>
                  <a:lvl3pPr marL="11430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3pPr>
                  <a:lvl4pPr marL="16002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4pPr>
                  <a:lvl5pPr marL="20574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9pPr>
                </a:lstStyle>
                <a:p>
                  <a:pPr algn="ctr" eaLnBrk="1" hangingPunct="1"/>
                  <a:endParaRPr lang="en-SG" sz="1400"/>
                </a:p>
              </p:txBody>
            </p:sp>
            <p:sp>
              <p:nvSpPr>
                <p:cNvPr id="25" name="TextBox 34">
                  <a:extLst>
                    <a:ext uri="{FF2B5EF4-FFF2-40B4-BE49-F238E27FC236}">
                      <a16:creationId xmlns:a16="http://schemas.microsoft.com/office/drawing/2014/main" id="{A3D0E130-3906-42AD-A78F-2E05CBB9A703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5503472" y="4630579"/>
                  <a:ext cx="489400" cy="307766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>
                  <a:spAutoFit/>
                </a:bodyPr>
                <a:lstStyle>
                  <a:lvl1pPr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1pPr>
                  <a:lvl2pPr marL="742950" indent="-28575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2pPr>
                  <a:lvl3pPr marL="11430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3pPr>
                  <a:lvl4pPr marL="16002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4pPr>
                  <a:lvl5pPr marL="20574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9pPr>
                </a:lstStyle>
                <a:p>
                  <a:pPr algn="ctr" eaLnBrk="1" hangingPunct="1"/>
                  <a:endParaRPr lang="en-SG" sz="1400"/>
                </a:p>
              </p:txBody>
            </p:sp>
            <p:sp>
              <p:nvSpPr>
                <p:cNvPr id="27" name="TextBox 36">
                  <a:extLst>
                    <a:ext uri="{FF2B5EF4-FFF2-40B4-BE49-F238E27FC236}">
                      <a16:creationId xmlns:a16="http://schemas.microsoft.com/office/drawing/2014/main" id="{93F62197-54D5-40BB-96E7-7439B16AE72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6523485" y="4630579"/>
                  <a:ext cx="489400" cy="307766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>
                  <a:spAutoFit/>
                </a:bodyPr>
                <a:lstStyle>
                  <a:lvl1pPr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1pPr>
                  <a:lvl2pPr marL="742950" indent="-28575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2pPr>
                  <a:lvl3pPr marL="11430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3pPr>
                  <a:lvl4pPr marL="16002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4pPr>
                  <a:lvl5pPr marL="20574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9pPr>
                </a:lstStyle>
                <a:p>
                  <a:pPr algn="ctr" eaLnBrk="1" hangingPunct="1"/>
                  <a:endParaRPr lang="en-SG" sz="1400"/>
                </a:p>
              </p:txBody>
            </p:sp>
            <p:sp>
              <p:nvSpPr>
                <p:cNvPr id="29" name="TextBox 20">
                  <a:extLst>
                    <a:ext uri="{FF2B5EF4-FFF2-40B4-BE49-F238E27FC236}">
                      <a16:creationId xmlns:a16="http://schemas.microsoft.com/office/drawing/2014/main" id="{D1216F97-8260-4931-9C7A-358BDF061599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421228" y="4915438"/>
                  <a:ext cx="502276" cy="369332"/>
                </a:xfrm>
                <a:prstGeom prst="rect">
                  <a:avLst/>
                </a:prstGeom>
                <a:solidFill>
                  <a:schemeClr val="bg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>
                  <a:spAutoFit/>
                </a:bodyPr>
                <a:lstStyle>
                  <a:lvl1pPr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1pPr>
                  <a:lvl2pPr marL="742950" indent="-28575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2pPr>
                  <a:lvl3pPr marL="11430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3pPr>
                  <a:lvl4pPr marL="16002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4pPr>
                  <a:lvl5pPr marL="20574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9pPr>
                </a:lstStyle>
                <a:p>
                  <a:pPr algn="ctr" eaLnBrk="1" hangingPunct="1"/>
                  <a:r>
                    <a:rPr lang="en-US"/>
                    <a:t>44</a:t>
                  </a:r>
                  <a:endParaRPr lang="en-SG"/>
                </a:p>
              </p:txBody>
            </p:sp>
            <p:sp>
              <p:nvSpPr>
                <p:cNvPr id="30" name="TextBox 21">
                  <a:extLst>
                    <a:ext uri="{FF2B5EF4-FFF2-40B4-BE49-F238E27FC236}">
                      <a16:creationId xmlns:a16="http://schemas.microsoft.com/office/drawing/2014/main" id="{1820F807-75B6-419B-8867-41EB4AFD20D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34237" y="4915438"/>
                  <a:ext cx="502276" cy="369332"/>
                </a:xfrm>
                <a:prstGeom prst="rect">
                  <a:avLst/>
                </a:prstGeom>
                <a:solidFill>
                  <a:schemeClr val="bg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>
                  <a:spAutoFit/>
                </a:bodyPr>
                <a:lstStyle>
                  <a:lvl1pPr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1pPr>
                  <a:lvl2pPr marL="742950" indent="-28575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2pPr>
                  <a:lvl3pPr marL="11430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3pPr>
                  <a:lvl4pPr marL="16002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4pPr>
                  <a:lvl5pPr marL="20574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9pPr>
                </a:lstStyle>
                <a:p>
                  <a:pPr algn="ctr" eaLnBrk="1" hangingPunct="1"/>
                  <a:r>
                    <a:rPr lang="en-US"/>
                    <a:t>9</a:t>
                  </a:r>
                  <a:endParaRPr lang="en-SG"/>
                </a:p>
              </p:txBody>
            </p:sp>
            <p:sp>
              <p:nvSpPr>
                <p:cNvPr id="31" name="TextBox 22">
                  <a:extLst>
                    <a:ext uri="{FF2B5EF4-FFF2-40B4-BE49-F238E27FC236}">
                      <a16:creationId xmlns:a16="http://schemas.microsoft.com/office/drawing/2014/main" id="{A7837753-E0EB-4FC8-94FC-AD5A60B95731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447245" y="4915438"/>
                  <a:ext cx="502276" cy="369332"/>
                </a:xfrm>
                <a:prstGeom prst="rect">
                  <a:avLst/>
                </a:prstGeom>
                <a:solidFill>
                  <a:schemeClr val="bg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>
                  <a:spAutoFit/>
                </a:bodyPr>
                <a:lstStyle>
                  <a:lvl1pPr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1pPr>
                  <a:lvl2pPr marL="742950" indent="-28575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2pPr>
                  <a:lvl3pPr marL="11430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3pPr>
                  <a:lvl4pPr marL="16002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4pPr>
                  <a:lvl5pPr marL="20574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9pPr>
                </a:lstStyle>
                <a:p>
                  <a:pPr algn="ctr" eaLnBrk="1" hangingPunct="1"/>
                  <a:r>
                    <a:rPr lang="en-US"/>
                    <a:t>17</a:t>
                  </a:r>
                  <a:endParaRPr lang="en-SG"/>
                </a:p>
              </p:txBody>
            </p:sp>
            <p:sp>
              <p:nvSpPr>
                <p:cNvPr id="32" name="TextBox 23">
                  <a:extLst>
                    <a:ext uri="{FF2B5EF4-FFF2-40B4-BE49-F238E27FC236}">
                      <a16:creationId xmlns:a16="http://schemas.microsoft.com/office/drawing/2014/main" id="{03619C47-9956-4E7D-9487-35830BD6082D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962401" y="4915438"/>
                  <a:ext cx="502276" cy="369332"/>
                </a:xfrm>
                <a:prstGeom prst="rect">
                  <a:avLst/>
                </a:prstGeom>
                <a:solidFill>
                  <a:schemeClr val="bg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>
                  <a:spAutoFit/>
                </a:bodyPr>
                <a:lstStyle>
                  <a:lvl1pPr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1pPr>
                  <a:lvl2pPr marL="742950" indent="-28575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2pPr>
                  <a:lvl3pPr marL="11430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3pPr>
                  <a:lvl4pPr marL="16002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4pPr>
                  <a:lvl5pPr marL="20574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9pPr>
                </a:lstStyle>
                <a:p>
                  <a:pPr algn="ctr" eaLnBrk="1" hangingPunct="1"/>
                  <a:r>
                    <a:rPr lang="en-US"/>
                    <a:t>1</a:t>
                  </a:r>
                  <a:endParaRPr lang="en-SG"/>
                </a:p>
              </p:txBody>
            </p:sp>
          </p:grpSp>
          <p:sp>
            <p:nvSpPr>
              <p:cNvPr id="18" name="TextBox 28">
                <a:extLst>
                  <a:ext uri="{FF2B5EF4-FFF2-40B4-BE49-F238E27FC236}">
                    <a16:creationId xmlns:a16="http://schemas.microsoft.com/office/drawing/2014/main" id="{54DCC539-9271-4E7C-A082-841C1702FC6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76250" y="4186238"/>
                <a:ext cx="1287463" cy="3683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eaLnBrk="1" hangingPunct="1"/>
                <a:r>
                  <a:rPr lang="en-US" dirty="0"/>
                  <a:t>In main():</a:t>
                </a:r>
                <a:endParaRPr lang="en-SG" dirty="0"/>
              </a:p>
            </p:txBody>
          </p:sp>
        </p:grpSp>
      </p:grpSp>
      <p:grpSp>
        <p:nvGrpSpPr>
          <p:cNvPr id="37" name="Group 52">
            <a:extLst>
              <a:ext uri="{FF2B5EF4-FFF2-40B4-BE49-F238E27FC236}">
                <a16:creationId xmlns:a16="http://schemas.microsoft.com/office/drawing/2014/main" id="{0EBBAA66-5BA5-4320-A4BD-5629D9DF9131}"/>
              </a:ext>
            </a:extLst>
          </p:cNvPr>
          <p:cNvGrpSpPr>
            <a:grpSpLocks/>
          </p:cNvGrpSpPr>
          <p:nvPr/>
        </p:nvGrpSpPr>
        <p:grpSpPr bwMode="auto">
          <a:xfrm>
            <a:off x="533400" y="5667691"/>
            <a:ext cx="4472771" cy="1004711"/>
            <a:chOff x="262742" y="5156199"/>
            <a:chExt cx="4472771" cy="1004711"/>
          </a:xfrm>
        </p:grpSpPr>
        <p:sp>
          <p:nvSpPr>
            <p:cNvPr id="38" name="TextBox 29">
              <a:extLst>
                <a:ext uri="{FF2B5EF4-FFF2-40B4-BE49-F238E27FC236}">
                  <a16:creationId xmlns:a16="http://schemas.microsoft.com/office/drawing/2014/main" id="{3EC4CF0B-4148-43F3-A866-11ADAF6ED1A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62742" y="5497513"/>
              <a:ext cx="2077687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dirty="0"/>
                <a:t>In </a:t>
              </a:r>
              <a:r>
                <a:rPr lang="en-US" dirty="0" err="1"/>
                <a:t>double_array</a:t>
              </a:r>
              <a:r>
                <a:rPr lang="en-US" dirty="0"/>
                <a:t>():</a:t>
              </a:r>
              <a:endParaRPr lang="en-SG" dirty="0"/>
            </a:p>
          </p:txBody>
        </p:sp>
        <p:grpSp>
          <p:nvGrpSpPr>
            <p:cNvPr id="39" name="Group 92">
              <a:extLst>
                <a:ext uri="{FF2B5EF4-FFF2-40B4-BE49-F238E27FC236}">
                  <a16:creationId xmlns:a16="http://schemas.microsoft.com/office/drawing/2014/main" id="{67DC3D40-15F7-4EBD-B099-1836A05534A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212975" y="5489575"/>
              <a:ext cx="927101" cy="652463"/>
              <a:chOff x="1207276" y="4357974"/>
              <a:chExt cx="926796" cy="652401"/>
            </a:xfrm>
          </p:grpSpPr>
          <p:sp>
            <p:nvSpPr>
              <p:cNvPr id="47" name="TextBox 31">
                <a:extLst>
                  <a:ext uri="{FF2B5EF4-FFF2-40B4-BE49-F238E27FC236}">
                    <a16:creationId xmlns:a16="http://schemas.microsoft.com/office/drawing/2014/main" id="{E361DF53-E7B7-4943-BCDD-021EF39AD24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207276" y="4357974"/>
                <a:ext cx="489400" cy="30776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algn="ctr" eaLnBrk="1" hangingPunct="1"/>
                <a:r>
                  <a:rPr lang="en-US" sz="1400"/>
                  <a:t>list</a:t>
                </a:r>
                <a:endParaRPr lang="en-SG" sz="1400"/>
              </a:p>
            </p:txBody>
          </p:sp>
          <p:sp>
            <p:nvSpPr>
              <p:cNvPr id="48" name="Rectangle 6">
                <a:extLst>
                  <a:ext uri="{FF2B5EF4-FFF2-40B4-BE49-F238E27FC236}">
                    <a16:creationId xmlns:a16="http://schemas.microsoft.com/office/drawing/2014/main" id="{6493243D-6763-4911-84E8-0FE5DDF42A2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07277" y="4667508"/>
                <a:ext cx="926795" cy="342867"/>
              </a:xfrm>
              <a:prstGeom prst="rect">
                <a:avLst/>
              </a:prstGeom>
              <a:solidFill>
                <a:srgbClr val="9F9FFF"/>
              </a:solidFill>
              <a:ln w="12700" cap="sq" algn="ctr">
                <a:solidFill>
                  <a:schemeClr val="tx1"/>
                </a:solidFill>
                <a:round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r>
                  <a:rPr lang="en-US" dirty="0"/>
                  <a:t>&amp;foo[0]</a:t>
                </a:r>
                <a:endParaRPr lang="en-SG" dirty="0"/>
              </a:p>
            </p:txBody>
          </p:sp>
        </p:grpSp>
        <p:cxnSp>
          <p:nvCxnSpPr>
            <p:cNvPr id="40" name="Straight Arrow Connector 33">
              <a:extLst>
                <a:ext uri="{FF2B5EF4-FFF2-40B4-BE49-F238E27FC236}">
                  <a16:creationId xmlns:a16="http://schemas.microsoft.com/office/drawing/2014/main" id="{1D9BC436-B10A-4D01-8BC3-780896F851D5}"/>
                </a:ext>
              </a:extLst>
            </p:cNvPr>
            <p:cNvCxnSpPr>
              <a:cxnSpLocks noChangeShapeType="1"/>
              <a:stCxn id="48" idx="0"/>
            </p:cNvCxnSpPr>
            <p:nvPr/>
          </p:nvCxnSpPr>
          <p:spPr bwMode="auto">
            <a:xfrm flipV="1">
              <a:off x="2676526" y="5156199"/>
              <a:ext cx="574674" cy="642939"/>
            </a:xfrm>
            <a:prstGeom prst="straightConnector1">
              <a:avLst/>
            </a:prstGeom>
            <a:noFill/>
            <a:ln w="12700" cap="sq" algn="ctr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grpSp>
          <p:nvGrpSpPr>
            <p:cNvPr id="41" name="Group 34">
              <a:extLst>
                <a:ext uri="{FF2B5EF4-FFF2-40B4-BE49-F238E27FC236}">
                  <a16:creationId xmlns:a16="http://schemas.microsoft.com/office/drawing/2014/main" id="{C4235436-B427-4DEB-8FE5-E31228E03A6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40075" y="5460679"/>
              <a:ext cx="669925" cy="700231"/>
              <a:chOff x="3307723" y="5924113"/>
              <a:chExt cx="669701" cy="700382"/>
            </a:xfrm>
          </p:grpSpPr>
          <p:sp>
            <p:nvSpPr>
              <p:cNvPr id="45" name="TextBox 35">
                <a:extLst>
                  <a:ext uri="{FF2B5EF4-FFF2-40B4-BE49-F238E27FC236}">
                    <a16:creationId xmlns:a16="http://schemas.microsoft.com/office/drawing/2014/main" id="{41D479DC-95D0-4D12-8B59-31FE63F19C5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307723" y="5924113"/>
                <a:ext cx="669701" cy="30784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algn="ctr" eaLnBrk="1" hangingPunct="1"/>
                <a:r>
                  <a:rPr lang="en-US" sz="1400" dirty="0"/>
                  <a:t>length</a:t>
                </a:r>
                <a:endParaRPr lang="en-SG" sz="1400" dirty="0"/>
              </a:p>
            </p:txBody>
          </p:sp>
          <p:sp>
            <p:nvSpPr>
              <p:cNvPr id="46" name="TextBox 36">
                <a:extLst>
                  <a:ext uri="{FF2B5EF4-FFF2-40B4-BE49-F238E27FC236}">
                    <a16:creationId xmlns:a16="http://schemas.microsoft.com/office/drawing/2014/main" id="{5E7AB43C-0397-48B2-8183-C1DDAE52ED6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433904" y="6255163"/>
                <a:ext cx="502276" cy="369332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algn="ctr" eaLnBrk="1" hangingPunct="1"/>
                <a:r>
                  <a:rPr lang="en-US"/>
                  <a:t>4</a:t>
                </a:r>
                <a:endParaRPr lang="en-SG"/>
              </a:p>
            </p:txBody>
          </p:sp>
        </p:grpSp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1B6CD8CE-626D-431E-A3C3-C6D57D52421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065588" y="5489575"/>
              <a:ext cx="669925" cy="654050"/>
              <a:chOff x="3307723" y="5929199"/>
              <a:chExt cx="669701" cy="654191"/>
            </a:xfrm>
          </p:grpSpPr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EB6880D9-D9CA-40A4-82A9-43BA3AA5806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307723" y="5929199"/>
                <a:ext cx="669701" cy="30777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algn="ctr" eaLnBrk="1" hangingPunct="1"/>
                <a:r>
                  <a:rPr lang="en-US" sz="1400"/>
                  <a:t>i</a:t>
                </a:r>
                <a:endParaRPr lang="en-SG" sz="1400"/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DC3A5C19-939F-4F66-9142-0D02E4940B2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423633" y="6214058"/>
                <a:ext cx="502276" cy="369332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algn="ctr" eaLnBrk="1" hangingPunct="1"/>
                <a:r>
                  <a:rPr lang="en-US"/>
                  <a:t>?</a:t>
                </a:r>
                <a:endParaRPr lang="en-SG"/>
              </a:p>
            </p:txBody>
          </p:sp>
        </p:grp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A9D5CCCF-DE5D-4753-9B65-63AF1E68D96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12308" y="5318731"/>
            <a:ext cx="446088" cy="338138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n-US" sz="1600" dirty="0">
                <a:solidFill>
                  <a:srgbClr val="800000"/>
                </a:solidFill>
              </a:rPr>
              <a:t>88</a:t>
            </a:r>
            <a:endParaRPr lang="en-SG" sz="1600" dirty="0">
              <a:solidFill>
                <a:srgbClr val="800000"/>
              </a:solidFill>
            </a:endParaRPr>
          </a:p>
        </p:txBody>
      </p:sp>
      <p:sp>
        <p:nvSpPr>
          <p:cNvPr id="50" name="TextBox 50">
            <a:extLst>
              <a:ext uri="{FF2B5EF4-FFF2-40B4-BE49-F238E27FC236}">
                <a16:creationId xmlns:a16="http://schemas.microsoft.com/office/drawing/2014/main" id="{3050EDD3-D2A7-4067-ABA7-57A9D92ED5A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23483" y="5316855"/>
            <a:ext cx="417513" cy="338137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n-US" sz="1600">
                <a:solidFill>
                  <a:srgbClr val="800000"/>
                </a:solidFill>
              </a:rPr>
              <a:t>18</a:t>
            </a:r>
            <a:endParaRPr lang="en-SG" sz="1600">
              <a:solidFill>
                <a:srgbClr val="800000"/>
              </a:solidFill>
            </a:endParaRPr>
          </a:p>
        </p:txBody>
      </p:sp>
      <p:sp>
        <p:nvSpPr>
          <p:cNvPr id="51" name="TextBox 51">
            <a:extLst>
              <a:ext uri="{FF2B5EF4-FFF2-40B4-BE49-F238E27FC236}">
                <a16:creationId xmlns:a16="http://schemas.microsoft.com/office/drawing/2014/main" id="{45BF1088-CEDF-413B-AF3E-61AE386D1DD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44183" y="5310505"/>
            <a:ext cx="433388" cy="338137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n-US" sz="1600">
                <a:solidFill>
                  <a:srgbClr val="800000"/>
                </a:solidFill>
              </a:rPr>
              <a:t>34</a:t>
            </a:r>
            <a:endParaRPr lang="en-SG" sz="1600">
              <a:solidFill>
                <a:srgbClr val="800000"/>
              </a:solidFill>
            </a:endParaRPr>
          </a:p>
        </p:txBody>
      </p:sp>
      <p:sp>
        <p:nvSpPr>
          <p:cNvPr id="52" name="TextBox 52">
            <a:extLst>
              <a:ext uri="{FF2B5EF4-FFF2-40B4-BE49-F238E27FC236}">
                <a16:creationId xmlns:a16="http://schemas.microsoft.com/office/drawing/2014/main" id="{FADC1677-1ED5-48D8-BA95-82B09DC8E28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96633" y="5321617"/>
            <a:ext cx="350838" cy="339725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n-US" sz="1600">
                <a:solidFill>
                  <a:srgbClr val="800000"/>
                </a:solidFill>
              </a:rPr>
              <a:t>2</a:t>
            </a:r>
            <a:endParaRPr lang="en-SG" sz="1600">
              <a:solidFill>
                <a:srgbClr val="800000"/>
              </a:solidFill>
            </a:endParaRPr>
          </a:p>
        </p:txBody>
      </p:sp>
      <p:sp>
        <p:nvSpPr>
          <p:cNvPr id="53" name="TextBox 55">
            <a:extLst>
              <a:ext uri="{FF2B5EF4-FFF2-40B4-BE49-F238E27FC236}">
                <a16:creationId xmlns:a16="http://schemas.microsoft.com/office/drawing/2014/main" id="{FAE0AE3B-EFB7-422B-939D-F81E1D50D94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39446" y="6297930"/>
            <a:ext cx="315912" cy="339725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n-US" sz="1600">
                <a:solidFill>
                  <a:srgbClr val="993366"/>
                </a:solidFill>
              </a:rPr>
              <a:t>0</a:t>
            </a:r>
            <a:endParaRPr lang="en-SG" sz="1600">
              <a:solidFill>
                <a:srgbClr val="993366"/>
              </a:solidFill>
            </a:endParaRPr>
          </a:p>
        </p:txBody>
      </p:sp>
      <p:sp>
        <p:nvSpPr>
          <p:cNvPr id="54" name="TextBox 47">
            <a:extLst>
              <a:ext uri="{FF2B5EF4-FFF2-40B4-BE49-F238E27FC236}">
                <a16:creationId xmlns:a16="http://schemas.microsoft.com/office/drawing/2014/main" id="{1529E195-DBCE-421C-B59E-914BCA1B4CE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93880" y="6299517"/>
            <a:ext cx="382587" cy="338138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n-US" sz="1600">
                <a:solidFill>
                  <a:srgbClr val="993366"/>
                </a:solidFill>
              </a:rPr>
              <a:t>1</a:t>
            </a:r>
            <a:endParaRPr lang="en-SG" sz="1600">
              <a:solidFill>
                <a:srgbClr val="993366"/>
              </a:solidFill>
            </a:endParaRPr>
          </a:p>
        </p:txBody>
      </p:sp>
      <p:sp>
        <p:nvSpPr>
          <p:cNvPr id="55" name="TextBox 49">
            <a:extLst>
              <a:ext uri="{FF2B5EF4-FFF2-40B4-BE49-F238E27FC236}">
                <a16:creationId xmlns:a16="http://schemas.microsoft.com/office/drawing/2014/main" id="{AE7533C6-6C79-4059-93B3-A3491249A2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59277" y="6311582"/>
            <a:ext cx="423862" cy="338138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n-US" sz="1600">
                <a:solidFill>
                  <a:srgbClr val="993366"/>
                </a:solidFill>
              </a:rPr>
              <a:t>2</a:t>
            </a:r>
            <a:endParaRPr lang="en-SG" sz="1600">
              <a:solidFill>
                <a:srgbClr val="993366"/>
              </a:solidFill>
            </a:endParaRPr>
          </a:p>
        </p:txBody>
      </p:sp>
      <p:sp>
        <p:nvSpPr>
          <p:cNvPr id="56" name="TextBox 53">
            <a:extLst>
              <a:ext uri="{FF2B5EF4-FFF2-40B4-BE49-F238E27FC236}">
                <a16:creationId xmlns:a16="http://schemas.microsoft.com/office/drawing/2014/main" id="{C5996136-81EF-4B88-9847-D513AD49256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10539" y="6300575"/>
            <a:ext cx="347662" cy="339725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n-US" sz="1600">
                <a:solidFill>
                  <a:srgbClr val="993366"/>
                </a:solidFill>
              </a:rPr>
              <a:t>3</a:t>
            </a:r>
            <a:endParaRPr lang="en-SG" sz="1600">
              <a:solidFill>
                <a:srgbClr val="993366"/>
              </a:solidFill>
            </a:endParaRPr>
          </a:p>
        </p:txBody>
      </p:sp>
      <p:sp>
        <p:nvSpPr>
          <p:cNvPr id="57" name="TextBox 54">
            <a:extLst>
              <a:ext uri="{FF2B5EF4-FFF2-40B4-BE49-F238E27FC236}">
                <a16:creationId xmlns:a16="http://schemas.microsoft.com/office/drawing/2014/main" id="{B907304A-CED7-4607-B434-2CE215C031F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27523" y="6300311"/>
            <a:ext cx="315912" cy="339725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n-US" sz="1600">
                <a:solidFill>
                  <a:srgbClr val="993366"/>
                </a:solidFill>
              </a:rPr>
              <a:t>4</a:t>
            </a:r>
            <a:endParaRPr lang="en-SG" sz="1600">
              <a:solidFill>
                <a:srgbClr val="993366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EB2BE24-D538-BAA6-85BF-B40E43F75B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Unit14 - </a:t>
            </a:r>
            <a:fld id="{2E4790E1-2590-4AEE-892D-AB46A7688113}" type="slidenum">
              <a:rPr lang="en-US" smtClean="0"/>
              <a:pPr>
                <a:defRPr/>
              </a:pPr>
              <a:t>25</a:t>
            </a:fld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27C8786F-1DD1-D9CE-9D4E-81D11C869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BB527D-AE25-0208-1982-1B5335E0B996}"/>
              </a:ext>
            </a:extLst>
          </p:cNvPr>
          <p:cNvSpPr txBox="1"/>
          <p:nvPr/>
        </p:nvSpPr>
        <p:spPr>
          <a:xfrm>
            <a:off x="6022207" y="3886190"/>
            <a:ext cx="2395845" cy="646331"/>
          </a:xfrm>
          <a:prstGeom prst="rect">
            <a:avLst/>
          </a:prstGeom>
          <a:solidFill>
            <a:srgbClr val="FFFF99"/>
          </a:solidFill>
          <a:ln w="127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Use </a:t>
            </a:r>
            <a:r>
              <a:rPr lang="en-US" dirty="0">
                <a:solidFill>
                  <a:srgbClr val="0000FF"/>
                </a:solidFill>
              </a:rPr>
              <a:t>const</a:t>
            </a:r>
            <a:r>
              <a:rPr lang="en-US" dirty="0"/>
              <a:t> to disallow such modifications.</a:t>
            </a:r>
          </a:p>
        </p:txBody>
      </p:sp>
    </p:spTree>
    <p:extLst>
      <p:ext uri="{BB962C8B-B14F-4D97-AF65-F5344CB8AC3E}">
        <p14:creationId xmlns:p14="http://schemas.microsoft.com/office/powerpoint/2010/main" val="1258830549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0"/>
                            </p:stCondLst>
                            <p:childTnLst>
                              <p:par>
                                <p:cTn id="37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9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4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500"/>
                            </p:stCondLst>
                            <p:childTnLst>
                              <p:par>
                                <p:cTn id="46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8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3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 animBg="1"/>
      <p:bldP spid="56" grpId="0" animBg="1"/>
      <p:bldP spid="5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r>
              <a:rPr lang="en-GB" sz="3600" dirty="0">
                <a:solidFill>
                  <a:srgbClr val="0000FF"/>
                </a:solidFill>
              </a:rPr>
              <a:t>Other Facts with Array</a:t>
            </a:r>
          </a:p>
        </p:txBody>
      </p:sp>
      <p:sp>
        <p:nvSpPr>
          <p:cNvPr id="59" name="Content Placeholder 5">
            <a:extLst>
              <a:ext uri="{FF2B5EF4-FFF2-40B4-BE49-F238E27FC236}">
                <a16:creationId xmlns:a16="http://schemas.microsoft.com/office/drawing/2014/main" id="{33B4E5E4-978F-4C76-9C9E-32FCCE70B3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7375" y="1187450"/>
            <a:ext cx="8292856" cy="5289550"/>
          </a:xfrm>
        </p:spPr>
        <p:txBody>
          <a:bodyPr>
            <a:noAutofit/>
          </a:bodyPr>
          <a:lstStyle/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sz="2800" dirty="0"/>
              <a:t>Read the notes for information about</a:t>
            </a:r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sz="2400" dirty="0"/>
              <a:t>Array and pointers</a:t>
            </a:r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sz="2400" dirty="0"/>
              <a:t>Returning an array from a function</a:t>
            </a:r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sz="2400" dirty="0"/>
              <a:t>….</a:t>
            </a:r>
            <a:endParaRPr lang="en-US" dirty="0"/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400" dirty="0"/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400" dirty="0"/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4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8BEFB6B-3D55-96A6-A533-1106A7E979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Unit14 - </a:t>
            </a:r>
            <a:fld id="{2E4790E1-2590-4AEE-892D-AB46A7688113}" type="slidenum">
              <a:rPr lang="en-US" smtClean="0"/>
              <a:pPr>
                <a:defRPr/>
              </a:pPr>
              <a:t>26</a:t>
            </a:fld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316E273-8F51-A24A-3B33-F135A1323B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</p:spTree>
    <p:extLst>
      <p:ext uri="{BB962C8B-B14F-4D97-AF65-F5344CB8AC3E}">
        <p14:creationId xmlns:p14="http://schemas.microsoft.com/office/powerpoint/2010/main" val="2437490798"/>
      </p:ext>
    </p:extLst>
  </p:cSld>
  <p:clrMapOvr>
    <a:masterClrMapping/>
  </p:clrMapOvr>
  <p:transition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457200"/>
            <a:ext cx="8153400" cy="685800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GB" sz="4000" dirty="0">
                <a:solidFill>
                  <a:srgbClr val="0000FF"/>
                </a:solidFill>
              </a:rPr>
              <a:t>Homework</a:t>
            </a:r>
            <a:endParaRPr lang="en-GB" dirty="0">
              <a:solidFill>
                <a:srgbClr val="0000FF"/>
              </a:solidFill>
            </a:endParaRPr>
          </a:p>
        </p:txBody>
      </p:sp>
      <p:sp>
        <p:nvSpPr>
          <p:cNvPr id="43" name="Slide Number Placeholder 42"/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sz="1200" dirty="0"/>
              <a:t>Unit14</a:t>
            </a:r>
            <a:r>
              <a:rPr dirty="0"/>
              <a:t> - </a:t>
            </a:r>
            <a:fld id="{628B8346-B709-406B-887E-3E0CC6DA1327}" type="slidenum">
              <a:rPr smtClean="0"/>
              <a:pPr>
                <a:defRPr/>
              </a:pPr>
              <a:t>27</a:t>
            </a:fld>
            <a:endParaRPr dirty="0"/>
          </a:p>
        </p:txBody>
      </p:sp>
      <p:sp>
        <p:nvSpPr>
          <p:cNvPr id="10" name="HighlightBackgroundShapeeee31423-879f-470c-ac44-148c4404b3a6"/>
          <p:cNvSpPr>
            <a:spLocks noChangeArrowheads="1"/>
          </p:cNvSpPr>
          <p:nvPr/>
        </p:nvSpPr>
        <p:spPr bwMode="auto">
          <a:xfrm>
            <a:off x="491319" y="1219200"/>
            <a:ext cx="8134521" cy="50749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342900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endParaRPr lang="en-US" sz="2400" dirty="0"/>
          </a:p>
        </p:txBody>
      </p:sp>
      <p:sp>
        <p:nvSpPr>
          <p:cNvPr id="6" name="[Date Placeholder 3]"/>
          <p:cNvSpPr>
            <a:spLocks noGrp="1"/>
          </p:cNvSpPr>
          <p:nvPr>
            <p:ph type="dt" sz="half" idx="10"/>
          </p:nvPr>
        </p:nvSpPr>
        <p:spPr>
          <a:xfrm>
            <a:off x="457200" y="18288"/>
            <a:ext cx="2895600" cy="329184"/>
          </a:xfrm>
        </p:spPr>
        <p:txBody>
          <a:bodyPr/>
          <a:lstStyle/>
          <a:p>
            <a:pPr>
              <a:defRPr/>
            </a:pPr>
            <a:r>
              <a:rPr lang="en-US"/>
              <a:t>© NUS</a:t>
            </a:r>
            <a:endParaRPr lang="en-US" dirty="0"/>
          </a:p>
        </p:txBody>
      </p:sp>
      <p:sp>
        <p:nvSpPr>
          <p:cNvPr id="13" name="HighlightBackgroundShapeeee31423-879f-470c-ac44-148c4404b3a6"/>
          <p:cNvSpPr>
            <a:spLocks noChangeArrowheads="1"/>
          </p:cNvSpPr>
          <p:nvPr/>
        </p:nvSpPr>
        <p:spPr bwMode="auto">
          <a:xfrm>
            <a:off x="643719" y="1371600"/>
            <a:ext cx="8134521" cy="50749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342900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r>
              <a:rPr lang="en-US" sz="2400" dirty="0"/>
              <a:t>Diagnostic Quizzes</a:t>
            </a:r>
          </a:p>
          <a:p>
            <a:pPr marL="800100" lvl="1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r>
              <a:rPr lang="en-US" sz="2000" dirty="0"/>
              <a:t>Lecture 5: due </a:t>
            </a:r>
            <a:r>
              <a:rPr lang="en-US" sz="2000" dirty="0">
                <a:solidFill>
                  <a:srgbClr val="0000FF"/>
                </a:solidFill>
              </a:rPr>
              <a:t>20 Feb, 2pm </a:t>
            </a:r>
            <a:r>
              <a:rPr lang="en-US" sz="2000" dirty="0"/>
              <a:t>(extended due to CNY)</a:t>
            </a:r>
          </a:p>
          <a:p>
            <a:pPr marL="800100" lvl="1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r>
              <a:rPr lang="en-US" sz="2000" dirty="0"/>
              <a:t>Lecture 6: due </a:t>
            </a:r>
            <a:r>
              <a:rPr lang="en-US" sz="2000" dirty="0">
                <a:solidFill>
                  <a:srgbClr val="0000FF"/>
                </a:solidFill>
              </a:rPr>
              <a:t>3 Mar, 2pm</a:t>
            </a:r>
            <a:endParaRPr lang="en-US" sz="2000" dirty="0"/>
          </a:p>
          <a:p>
            <a:pPr marL="800100" lvl="1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endParaRPr lang="en-US" sz="1200" dirty="0"/>
          </a:p>
          <a:p>
            <a:pPr marL="342900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r>
              <a:rPr lang="en-US" sz="2800" dirty="0"/>
              <a:t>Problem Set 13 &amp;14</a:t>
            </a:r>
          </a:p>
          <a:p>
            <a:pPr marL="342900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endParaRPr lang="en-US" sz="1200" dirty="0"/>
          </a:p>
          <a:p>
            <a:pPr marL="342900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r>
              <a:rPr lang="en-US" sz="2800" dirty="0"/>
              <a:t>Exercises</a:t>
            </a:r>
          </a:p>
          <a:p>
            <a:pPr marL="800100" lvl="1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r>
              <a:rPr lang="en-US" sz="2000" dirty="0"/>
              <a:t>Exercise 2 due </a:t>
            </a:r>
            <a:r>
              <a:rPr lang="en-US" sz="2000" dirty="0">
                <a:solidFill>
                  <a:srgbClr val="0000FF"/>
                </a:solidFill>
              </a:rPr>
              <a:t>3</a:t>
            </a:r>
            <a:r>
              <a:rPr lang="en-US" sz="2000" dirty="0"/>
              <a:t> </a:t>
            </a:r>
            <a:r>
              <a:rPr lang="en-US" sz="2000" dirty="0">
                <a:solidFill>
                  <a:srgbClr val="0000FF"/>
                </a:solidFill>
              </a:rPr>
              <a:t>Mar, 2pm</a:t>
            </a:r>
            <a:endParaRPr lang="en-US" sz="2000" dirty="0"/>
          </a:p>
          <a:p>
            <a:pPr marL="800100" lvl="1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r>
              <a:rPr lang="en-US" sz="2000" dirty="0"/>
              <a:t>Exercise 3 due </a:t>
            </a:r>
            <a:r>
              <a:rPr lang="en-US" sz="2000" dirty="0">
                <a:solidFill>
                  <a:srgbClr val="0000FF"/>
                </a:solidFill>
              </a:rPr>
              <a:t>10</a:t>
            </a:r>
            <a:r>
              <a:rPr lang="en-US" sz="2000" dirty="0"/>
              <a:t> </a:t>
            </a:r>
            <a:r>
              <a:rPr lang="en-US" sz="2000" dirty="0">
                <a:solidFill>
                  <a:srgbClr val="0000FF"/>
                </a:solidFill>
              </a:rPr>
              <a:t>Mar, 2pm</a:t>
            </a:r>
          </a:p>
          <a:p>
            <a:pPr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</a:pPr>
            <a:endParaRPr lang="en-US" sz="1200" dirty="0"/>
          </a:p>
          <a:p>
            <a:pPr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</a:pPr>
            <a:endParaRPr lang="en-US" sz="2400" dirty="0"/>
          </a:p>
          <a:p>
            <a:pPr marL="800100" lvl="1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endParaRPr lang="en-US" sz="2400" dirty="0"/>
          </a:p>
          <a:p>
            <a:pPr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</a:pPr>
            <a:endParaRPr lang="en-US" sz="2400" dirty="0"/>
          </a:p>
          <a:p>
            <a:pPr marL="342900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endParaRPr lang="en-US" sz="2400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F1B70FD-CEB1-90E7-7889-01A5A1BBC6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</p:spTree>
    <p:extLst>
      <p:ext uri="{BB962C8B-B14F-4D97-AF65-F5344CB8AC3E}">
        <p14:creationId xmlns:p14="http://schemas.microsoft.com/office/powerpoint/2010/main" val="1067695719"/>
      </p:ext>
    </p:extLst>
  </p:cSld>
  <p:clrMapOvr>
    <a:masterClrMapping/>
  </p:clrMapOvr>
  <p:transition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1CA892-6CAF-BAB4-5FB2-4D2DE396F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Slide Number Placeholder 42">
            <a:extLst>
              <a:ext uri="{FF2B5EF4-FFF2-40B4-BE49-F238E27FC236}">
                <a16:creationId xmlns:a16="http://schemas.microsoft.com/office/drawing/2014/main" id="{5F68C6FD-7CF7-4365-CFB2-DD8947C188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sz="1200" dirty="0"/>
              <a:t>Unit14</a:t>
            </a:r>
            <a:r>
              <a:rPr dirty="0"/>
              <a:t> - </a:t>
            </a:r>
            <a:fld id="{628B8346-B709-406B-887E-3E0CC6DA1327}" type="slidenum">
              <a:rPr smtClean="0"/>
              <a:pPr>
                <a:defRPr/>
              </a:pPr>
              <a:t>28</a:t>
            </a:fld>
            <a:endParaRPr dirty="0"/>
          </a:p>
        </p:txBody>
      </p:sp>
      <p:sp>
        <p:nvSpPr>
          <p:cNvPr id="10" name="HighlightBackgroundShapeeee31423-879f-470c-ac44-148c4404b3a6">
            <a:extLst>
              <a:ext uri="{FF2B5EF4-FFF2-40B4-BE49-F238E27FC236}">
                <a16:creationId xmlns:a16="http://schemas.microsoft.com/office/drawing/2014/main" id="{2B97676B-F140-1854-8A83-DAC5C60F507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1319" y="1219200"/>
            <a:ext cx="8134521" cy="50749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342900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endParaRPr lang="en-US" sz="2400" dirty="0"/>
          </a:p>
        </p:txBody>
      </p:sp>
      <p:sp>
        <p:nvSpPr>
          <p:cNvPr id="6" name="[Date Placeholder 3]">
            <a:extLst>
              <a:ext uri="{FF2B5EF4-FFF2-40B4-BE49-F238E27FC236}">
                <a16:creationId xmlns:a16="http://schemas.microsoft.com/office/drawing/2014/main" id="{B5CB08D5-11F8-C9B9-1E03-BE91F6E77D7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57200" y="18288"/>
            <a:ext cx="2895600" cy="329184"/>
          </a:xfrm>
        </p:spPr>
        <p:txBody>
          <a:bodyPr/>
          <a:lstStyle/>
          <a:p>
            <a:pPr>
              <a:defRPr/>
            </a:pPr>
            <a:r>
              <a:rPr lang="en-US"/>
              <a:t>© NUS</a:t>
            </a:r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8897C9AD-7766-C088-3BCC-207B488CEC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5FFB8BAB-4C2A-0B3D-48A1-99993A14B54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457200"/>
            <a:ext cx="8153400" cy="685800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GB" sz="4000" dirty="0">
                <a:solidFill>
                  <a:srgbClr val="0000FF"/>
                </a:solidFill>
              </a:rPr>
              <a:t>Midterm</a:t>
            </a:r>
            <a:endParaRPr lang="en-GB" dirty="0">
              <a:solidFill>
                <a:srgbClr val="0000FF"/>
              </a:solidFill>
            </a:endParaRPr>
          </a:p>
        </p:txBody>
      </p:sp>
      <p:sp>
        <p:nvSpPr>
          <p:cNvPr id="7" name="HighlightBackgroundShapeeee31423-879f-470c-ac44-148c4404b3a6">
            <a:extLst>
              <a:ext uri="{FF2B5EF4-FFF2-40B4-BE49-F238E27FC236}">
                <a16:creationId xmlns:a16="http://schemas.microsoft.com/office/drawing/2014/main" id="{68FE83B9-5DAF-C4E0-7BA6-EE8195BF06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3719" y="1371600"/>
            <a:ext cx="8134521" cy="50749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342900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r>
              <a:rPr lang="en-US" sz="2400" dirty="0"/>
              <a:t>Basic Info</a:t>
            </a:r>
          </a:p>
          <a:p>
            <a:pPr marL="800100" lvl="1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r>
              <a:rPr lang="en-US" sz="2000" dirty="0"/>
              <a:t>Date: </a:t>
            </a:r>
            <a:r>
              <a:rPr lang="en-US" sz="2000" dirty="0">
                <a:solidFill>
                  <a:srgbClr val="0000FF"/>
                </a:solidFill>
              </a:rPr>
              <a:t>3 Mar (Tue)</a:t>
            </a:r>
          </a:p>
          <a:p>
            <a:pPr marL="800100" lvl="1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r>
              <a:rPr lang="en-US" sz="2000" dirty="0"/>
              <a:t>Time: </a:t>
            </a:r>
            <a:r>
              <a:rPr lang="en-US" sz="2000" dirty="0">
                <a:solidFill>
                  <a:srgbClr val="0000FF"/>
                </a:solidFill>
              </a:rPr>
              <a:t>10 am to 12 </a:t>
            </a:r>
            <a:r>
              <a:rPr lang="en-US" sz="2000" dirty="0" err="1">
                <a:solidFill>
                  <a:srgbClr val="0000FF"/>
                </a:solidFill>
              </a:rPr>
              <a:t>nn</a:t>
            </a:r>
            <a:endParaRPr lang="en-US" sz="2000" dirty="0">
              <a:solidFill>
                <a:srgbClr val="0000FF"/>
              </a:solidFill>
            </a:endParaRPr>
          </a:p>
          <a:p>
            <a:pPr marL="800100" lvl="1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r>
              <a:rPr lang="en-US" sz="2000" dirty="0"/>
              <a:t>Venue: </a:t>
            </a:r>
            <a:r>
              <a:rPr lang="en-US" sz="2000" dirty="0">
                <a:solidFill>
                  <a:srgbClr val="0000FF"/>
                </a:solidFill>
              </a:rPr>
              <a:t>LT18</a:t>
            </a:r>
          </a:p>
          <a:p>
            <a:pPr marL="800100" lvl="1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r>
              <a:rPr lang="en-US" sz="2000" dirty="0"/>
              <a:t>Scope: </a:t>
            </a:r>
            <a:r>
              <a:rPr lang="en-US" sz="2000" dirty="0">
                <a:solidFill>
                  <a:srgbClr val="0000FF"/>
                </a:solidFill>
              </a:rPr>
              <a:t>Units 1-14, Exercises 0-2</a:t>
            </a:r>
          </a:p>
          <a:p>
            <a:pPr marL="800100" lvl="1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r>
              <a:rPr lang="en-US" sz="2000" dirty="0"/>
              <a:t>Format: </a:t>
            </a:r>
            <a:r>
              <a:rPr lang="en-US" sz="2000" dirty="0">
                <a:solidFill>
                  <a:srgbClr val="0000FF"/>
                </a:solidFill>
              </a:rPr>
              <a:t>Pen-and-paper, MCQs + Short Structured Questions</a:t>
            </a:r>
            <a:endParaRPr lang="en-US" sz="2000" dirty="0"/>
          </a:p>
          <a:p>
            <a:pPr marL="800100" lvl="1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r>
              <a:rPr lang="en-US" sz="2000" dirty="0"/>
              <a:t>Duration: </a:t>
            </a:r>
            <a:r>
              <a:rPr lang="en-US" sz="2000" dirty="0">
                <a:solidFill>
                  <a:srgbClr val="0000FF"/>
                </a:solidFill>
              </a:rPr>
              <a:t>80 minutes</a:t>
            </a:r>
          </a:p>
          <a:p>
            <a:pPr marL="800100" lvl="1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r>
              <a:rPr lang="en-US" sz="2000" dirty="0">
                <a:solidFill>
                  <a:srgbClr val="0000FF"/>
                </a:solidFill>
              </a:rPr>
              <a:t>Open Book </a:t>
            </a:r>
            <a:r>
              <a:rPr lang="en-US" sz="2000" dirty="0"/>
              <a:t>(Analog references only but calculators allowed)</a:t>
            </a:r>
          </a:p>
          <a:p>
            <a:pPr marL="800100" lvl="1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endParaRPr lang="en-US" sz="2000" dirty="0"/>
          </a:p>
          <a:p>
            <a:pPr marL="342900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r>
              <a:rPr lang="en-US" sz="2400" dirty="0"/>
              <a:t>Past year paper available in Canvas</a:t>
            </a:r>
          </a:p>
          <a:p>
            <a:pPr lvl="1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</a:pPr>
            <a:endParaRPr lang="en-US" sz="2400" dirty="0"/>
          </a:p>
          <a:p>
            <a:pPr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</a:pPr>
            <a:endParaRPr lang="en-US" sz="2400" dirty="0"/>
          </a:p>
          <a:p>
            <a:pPr marL="342900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414353441"/>
      </p:ext>
    </p:extLst>
  </p:cSld>
  <p:clrMapOvr>
    <a:masterClrMapping/>
  </p:clrMapOvr>
  <p:transition>
    <p:fade/>
  </p:transition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larity">
  <a:themeElements>
    <a:clrScheme name="Clarity">
      <a:dk1>
        <a:srgbClr val="292934"/>
      </a:dk1>
      <a:lt1>
        <a:srgbClr val="FFFFFF"/>
      </a:lt1>
      <a:dk2>
        <a:srgbClr val="D2533C"/>
      </a:dk2>
      <a:lt2>
        <a:srgbClr val="F3F2DC"/>
      </a:lt2>
      <a:accent1>
        <a:srgbClr val="93A299"/>
      </a:accent1>
      <a:accent2>
        <a:srgbClr val="AD8F67"/>
      </a:accent2>
      <a:accent3>
        <a:srgbClr val="726056"/>
      </a:accent3>
      <a:accent4>
        <a:srgbClr val="4C5A6A"/>
      </a:accent4>
      <a:accent5>
        <a:srgbClr val="808DA0"/>
      </a:accent5>
      <a:accent6>
        <a:srgbClr val="79463D"/>
      </a:accent6>
      <a:hlink>
        <a:srgbClr val="0000FF"/>
      </a:hlink>
      <a:folHlink>
        <a:srgbClr val="800080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larity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hade val="86000"/>
                <a:satMod val="140000"/>
              </a:schemeClr>
            </a:gs>
            <a:gs pos="45000">
              <a:schemeClr val="phClr">
                <a:tint val="48000"/>
                <a:satMod val="150000"/>
              </a:schemeClr>
            </a:gs>
            <a:gs pos="100000">
              <a:schemeClr val="phClr">
                <a:tint val="28000"/>
                <a:satMod val="16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70000"/>
                <a:satMod val="150000"/>
              </a:schemeClr>
            </a:gs>
            <a:gs pos="34000">
              <a:schemeClr val="phClr">
                <a:shade val="70000"/>
                <a:satMod val="140000"/>
              </a:schemeClr>
            </a:gs>
            <a:gs pos="70000">
              <a:schemeClr val="phClr">
                <a:tint val="100000"/>
                <a:shade val="90000"/>
                <a:satMod val="140000"/>
              </a:schemeClr>
            </a:gs>
            <a:gs pos="100000">
              <a:schemeClr val="phClr">
                <a:tint val="100000"/>
                <a:shade val="100000"/>
                <a:sat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26425" cap="flat" cmpd="sng" algn="ctr">
          <a:solidFill>
            <a:schemeClr val="phClr"/>
          </a:solidFill>
          <a:prstDash val="solid"/>
        </a:ln>
        <a:ln w="444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hade val="30000"/>
                <a:satMod val="13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85000"/>
                <a:satMod val="180000"/>
              </a:schemeClr>
            </a:gs>
            <a:gs pos="40000">
              <a:schemeClr val="phClr">
                <a:tint val="95000"/>
                <a:shade val="85000"/>
                <a:satMod val="150000"/>
              </a:schemeClr>
            </a:gs>
            <a:gs pos="100000">
              <a:schemeClr val="phClr">
                <a:shade val="45000"/>
                <a:satMod val="200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55000"/>
              </a:schemeClr>
              <a:schemeClr val="phClr">
                <a:tint val="97000"/>
                <a:satMod val="95000"/>
              </a:schemeClr>
            </a:duotone>
          </a:blip>
          <a:tile tx="0" ty="0" sx="70000" sy="70000" flip="none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Clarity</Template>
  <TotalTime>14333</TotalTime>
  <Words>2594</Words>
  <Application>Microsoft Office PowerPoint</Application>
  <PresentationFormat>On-screen Show (4:3)</PresentationFormat>
  <Paragraphs>576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4" baseType="lpstr">
      <vt:lpstr>Courier New</vt:lpstr>
      <vt:lpstr>Arial</vt:lpstr>
      <vt:lpstr>Times New Roman</vt:lpstr>
      <vt:lpstr>Wingdings</vt:lpstr>
      <vt:lpstr>Calibri</vt:lpstr>
      <vt:lpstr>Clarity</vt:lpstr>
      <vt:lpstr>PowerPoint Presentation</vt:lpstr>
      <vt:lpstr>Unit 13: Call Stack</vt:lpstr>
      <vt:lpstr>Variable Declaration - redux</vt:lpstr>
      <vt:lpstr>Function Call - redux</vt:lpstr>
      <vt:lpstr>Stack Frame</vt:lpstr>
      <vt:lpstr>Call Stack</vt:lpstr>
      <vt:lpstr>Call Stack</vt:lpstr>
      <vt:lpstr>Call Stack</vt:lpstr>
      <vt:lpstr>Call Stack</vt:lpstr>
      <vt:lpstr>Common Mistake</vt:lpstr>
      <vt:lpstr>PowerPoint Presentation</vt:lpstr>
      <vt:lpstr>Unit 15: Array</vt:lpstr>
      <vt:lpstr>Variables – re-redux</vt:lpstr>
      <vt:lpstr>Fixed-Length Array</vt:lpstr>
      <vt:lpstr>Fixed-Length Array</vt:lpstr>
      <vt:lpstr>Fixed-Length Array</vt:lpstr>
      <vt:lpstr>Array as Look-up Table </vt:lpstr>
      <vt:lpstr>Array as Look-up Table </vt:lpstr>
      <vt:lpstr>Array as Look-up Table </vt:lpstr>
      <vt:lpstr>Array as List</vt:lpstr>
      <vt:lpstr>Common Mistakes (1/2)</vt:lpstr>
      <vt:lpstr>Common Mistakes (2/2)</vt:lpstr>
      <vt:lpstr>Array and Memory</vt:lpstr>
      <vt:lpstr>Call By Value - redux</vt:lpstr>
      <vt:lpstr>Call By Reference</vt:lpstr>
      <vt:lpstr>Other Facts with Array</vt:lpstr>
      <vt:lpstr>Homework</vt:lpstr>
      <vt:lpstr>Midterm</vt:lpstr>
    </vt:vector>
  </TitlesOfParts>
  <Company>SoC, NUS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CS1010: Programming Methodology</dc:title>
  <dc:subject>Week 1</dc:subject>
  <dc:creator>Aaron Tan</dc:creator>
  <cp:lastModifiedBy>Zhao Jin</cp:lastModifiedBy>
  <cp:revision>1544</cp:revision>
  <cp:lastPrinted>2014-06-20T04:24:53Z</cp:lastPrinted>
  <dcterms:created xsi:type="dcterms:W3CDTF">1998-09-05T15:03:32Z</dcterms:created>
  <dcterms:modified xsi:type="dcterms:W3CDTF">2026-02-19T05:45:59Z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TemplateType">
    <vt:i4>1</vt:i4>
  </property>
  <property fmtid="{D5CDD505-2E9C-101B-9397-08002B2CF9AE}" pid="3" name="GraphicType">
    <vt:i4>1</vt:i4>
  </property>
  <property fmtid="{D5CDD505-2E9C-101B-9397-08002B2CF9AE}" pid="4" name="Compression">
    <vt:i4>100</vt:i4>
  </property>
  <property fmtid="{D5CDD505-2E9C-101B-9397-08002B2CF9AE}" pid="5" name="ScreenSize">
    <vt:i4>3</vt:i4>
  </property>
  <property fmtid="{D5CDD505-2E9C-101B-9397-08002B2CF9AE}" pid="6" name="ScreenUsage">
    <vt:i4>3</vt:i4>
  </property>
  <property fmtid="{D5CDD505-2E9C-101B-9397-08002B2CF9AE}" pid="7" name="MailAddress">
    <vt:lpwstr>tantc@comp.nus.edu.sg</vt:lpwstr>
  </property>
  <property fmtid="{D5CDD505-2E9C-101B-9397-08002B2CF9AE}" pid="8" name="HomePage">
    <vt:lpwstr>http://www.comp.nus.edu.sg/~tantc</vt:lpwstr>
  </property>
  <property fmtid="{D5CDD505-2E9C-101B-9397-08002B2CF9AE}" pid="9" name="Other">
    <vt:lpwstr/>
  </property>
  <property fmtid="{D5CDD505-2E9C-101B-9397-08002B2CF9AE}" pid="10" name="DownloadOriginal">
    <vt:bool>false</vt:bool>
  </property>
  <property fmtid="{D5CDD505-2E9C-101B-9397-08002B2CF9AE}" pid="11" name="DownloadIEButton">
    <vt:bool>false</vt:bool>
  </property>
  <property fmtid="{D5CDD505-2E9C-101B-9397-08002B2CF9AE}" pid="12" name="UseBrowserColor">
    <vt:bool>true</vt:bool>
  </property>
  <property fmtid="{D5CDD505-2E9C-101B-9397-08002B2CF9AE}" pid="13" name="BackColor">
    <vt:i4>15132390</vt:i4>
  </property>
  <property fmtid="{D5CDD505-2E9C-101B-9397-08002B2CF9AE}" pid="14" name="TextColor">
    <vt:i4>0</vt:i4>
  </property>
  <property fmtid="{D5CDD505-2E9C-101B-9397-08002B2CF9AE}" pid="15" name="LinkColor">
    <vt:i4>16711782</vt:i4>
  </property>
  <property fmtid="{D5CDD505-2E9C-101B-9397-08002B2CF9AE}" pid="16" name="VisitedColor">
    <vt:i4>10040268</vt:i4>
  </property>
  <property fmtid="{D5CDD505-2E9C-101B-9397-08002B2CF9AE}" pid="17" name="TransparentButton">
    <vt:i4>0</vt:i4>
  </property>
  <property fmtid="{D5CDD505-2E9C-101B-9397-08002B2CF9AE}" pid="18" name="ButtonType">
    <vt:i4>3</vt:i4>
  </property>
  <property fmtid="{D5CDD505-2E9C-101B-9397-08002B2CF9AE}" pid="19" name="ShowNotes">
    <vt:bool>false</vt:bool>
  </property>
  <property fmtid="{D5CDD505-2E9C-101B-9397-08002B2CF9AE}" pid="20" name="NavBtnPos">
    <vt:i4>1</vt:i4>
  </property>
  <property fmtid="{D5CDD505-2E9C-101B-9397-08002B2CF9AE}" pid="21" name="OutputDir">
    <vt:lpwstr>C:\My Documents</vt:lpwstr>
  </property>
</Properties>
</file>