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3"/>
  </p:notesMasterIdLst>
  <p:handoutMasterIdLst>
    <p:handoutMasterId r:id="rId34"/>
  </p:handoutMasterIdLst>
  <p:sldIdLst>
    <p:sldId id="256" r:id="rId2"/>
    <p:sldId id="468" r:id="rId3"/>
    <p:sldId id="636" r:id="rId4"/>
    <p:sldId id="617" r:id="rId5"/>
    <p:sldId id="639" r:id="rId6"/>
    <p:sldId id="553" r:id="rId7"/>
    <p:sldId id="637" r:id="rId8"/>
    <p:sldId id="640" r:id="rId9"/>
    <p:sldId id="641" r:id="rId10"/>
    <p:sldId id="642" r:id="rId11"/>
    <p:sldId id="643" r:id="rId12"/>
    <p:sldId id="644" r:id="rId13"/>
    <p:sldId id="661" r:id="rId14"/>
    <p:sldId id="662" r:id="rId15"/>
    <p:sldId id="645" r:id="rId16"/>
    <p:sldId id="646" r:id="rId17"/>
    <p:sldId id="647" r:id="rId18"/>
    <p:sldId id="648" r:id="rId19"/>
    <p:sldId id="649" r:id="rId20"/>
    <p:sldId id="650" r:id="rId21"/>
    <p:sldId id="651" r:id="rId22"/>
    <p:sldId id="652" r:id="rId23"/>
    <p:sldId id="653" r:id="rId24"/>
    <p:sldId id="654" r:id="rId25"/>
    <p:sldId id="655" r:id="rId26"/>
    <p:sldId id="656" r:id="rId27"/>
    <p:sldId id="657" r:id="rId28"/>
    <p:sldId id="658" r:id="rId29"/>
    <p:sldId id="659" r:id="rId30"/>
    <p:sldId id="660" r:id="rId31"/>
    <p:sldId id="526" r:id="rId3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9F9FFF"/>
    <a:srgbClr val="66CCFF"/>
    <a:srgbClr val="6699FF"/>
    <a:srgbClr val="0000FF"/>
    <a:srgbClr val="FFFF99"/>
    <a:srgbClr val="00CCFF"/>
    <a:srgbClr val="00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08313-8A0C-4BD6-BA6F-8E0303586BF4}" v="217" dt="2026-03-17T01:43:19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>
        <p:scale>
          <a:sx n="150" d="100"/>
          <a:sy n="150" d="100"/>
        </p:scale>
        <p:origin x="86" y="-5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3-17T01:43:28.031" v="630"/>
      <pc:docMkLst>
        <pc:docMk/>
      </pc:docMkLst>
      <pc:sldChg chg="modSp mod">
        <pc:chgData name="Zhao Jin" userId="cd05a825-544c-438a-9ba1-08e63db50b47" providerId="ADAL" clId="{5DF3A229-1965-414E-AF54-F4C37AC7DF68}" dt="2026-03-16T08:56:09.194" v="96" actId="5793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3-16T08:56:09.194" v="96" actId="5793"/>
          <ac:spMkLst>
            <pc:docMk/>
            <pc:sldMk cId="1067695719" sldId="526"/>
            <ac:spMk id="13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3-17T01:36:29.577" v="614" actId="1076"/>
        <pc:sldMkLst>
          <pc:docMk/>
          <pc:sldMk cId="1427618944" sldId="553"/>
        </pc:sldMkLst>
        <pc:spChg chg="add mod">
          <ac:chgData name="Zhao Jin" userId="cd05a825-544c-438a-9ba1-08e63db50b47" providerId="ADAL" clId="{5DF3A229-1965-414E-AF54-F4C37AC7DF68}" dt="2026-03-17T01:36:29.577" v="614" actId="1076"/>
          <ac:spMkLst>
            <pc:docMk/>
            <pc:sldMk cId="1427618944" sldId="553"/>
            <ac:spMk id="3" creationId="{7219F16A-9589-077B-CE18-A034618008DF}"/>
          </ac:spMkLst>
        </pc:spChg>
        <pc:spChg chg="mod">
          <ac:chgData name="Zhao Jin" userId="cd05a825-544c-438a-9ba1-08e63db50b47" providerId="ADAL" clId="{5DF3A229-1965-414E-AF54-F4C37AC7DF68}" dt="2026-03-17T01:24:33.289" v="323" actId="1076"/>
          <ac:spMkLst>
            <pc:docMk/>
            <pc:sldMk cId="1427618944" sldId="553"/>
            <ac:spMk id="51" creationId="{090D74B1-CF3A-4E44-A9AC-F1C0303D3547}"/>
          </ac:spMkLst>
        </pc:spChg>
      </pc:sldChg>
      <pc:sldChg chg="addSp delSp modSp mod delAnim">
        <pc:chgData name="Zhao Jin" userId="cd05a825-544c-438a-9ba1-08e63db50b47" providerId="ADAL" clId="{5DF3A229-1965-414E-AF54-F4C37AC7DF68}" dt="2026-03-17T01:29:30.910" v="427" actId="21"/>
        <pc:sldMkLst>
          <pc:docMk/>
          <pc:sldMk cId="3454948446" sldId="636"/>
        </pc:sldMkLst>
        <pc:spChg chg="mod topLvl">
          <ac:chgData name="Zhao Jin" userId="cd05a825-544c-438a-9ba1-08e63db50b47" providerId="ADAL" clId="{5DF3A229-1965-414E-AF54-F4C37AC7DF68}" dt="2026-03-17T01:20:28.447" v="321" actId="20577"/>
          <ac:spMkLst>
            <pc:docMk/>
            <pc:sldMk cId="3454948446" sldId="636"/>
            <ac:spMk id="217" creationId="{00000000-0000-0000-0000-000000000000}"/>
          </ac:spMkLst>
        </pc:spChg>
        <pc:grpChg chg="del mod">
          <ac:chgData name="Zhao Jin" userId="cd05a825-544c-438a-9ba1-08e63db50b47" providerId="ADAL" clId="{5DF3A229-1965-414E-AF54-F4C37AC7DF68}" dt="2026-03-17T01:20:05.952" v="300" actId="478"/>
          <ac:grpSpMkLst>
            <pc:docMk/>
            <pc:sldMk cId="3454948446" sldId="636"/>
            <ac:grpSpMk id="216" creationId="{00000000-0000-0000-0000-000000000000}"/>
          </ac:grpSpMkLst>
        </pc:grpChg>
        <pc:graphicFrameChg chg="del mod topLvl">
          <ac:chgData name="Zhao Jin" userId="cd05a825-544c-438a-9ba1-08e63db50b47" providerId="ADAL" clId="{5DF3A229-1965-414E-AF54-F4C37AC7DF68}" dt="2026-03-17T01:20:05.952" v="300" actId="478"/>
          <ac:graphicFrameMkLst>
            <pc:docMk/>
            <pc:sldMk cId="3454948446" sldId="636"/>
            <ac:graphicFrameMk id="218" creationId="{00000000-0000-0000-0000-000000000000}"/>
          </ac:graphicFrameMkLst>
        </pc:graphicFrameChg>
        <pc:picChg chg="add del mod">
          <ac:chgData name="Zhao Jin" userId="cd05a825-544c-438a-9ba1-08e63db50b47" providerId="ADAL" clId="{5DF3A229-1965-414E-AF54-F4C37AC7DF68}" dt="2026-03-17T01:29:30.910" v="427" actId="21"/>
          <ac:picMkLst>
            <pc:docMk/>
            <pc:sldMk cId="3454948446" sldId="636"/>
            <ac:picMk id="1026" creationId="{9A42E497-C97F-D792-5CB5-0D9A8993D06E}"/>
          </ac:picMkLst>
        </pc:picChg>
      </pc:sldChg>
      <pc:sldChg chg="addSp modSp mod">
        <pc:chgData name="Zhao Jin" userId="cd05a825-544c-438a-9ba1-08e63db50b47" providerId="ADAL" clId="{5DF3A229-1965-414E-AF54-F4C37AC7DF68}" dt="2026-03-17T01:36:58.759" v="623" actId="1036"/>
        <pc:sldMkLst>
          <pc:docMk/>
          <pc:sldMk cId="3737971943" sldId="637"/>
        </pc:sldMkLst>
        <pc:spChg chg="add mod">
          <ac:chgData name="Zhao Jin" userId="cd05a825-544c-438a-9ba1-08e63db50b47" providerId="ADAL" clId="{5DF3A229-1965-414E-AF54-F4C37AC7DF68}" dt="2026-03-17T01:36:58.759" v="623" actId="1036"/>
          <ac:spMkLst>
            <pc:docMk/>
            <pc:sldMk cId="3737971943" sldId="637"/>
            <ac:spMk id="36" creationId="{628E6AAD-D487-3CF6-80BF-C9163C8C8D49}"/>
          </ac:spMkLst>
        </pc:spChg>
      </pc:sldChg>
      <pc:sldChg chg="addSp modSp mod">
        <pc:chgData name="Zhao Jin" userId="cd05a825-544c-438a-9ba1-08e63db50b47" providerId="ADAL" clId="{5DF3A229-1965-414E-AF54-F4C37AC7DF68}" dt="2026-03-17T01:36:38.483" v="615" actId="1076"/>
        <pc:sldMkLst>
          <pc:docMk/>
          <pc:sldMk cId="1179750071" sldId="639"/>
        </pc:sldMkLst>
        <pc:spChg chg="add mod">
          <ac:chgData name="Zhao Jin" userId="cd05a825-544c-438a-9ba1-08e63db50b47" providerId="ADAL" clId="{5DF3A229-1965-414E-AF54-F4C37AC7DF68}" dt="2026-03-17T01:36:38.483" v="615" actId="1076"/>
          <ac:spMkLst>
            <pc:docMk/>
            <pc:sldMk cId="1179750071" sldId="639"/>
            <ac:spMk id="3" creationId="{B6E451B2-D615-238B-1ADE-33BC7958C048}"/>
          </ac:spMkLst>
        </pc:spChg>
        <pc:spChg chg="add mod">
          <ac:chgData name="Zhao Jin" userId="cd05a825-544c-438a-9ba1-08e63db50b47" providerId="ADAL" clId="{5DF3A229-1965-414E-AF54-F4C37AC7DF68}" dt="2026-03-17T01:35:18.169" v="593" actId="1076"/>
          <ac:spMkLst>
            <pc:docMk/>
            <pc:sldMk cId="1179750071" sldId="639"/>
            <ac:spMk id="4" creationId="{C29278DC-1A7A-C06F-2EEF-E8293E23CCB2}"/>
          </ac:spMkLst>
        </pc:spChg>
        <pc:spChg chg="add mod">
          <ac:chgData name="Zhao Jin" userId="cd05a825-544c-438a-9ba1-08e63db50b47" providerId="ADAL" clId="{5DF3A229-1965-414E-AF54-F4C37AC7DF68}" dt="2026-03-17T01:33:45.782" v="575" actId="20577"/>
          <ac:spMkLst>
            <pc:docMk/>
            <pc:sldMk cId="1179750071" sldId="639"/>
            <ac:spMk id="5" creationId="{AD07E90C-C698-8EAD-44AE-37B4642CA11C}"/>
          </ac:spMkLst>
        </pc:spChg>
        <pc:spChg chg="mod">
          <ac:chgData name="Zhao Jin" userId="cd05a825-544c-438a-9ba1-08e63db50b47" providerId="ADAL" clId="{5DF3A229-1965-414E-AF54-F4C37AC7DF68}" dt="2026-03-17T01:35:09.235" v="588" actId="20577"/>
          <ac:spMkLst>
            <pc:docMk/>
            <pc:sldMk cId="1179750071" sldId="639"/>
            <ac:spMk id="8" creationId="{00000000-0000-0000-0000-000000000000}"/>
          </ac:spMkLst>
        </pc:spChg>
        <pc:picChg chg="mod">
          <ac:chgData name="Zhao Jin" userId="cd05a825-544c-438a-9ba1-08e63db50b47" providerId="ADAL" clId="{5DF3A229-1965-414E-AF54-F4C37AC7DF68}" dt="2026-03-17T01:35:30.144" v="595" actId="1076"/>
          <ac:picMkLst>
            <pc:docMk/>
            <pc:sldMk cId="1179750071" sldId="639"/>
            <ac:picMk id="6" creationId="{3FF1EAAC-1241-1F2F-0390-4BEA02427AF9}"/>
          </ac:picMkLst>
        </pc:picChg>
        <pc:picChg chg="add mod">
          <ac:chgData name="Zhao Jin" userId="cd05a825-544c-438a-9ba1-08e63db50b47" providerId="ADAL" clId="{5DF3A229-1965-414E-AF54-F4C37AC7DF68}" dt="2026-03-17T01:35:12.963" v="590" actId="1076"/>
          <ac:picMkLst>
            <pc:docMk/>
            <pc:sldMk cId="1179750071" sldId="639"/>
            <ac:picMk id="10" creationId="{8C0F27AE-331E-FAF8-432B-C2D46FDCF085}"/>
          </ac:picMkLst>
        </pc:picChg>
        <pc:picChg chg="mod ord modCrop">
          <ac:chgData name="Zhao Jin" userId="cd05a825-544c-438a-9ba1-08e63db50b47" providerId="ADAL" clId="{5DF3A229-1965-414E-AF54-F4C37AC7DF68}" dt="2026-03-17T01:35:57.370" v="605" actId="1036"/>
          <ac:picMkLst>
            <pc:docMk/>
            <pc:sldMk cId="1179750071" sldId="639"/>
            <ac:picMk id="11" creationId="{A26498E6-AC6B-6D7F-7F43-754A8E49F466}"/>
          </ac:picMkLst>
        </pc:picChg>
      </pc:sldChg>
      <pc:sldChg chg="modSp modAnim">
        <pc:chgData name="Zhao Jin" userId="cd05a825-544c-438a-9ba1-08e63db50b47" providerId="ADAL" clId="{5DF3A229-1965-414E-AF54-F4C37AC7DF68}" dt="2026-03-16T09:18:00.252" v="295" actId="20577"/>
        <pc:sldMkLst>
          <pc:docMk/>
          <pc:sldMk cId="2535690228" sldId="644"/>
        </pc:sldMkLst>
        <pc:spChg chg="mod">
          <ac:chgData name="Zhao Jin" userId="cd05a825-544c-438a-9ba1-08e63db50b47" providerId="ADAL" clId="{5DF3A229-1965-414E-AF54-F4C37AC7DF68}" dt="2026-03-16T09:18:00.252" v="295" actId="20577"/>
          <ac:spMkLst>
            <pc:docMk/>
            <pc:sldMk cId="2535690228" sldId="644"/>
            <ac:spMk id="8" creationId="{00000000-0000-0000-0000-000000000000}"/>
          </ac:spMkLst>
        </pc:spChg>
      </pc:sldChg>
      <pc:sldChg chg="modSp mod modAnim">
        <pc:chgData name="Zhao Jin" userId="cd05a825-544c-438a-9ba1-08e63db50b47" providerId="ADAL" clId="{5DF3A229-1965-414E-AF54-F4C37AC7DF68}" dt="2026-03-16T09:17:15.257" v="265" actId="20577"/>
        <pc:sldMkLst>
          <pc:docMk/>
          <pc:sldMk cId="125843738" sldId="645"/>
        </pc:sldMkLst>
        <pc:spChg chg="mod">
          <ac:chgData name="Zhao Jin" userId="cd05a825-544c-438a-9ba1-08e63db50b47" providerId="ADAL" clId="{5DF3A229-1965-414E-AF54-F4C37AC7DF68}" dt="2026-03-16T09:17:15.257" v="265" actId="20577"/>
          <ac:spMkLst>
            <pc:docMk/>
            <pc:sldMk cId="125843738" sldId="645"/>
            <ac:spMk id="8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3-17T01:39:16.577" v="625"/>
        <pc:sldMkLst>
          <pc:docMk/>
          <pc:sldMk cId="4086644702" sldId="648"/>
        </pc:sldMkLst>
      </pc:sldChg>
      <pc:sldChg chg="modAnim">
        <pc:chgData name="Zhao Jin" userId="cd05a825-544c-438a-9ba1-08e63db50b47" providerId="ADAL" clId="{5DF3A229-1965-414E-AF54-F4C37AC7DF68}" dt="2026-03-17T01:39:57.269" v="627"/>
        <pc:sldMkLst>
          <pc:docMk/>
          <pc:sldMk cId="3504527826" sldId="650"/>
        </pc:sldMkLst>
      </pc:sldChg>
      <pc:sldChg chg="addAnim delAnim modAnim">
        <pc:chgData name="Zhao Jin" userId="cd05a825-544c-438a-9ba1-08e63db50b47" providerId="ADAL" clId="{5DF3A229-1965-414E-AF54-F4C37AC7DF68}" dt="2026-03-17T01:43:28.031" v="630"/>
        <pc:sldMkLst>
          <pc:docMk/>
          <pc:sldMk cId="310617255" sldId="656"/>
        </pc:sldMkLst>
      </pc:sldChg>
      <pc:sldChg chg="modSp mod">
        <pc:chgData name="Zhao Jin" userId="cd05a825-544c-438a-9ba1-08e63db50b47" providerId="ADAL" clId="{5DF3A229-1965-414E-AF54-F4C37AC7DF68}" dt="2026-03-16T09:15:32.135" v="161" actId="20577"/>
        <pc:sldMkLst>
          <pc:docMk/>
          <pc:sldMk cId="4048528062" sldId="661"/>
        </pc:sldMkLst>
        <pc:spChg chg="mod">
          <ac:chgData name="Zhao Jin" userId="cd05a825-544c-438a-9ba1-08e63db50b47" providerId="ADAL" clId="{5DF3A229-1965-414E-AF54-F4C37AC7DF68}" dt="2026-03-16T09:15:32.135" v="161" actId="20577"/>
          <ac:spMkLst>
            <pc:docMk/>
            <pc:sldMk cId="4048528062" sldId="661"/>
            <ac:spMk id="8" creationId="{067EC707-CA92-31E0-5578-565CCBA97DA9}"/>
          </ac:spMkLst>
        </pc:spChg>
      </pc:sldChg>
      <pc:sldChg chg="modSp">
        <pc:chgData name="Zhao Jin" userId="cd05a825-544c-438a-9ba1-08e63db50b47" providerId="ADAL" clId="{5DF3A229-1965-414E-AF54-F4C37AC7DF68}" dt="2026-03-16T09:02:57.256" v="104" actId="113"/>
        <pc:sldMkLst>
          <pc:docMk/>
          <pc:sldMk cId="3056809372" sldId="662"/>
        </pc:sldMkLst>
        <pc:spChg chg="mod">
          <ac:chgData name="Zhao Jin" userId="cd05a825-544c-438a-9ba1-08e63db50b47" providerId="ADAL" clId="{5DF3A229-1965-414E-AF54-F4C37AC7DF68}" dt="2026-03-16T09:02:57.256" v="104" actId="113"/>
          <ac:spMkLst>
            <pc:docMk/>
            <pc:sldMk cId="3056809372" sldId="662"/>
            <ac:spMk id="8" creationId="{1AD7AA60-0ECD-4720-6A39-AB80B66B2EA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3/17/2026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0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7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94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87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2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79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862F-650E-2F01-29FD-A6B651E3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27DD0E6-5C87-DE1A-ACB0-6023CCAAE1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CA7F14B-1AFB-FAC1-589A-8A589C78F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E7E2D54-F27F-74D0-7B44-AC399E14D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72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5B7B-20E6-5D8B-CE6E-42883671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7C54382-8E39-C598-6207-C3839CA955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68F19EF-B47D-8534-8799-A0AF494BE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524CE75-CEC5-8E40-97B9-F007F1050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25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27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9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93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500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8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357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016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773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88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382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283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28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Multi-Dimensional Arrays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61EB5F8B-FE73-E122-263A-12C8C3E76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184B13-89A7-9AD7-34C1-4CD07B198E7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19: Multi-Dimensional Arrays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Multi-Dimensional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Different types of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Initializing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Functions and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95B993-871D-5F51-886C-80003696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Multi-dimensional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Unit19 - </a:t>
            </a:r>
            <a:fld id="{F7EC234A-9094-4BB8-9EA4-75ECDA8A365B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06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Examples:</a:t>
            </a:r>
            <a:endParaRPr lang="en-GB" b="1" dirty="0">
              <a:solidFill>
                <a:srgbClr val="0000FF"/>
              </a:solidFill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4029308" y="1759885"/>
            <a:ext cx="4657492" cy="1899073"/>
            <a:chOff x="4029308" y="1759885"/>
            <a:chExt cx="4657492" cy="1899073"/>
          </a:xfrm>
        </p:grpSpPr>
        <p:grpSp>
          <p:nvGrpSpPr>
            <p:cNvPr id="71" name="Group 70"/>
            <p:cNvGrpSpPr/>
            <p:nvPr/>
          </p:nvGrpSpPr>
          <p:grpSpPr>
            <a:xfrm>
              <a:off x="4029308" y="1759885"/>
              <a:ext cx="4390792" cy="1560519"/>
              <a:chOff x="4029308" y="1759885"/>
              <a:chExt cx="4390792" cy="1560519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4650059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1</a:t>
                </a:r>
                <a:endParaRPr lang="en-SG" sz="1200"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5118410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2</a:t>
                </a:r>
                <a:endParaRPr lang="en-SG" sz="1200" dirty="0"/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5579327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</a:t>
                </a:r>
                <a:endParaRPr lang="en-SG" sz="1200" dirty="0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7266879" y="1821440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30</a:t>
                </a:r>
                <a:endParaRPr lang="en-SG" sz="1200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7735230" y="1821440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</a:t>
                </a:r>
                <a:endParaRPr lang="en-SG" sz="1200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029308" y="2126239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Jan</a:t>
                </a:r>
                <a:endParaRPr lang="en-SG" sz="1200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029308" y="2403238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Feb</a:t>
                </a:r>
                <a:endParaRPr lang="en-SG" sz="1200" dirty="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029308" y="3043405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Dec</a:t>
                </a:r>
                <a:endParaRPr lang="en-SG" sz="1200" dirty="0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309732" y="1759885"/>
                <a:ext cx="4869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ym typeface="Symbol"/>
                  </a:rPr>
                  <a:t></a:t>
                </a:r>
                <a:endParaRPr lang="en-SG" sz="1600" b="1" dirty="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029308" y="2674073"/>
                <a:ext cx="4683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:</a:t>
                </a:r>
                <a:endParaRPr lang="en-SG" sz="1600" b="1" dirty="0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497659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32.1</a:t>
                </a:r>
                <a:endParaRPr lang="en-SG" sz="1200" dirty="0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966010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31.8</a:t>
                </a:r>
                <a:endParaRPr lang="en-SG" sz="1200" dirty="0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426927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31.9</a:t>
                </a:r>
                <a:endParaRPr lang="en-SG" sz="1200" dirty="0"/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309732" y="2476996"/>
                <a:ext cx="4869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ym typeface="Symbol"/>
                  </a:rPr>
                  <a:t></a:t>
                </a:r>
                <a:endParaRPr lang="en-SG" sz="1600" b="1" dirty="0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7192537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32.3</a:t>
                </a:r>
                <a:endParaRPr lang="en-SG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660888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32.4</a:t>
                </a:r>
                <a:endParaRPr lang="en-SG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497659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32.6</a:t>
                </a:r>
                <a:endParaRPr lang="en-SG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4966010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32.6</a:t>
                </a:r>
                <a:endParaRPr lang="en-SG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5426927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33.0</a:t>
                </a:r>
                <a:endParaRPr lang="en-SG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7192537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0</a:t>
                </a:r>
                <a:endParaRPr lang="en-SG" sz="1200" dirty="0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7660888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0</a:t>
                </a:r>
                <a:endParaRPr lang="en-SG" sz="1200" dirty="0"/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4497659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31.8</a:t>
                </a:r>
                <a:endParaRPr lang="en-SG" sz="1200" dirty="0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4966010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32.3</a:t>
                </a:r>
                <a:endParaRPr lang="en-SG" sz="1200" dirty="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5426927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30.9</a:t>
                </a:r>
                <a:endParaRPr lang="en-SG" sz="1200" dirty="0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7192537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31.6</a:t>
                </a:r>
                <a:endParaRPr lang="en-SG" sz="1200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7660888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32.2</a:t>
                </a:r>
                <a:endParaRPr lang="en-SG" sz="1200" dirty="0"/>
              </a:p>
            </p:txBody>
          </p:sp>
          <p:cxnSp>
            <p:nvCxnSpPr>
              <p:cNvPr id="99" name="Straight Connector 98"/>
              <p:cNvCxnSpPr/>
              <p:nvPr/>
            </p:nvCxnSpPr>
            <p:spPr bwMode="auto">
              <a:xfrm>
                <a:off x="4029308" y="2098439"/>
                <a:ext cx="4390792" cy="0"/>
              </a:xfrm>
              <a:prstGeom prst="line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 bwMode="auto">
              <a:xfrm>
                <a:off x="4497659" y="1821440"/>
                <a:ext cx="0" cy="1498964"/>
              </a:xfrm>
              <a:prstGeom prst="line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72" name="TextBox 71"/>
            <p:cNvSpPr txBox="1"/>
            <p:nvPr/>
          </p:nvSpPr>
          <p:spPr>
            <a:xfrm>
              <a:off x="4029308" y="3320404"/>
              <a:ext cx="46574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</a:rPr>
                <a:t>Daily temperatures: temperatures 12 x 31</a:t>
              </a:r>
              <a:endParaRPr lang="en-SG" sz="16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87891" y="3591808"/>
            <a:ext cx="8129318" cy="2825869"/>
            <a:chOff x="587891" y="3591808"/>
            <a:chExt cx="8129318" cy="2825869"/>
          </a:xfrm>
        </p:grpSpPr>
        <p:sp>
          <p:nvSpPr>
            <p:cNvPr id="102" name="TextBox 101"/>
            <p:cNvSpPr txBox="1"/>
            <p:nvPr/>
          </p:nvSpPr>
          <p:spPr>
            <a:xfrm>
              <a:off x="3098181" y="6079123"/>
              <a:ext cx="46574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</a:rPr>
                <a:t>Students’ lab marks: marks 4 x 5 x 3</a:t>
              </a:r>
              <a:endParaRPr lang="en-SG" sz="1600" dirty="0">
                <a:solidFill>
                  <a:srgbClr val="0000FF"/>
                </a:solidFill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587891" y="3591808"/>
              <a:ext cx="8129318" cy="2656592"/>
              <a:chOff x="587891" y="3591808"/>
              <a:chExt cx="8129318" cy="2656592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6604567" y="3930362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90" name="Rectangle 189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1" name="TextBox 190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94" name="TextBox 193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95" name="TextBox 194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97" name="TextBox 196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98" name="TextBox 197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199" name="TextBox 198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50</a:t>
                  </a:r>
                  <a:endParaRPr lang="en-SG" sz="1100" dirty="0"/>
                </a:p>
              </p:txBody>
            </p:sp>
            <p:sp>
              <p:nvSpPr>
                <p:cNvPr id="200" name="TextBox 199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45</a:t>
                  </a:r>
                  <a:endParaRPr lang="en-SG" sz="1100" dirty="0"/>
                </a:p>
              </p:txBody>
            </p:sp>
            <p:sp>
              <p:nvSpPr>
                <p:cNvPr id="201" name="TextBox 200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57</a:t>
                  </a:r>
                  <a:endParaRPr lang="en-SG" sz="1100" dirty="0"/>
                </a:p>
              </p:txBody>
            </p:sp>
            <p:sp>
              <p:nvSpPr>
                <p:cNvPr id="202" name="TextBox 201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203" name="TextBox 202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63</a:t>
                  </a:r>
                  <a:endParaRPr lang="en-SG" sz="1100" dirty="0"/>
                </a:p>
              </p:txBody>
            </p:sp>
            <p:sp>
              <p:nvSpPr>
                <p:cNvPr id="204" name="TextBox 203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205" name="TextBox 204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59</a:t>
                  </a:r>
                  <a:endParaRPr lang="en-SG" sz="1100" dirty="0"/>
                </a:p>
              </p:txBody>
            </p:sp>
            <p:sp>
              <p:nvSpPr>
                <p:cNvPr id="206" name="TextBox 205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66</a:t>
                  </a:r>
                  <a:endParaRPr lang="en-SG" sz="1100" dirty="0"/>
                </a:p>
              </p:txBody>
            </p:sp>
            <p:sp>
              <p:nvSpPr>
                <p:cNvPr id="207" name="TextBox 206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33</a:t>
                  </a:r>
                  <a:endParaRPr lang="en-SG" sz="1100" dirty="0"/>
                </a:p>
              </p:txBody>
            </p:sp>
            <p:sp>
              <p:nvSpPr>
                <p:cNvPr id="208" name="TextBox 207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42</a:t>
                  </a:r>
                  <a:endParaRPr lang="en-SG" sz="1100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37</a:t>
                  </a:r>
                  <a:endParaRPr lang="en-SG" sz="1100" dirty="0"/>
                </a:p>
              </p:txBody>
            </p:sp>
            <p:cxnSp>
              <p:nvCxnSpPr>
                <p:cNvPr id="210" name="Straight Connector 209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1" name="Straight Connector 210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212" name="TextBox 211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213" name="TextBox 212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214" name="TextBox 213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215" name="TextBox 214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</p:grpSp>
          <p:sp>
            <p:nvSpPr>
              <p:cNvPr id="105" name="TextBox 104"/>
              <p:cNvSpPr txBox="1"/>
              <p:nvPr/>
            </p:nvSpPr>
            <p:spPr>
              <a:xfrm>
                <a:off x="6600850" y="3591808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Suise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4636891" y="4049556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64" name="Rectangle 163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65" name="TextBox 164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66" name="TextBox 165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67" name="TextBox 166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69" name="TextBox 168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71" name="TextBox 170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73" name="TextBox 172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75</a:t>
                  </a:r>
                  <a:endParaRPr lang="en-SG" sz="1100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66</a:t>
                  </a:r>
                  <a:endParaRPr lang="en-SG" sz="1100" dirty="0"/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90</a:t>
                  </a:r>
                  <a:endParaRPr lang="en-SG" sz="1100" dirty="0"/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83</a:t>
                  </a:r>
                  <a:endParaRPr lang="en-SG" sz="1100" dirty="0"/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77</a:t>
                  </a:r>
                  <a:endParaRPr lang="en-SG" sz="1100" dirty="0"/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81</a:t>
                  </a:r>
                  <a:endParaRPr lang="en-SG" sz="1100" dirty="0"/>
                </a:p>
              </p:txBody>
            </p:sp>
            <p:sp>
              <p:nvSpPr>
                <p:cNvPr id="179" name="TextBox 178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73</a:t>
                  </a:r>
                  <a:endParaRPr lang="en-SG" sz="1100" dirty="0"/>
                </a:p>
              </p:txBody>
            </p:sp>
            <p:sp>
              <p:nvSpPr>
                <p:cNvPr id="180" name="TextBox 179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81" name="TextBox 180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58</a:t>
                  </a:r>
                  <a:endParaRPr lang="en-SG" sz="1100" dirty="0"/>
                </a:p>
              </p:txBody>
            </p:sp>
            <p:sp>
              <p:nvSpPr>
                <p:cNvPr id="182" name="TextBox 181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64</a:t>
                  </a:r>
                  <a:endParaRPr lang="en-SG" sz="1100" dirty="0"/>
                </a:p>
              </p:txBody>
            </p:sp>
            <p:sp>
              <p:nvSpPr>
                <p:cNvPr id="183" name="TextBox 182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cxnSp>
              <p:nvCxnSpPr>
                <p:cNvPr id="184" name="Straight Connector 183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5" name="Straight Connector 184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86" name="TextBox 185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93</a:t>
                  </a:r>
                  <a:endParaRPr lang="en-SG" sz="1100" dirty="0"/>
                </a:p>
              </p:txBody>
            </p:sp>
            <p:sp>
              <p:nvSpPr>
                <p:cNvPr id="188" name="TextBox 187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85</a:t>
                  </a:r>
                  <a:endParaRPr lang="en-SG" sz="1100" dirty="0"/>
                </a:p>
              </p:txBody>
            </p:sp>
          </p:grpSp>
          <p:grpSp>
            <p:nvGrpSpPr>
              <p:cNvPr id="107" name="Group 106"/>
              <p:cNvGrpSpPr/>
              <p:nvPr/>
            </p:nvGrpSpPr>
            <p:grpSpPr>
              <a:xfrm>
                <a:off x="2658002" y="4225178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38" name="Rectangle 137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39" name="TextBox 138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40" name="TextBox 139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41" name="TextBox 140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42" name="TextBox 141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43" name="TextBox 142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44" name="TextBox 143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45" name="TextBox 144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46" name="TextBox 145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59</a:t>
                  </a:r>
                  <a:endParaRPr lang="en-SG" sz="1100" dirty="0"/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0" name="TextBox 149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1" name="TextBox 150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2" name="TextBox 151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67</a:t>
                  </a:r>
                  <a:endParaRPr lang="en-SG" sz="1100" dirty="0"/>
                </a:p>
              </p:txBody>
            </p:sp>
            <p:sp>
              <p:nvSpPr>
                <p:cNvPr id="153" name="TextBox 152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71</a:t>
                  </a:r>
                  <a:endParaRPr lang="en-SG" sz="1100" dirty="0"/>
                </a:p>
              </p:txBody>
            </p:sp>
            <p:sp>
              <p:nvSpPr>
                <p:cNvPr id="154" name="TextBox 153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75</a:t>
                  </a:r>
                  <a:endParaRPr lang="en-SG" sz="1100" dirty="0"/>
                </a:p>
              </p:txBody>
            </p:sp>
            <p:sp>
              <p:nvSpPr>
                <p:cNvPr id="155" name="TextBox 154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38</a:t>
                  </a:r>
                  <a:endParaRPr lang="en-SG" sz="1100" dirty="0"/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35</a:t>
                  </a:r>
                  <a:endParaRPr lang="en-SG" sz="1100" dirty="0"/>
                </a:p>
              </p:txBody>
            </p:sp>
            <p:cxnSp>
              <p:nvCxnSpPr>
                <p:cNvPr id="158" name="Straight Connector 157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9" name="Straight Connector 158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60" name="TextBox 159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78</a:t>
                  </a:r>
                  <a:endParaRPr lang="en-SG" sz="1100" dirty="0"/>
                </a:p>
              </p:txBody>
            </p:sp>
            <p:sp>
              <p:nvSpPr>
                <p:cNvPr id="162" name="TextBox 161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86</a:t>
                  </a:r>
                  <a:endParaRPr lang="en-SG" sz="1100" dirty="0"/>
                </a:p>
              </p:txBody>
            </p:sp>
            <p:sp>
              <p:nvSpPr>
                <p:cNvPr id="163" name="TextBox 162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82</a:t>
                  </a:r>
                  <a:endParaRPr lang="en-SG" sz="1100" dirty="0"/>
                </a:p>
              </p:txBody>
            </p:sp>
          </p:grpSp>
          <p:sp>
            <p:nvSpPr>
              <p:cNvPr id="108" name="TextBox 107"/>
              <p:cNvSpPr txBox="1"/>
              <p:nvPr/>
            </p:nvSpPr>
            <p:spPr>
              <a:xfrm>
                <a:off x="587891" y="4212218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800000"/>
                    </a:solidFill>
                  </a:rPr>
                  <a:t>Emily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2537947" y="3917401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Zass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4633174" y="3711002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Jerna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760952" y="4550772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12" name="Rectangle 111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16" name="TextBox 115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76</a:t>
                  </a:r>
                  <a:endParaRPr lang="en-SG" sz="1100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22" name="TextBox 121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62</a:t>
                  </a:r>
                  <a:endParaRPr lang="en-SG" sz="1100" dirty="0"/>
                </a:p>
              </p:txBody>
            </p:sp>
            <p:sp>
              <p:nvSpPr>
                <p:cNvPr id="123" name="TextBox 122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48</a:t>
                  </a:r>
                  <a:endParaRPr lang="en-SG" sz="1100" dirty="0"/>
                </a:p>
              </p:txBody>
            </p:sp>
            <p:sp>
              <p:nvSpPr>
                <p:cNvPr id="126" name="TextBox 125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76</a:t>
                  </a:r>
                  <a:endParaRPr lang="en-SG" sz="1100" dirty="0"/>
                </a:p>
              </p:txBody>
            </p:sp>
            <p:sp>
              <p:nvSpPr>
                <p:cNvPr id="127" name="TextBox 126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28" name="TextBox 127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62</a:t>
                  </a:r>
                  <a:endParaRPr lang="en-SG" sz="1100" dirty="0"/>
                </a:p>
              </p:txBody>
            </p:sp>
            <p:sp>
              <p:nvSpPr>
                <p:cNvPr id="129" name="TextBox 128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30" name="TextBox 129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48</a:t>
                  </a:r>
                  <a:endParaRPr lang="en-SG" sz="1100" dirty="0"/>
                </a:p>
              </p:txBody>
            </p:sp>
            <p:cxnSp>
              <p:nvCxnSpPr>
                <p:cNvPr id="132" name="Straight Connector 131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3" name="Straight Connector 132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34" name="TextBox 133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58</a:t>
                  </a:r>
                  <a:endParaRPr lang="en-SG" sz="1100" dirty="0"/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37" name="TextBox 136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73</a:t>
                  </a:r>
                  <a:endParaRPr lang="en-SG" sz="1100" dirty="0"/>
                </a:p>
              </p:txBody>
            </p:sp>
          </p:grpSp>
        </p:grpSp>
      </p:grpSp>
      <p:sp>
        <p:nvSpPr>
          <p:cNvPr id="217" name="TextBox 216"/>
          <p:cNvSpPr txBox="1"/>
          <p:nvPr/>
        </p:nvSpPr>
        <p:spPr>
          <a:xfrm>
            <a:off x="1129990" y="3320404"/>
            <a:ext cx="1862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Tic Tac Toe: 3 x 3</a:t>
            </a:r>
            <a:endParaRPr lang="en-SG" sz="16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DD5466-4CAE-A3EF-C128-EE09B609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026" name="Picture 2" descr="Tic-Tac-Toe -- from Wolfram MathWorld">
            <a:extLst>
              <a:ext uri="{FF2B5EF4-FFF2-40B4-BE49-F238E27FC236}">
                <a16:creationId xmlns:a16="http://schemas.microsoft.com/office/drawing/2014/main" id="{9A42E497-C97F-D792-5CB5-0D9A8993D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1440722" y="2094233"/>
            <a:ext cx="1240790" cy="117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948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Multi-dimensional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Unit19 - </a:t>
            </a:r>
            <a:fld id="{F7EC234A-9094-4BB8-9EA4-75ECDA8A365B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137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 general, an array can have any number of dimensions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 of a </a:t>
            </a:r>
            <a:r>
              <a:rPr lang="en-US" dirty="0"/>
              <a:t>Fixed-Length</a:t>
            </a:r>
            <a:r>
              <a:rPr lang="en-GB" dirty="0"/>
              <a:t> 2-dimensional (2D) array: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8" y="2616435"/>
            <a:ext cx="4264025" cy="13223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3 rows, 5 columns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7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623888" y="4191990"/>
            <a:ext cx="7948612" cy="85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Fixed-Length</a:t>
            </a:r>
            <a:r>
              <a:rPr lang="en-GB" sz="2400" dirty="0"/>
              <a:t> 2D Arrays are stored in </a:t>
            </a:r>
            <a:r>
              <a:rPr lang="en-GB" sz="2400" dirty="0">
                <a:solidFill>
                  <a:srgbClr val="0000FF"/>
                </a:solidFill>
              </a:rPr>
              <a:t>row-major order</a:t>
            </a:r>
          </a:p>
          <a:p>
            <a:pPr lvl="1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That is, elements in row 0 comes before row 1, etc.</a:t>
            </a:r>
            <a:endParaRPr lang="en-GB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</a:pPr>
            <a:endParaRPr lang="en-GB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</a:pPr>
            <a:endParaRPr lang="en-GB" sz="2000" dirty="0">
              <a:solidFill>
                <a:srgbClr val="0000FF"/>
              </a:solidFill>
            </a:endParaRPr>
          </a:p>
        </p:txBody>
      </p:sp>
      <p:grpSp>
        <p:nvGrpSpPr>
          <p:cNvPr id="21" name="Group 51"/>
          <p:cNvGrpSpPr>
            <a:grpSpLocks/>
          </p:cNvGrpSpPr>
          <p:nvPr/>
        </p:nvGrpSpPr>
        <p:grpSpPr bwMode="auto">
          <a:xfrm>
            <a:off x="974725" y="5207476"/>
            <a:ext cx="7445375" cy="1027112"/>
            <a:chOff x="974271" y="5024846"/>
            <a:chExt cx="7445829" cy="1026226"/>
          </a:xfrm>
        </p:grpSpPr>
        <p:grpSp>
          <p:nvGrpSpPr>
            <p:cNvPr id="22" name="Group 44"/>
            <p:cNvGrpSpPr>
              <a:grpSpLocks/>
            </p:cNvGrpSpPr>
            <p:nvPr/>
          </p:nvGrpSpPr>
          <p:grpSpPr bwMode="auto">
            <a:xfrm>
              <a:off x="974271" y="5024846"/>
              <a:ext cx="7445829" cy="365760"/>
              <a:chOff x="974271" y="5024846"/>
              <a:chExt cx="7445829" cy="365760"/>
            </a:xfrm>
          </p:grpSpPr>
          <p:sp>
            <p:nvSpPr>
              <p:cNvPr id="29" name="TextBox 34"/>
              <p:cNvSpPr txBox="1">
                <a:spLocks noChangeArrowheads="1"/>
              </p:cNvSpPr>
              <p:nvPr/>
            </p:nvSpPr>
            <p:spPr bwMode="auto">
              <a:xfrm>
                <a:off x="974271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a[0][0]</a:t>
                </a:r>
                <a:endParaRPr lang="en-SG"/>
              </a:p>
            </p:txBody>
          </p:sp>
          <p:sp>
            <p:nvSpPr>
              <p:cNvPr id="30" name="TextBox 35"/>
              <p:cNvSpPr txBox="1">
                <a:spLocks noChangeArrowheads="1"/>
              </p:cNvSpPr>
              <p:nvPr/>
            </p:nvSpPr>
            <p:spPr bwMode="auto">
              <a:xfrm>
                <a:off x="1980111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2" name="TextBox 36"/>
              <p:cNvSpPr txBox="1">
                <a:spLocks noChangeArrowheads="1"/>
              </p:cNvSpPr>
              <p:nvPr/>
            </p:nvSpPr>
            <p:spPr bwMode="auto">
              <a:xfrm>
                <a:off x="2450374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a[0][4]</a:t>
                </a:r>
                <a:endParaRPr lang="en-SG"/>
              </a:p>
            </p:txBody>
          </p:sp>
          <p:sp>
            <p:nvSpPr>
              <p:cNvPr id="33" name="TextBox 37"/>
              <p:cNvSpPr txBox="1">
                <a:spLocks noChangeArrowheads="1"/>
              </p:cNvSpPr>
              <p:nvPr/>
            </p:nvSpPr>
            <p:spPr bwMode="auto">
              <a:xfrm>
                <a:off x="3456214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a[1][0]</a:t>
                </a:r>
                <a:endParaRPr lang="en-SG"/>
              </a:p>
            </p:txBody>
          </p:sp>
          <p:sp>
            <p:nvSpPr>
              <p:cNvPr id="34" name="TextBox 38"/>
              <p:cNvSpPr txBox="1">
                <a:spLocks noChangeArrowheads="1"/>
              </p:cNvSpPr>
              <p:nvPr/>
            </p:nvSpPr>
            <p:spPr bwMode="auto">
              <a:xfrm>
                <a:off x="4462054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5" name="TextBox 39"/>
              <p:cNvSpPr txBox="1">
                <a:spLocks noChangeArrowheads="1"/>
              </p:cNvSpPr>
              <p:nvPr/>
            </p:nvSpPr>
            <p:spPr bwMode="auto">
              <a:xfrm>
                <a:off x="4932317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a[1][4]</a:t>
                </a:r>
                <a:endParaRPr lang="en-SG"/>
              </a:p>
            </p:txBody>
          </p:sp>
          <p:sp>
            <p:nvSpPr>
              <p:cNvPr id="36" name="TextBox 40"/>
              <p:cNvSpPr txBox="1">
                <a:spLocks noChangeArrowheads="1"/>
              </p:cNvSpPr>
              <p:nvPr/>
            </p:nvSpPr>
            <p:spPr bwMode="auto">
              <a:xfrm>
                <a:off x="5938157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a[2][0]</a:t>
                </a:r>
                <a:endParaRPr lang="en-SG"/>
              </a:p>
            </p:txBody>
          </p:sp>
          <p:sp>
            <p:nvSpPr>
              <p:cNvPr id="37" name="TextBox 41"/>
              <p:cNvSpPr txBox="1">
                <a:spLocks noChangeArrowheads="1"/>
              </p:cNvSpPr>
              <p:nvPr/>
            </p:nvSpPr>
            <p:spPr bwMode="auto">
              <a:xfrm>
                <a:off x="6943997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8" name="TextBox 42"/>
              <p:cNvSpPr txBox="1">
                <a:spLocks noChangeArrowheads="1"/>
              </p:cNvSpPr>
              <p:nvPr/>
            </p:nvSpPr>
            <p:spPr bwMode="auto">
              <a:xfrm>
                <a:off x="7414260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a[2][4]</a:t>
                </a:r>
                <a:endParaRPr lang="en-SG"/>
              </a:p>
            </p:txBody>
          </p:sp>
        </p:grpSp>
        <p:sp>
          <p:nvSpPr>
            <p:cNvPr id="23" name="TextBox 43"/>
            <p:cNvSpPr txBox="1">
              <a:spLocks noChangeArrowheads="1"/>
            </p:cNvSpPr>
            <p:nvPr/>
          </p:nvSpPr>
          <p:spPr bwMode="auto">
            <a:xfrm>
              <a:off x="1776802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0</a:t>
              </a:r>
              <a:endParaRPr lang="en-SG"/>
            </a:p>
          </p:txBody>
        </p:sp>
        <p:sp>
          <p:nvSpPr>
            <p:cNvPr id="24" name="TextBox 45"/>
            <p:cNvSpPr txBox="1">
              <a:spLocks noChangeArrowheads="1"/>
            </p:cNvSpPr>
            <p:nvPr/>
          </p:nvSpPr>
          <p:spPr bwMode="auto">
            <a:xfrm>
              <a:off x="4252078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1</a:t>
              </a:r>
              <a:endParaRPr lang="en-SG"/>
            </a:p>
          </p:txBody>
        </p:sp>
        <p:sp>
          <p:nvSpPr>
            <p:cNvPr id="25" name="TextBox 46"/>
            <p:cNvSpPr txBox="1">
              <a:spLocks noChangeArrowheads="1"/>
            </p:cNvSpPr>
            <p:nvPr/>
          </p:nvSpPr>
          <p:spPr bwMode="auto">
            <a:xfrm>
              <a:off x="6718805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2</a:t>
              </a:r>
              <a:endParaRPr lang="en-SG"/>
            </a:p>
          </p:txBody>
        </p:sp>
        <p:sp>
          <p:nvSpPr>
            <p:cNvPr id="26" name="Right Brace 47"/>
            <p:cNvSpPr>
              <a:spLocks/>
            </p:cNvSpPr>
            <p:nvPr/>
          </p:nvSpPr>
          <p:spPr bwMode="auto">
            <a:xfrm rot="5400000">
              <a:off x="2137117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ight Brace 49"/>
            <p:cNvSpPr>
              <a:spLocks/>
            </p:cNvSpPr>
            <p:nvPr/>
          </p:nvSpPr>
          <p:spPr bwMode="auto">
            <a:xfrm rot="5400000">
              <a:off x="4612393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8" name="Right Brace 50"/>
            <p:cNvSpPr>
              <a:spLocks/>
            </p:cNvSpPr>
            <p:nvPr/>
          </p:nvSpPr>
          <p:spPr bwMode="auto">
            <a:xfrm rot="5400000">
              <a:off x="7079120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9" name="Group 69"/>
          <p:cNvGrpSpPr/>
          <p:nvPr/>
        </p:nvGrpSpPr>
        <p:grpSpPr>
          <a:xfrm>
            <a:off x="5611813" y="2616435"/>
            <a:ext cx="2413000" cy="1165225"/>
            <a:chOff x="5611813" y="2749550"/>
            <a:chExt cx="2413000" cy="1165225"/>
          </a:xfrm>
        </p:grpSpPr>
        <p:grpSp>
          <p:nvGrpSpPr>
            <p:cNvPr id="40" name="Group 56"/>
            <p:cNvGrpSpPr/>
            <p:nvPr/>
          </p:nvGrpSpPr>
          <p:grpSpPr>
            <a:xfrm>
              <a:off x="5930457" y="3057154"/>
              <a:ext cx="2078130" cy="282123"/>
              <a:chOff x="5930457" y="3057154"/>
              <a:chExt cx="2078130" cy="282123"/>
            </a:xfrm>
          </p:grpSpPr>
          <p:sp>
            <p:nvSpPr>
              <p:cNvPr id="6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1" name="TextBox 24"/>
            <p:cNvSpPr txBox="1">
              <a:spLocks noChangeArrowheads="1"/>
            </p:cNvSpPr>
            <p:nvPr/>
          </p:nvSpPr>
          <p:spPr bwMode="auto">
            <a:xfrm>
              <a:off x="593045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2" name="TextBox 25"/>
            <p:cNvSpPr txBox="1">
              <a:spLocks noChangeArrowheads="1"/>
            </p:cNvSpPr>
            <p:nvPr/>
          </p:nvSpPr>
          <p:spPr bwMode="auto">
            <a:xfrm>
              <a:off x="629066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3" name="TextBox 26"/>
            <p:cNvSpPr txBox="1">
              <a:spLocks noChangeArrowheads="1"/>
            </p:cNvSpPr>
            <p:nvPr/>
          </p:nvSpPr>
          <p:spPr bwMode="auto">
            <a:xfrm>
              <a:off x="6761709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sp>
          <p:nvSpPr>
            <p:cNvPr id="44" name="TextBox 27"/>
            <p:cNvSpPr txBox="1">
              <a:spLocks noChangeArrowheads="1"/>
            </p:cNvSpPr>
            <p:nvPr/>
          </p:nvSpPr>
          <p:spPr bwMode="auto">
            <a:xfrm>
              <a:off x="7138146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3</a:t>
              </a:r>
              <a:endParaRPr lang="en-SG" sz="1400"/>
            </a:p>
          </p:txBody>
        </p:sp>
        <p:sp>
          <p:nvSpPr>
            <p:cNvPr id="45" name="TextBox 28"/>
            <p:cNvSpPr txBox="1">
              <a:spLocks noChangeArrowheads="1"/>
            </p:cNvSpPr>
            <p:nvPr/>
          </p:nvSpPr>
          <p:spPr bwMode="auto">
            <a:xfrm>
              <a:off x="760918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4</a:t>
              </a:r>
              <a:endParaRPr lang="en-SG" sz="1400"/>
            </a:p>
          </p:txBody>
        </p:sp>
        <p:sp>
          <p:nvSpPr>
            <p:cNvPr id="46" name="TextBox 29"/>
            <p:cNvSpPr txBox="1">
              <a:spLocks noChangeArrowheads="1"/>
            </p:cNvSpPr>
            <p:nvPr/>
          </p:nvSpPr>
          <p:spPr bwMode="auto">
            <a:xfrm>
              <a:off x="5611813" y="3057154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7" name="TextBox 30"/>
            <p:cNvSpPr txBox="1">
              <a:spLocks noChangeArrowheads="1"/>
            </p:cNvSpPr>
            <p:nvPr/>
          </p:nvSpPr>
          <p:spPr bwMode="auto">
            <a:xfrm>
              <a:off x="5611813" y="3325048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8" name="TextBox 31"/>
            <p:cNvSpPr txBox="1">
              <a:spLocks noChangeArrowheads="1"/>
            </p:cNvSpPr>
            <p:nvPr/>
          </p:nvSpPr>
          <p:spPr bwMode="auto">
            <a:xfrm>
              <a:off x="5611813" y="3607171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grpSp>
          <p:nvGrpSpPr>
            <p:cNvPr id="49" name="Group 57"/>
            <p:cNvGrpSpPr/>
            <p:nvPr/>
          </p:nvGrpSpPr>
          <p:grpSpPr>
            <a:xfrm>
              <a:off x="5930457" y="3325048"/>
              <a:ext cx="2078130" cy="282123"/>
              <a:chOff x="5930457" y="3057154"/>
              <a:chExt cx="2078130" cy="282123"/>
            </a:xfrm>
          </p:grpSpPr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50" name="Group 63"/>
            <p:cNvGrpSpPr/>
            <p:nvPr/>
          </p:nvGrpSpPr>
          <p:grpSpPr>
            <a:xfrm>
              <a:off x="5930457" y="3607171"/>
              <a:ext cx="2078130" cy="282123"/>
              <a:chOff x="5930457" y="3057154"/>
              <a:chExt cx="2078130" cy="282123"/>
            </a:xfrm>
          </p:grpSpPr>
          <p:sp>
            <p:nvSpPr>
              <p:cNvPr id="5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6027439" y="2939933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2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666996" y="3499537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9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5938309" y="3191933"/>
            <a:ext cx="396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16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34B116-F2FE-981B-1181-B01CDD32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66" grpId="0"/>
      <p:bldP spid="67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udget planner templates for personal use | AIA">
            <a:extLst>
              <a:ext uri="{FF2B5EF4-FFF2-40B4-BE49-F238E27FC236}">
                <a16:creationId xmlns:a16="http://schemas.microsoft.com/office/drawing/2014/main" id="{A26498E6-AC6B-6D7F-7F43-754A8E49F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9" t="53572" r="13037" b="16850"/>
          <a:stretch>
            <a:fillRect/>
          </a:stretch>
        </p:blipFill>
        <p:spPr>
          <a:xfrm>
            <a:off x="846027" y="5317384"/>
            <a:ext cx="7649929" cy="1179891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Length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known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Sudoku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Monthly income of 3 categories for a year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1EA87-6702-4532-BBFE-929F69F022C5}"/>
              </a:ext>
            </a:extLst>
          </p:cNvPr>
          <p:cNvSpPr txBox="1"/>
          <p:nvPr/>
        </p:nvSpPr>
        <p:spPr>
          <a:xfrm>
            <a:off x="1032928" y="1712309"/>
            <a:ext cx="7653872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20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20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596DA-23D1-161B-3568-CC729E01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451B2-D615-238B-1ADE-33BC7958C048}"/>
              </a:ext>
            </a:extLst>
          </p:cNvPr>
          <p:cNvSpPr txBox="1"/>
          <p:nvPr/>
        </p:nvSpPr>
        <p:spPr>
          <a:xfrm>
            <a:off x="2735788" y="3547648"/>
            <a:ext cx="69321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 x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278DC-1A7A-C06F-2EEF-E8293E23CCB2}"/>
              </a:ext>
            </a:extLst>
          </p:cNvPr>
          <p:cNvSpPr txBox="1"/>
          <p:nvPr/>
        </p:nvSpPr>
        <p:spPr>
          <a:xfrm>
            <a:off x="2735788" y="4288383"/>
            <a:ext cx="69321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9 x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7E90C-C698-8EAD-44AE-37B4642CA11C}"/>
              </a:ext>
            </a:extLst>
          </p:cNvPr>
          <p:cNvSpPr txBox="1"/>
          <p:nvPr/>
        </p:nvSpPr>
        <p:spPr>
          <a:xfrm>
            <a:off x="6090920" y="5070254"/>
            <a:ext cx="8596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 x 12</a:t>
            </a:r>
          </a:p>
        </p:txBody>
      </p:sp>
      <p:pic>
        <p:nvPicPr>
          <p:cNvPr id="6" name="Picture 5" descr="How to Solve Sudoku Puzzles – Real Tips and Advice (Part 1 ...">
            <a:extLst>
              <a:ext uri="{FF2B5EF4-FFF2-40B4-BE49-F238E27FC236}">
                <a16:creationId xmlns:a16="http://schemas.microsoft.com/office/drawing/2014/main" id="{3FF1EAAC-1241-1F2F-0390-4BEA02427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10" y="3530817"/>
            <a:ext cx="1432979" cy="1432979"/>
          </a:xfrm>
          <a:prstGeom prst="rect">
            <a:avLst/>
          </a:prstGeom>
        </p:spPr>
      </p:pic>
      <p:pic>
        <p:nvPicPr>
          <p:cNvPr id="10" name="Picture 2" descr="Tic-Tac-Toe -- from Wolfram MathWorld">
            <a:extLst>
              <a:ext uri="{FF2B5EF4-FFF2-40B4-BE49-F238E27FC236}">
                <a16:creationId xmlns:a16="http://schemas.microsoft.com/office/drawing/2014/main" id="{8C0F27AE-331E-FAF8-432B-C2D46FDCF0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3755455" y="3511914"/>
            <a:ext cx="816545" cy="776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7500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Size Array of Dynamically Allocated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one unknown dimension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Gradebook of 10 assignments </a:t>
            </a:r>
            <a:br>
              <a:rPr lang="en-US" dirty="0"/>
            </a:br>
            <a:r>
              <a:rPr lang="en-US" dirty="0"/>
              <a:t>for some students.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688623"/>
            <a:ext cx="7653872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Y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Y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*buckets[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read in the length of each subarray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 </a:t>
            </a:r>
          </a:p>
          <a:p>
            <a:pPr>
              <a:defRPr/>
            </a:pPr>
            <a:endParaRPr lang="en-US" sz="1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dynamically allocate each subarray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buckets[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6A2377-01AA-47A9-823F-09EED46E65DB}"/>
              </a:ext>
            </a:extLst>
          </p:cNvPr>
          <p:cNvSpPr txBox="1"/>
          <p:nvPr/>
        </p:nvSpPr>
        <p:spPr>
          <a:xfrm>
            <a:off x="6955788" y="2900896"/>
            <a:ext cx="2074215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free the allocated memory after use.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FCC16C-25A5-A68C-EAF8-B5A67A76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86F2AFA4-2789-5EB9-7E26-FFDC1DB02555}"/>
              </a:ext>
            </a:extLst>
          </p:cNvPr>
          <p:cNvGrpSpPr/>
          <p:nvPr/>
        </p:nvGrpSpPr>
        <p:grpSpPr>
          <a:xfrm>
            <a:off x="5958831" y="5589607"/>
            <a:ext cx="2078130" cy="182880"/>
            <a:chOff x="5930457" y="3057154"/>
            <a:chExt cx="2078130" cy="182880"/>
          </a:xfrm>
        </p:grpSpPr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BC620E4E-128B-6DCB-27C3-53B48D266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C206CF41-71C7-519E-1128-D26823A9D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61412144-C487-E7A6-139B-8C0DBD372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4761760C-5170-66E0-5C07-B610EA2C3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9A45D445-C50D-F72F-935C-4757D4354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" name="TextBox 24">
            <a:extLst>
              <a:ext uri="{FF2B5EF4-FFF2-40B4-BE49-F238E27FC236}">
                <a16:creationId xmlns:a16="http://schemas.microsoft.com/office/drawing/2014/main" id="{1C47A842-3128-BDD5-3CBE-764A510FA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831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80A8E7C1-2B8B-73C2-E39B-694BA272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457" y="5243583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49336EDA-5E84-9AC7-CAAD-C3A763A88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0083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913E81D7-82A9-B094-6BAA-DDA721AF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2732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3</a:t>
            </a:r>
            <a:endParaRPr lang="en-SG" sz="1400"/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538B166F-C86C-81A7-8154-E4C8CD656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7561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4</a:t>
            </a:r>
            <a:endParaRPr lang="en-SG" sz="1400"/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A263C8FF-D230-B10A-1FE6-BB7EA7D0AF34}"/>
              </a:ext>
            </a:extLst>
          </p:cNvPr>
          <p:cNvGrpSpPr/>
          <p:nvPr/>
        </p:nvGrpSpPr>
        <p:grpSpPr>
          <a:xfrm>
            <a:off x="5958831" y="5839395"/>
            <a:ext cx="2078130" cy="182880"/>
            <a:chOff x="5930457" y="3057154"/>
            <a:chExt cx="2078130" cy="182880"/>
          </a:xfrm>
        </p:grpSpPr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1CE07743-6A8D-2EE8-58EB-DE96A6530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551D1537-8B84-FCCA-754F-F59EC552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5ADF6AD0-E0E5-7B2A-CC61-76B2378C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9">
              <a:extLst>
                <a:ext uri="{FF2B5EF4-FFF2-40B4-BE49-F238E27FC236}">
                  <a16:creationId xmlns:a16="http://schemas.microsoft.com/office/drawing/2014/main" id="{6CDC81ED-AEC8-A0DD-1D35-EAF5FBF7D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128A0E22-C614-45B4-833B-832C394F0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7" name="Group 63">
            <a:extLst>
              <a:ext uri="{FF2B5EF4-FFF2-40B4-BE49-F238E27FC236}">
                <a16:creationId xmlns:a16="http://schemas.microsoft.com/office/drawing/2014/main" id="{2D4DD5F0-13DF-7800-2DC5-632637C72CA6}"/>
              </a:ext>
            </a:extLst>
          </p:cNvPr>
          <p:cNvGrpSpPr/>
          <p:nvPr/>
        </p:nvGrpSpPr>
        <p:grpSpPr>
          <a:xfrm>
            <a:off x="5958831" y="6429336"/>
            <a:ext cx="2078130" cy="182880"/>
            <a:chOff x="5930457" y="3057154"/>
            <a:chExt cx="2078130" cy="182880"/>
          </a:xfrm>
        </p:grpSpPr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30A96F97-9D59-E11F-B7FD-16777D645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10E926C6-71B8-8945-5BDA-C5DAF92CA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480A255B-EE00-3A22-A2EF-2F998C96B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008547F2-C0B7-B026-AB67-BD231AE97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8E9C6F9F-BB08-756F-64E5-37AFB7173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Rectangle 9">
            <a:extLst>
              <a:ext uri="{FF2B5EF4-FFF2-40B4-BE49-F238E27FC236}">
                <a16:creationId xmlns:a16="http://schemas.microsoft.com/office/drawing/2014/main" id="{46CF9A0D-F398-A0AA-5AD9-62CB530C6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5544342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72CCB8D9-4B6B-CEDF-DB03-FE8B454B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5812236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CAB163D2-76BC-20E0-2348-51B0FA7F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6393124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A7CC85-388C-AF03-90F1-D0879F591E44}"/>
              </a:ext>
            </a:extLst>
          </p:cNvPr>
          <p:cNvSpPr txBox="1"/>
          <p:nvPr/>
        </p:nvSpPr>
        <p:spPr>
          <a:xfrm>
            <a:off x="5036463" y="5236652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761A1B-6D72-E88C-8365-95BA1D2F50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2717" y="5685403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8FD6D7-CD12-7052-7A12-B92C3634F3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2717" y="5939888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AC64DA-6C95-B626-1184-BC52CCE638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21378" y="6534185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4341" name="TextBox 14340">
            <a:extLst>
              <a:ext uri="{FF2B5EF4-FFF2-40B4-BE49-F238E27FC236}">
                <a16:creationId xmlns:a16="http://schemas.microsoft.com/office/drawing/2014/main" id="{DA742702-A647-ECC1-4FDC-35DF1036912A}"/>
              </a:ext>
            </a:extLst>
          </p:cNvPr>
          <p:cNvSpPr txBox="1"/>
          <p:nvPr/>
        </p:nvSpPr>
        <p:spPr>
          <a:xfrm>
            <a:off x="8031007" y="5426584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2" name="TextBox 14341">
            <a:extLst>
              <a:ext uri="{FF2B5EF4-FFF2-40B4-BE49-F238E27FC236}">
                <a16:creationId xmlns:a16="http://schemas.microsoft.com/office/drawing/2014/main" id="{3A266C08-9FDF-D448-8E53-F05DB0A1174D}"/>
              </a:ext>
            </a:extLst>
          </p:cNvPr>
          <p:cNvSpPr txBox="1"/>
          <p:nvPr/>
        </p:nvSpPr>
        <p:spPr>
          <a:xfrm>
            <a:off x="8031007" y="568104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3" name="TextBox 14342">
            <a:extLst>
              <a:ext uri="{FF2B5EF4-FFF2-40B4-BE49-F238E27FC236}">
                <a16:creationId xmlns:a16="http://schemas.microsoft.com/office/drawing/2014/main" id="{90A11762-426E-A2B1-4250-2A525D66F8F5}"/>
              </a:ext>
            </a:extLst>
          </p:cNvPr>
          <p:cNvSpPr txBox="1"/>
          <p:nvPr/>
        </p:nvSpPr>
        <p:spPr>
          <a:xfrm>
            <a:off x="8031007" y="6301183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4" name="TextBox 14343">
            <a:extLst>
              <a:ext uri="{FF2B5EF4-FFF2-40B4-BE49-F238E27FC236}">
                <a16:creationId xmlns:a16="http://schemas.microsoft.com/office/drawing/2014/main" id="{809236CB-EB20-BAA7-D3E0-332100EF343C}"/>
              </a:ext>
            </a:extLst>
          </p:cNvPr>
          <p:cNvSpPr txBox="1"/>
          <p:nvPr/>
        </p:nvSpPr>
        <p:spPr>
          <a:xfrm>
            <a:off x="5213565" y="599852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5" name="TextBox 25">
            <a:extLst>
              <a:ext uri="{FF2B5EF4-FFF2-40B4-BE49-F238E27FC236}">
                <a16:creationId xmlns:a16="http://schemas.microsoft.com/office/drawing/2014/main" id="{07C9E0F2-7ACA-FE02-557F-9C8F2E4FA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271" y="5795916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14346" name="TextBox 25">
            <a:extLst>
              <a:ext uri="{FF2B5EF4-FFF2-40B4-BE49-F238E27FC236}">
                <a16:creationId xmlns:a16="http://schemas.microsoft.com/office/drawing/2014/main" id="{A8FEC6EA-B207-1214-F0EF-A6DDE4A9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3211" y="553157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4347" name="TextBox 28">
            <a:extLst>
              <a:ext uri="{FF2B5EF4-FFF2-40B4-BE49-F238E27FC236}">
                <a16:creationId xmlns:a16="http://schemas.microsoft.com/office/drawing/2014/main" id="{1F30A0C3-63A2-EC07-44BF-C1880599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939" y="6393124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9</a:t>
            </a:r>
            <a:endParaRPr lang="en-SG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9F16A-9589-077B-CE18-A034618008DF}"/>
              </a:ext>
            </a:extLst>
          </p:cNvPr>
          <p:cNvSpPr txBox="1"/>
          <p:nvPr/>
        </p:nvSpPr>
        <p:spPr>
          <a:xfrm>
            <a:off x="1299306" y="5865713"/>
            <a:ext cx="85721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 x ?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Dynamically Size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flexible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Matrix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740175"/>
            <a:ext cx="7653872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X rows, Y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X elements, each being an array of Y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**canvas;</a:t>
            </a:r>
          </a:p>
          <a:p>
            <a:pPr>
              <a:defRPr/>
            </a:pPr>
            <a:endParaRPr lang="en-US" sz="16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read in number of rows and columns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canvas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*));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canvas[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7F404-20E5-4345-BE6A-452E3CAABE34}"/>
              </a:ext>
            </a:extLst>
          </p:cNvPr>
          <p:cNvSpPr txBox="1"/>
          <p:nvPr/>
        </p:nvSpPr>
        <p:spPr>
          <a:xfrm>
            <a:off x="6845157" y="2576124"/>
            <a:ext cx="2070243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free the subarrays before the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720A2A-9262-B960-A35C-4564B1A0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56">
            <a:extLst>
              <a:ext uri="{FF2B5EF4-FFF2-40B4-BE49-F238E27FC236}">
                <a16:creationId xmlns:a16="http://schemas.microsoft.com/office/drawing/2014/main" id="{15A317AC-CA66-72FF-A436-651E6233F420}"/>
              </a:ext>
            </a:extLst>
          </p:cNvPr>
          <p:cNvGrpSpPr/>
          <p:nvPr/>
        </p:nvGrpSpPr>
        <p:grpSpPr>
          <a:xfrm>
            <a:off x="6545288" y="5744386"/>
            <a:ext cx="2078130" cy="182880"/>
            <a:chOff x="5930457" y="3057154"/>
            <a:chExt cx="2078130" cy="182880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6E536A8-BFDF-7A19-B2E5-550CA4993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F56C58B1-45E9-B6D6-BBFB-A4EC04FDC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FA2EC78-9CC9-DAD5-A7D3-582634516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EE45F0-B44C-1183-5E49-5E501D4DB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84292D-EFA7-140F-0D53-BF9F11E3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3" name="TextBox 24">
            <a:extLst>
              <a:ext uri="{FF2B5EF4-FFF2-40B4-BE49-F238E27FC236}">
                <a16:creationId xmlns:a16="http://schemas.microsoft.com/office/drawing/2014/main" id="{90D0C94C-45B7-DCD8-A8AE-62B1FDA0C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88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38FCC328-E594-9272-D23E-7DFF4C724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914" y="5398362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23FCA529-2A7B-3A99-0CEF-8F3BA2C18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540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146F7A18-4091-1B81-402D-8FB29C55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189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3</a:t>
            </a:r>
            <a:endParaRPr lang="en-SG" sz="1400"/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6A0A27D9-14E9-CB0C-87C0-0801CC14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018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4</a:t>
            </a:r>
            <a:endParaRPr lang="en-SG" sz="1400"/>
          </a:p>
        </p:txBody>
      </p:sp>
      <p:grpSp>
        <p:nvGrpSpPr>
          <p:cNvPr id="18" name="Group 57">
            <a:extLst>
              <a:ext uri="{FF2B5EF4-FFF2-40B4-BE49-F238E27FC236}">
                <a16:creationId xmlns:a16="http://schemas.microsoft.com/office/drawing/2014/main" id="{CE8E7D9E-3EF7-A4D2-32C6-AF31DB93FBD3}"/>
              </a:ext>
            </a:extLst>
          </p:cNvPr>
          <p:cNvGrpSpPr/>
          <p:nvPr/>
        </p:nvGrpSpPr>
        <p:grpSpPr>
          <a:xfrm>
            <a:off x="6545288" y="5994174"/>
            <a:ext cx="2078130" cy="182880"/>
            <a:chOff x="5930457" y="3057154"/>
            <a:chExt cx="2078130" cy="182880"/>
          </a:xfrm>
        </p:grpSpPr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CB4BB077-9653-D0D8-051B-C9474B7B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8DEBED8B-63BF-DB75-7F73-4CF57B07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FA283363-8AD9-EBA8-1410-E6D5E3BB9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60A9B4AF-F1F6-F643-0061-3DFDCF46A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3" name="Rectangle 10">
              <a:extLst>
                <a:ext uri="{FF2B5EF4-FFF2-40B4-BE49-F238E27FC236}">
                  <a16:creationId xmlns:a16="http://schemas.microsoft.com/office/drawing/2014/main" id="{16FAD2C5-E77B-1FAE-6A39-366163DF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4" name="Group 63">
            <a:extLst>
              <a:ext uri="{FF2B5EF4-FFF2-40B4-BE49-F238E27FC236}">
                <a16:creationId xmlns:a16="http://schemas.microsoft.com/office/drawing/2014/main" id="{00528340-20C7-205C-D40D-50E268447C91}"/>
              </a:ext>
            </a:extLst>
          </p:cNvPr>
          <p:cNvGrpSpPr/>
          <p:nvPr/>
        </p:nvGrpSpPr>
        <p:grpSpPr>
          <a:xfrm>
            <a:off x="6545288" y="6285354"/>
            <a:ext cx="2078130" cy="182880"/>
            <a:chOff x="5930457" y="3057154"/>
            <a:chExt cx="2078130" cy="182880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3B261805-C5F3-8707-B1EF-462D086B6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148BEB3F-7119-B888-EAFD-D94CB4447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EB7E9245-2A47-BC41-B917-B08F27739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B75CE5F7-A2F5-E5DE-4BD0-092903A8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8038F736-04B5-6E81-05A6-599B09D49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0" name="Rectangle 9">
            <a:extLst>
              <a:ext uri="{FF2B5EF4-FFF2-40B4-BE49-F238E27FC236}">
                <a16:creationId xmlns:a16="http://schemas.microsoft.com/office/drawing/2014/main" id="{9EFF6127-4174-B233-7C44-D3540AF99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5699121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1C601F18-3DDB-E5EC-D6BB-64509103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5967015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21A99729-6236-2FC6-6092-9995C20A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6249142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83F65A-E372-58C4-2741-F0251C4F1D21}"/>
              </a:ext>
            </a:extLst>
          </p:cNvPr>
          <p:cNvSpPr txBox="1"/>
          <p:nvPr/>
        </p:nvSpPr>
        <p:spPr>
          <a:xfrm>
            <a:off x="5622920" y="5391431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93D9C6D-68C8-E06F-4C92-84C4430C93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5840182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AB2F65-765E-F869-BEE9-561F553BB4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6094667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4C5FB8-DAE1-55FD-C495-8A36AAAAE2B3}"/>
              </a:ext>
            </a:extLst>
          </p:cNvPr>
          <p:cNvSpPr txBox="1"/>
          <p:nvPr/>
        </p:nvSpPr>
        <p:spPr>
          <a:xfrm>
            <a:off x="8617464" y="5581363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413036-8F0D-400F-ACDA-C0525ABB4919}"/>
              </a:ext>
            </a:extLst>
          </p:cNvPr>
          <p:cNvSpPr txBox="1"/>
          <p:nvPr/>
        </p:nvSpPr>
        <p:spPr>
          <a:xfrm>
            <a:off x="8617464" y="5835826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AEAE3-EA2C-E6B6-4C80-08342EBF8A76}"/>
              </a:ext>
            </a:extLst>
          </p:cNvPr>
          <p:cNvSpPr txBox="1"/>
          <p:nvPr/>
        </p:nvSpPr>
        <p:spPr>
          <a:xfrm>
            <a:off x="8617464" y="6157201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034F8B-8496-C8BD-08DB-D17D7A5F50C3}"/>
              </a:ext>
            </a:extLst>
          </p:cNvPr>
          <p:cNvSpPr txBox="1"/>
          <p:nvPr/>
        </p:nvSpPr>
        <p:spPr>
          <a:xfrm>
            <a:off x="5783610" y="6416474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1CAF557D-F0B8-B04D-C6C4-F9A74214B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728" y="5950695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1F0770BC-065F-2626-1C36-C56EF481E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668" y="5686356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2EB1AA69-92F3-F6E4-AAB7-438D7D58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502" y="624008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A12C628-934D-3A6B-A2B8-2AC2F2980E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6380437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8E6AAD-D487-3CF6-80BF-C9163C8C8D49}"/>
              </a:ext>
            </a:extLst>
          </p:cNvPr>
          <p:cNvSpPr txBox="1"/>
          <p:nvPr/>
        </p:nvSpPr>
        <p:spPr>
          <a:xfrm>
            <a:off x="2147526" y="5738212"/>
            <a:ext cx="69727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? x ?</a:t>
            </a:r>
          </a:p>
        </p:txBody>
      </p:sp>
    </p:spTree>
    <p:extLst>
      <p:ext uri="{BB962C8B-B14F-4D97-AF65-F5344CB8AC3E}">
        <p14:creationId xmlns:p14="http://schemas.microsoft.com/office/powerpoint/2010/main" val="37379719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Jagged arrays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Good for data with unusual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Half square</a:t>
            </a: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740175"/>
            <a:ext cx="7653872" cy="1815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varying number of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varying size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half_square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endParaRPr lang="en-US" sz="16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half_square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1CDFC-AF3B-E7C3-4102-2746FA37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AAFBD7-524A-A1E7-4039-5D9E1B7D6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491" y="4703238"/>
            <a:ext cx="415626" cy="182880"/>
          </a:xfrm>
          <a:prstGeom prst="rect">
            <a:avLst/>
          </a:prstGeom>
          <a:solidFill>
            <a:schemeClr val="bg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B4EDC8E2-726A-BF61-3161-239E4400B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491" y="435036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B1C1239B-CEBF-CFF8-33C9-CF60849A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117" y="4357214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EF12498-98A9-5E31-6699-F13498CC7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743" y="435036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grpSp>
        <p:nvGrpSpPr>
          <p:cNvPr id="23" name="Group 57">
            <a:extLst>
              <a:ext uri="{FF2B5EF4-FFF2-40B4-BE49-F238E27FC236}">
                <a16:creationId xmlns:a16="http://schemas.microsoft.com/office/drawing/2014/main" id="{F0BDAFD9-84C5-DB7A-FFF7-F14D13EC6074}"/>
              </a:ext>
            </a:extLst>
          </p:cNvPr>
          <p:cNvGrpSpPr/>
          <p:nvPr/>
        </p:nvGrpSpPr>
        <p:grpSpPr>
          <a:xfrm>
            <a:off x="3973491" y="4953026"/>
            <a:ext cx="831252" cy="182880"/>
            <a:chOff x="5930457" y="3057154"/>
            <a:chExt cx="831252" cy="182880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F0E7F1B0-56E0-2E14-6720-DC603AAC1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7F648517-5F85-F80B-DD77-6F5379AD1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9" name="Group 63">
            <a:extLst>
              <a:ext uri="{FF2B5EF4-FFF2-40B4-BE49-F238E27FC236}">
                <a16:creationId xmlns:a16="http://schemas.microsoft.com/office/drawing/2014/main" id="{237440B2-CB60-FCBD-22EA-4BF64BE6DF07}"/>
              </a:ext>
            </a:extLst>
          </p:cNvPr>
          <p:cNvGrpSpPr/>
          <p:nvPr/>
        </p:nvGrpSpPr>
        <p:grpSpPr>
          <a:xfrm>
            <a:off x="3973491" y="5244206"/>
            <a:ext cx="1246878" cy="182880"/>
            <a:chOff x="5930457" y="3057154"/>
            <a:chExt cx="1246878" cy="182880"/>
          </a:xfrm>
        </p:grpSpPr>
        <p:sp>
          <p:nvSpPr>
            <p:cNvPr id="30" name="Rectangle 6">
              <a:extLst>
                <a:ext uri="{FF2B5EF4-FFF2-40B4-BE49-F238E27FC236}">
                  <a16:creationId xmlns:a16="http://schemas.microsoft.com/office/drawing/2014/main" id="{40F1304C-179F-D790-CA1A-D9A08F721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278A4D9C-0076-B2FA-90E5-DF664D48D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Rectangle 9">
              <a:extLst>
                <a:ext uri="{FF2B5EF4-FFF2-40B4-BE49-F238E27FC236}">
                  <a16:creationId xmlns:a16="http://schemas.microsoft.com/office/drawing/2014/main" id="{639FBF3A-77B4-291F-9609-EB3F0E159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5" name="Rectangle 9">
            <a:extLst>
              <a:ext uri="{FF2B5EF4-FFF2-40B4-BE49-F238E27FC236}">
                <a16:creationId xmlns:a16="http://schemas.microsoft.com/office/drawing/2014/main" id="{129A72FD-43D2-DC10-22FC-9FFB5963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4657973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5F99A8D0-40AA-3CFF-367E-7C866F81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4925867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E41F41A7-643B-2B28-A756-19BB1275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5207994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5F3288-7554-D33F-8ACB-5D3247AB433F}"/>
              </a:ext>
            </a:extLst>
          </p:cNvPr>
          <p:cNvSpPr txBox="1"/>
          <p:nvPr/>
        </p:nvSpPr>
        <p:spPr>
          <a:xfrm>
            <a:off x="3051123" y="4350283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AC984B-9E3E-EBBD-CF19-EE14B0F759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4799034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151EBA-3F54-D287-B891-A6B6F2180A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5053519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4" name="TextBox 25">
            <a:extLst>
              <a:ext uri="{FF2B5EF4-FFF2-40B4-BE49-F238E27FC236}">
                <a16:creationId xmlns:a16="http://schemas.microsoft.com/office/drawing/2014/main" id="{64077622-7459-93D6-CCD2-F7B60054C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6931" y="490954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94E38E82-4EF9-93C3-9C57-A4D6982AB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871" y="464520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4430E437-2F4B-10D8-42F8-C7B29F71A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705" y="5198941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6DAC1C-91C3-E1A4-C64F-4DC54F9AB0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5339289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30D2F7D-5061-062C-81E6-8B1E54E1AC1B}"/>
              </a:ext>
            </a:extLst>
          </p:cNvPr>
          <p:cNvSpPr txBox="1"/>
          <p:nvPr/>
        </p:nvSpPr>
        <p:spPr>
          <a:xfrm>
            <a:off x="3186315" y="536577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23011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Using initializers (Fixed-length 2D arrays only)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Using loops with assignment statements (All types of 2D arrays)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Initializing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2" y="1677173"/>
            <a:ext cx="313838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},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},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1" y="4165164"/>
            <a:ext cx="542397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matrix[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][j]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j;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F96A38-987C-4C97-AB5A-73E1E22BD429}"/>
              </a:ext>
            </a:extLst>
          </p:cNvPr>
          <p:cNvSpPr/>
          <p:nvPr/>
        </p:nvSpPr>
        <p:spPr>
          <a:xfrm>
            <a:off x="6767388" y="445562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6764DB-3C24-4821-93F4-AD6F9E8789E3}"/>
              </a:ext>
            </a:extLst>
          </p:cNvPr>
          <p:cNvSpPr/>
          <p:nvPr/>
        </p:nvSpPr>
        <p:spPr>
          <a:xfrm>
            <a:off x="6767387" y="490768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1F942C-0A84-410E-B22C-3095ABAC9B4D}"/>
              </a:ext>
            </a:extLst>
          </p:cNvPr>
          <p:cNvSpPr/>
          <p:nvPr/>
        </p:nvSpPr>
        <p:spPr>
          <a:xfrm>
            <a:off x="7229724" y="490768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5A92CA-7019-47E4-8517-3B82F7C7A516}"/>
              </a:ext>
            </a:extLst>
          </p:cNvPr>
          <p:cNvSpPr/>
          <p:nvPr/>
        </p:nvSpPr>
        <p:spPr>
          <a:xfrm>
            <a:off x="6767387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D35F89-9AF1-4DF1-8FFE-6733BCD97B51}"/>
              </a:ext>
            </a:extLst>
          </p:cNvPr>
          <p:cNvSpPr/>
          <p:nvPr/>
        </p:nvSpPr>
        <p:spPr>
          <a:xfrm>
            <a:off x="7229723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803FEC-36F7-405B-A6B6-66CED66EB1A2}"/>
              </a:ext>
            </a:extLst>
          </p:cNvPr>
          <p:cNvSpPr/>
          <p:nvPr/>
        </p:nvSpPr>
        <p:spPr>
          <a:xfrm>
            <a:off x="7692060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8F3DBF-39EA-4D02-8E85-31E9FC9C1867}"/>
              </a:ext>
            </a:extLst>
          </p:cNvPr>
          <p:cNvSpPr/>
          <p:nvPr/>
        </p:nvSpPr>
        <p:spPr>
          <a:xfrm>
            <a:off x="7227593" y="4455619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812930-20AB-4D9E-9287-AD26D5F93130}"/>
              </a:ext>
            </a:extLst>
          </p:cNvPr>
          <p:cNvSpPr/>
          <p:nvPr/>
        </p:nvSpPr>
        <p:spPr>
          <a:xfrm>
            <a:off x="7687748" y="4455618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8FF0DC-131C-4D99-A560-45D6E381C8F3}"/>
              </a:ext>
            </a:extLst>
          </p:cNvPr>
          <p:cNvSpPr/>
          <p:nvPr/>
        </p:nvSpPr>
        <p:spPr>
          <a:xfrm>
            <a:off x="7687747" y="491246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EB351-8070-4A46-8B67-6CDEEA366488}"/>
              </a:ext>
            </a:extLst>
          </p:cNvPr>
          <p:cNvSpPr txBox="1"/>
          <p:nvPr/>
        </p:nvSpPr>
        <p:spPr>
          <a:xfrm>
            <a:off x="4533954" y="1666481"/>
            <a:ext cx="415284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matrix[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D85BE-E87C-42A7-9574-9EB580C46B05}"/>
              </a:ext>
            </a:extLst>
          </p:cNvPr>
          <p:cNvSpPr txBox="1"/>
          <p:nvPr/>
        </p:nvSpPr>
        <p:spPr>
          <a:xfrm>
            <a:off x="5394892" y="2138193"/>
            <a:ext cx="246550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Shortcut for initializing everything to 0.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01EF41-1D0C-AFE4-D0C0-3E262956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239012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Functions and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Functions that takes in one row of a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Actual function call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1" y="1677173"/>
            <a:ext cx="7561693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bar(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matrix_row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 ..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bar(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matrix_row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[]) { ..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2" y="3429000"/>
            <a:ext cx="276541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bar(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86C6C-68B0-4656-974B-6145FAE8A001}"/>
              </a:ext>
            </a:extLst>
          </p:cNvPr>
          <p:cNvSpPr txBox="1"/>
          <p:nvPr/>
        </p:nvSpPr>
        <p:spPr>
          <a:xfrm>
            <a:off x="5589143" y="2767725"/>
            <a:ext cx="2559926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Same as functions that takes in a 1D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C81370-6D72-39A3-26BE-8AECDE5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8900606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Functions and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Functions that takes the whole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Actual function call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Note: The first method is only for Fixed Length 2D Array since the number of columns must be known at the time of coding.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1" y="1713227"/>
            <a:ext cx="701738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 { .. }</a:t>
            </a:r>
          </a:p>
          <a:p>
            <a:pPr>
              <a:defRPr/>
            </a:pP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*matrix[]) { ..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**matrix) { ..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2" y="4775441"/>
            <a:ext cx="315582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matrix);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9793-9DAF-455E-9ECE-ADA362859F53}"/>
              </a:ext>
            </a:extLst>
          </p:cNvPr>
          <p:cNvSpPr txBox="1"/>
          <p:nvPr/>
        </p:nvSpPr>
        <p:spPr>
          <a:xfrm>
            <a:off x="6696058" y="2164637"/>
            <a:ext cx="218417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Cannot be omitted.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969267-7504-4232-A6BD-1ADE3283C58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572000" y="2164637"/>
            <a:ext cx="2124058" cy="1846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143275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Tic-Tac-Toe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a </a:t>
            </a:r>
            <a:r>
              <a:rPr lang="en-US" b="1" dirty="0">
                <a:solidFill>
                  <a:srgbClr val="7030A0"/>
                </a:solidFill>
              </a:rPr>
              <a:t>row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top row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a specific row (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 from 0~2), check whether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8220C-DA80-DC4C-0E81-A3100D9F5CBD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D05BE-6F34-6FA0-5E9B-4A0B8764CB9F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31C3F-4D98-725F-28B3-B78CEBB33C4E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0D81E-1FDB-0B49-94CD-7125F020C9FF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7F357-B4B2-71F9-48F8-0EAF5CA6F507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DE561-2A9A-B0F3-2BF5-C282559E7F11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7B6166-8005-EDB5-8C4F-8CC2CD640025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F1FF0B-598C-FD15-F6B5-0F4018577D94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8CD87-7244-7028-57B4-3A381BB5635D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906334-8EF3-318C-18A6-A0B5DBBA7FE9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27BA71-BD69-8DEE-9B85-A9038F7CB37E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2C4F4C-AC1B-362D-022C-F0A049E14DC9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C711C2D-B207-DFAD-6139-B7F215DCEFAD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8" name="Group 61">
            <a:extLst>
              <a:ext uri="{FF2B5EF4-FFF2-40B4-BE49-F238E27FC236}">
                <a16:creationId xmlns:a16="http://schemas.microsoft.com/office/drawing/2014/main" id="{F39E6CAD-5AC9-545A-3447-5DCFF6348EE9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922918-D101-7D6F-01A1-6A9AA0C1A983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7AF548-9A4F-896B-B03F-684823EC7B12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1DC32F-8402-8193-4E07-674CBCD4A227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690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1E44-8D8D-43CE-C036-0346CA64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67EC707-CA92-31E0-5578-565CCBA97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a </a:t>
            </a:r>
            <a:r>
              <a:rPr lang="en-US" b="1" dirty="0">
                <a:solidFill>
                  <a:srgbClr val="006600"/>
                </a:solidFill>
              </a:rPr>
              <a:t>column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left column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a specific column (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 from 0~2),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0E46C0B1-D643-8FE1-2DB5-71914859D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D3085-9692-F0D0-A37E-6BD64A46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C7DCFE54-BD66-41D2-156D-F3F3849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FDC4F8-7200-2E66-5058-EE11BDA9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742645-849D-F0BD-746F-EBE25488DADF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D474E4-8C2A-C81F-2CDF-25119A41A3E3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C138CA-C624-A336-5686-7754678A7D98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2EE42-3650-2844-7A3E-4DEB7FF0D167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D1E2B-B93F-9996-BDC3-7ACCF598F9D4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05394-489F-CC00-4145-B135EA2ED68A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DEFBC2-9FE4-CFEB-B903-EE838FC22E53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B78F0B-9A1D-6744-322E-3A9AA625C386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A27DF-06CF-9E3E-9E10-D041AB25B0B0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C4C02A-37DB-4775-EAB4-00814F460FD8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059E5F-B568-D7DF-B26E-08B80008E7BC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ACFD53-CA75-B053-61AF-04800984E985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4FB844-A634-5DF6-9ACB-A0D6A658D424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8" name="Group 61">
            <a:extLst>
              <a:ext uri="{FF2B5EF4-FFF2-40B4-BE49-F238E27FC236}">
                <a16:creationId xmlns:a16="http://schemas.microsoft.com/office/drawing/2014/main" id="{73820376-95F3-DFCF-C572-7EAFC9E34FA3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7DF767-DBDA-FFC6-A7C1-738B53536CAB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FB80AB-EC4B-A370-596D-25E218853E9E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96CFBD5-564B-4224-5DB5-DE98ACEB6B8E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852806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0A75-2470-6D78-925B-33E50C38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D7AA60-0ECD-4720-6A39-AB80B66B2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</a:t>
            </a:r>
            <a:r>
              <a:rPr lang="en-US" b="1" dirty="0">
                <a:solidFill>
                  <a:srgbClr val="006600"/>
                </a:solidFill>
              </a:rPr>
              <a:t>diagonals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left diagonal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the left diagonal,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the right diagonal,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happens if the board is larger?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302F924C-2CF6-A842-D894-07D3A2D4E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215D9-1435-7872-9025-7738F948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8B3DB57D-74A0-2442-01FE-841B16A2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2D48DB-89A2-F04A-3799-B72CD379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007AF-0A95-3F3E-5E4A-38DEE1041316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40F7A-9A15-F89B-FACB-71C762C1D393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F39C6D-B7FF-F372-3108-008093DCE235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A51EA0-B260-6858-073E-2EA4F2BBD55B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25BCD-98C5-FCB3-EE21-E71A9965A1C4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ED66EC-08ED-B348-5D3F-E3C31795CC48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916194-5887-11FF-7222-543B3F440DD7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827C5-869C-24ED-0DA2-E4D3DD99D7AE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340345-C269-F8F9-312E-1F15E19D9812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7FA459-F1B8-DA99-2676-65C5FE293603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324D5C-9EA9-8FD6-6E08-CE6B97975F29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7F5A1A-4FF9-CB74-9412-5CCCC6FA3CF5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E61A92-9BE7-21A0-2181-91FEF4FFDD95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9" name="Group 61">
            <a:extLst>
              <a:ext uri="{FF2B5EF4-FFF2-40B4-BE49-F238E27FC236}">
                <a16:creationId xmlns:a16="http://schemas.microsoft.com/office/drawing/2014/main" id="{6C2AF298-ECD7-489D-09AB-A9AD0BCFC0EF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F5EEBE-2E4E-648C-AA11-32193000D0AD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3974D4-C644-19D3-9D10-9E9093D7D8EE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43758B-86E0-0BAF-78CE-F1E7F41B794C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8093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Class enrolment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enrol</a:t>
            </a:r>
            <a:r>
              <a:rPr lang="en-US" dirty="0"/>
              <a:t>[</a:t>
            </a:r>
            <a:r>
              <a:rPr lang="en-US" b="1" dirty="0"/>
              <a:t>c</a:t>
            </a:r>
            <a:r>
              <a:rPr lang="en-US" dirty="0"/>
              <a:t>][</a:t>
            </a:r>
            <a:r>
              <a:rPr lang="en-US" b="1" dirty="0"/>
              <a:t>s</a:t>
            </a:r>
            <a:r>
              <a:rPr lang="en-US" dirty="0"/>
              <a:t>] indicates whether student </a:t>
            </a:r>
            <a:r>
              <a:rPr lang="en-US" b="1" dirty="0"/>
              <a:t>s</a:t>
            </a:r>
            <a:r>
              <a:rPr lang="en-US" dirty="0"/>
              <a:t> is enrolled in class </a:t>
            </a:r>
            <a:r>
              <a:rPr lang="en-US" b="1" dirty="0"/>
              <a:t>c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Which classes are the most popular?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Sum each </a:t>
            </a:r>
            <a:r>
              <a:rPr lang="en-US" dirty="0">
                <a:solidFill>
                  <a:srgbClr val="7030A0"/>
                </a:solidFill>
              </a:rPr>
              <a:t>row</a:t>
            </a:r>
            <a:r>
              <a:rPr lang="en-US" dirty="0"/>
              <a:t> and find max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Which students are not enrolled to any class?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Check for all zeros in a column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Sum each </a:t>
            </a:r>
            <a:r>
              <a:rPr lang="en-US" dirty="0">
                <a:solidFill>
                  <a:srgbClr val="006600"/>
                </a:solidFill>
              </a:rPr>
              <a:t>column</a:t>
            </a:r>
            <a:r>
              <a:rPr lang="en-US" dirty="0"/>
              <a:t> and find zero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9" name="Group 90">
            <a:extLst>
              <a:ext uri="{FF2B5EF4-FFF2-40B4-BE49-F238E27FC236}">
                <a16:creationId xmlns:a16="http://schemas.microsoft.com/office/drawing/2014/main" id="{6F99A66F-C7D0-3B9C-19FA-153B1854096B}"/>
              </a:ext>
            </a:extLst>
          </p:cNvPr>
          <p:cNvGrpSpPr/>
          <p:nvPr/>
        </p:nvGrpSpPr>
        <p:grpSpPr>
          <a:xfrm>
            <a:off x="1357773" y="2510819"/>
            <a:ext cx="2387840" cy="998785"/>
            <a:chOff x="3200400" y="4232434"/>
            <a:chExt cx="2387840" cy="99878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0B6041-A13B-C066-9871-9253002FBA6B}"/>
                </a:ext>
              </a:extLst>
            </p:cNvPr>
            <p:cNvSpPr txBox="1"/>
            <p:nvPr/>
          </p:nvSpPr>
          <p:spPr>
            <a:xfrm>
              <a:off x="320040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DAA8D56-EACA-23CC-8695-612039A69A35}"/>
                </a:ext>
              </a:extLst>
            </p:cNvPr>
            <p:cNvSpPr txBox="1"/>
            <p:nvPr/>
          </p:nvSpPr>
          <p:spPr>
            <a:xfrm>
              <a:off x="349888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B8CEFF-5FEE-59F2-1653-6C197FBE2614}"/>
                </a:ext>
              </a:extLst>
            </p:cNvPr>
            <p:cNvSpPr txBox="1"/>
            <p:nvPr/>
          </p:nvSpPr>
          <p:spPr>
            <a:xfrm>
              <a:off x="320040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4CFDDD-CE2D-3BB0-7608-9FC4CB86E0CF}"/>
                </a:ext>
              </a:extLst>
            </p:cNvPr>
            <p:cNvSpPr txBox="1"/>
            <p:nvPr/>
          </p:nvSpPr>
          <p:spPr>
            <a:xfrm>
              <a:off x="349888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C853BC-AF8A-8517-DD48-0464925EFAAB}"/>
                </a:ext>
              </a:extLst>
            </p:cNvPr>
            <p:cNvSpPr txBox="1"/>
            <p:nvPr/>
          </p:nvSpPr>
          <p:spPr>
            <a:xfrm>
              <a:off x="379736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DE74C2-100F-2656-A33E-422948465F9A}"/>
                </a:ext>
              </a:extLst>
            </p:cNvPr>
            <p:cNvSpPr txBox="1"/>
            <p:nvPr/>
          </p:nvSpPr>
          <p:spPr>
            <a:xfrm>
              <a:off x="409584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EFB5C5-14BC-3441-B7D3-C8B2B0EF76B2}"/>
                </a:ext>
              </a:extLst>
            </p:cNvPr>
            <p:cNvSpPr txBox="1"/>
            <p:nvPr/>
          </p:nvSpPr>
          <p:spPr>
            <a:xfrm>
              <a:off x="379736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21C54D-9ABD-39E3-6EC2-7C641A8DCD3F}"/>
                </a:ext>
              </a:extLst>
            </p:cNvPr>
            <p:cNvSpPr txBox="1"/>
            <p:nvPr/>
          </p:nvSpPr>
          <p:spPr>
            <a:xfrm>
              <a:off x="409584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2BBACC-9A42-084B-8555-2FAA37D27C96}"/>
                </a:ext>
              </a:extLst>
            </p:cNvPr>
            <p:cNvSpPr txBox="1"/>
            <p:nvPr/>
          </p:nvSpPr>
          <p:spPr>
            <a:xfrm>
              <a:off x="320040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E72676D-574C-BEF6-D282-C42F04F6AC76}"/>
                </a:ext>
              </a:extLst>
            </p:cNvPr>
            <p:cNvSpPr txBox="1"/>
            <p:nvPr/>
          </p:nvSpPr>
          <p:spPr>
            <a:xfrm>
              <a:off x="349888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25B0D3-D5D3-F09C-7030-E85848EE0FD8}"/>
                </a:ext>
              </a:extLst>
            </p:cNvPr>
            <p:cNvSpPr txBox="1"/>
            <p:nvPr/>
          </p:nvSpPr>
          <p:spPr>
            <a:xfrm>
              <a:off x="379736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6ED88E-433B-5F39-B288-6786820A7233}"/>
                </a:ext>
              </a:extLst>
            </p:cNvPr>
            <p:cNvSpPr txBox="1"/>
            <p:nvPr/>
          </p:nvSpPr>
          <p:spPr>
            <a:xfrm>
              <a:off x="409584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365D73-C657-33A2-97A8-9656E0210DEB}"/>
                </a:ext>
              </a:extLst>
            </p:cNvPr>
            <p:cNvSpPr txBox="1"/>
            <p:nvPr/>
          </p:nvSpPr>
          <p:spPr>
            <a:xfrm>
              <a:off x="439432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A121CB-8B40-68D2-D370-AA2303CCD760}"/>
                </a:ext>
              </a:extLst>
            </p:cNvPr>
            <p:cNvSpPr txBox="1"/>
            <p:nvPr/>
          </p:nvSpPr>
          <p:spPr>
            <a:xfrm>
              <a:off x="469280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8421AD-21DB-60FA-AEDF-A2F9EC9DF759}"/>
                </a:ext>
              </a:extLst>
            </p:cNvPr>
            <p:cNvSpPr txBox="1"/>
            <p:nvPr/>
          </p:nvSpPr>
          <p:spPr>
            <a:xfrm>
              <a:off x="439432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6C15D8-327F-D95F-502C-F9F7BD8F1C2F}"/>
                </a:ext>
              </a:extLst>
            </p:cNvPr>
            <p:cNvSpPr txBox="1"/>
            <p:nvPr/>
          </p:nvSpPr>
          <p:spPr>
            <a:xfrm>
              <a:off x="469280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FD649C-7944-A0FF-EC22-AFE4ACFE1F68}"/>
                </a:ext>
              </a:extLst>
            </p:cNvPr>
            <p:cNvSpPr txBox="1"/>
            <p:nvPr/>
          </p:nvSpPr>
          <p:spPr>
            <a:xfrm>
              <a:off x="499128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9ABC911-418B-A7F1-D6F3-5F3069F67FA0}"/>
                </a:ext>
              </a:extLst>
            </p:cNvPr>
            <p:cNvSpPr txBox="1"/>
            <p:nvPr/>
          </p:nvSpPr>
          <p:spPr>
            <a:xfrm>
              <a:off x="528976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F572AB-352D-6D37-56D8-E0AD5C5EA6C7}"/>
                </a:ext>
              </a:extLst>
            </p:cNvPr>
            <p:cNvSpPr txBox="1"/>
            <p:nvPr/>
          </p:nvSpPr>
          <p:spPr>
            <a:xfrm>
              <a:off x="499128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3F99F90-FCCD-E5A3-EF1C-897A33AFBBE5}"/>
                </a:ext>
              </a:extLst>
            </p:cNvPr>
            <p:cNvSpPr txBox="1"/>
            <p:nvPr/>
          </p:nvSpPr>
          <p:spPr>
            <a:xfrm>
              <a:off x="528976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8AFDBED-186F-FF9B-3E4E-A484515265BF}"/>
                </a:ext>
              </a:extLst>
            </p:cNvPr>
            <p:cNvSpPr txBox="1"/>
            <p:nvPr/>
          </p:nvSpPr>
          <p:spPr>
            <a:xfrm>
              <a:off x="439432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7EA582-E80B-2CB5-BDD2-E75180DF366B}"/>
                </a:ext>
              </a:extLst>
            </p:cNvPr>
            <p:cNvSpPr txBox="1"/>
            <p:nvPr/>
          </p:nvSpPr>
          <p:spPr>
            <a:xfrm>
              <a:off x="469280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6546E0-0567-C77D-60A9-4E1383A747E7}"/>
                </a:ext>
              </a:extLst>
            </p:cNvPr>
            <p:cNvSpPr txBox="1"/>
            <p:nvPr/>
          </p:nvSpPr>
          <p:spPr>
            <a:xfrm>
              <a:off x="499128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1965795-598C-8D42-D361-ECF75470158F}"/>
                </a:ext>
              </a:extLst>
            </p:cNvPr>
            <p:cNvSpPr txBox="1"/>
            <p:nvPr/>
          </p:nvSpPr>
          <p:spPr>
            <a:xfrm>
              <a:off x="528976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423887-3D7C-E51C-CA5E-93CEE7CC54CD}"/>
              </a:ext>
            </a:extLst>
          </p:cNvPr>
          <p:cNvGrpSpPr/>
          <p:nvPr/>
        </p:nvGrpSpPr>
        <p:grpSpPr>
          <a:xfrm>
            <a:off x="1059293" y="2510819"/>
            <a:ext cx="298480" cy="984885"/>
            <a:chOff x="806240" y="4496468"/>
            <a:chExt cx="298480" cy="98488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FC4CAB-885B-01DD-7CA5-7A4A82971585}"/>
                </a:ext>
              </a:extLst>
            </p:cNvPr>
            <p:cNvSpPr txBox="1"/>
            <p:nvPr/>
          </p:nvSpPr>
          <p:spPr>
            <a:xfrm>
              <a:off x="806240" y="4835022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62C2FD-C9D6-012D-6F8A-E10B77B03F8C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0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5A4F71-FBA9-6D09-817D-772BF4C0674B}"/>
                </a:ext>
              </a:extLst>
            </p:cNvPr>
            <p:cNvSpPr txBox="1"/>
            <p:nvPr/>
          </p:nvSpPr>
          <p:spPr>
            <a:xfrm>
              <a:off x="806240" y="5173576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3" name="Group 61">
            <a:extLst>
              <a:ext uri="{FF2B5EF4-FFF2-40B4-BE49-F238E27FC236}">
                <a16:creationId xmlns:a16="http://schemas.microsoft.com/office/drawing/2014/main" id="{5EA01D5E-252F-4BB0-4930-7E7CC69ED1AD}"/>
              </a:ext>
            </a:extLst>
          </p:cNvPr>
          <p:cNvGrpSpPr/>
          <p:nvPr/>
        </p:nvGrpSpPr>
        <p:grpSpPr>
          <a:xfrm>
            <a:off x="1357773" y="2203042"/>
            <a:ext cx="2387840" cy="307777"/>
            <a:chOff x="1104720" y="4034803"/>
            <a:chExt cx="2387840" cy="307777"/>
          </a:xfrm>
          <a:noFill/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27584A-8B37-4DDD-D1F1-CDEEAAE294A3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0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DB76C6-8CF5-EEAE-3458-B5D5134173F1}"/>
                </a:ext>
              </a:extLst>
            </p:cNvPr>
            <p:cNvSpPr txBox="1"/>
            <p:nvPr/>
          </p:nvSpPr>
          <p:spPr>
            <a:xfrm>
              <a:off x="140320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1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6DFF19-A9EE-2CDE-DE0E-8A254CFA155B}"/>
                </a:ext>
              </a:extLst>
            </p:cNvPr>
            <p:cNvSpPr txBox="1"/>
            <p:nvPr/>
          </p:nvSpPr>
          <p:spPr>
            <a:xfrm>
              <a:off x="170168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2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BA84A7-EFC0-4BEE-0BF7-7A653824A11C}"/>
                </a:ext>
              </a:extLst>
            </p:cNvPr>
            <p:cNvSpPr txBox="1"/>
            <p:nvPr/>
          </p:nvSpPr>
          <p:spPr>
            <a:xfrm>
              <a:off x="200016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3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EC434E-21B0-2353-8557-E0037DBF4A71}"/>
                </a:ext>
              </a:extLst>
            </p:cNvPr>
            <p:cNvSpPr txBox="1"/>
            <p:nvPr/>
          </p:nvSpPr>
          <p:spPr>
            <a:xfrm>
              <a:off x="229864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4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A44C58-CAE4-C28F-4FB5-F8D48E1C8B11}"/>
                </a:ext>
              </a:extLst>
            </p:cNvPr>
            <p:cNvSpPr txBox="1"/>
            <p:nvPr/>
          </p:nvSpPr>
          <p:spPr>
            <a:xfrm>
              <a:off x="259712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5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FB2D5D-850A-E0D4-F5DB-6A55857A62AD}"/>
                </a:ext>
              </a:extLst>
            </p:cNvPr>
            <p:cNvSpPr txBox="1"/>
            <p:nvPr/>
          </p:nvSpPr>
          <p:spPr>
            <a:xfrm>
              <a:off x="289560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6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78B402-96CC-B429-3E5A-AB868CF2DEDE}"/>
                </a:ext>
              </a:extLst>
            </p:cNvPr>
            <p:cNvSpPr txBox="1"/>
            <p:nvPr/>
          </p:nvSpPr>
          <p:spPr>
            <a:xfrm>
              <a:off x="319408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7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43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20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Efficiency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069FF181-1464-623A-2669-FCA28C9C6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94B235-D0B4-AB15-F68B-3C4E3A41BD3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22: Efficiency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Habits for Writing Efficient Code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Time Complexity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A75DF3-26D8-88A7-7036-1C4929F4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8416-2A86-1692-657E-A0DB83E9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4817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137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redundant work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only what is necessary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382CE6-82FA-4AB3-92A7-7E274C3F89FD}"/>
              </a:ext>
            </a:extLst>
          </p:cNvPr>
          <p:cNvSpPr txBox="1"/>
          <p:nvPr/>
        </p:nvSpPr>
        <p:spPr>
          <a:xfrm>
            <a:off x="1013878" y="2376881"/>
            <a:ext cx="524927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BA1797-F87E-4AEF-B309-49140ECBA55F}"/>
              </a:ext>
            </a:extLst>
          </p:cNvPr>
          <p:cNvSpPr txBox="1"/>
          <p:nvPr/>
        </p:nvSpPr>
        <p:spPr>
          <a:xfrm>
            <a:off x="3584435" y="4168676"/>
            <a:ext cx="535742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sqrt(n);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56917-1B8B-478F-8FFC-174C0AEBC478}"/>
              </a:ext>
            </a:extLst>
          </p:cNvPr>
          <p:cNvSpPr/>
          <p:nvPr/>
        </p:nvSpPr>
        <p:spPr>
          <a:xfrm>
            <a:off x="3382295" y="2864177"/>
            <a:ext cx="139618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E5C5741-59DA-4D4C-ABD1-AAFD00BCF15A}"/>
              </a:ext>
            </a:extLst>
          </p:cNvPr>
          <p:cNvSpPr/>
          <p:nvPr/>
        </p:nvSpPr>
        <p:spPr>
          <a:xfrm>
            <a:off x="5943598" y="4667108"/>
            <a:ext cx="167640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DCFF1E-C7C1-4234-9A2E-27DE8F6027BD}"/>
              </a:ext>
            </a:extLst>
          </p:cNvPr>
          <p:cNvSpPr txBox="1"/>
          <p:nvPr/>
        </p:nvSpPr>
        <p:spPr>
          <a:xfrm>
            <a:off x="7249389" y="5322838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4B7307-8B9C-4DF9-A30D-13917EC95682}"/>
              </a:ext>
            </a:extLst>
          </p:cNvPr>
          <p:cNvSpPr txBox="1"/>
          <p:nvPr/>
        </p:nvSpPr>
        <p:spPr>
          <a:xfrm>
            <a:off x="5284468" y="3322211"/>
            <a:ext cx="299466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100 seconds vs 3 seconds on </a:t>
            </a:r>
            <a:r>
              <a:rPr lang="en-US" dirty="0" err="1"/>
              <a:t>is_prime</a:t>
            </a:r>
            <a:r>
              <a:rPr lang="en-US" dirty="0"/>
              <a:t>(10000000001)!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C473E-4552-55DF-7FB6-9FC7D297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F96C6-982A-FC95-EC41-6569A7C0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4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1" grpId="0" animBg="1"/>
      <p:bldP spid="74" grpId="0" animBg="1"/>
      <p:bldP spid="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1"/>
            <a:ext cx="7948612" cy="55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Why only check up to sqrt(n) instead of n-1?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If there is a factor k </a:t>
            </a:r>
            <a:r>
              <a:rPr lang="en-US" b="1" dirty="0"/>
              <a:t>greater than sqrt(n)</a:t>
            </a:r>
            <a:r>
              <a:rPr lang="en-US" dirty="0"/>
              <a:t>, n / k is also a factor, which it is </a:t>
            </a:r>
            <a:r>
              <a:rPr lang="en-US" b="1" dirty="0"/>
              <a:t>less than sqrt(n)</a:t>
            </a:r>
            <a:r>
              <a:rPr lang="en-US" dirty="0"/>
              <a:t>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If t</a:t>
            </a:r>
            <a:r>
              <a:rPr lang="en-US" dirty="0"/>
              <a:t>here are no factors up to sqrt(n), there cannot be any factors bigger than sqrt(n).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is safe to only check up to sqrt(n).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Example: Let say n = 18, sqrt(n) ~= 4.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If there is a factor greater than 4 (e.g., 9)…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n / k (i.e., 18 / 9 = 2) is also a factor, which is less than 4.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is safe to only check up to 4.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E82CFC-3C04-D7AB-C0D8-3F9C4390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6D48DE-EE3F-BDAC-498E-FBC0DAA5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905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duplicates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NOT repeat work.</a:t>
            </a:r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Example 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Compute the range of a list of k numbers.</a:t>
            </a:r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6C8EB-4657-4E37-BE88-8AB646F0F86F}"/>
              </a:ext>
            </a:extLst>
          </p:cNvPr>
          <p:cNvSpPr txBox="1"/>
          <p:nvPr/>
        </p:nvSpPr>
        <p:spPr>
          <a:xfrm>
            <a:off x="1303471" y="3663490"/>
            <a:ext cx="6531271" cy="13849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74320" lvl="1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400" dirty="0"/>
              <a:t>Solution 1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once</a:t>
            </a:r>
            <a:r>
              <a:rPr lang="en-GB" sz="2000" dirty="0"/>
              <a:t> to compute the maximum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(again) </a:t>
            </a:r>
            <a:r>
              <a:rPr lang="en-GB" sz="2000" dirty="0"/>
              <a:t>to compute the minimum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Compute maximum – minimum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0F974-1539-439B-8444-97209D6BF886}"/>
              </a:ext>
            </a:extLst>
          </p:cNvPr>
          <p:cNvSpPr txBox="1"/>
          <p:nvPr/>
        </p:nvSpPr>
        <p:spPr>
          <a:xfrm>
            <a:off x="1309258" y="5150835"/>
            <a:ext cx="6525484" cy="13849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74320" lvl="1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400" dirty="0"/>
              <a:t>Solution 2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once</a:t>
            </a:r>
            <a:r>
              <a:rPr lang="en-GB" sz="2000" dirty="0"/>
              <a:t> to compute </a:t>
            </a:r>
            <a:r>
              <a:rPr lang="en-GB" sz="2000" dirty="0">
                <a:solidFill>
                  <a:srgbClr val="0000FF"/>
                </a:solidFill>
              </a:rPr>
              <a:t>both the maximum and the minimum</a:t>
            </a:r>
            <a:r>
              <a:rPr lang="en-GB" sz="2000" dirty="0"/>
              <a:t> at the same time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Compute maximum – minimum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C85C7-E968-4CC2-A469-7DF4A3FAAEB6}"/>
              </a:ext>
            </a:extLst>
          </p:cNvPr>
          <p:cNvSpPr txBox="1"/>
          <p:nvPr/>
        </p:nvSpPr>
        <p:spPr>
          <a:xfrm>
            <a:off x="7275368" y="5520166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8E797-D73D-175A-734D-C27ED14F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110B9-DC76-75AE-3F37-84FA803F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278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duplicates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NOT repeat work.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400" dirty="0"/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EA7A4-8C3C-447D-A2A2-DBC0FFF1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78" y="1533345"/>
            <a:ext cx="6847147" cy="379131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A978FDC-5B4D-4AD9-895E-8DC327E71261}"/>
              </a:ext>
            </a:extLst>
          </p:cNvPr>
          <p:cNvSpPr txBox="1"/>
          <p:nvPr/>
        </p:nvSpPr>
        <p:spPr>
          <a:xfrm>
            <a:off x="4184893" y="4798218"/>
            <a:ext cx="4570918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764681-DB93-4CD2-B34B-FFC399020F05}"/>
              </a:ext>
            </a:extLst>
          </p:cNvPr>
          <p:cNvSpPr txBox="1"/>
          <p:nvPr/>
        </p:nvSpPr>
        <p:spPr>
          <a:xfrm>
            <a:off x="1187096" y="5577662"/>
            <a:ext cx="228219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iterative version is more efficient!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C2B836-F1CB-BC1D-836F-C1A9DEFE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A467-FAF2-23E5-50C7-C208A9DD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682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The Naïve approach: Count the number of steps required for an input n…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7 steps per iteration: </a:t>
            </a:r>
            <a:r>
              <a:rPr lang="en-GB" b="1" dirty="0"/>
              <a:t>1</a:t>
            </a:r>
            <a:r>
              <a:rPr lang="en-GB" dirty="0"/>
              <a:t> comparison + </a:t>
            </a:r>
            <a:r>
              <a:rPr lang="en-GB" b="1" dirty="0"/>
              <a:t>2</a:t>
            </a:r>
            <a:r>
              <a:rPr lang="en-GB" dirty="0"/>
              <a:t> additions + </a:t>
            </a:r>
            <a:r>
              <a:rPr lang="en-GB" b="1" dirty="0"/>
              <a:t>4</a:t>
            </a:r>
            <a:r>
              <a:rPr lang="en-GB" dirty="0"/>
              <a:t> assignments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n – 2 iterations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2 extra steps: 1 assignment (initialization) + 1 comparison (final check of condition).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7n – 12 in total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1015666" y="2965260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3A8B9D5-9262-4877-BC20-04CFCCBC2B6E}"/>
              </a:ext>
            </a:extLst>
          </p:cNvPr>
          <p:cNvSpPr txBox="1"/>
          <p:nvPr/>
        </p:nvSpPr>
        <p:spPr>
          <a:xfrm>
            <a:off x="3262918" y="6107668"/>
            <a:ext cx="448852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Too detailed and not particularly useful…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0CCC5-D7EC-44D8-909F-0E26CCF787E7}"/>
              </a:ext>
            </a:extLst>
          </p:cNvPr>
          <p:cNvSpPr txBox="1"/>
          <p:nvPr/>
        </p:nvSpPr>
        <p:spPr>
          <a:xfrm>
            <a:off x="5394061" y="3165314"/>
            <a:ext cx="181723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key loop in the iterative version of fib.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546EB-3E12-D609-C235-C3711D0E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9D669-877F-73CA-6319-FA15DC54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21377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3"/>
              <p:cNvSpPr txBox="1">
                <a:spLocks noChangeArrowheads="1"/>
              </p:cNvSpPr>
              <p:nvPr/>
            </p:nvSpPr>
            <p:spPr>
              <a:xfrm>
                <a:off x="471488" y="1289049"/>
                <a:ext cx="8443912" cy="54234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720" indent="-13716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A better approach: Focus on </a:t>
                </a:r>
                <a:r>
                  <a:rPr lang="en-GB" dirty="0">
                    <a:solidFill>
                      <a:srgbClr val="0000FF"/>
                    </a:solidFill>
                  </a:rPr>
                  <a:t>the order of growth</a:t>
                </a:r>
                <a:r>
                  <a:rPr lang="en-GB" dirty="0"/>
                  <a:t> and the worst-case scenario.</a:t>
                </a:r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Order of growth: How quickly does the number of steps grow with respect to n?</a:t>
                </a:r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1 &lt; log n 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 &lt; n &lt; n</a:t>
                </a:r>
                <a:r>
                  <a:rPr lang="en-GB" baseline="30000" dirty="0"/>
                  <a:t>2</a:t>
                </a:r>
                <a:r>
                  <a:rPr lang="en-GB" dirty="0"/>
                  <a:t> &lt; n</a:t>
                </a:r>
                <a:r>
                  <a:rPr lang="en-GB" baseline="30000" dirty="0"/>
                  <a:t>3</a:t>
                </a:r>
                <a:r>
                  <a:rPr lang="en-GB" dirty="0"/>
                  <a:t> &lt; … &lt; 2</a:t>
                </a:r>
                <a:r>
                  <a:rPr lang="en-GB" baseline="30000" dirty="0"/>
                  <a:t>n</a:t>
                </a:r>
                <a:r>
                  <a:rPr lang="en-GB" dirty="0"/>
                  <a:t> &lt; 3</a:t>
                </a:r>
                <a:r>
                  <a:rPr lang="en-GB" baseline="30000" dirty="0"/>
                  <a:t>n</a:t>
                </a:r>
                <a:endParaRPr lang="en-GB" dirty="0"/>
              </a:p>
              <a:p>
                <a:pPr marL="0" indent="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None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Big O-notations: O(1) &lt; O(log n) &lt;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) &lt; O(n) &lt; O(n</a:t>
                </a:r>
                <a:r>
                  <a:rPr lang="en-GB" baseline="30000" dirty="0"/>
                  <a:t>2</a:t>
                </a:r>
                <a:r>
                  <a:rPr lang="en-GB" dirty="0"/>
                  <a:t>) &lt; O(n</a:t>
                </a:r>
                <a:r>
                  <a:rPr lang="en-GB" baseline="30000" dirty="0"/>
                  <a:t>3</a:t>
                </a:r>
                <a:r>
                  <a:rPr lang="en-GB" dirty="0"/>
                  <a:t>) &lt; … &lt; O(2</a:t>
                </a:r>
                <a:r>
                  <a:rPr lang="en-GB" baseline="30000" dirty="0"/>
                  <a:t>n</a:t>
                </a:r>
                <a:r>
                  <a:rPr lang="en-GB" dirty="0"/>
                  <a:t>) &lt; O(3</a:t>
                </a:r>
                <a:r>
                  <a:rPr lang="en-GB" baseline="30000" dirty="0"/>
                  <a:t>n</a:t>
                </a:r>
                <a:r>
                  <a:rPr lang="en-GB" dirty="0"/>
                  <a:t>)</a:t>
                </a:r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An algorithm takes O(n) time for the input n ~= The number of operations grows no </a:t>
                </a:r>
                <a:r>
                  <a:rPr lang="en-GB"/>
                  <a:t>faster than n </a:t>
                </a:r>
                <a:r>
                  <a:rPr lang="en-GB" dirty="0"/>
                  <a:t>(i.e., linearly).</a:t>
                </a:r>
              </a:p>
              <a:p>
                <a:pPr marL="274320" lvl="1" indent="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None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</p:txBody>
          </p:sp>
        </mc:Choice>
        <mc:Fallback xmlns="">
          <p:sp>
            <p:nvSpPr>
              <p:cNvPr id="6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1289049"/>
                <a:ext cx="8443912" cy="5423477"/>
              </a:xfrm>
              <a:prstGeom prst="rect">
                <a:avLst/>
              </a:prstGeom>
              <a:blipFill>
                <a:blip r:embed="rId3"/>
                <a:stretch>
                  <a:fillRect l="-938" t="-787" r="-18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B64CD9-30F1-AFD7-4637-3D53211F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2E7E8-1230-CA3C-9468-C73BAF53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6939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</a:t>
            </a:r>
            <a:r>
              <a:rPr lang="en-GB" dirty="0">
                <a:solidFill>
                  <a:srgbClr val="0000FF"/>
                </a:solidFill>
              </a:rPr>
              <a:t>the order of growth </a:t>
            </a:r>
            <a:r>
              <a:rPr lang="en-GB" dirty="0"/>
              <a:t>and the worst-case scenario.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Initial computation: 7n – 12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Drop constants and keep only the term with the highest rate of growth. 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Final result: O(n)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1261472" y="2677348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B74532-2646-FD78-437A-3D32116C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4DFCF-2CF1-8D66-D5C9-68F4453B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2027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the order of growth and </a:t>
            </a:r>
            <a:r>
              <a:rPr lang="en-GB" dirty="0">
                <a:solidFill>
                  <a:srgbClr val="0000FF"/>
                </a:solidFill>
              </a:rPr>
              <a:t>the worst-case scenario</a:t>
            </a:r>
            <a:r>
              <a:rPr lang="en-GB" dirty="0"/>
              <a:t>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Best / worst-case scenario: The input that leads to the minimal / maximum computation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The best case is usually trivial so we should focus on worst case.</a:t>
            </a:r>
            <a:r>
              <a:rPr lang="en-GB" b="1" dirty="0"/>
              <a:t> </a:t>
            </a:r>
            <a:r>
              <a:rPr lang="en-GB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52CB8-E721-0AE2-9A6E-3F60B8BB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6F706-63D9-C501-DF45-DD4F9F98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8470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the order of growth and the </a:t>
            </a:r>
            <a:r>
              <a:rPr lang="en-GB" dirty="0">
                <a:solidFill>
                  <a:srgbClr val="0000FF"/>
                </a:solidFill>
              </a:rPr>
              <a:t>worst-case scenario</a:t>
            </a:r>
            <a:r>
              <a:rPr lang="en-GB" dirty="0"/>
              <a:t>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2662019"/>
            <a:ext cx="524927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AE2F8-91CC-42A9-9F08-A2CB7884BB4F}"/>
              </a:ext>
            </a:extLst>
          </p:cNvPr>
          <p:cNvSpPr txBox="1"/>
          <p:nvPr/>
        </p:nvSpPr>
        <p:spPr>
          <a:xfrm>
            <a:off x="3584435" y="4453814"/>
            <a:ext cx="535742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sqrt(n);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E947-730A-4EF3-82CB-A3F101E6D172}"/>
              </a:ext>
            </a:extLst>
          </p:cNvPr>
          <p:cNvSpPr/>
          <p:nvPr/>
        </p:nvSpPr>
        <p:spPr>
          <a:xfrm>
            <a:off x="3382295" y="3149315"/>
            <a:ext cx="139618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F6D12-2380-4370-B223-2337A573F1C0}"/>
              </a:ext>
            </a:extLst>
          </p:cNvPr>
          <p:cNvSpPr/>
          <p:nvPr/>
        </p:nvSpPr>
        <p:spPr>
          <a:xfrm>
            <a:off x="5943598" y="4952246"/>
            <a:ext cx="167640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381BA-EAF8-47AB-91D9-6F294A733F6A}"/>
              </a:ext>
            </a:extLst>
          </p:cNvPr>
          <p:cNvSpPr txBox="1"/>
          <p:nvPr/>
        </p:nvSpPr>
        <p:spPr>
          <a:xfrm>
            <a:off x="7249389" y="5607976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07D11-2221-4B70-A383-BC6518A42A05}"/>
              </a:ext>
            </a:extLst>
          </p:cNvPr>
          <p:cNvSpPr txBox="1"/>
          <p:nvPr/>
        </p:nvSpPr>
        <p:spPr>
          <a:xfrm>
            <a:off x="6403072" y="2682811"/>
            <a:ext cx="14383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Best case: </a:t>
            </a:r>
          </a:p>
          <a:p>
            <a:r>
              <a:rPr lang="en-US" dirty="0"/>
              <a:t>Both O(1)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/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Worst case: </a:t>
                </a:r>
                <a:br>
                  <a:rPr lang="en-US" dirty="0"/>
                </a:br>
                <a:r>
                  <a:rPr lang="en-US" dirty="0"/>
                  <a:t>O(n) vs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blipFill>
                <a:blip r:embed="rId3"/>
                <a:stretch>
                  <a:fillRect l="-2941" t="-4630" r="-4202" b="-1388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1B833-F8AE-0CE6-65E2-935CA07F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79E8A8-9F88-0E94-4E91-0E64FA41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72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Draw a rectangle given the dimensions m and n.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1786948"/>
            <a:ext cx="7658634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*first,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*mid,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*last)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cs1010_print_string(first); 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for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&lt; m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cs1010_print_string(mid);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cs1010_println_string(last);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draw_rectangle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TOP_LEFT, HORIZONTAL, TOP_RIGHT);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VERTICAL, " ", VERTICAL);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BOTTOM_LEFT, HORIZONTAL, BOTTOM_RIGHT);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FD17B-C03F-4569-B6EC-EFB5F751521E}"/>
              </a:ext>
            </a:extLst>
          </p:cNvPr>
          <p:cNvSpPr txBox="1"/>
          <p:nvPr/>
        </p:nvSpPr>
        <p:spPr>
          <a:xfrm>
            <a:off x="533400" y="1786948"/>
            <a:ext cx="533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  <a:p>
            <a:r>
              <a:rPr lang="en-US" sz="1600" dirty="0"/>
              <a:t>2</a:t>
            </a:r>
          </a:p>
          <a:p>
            <a:r>
              <a:rPr lang="en-US" sz="1600" dirty="0"/>
              <a:t>3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</a:t>
            </a:r>
          </a:p>
          <a:p>
            <a:r>
              <a:rPr lang="en-US" sz="1600" dirty="0"/>
              <a:t>6</a:t>
            </a:r>
          </a:p>
          <a:p>
            <a:r>
              <a:rPr lang="en-US" sz="1600" dirty="0"/>
              <a:t>7</a:t>
            </a:r>
          </a:p>
          <a:p>
            <a:r>
              <a:rPr lang="en-US" sz="1600" dirty="0"/>
              <a:t>8</a:t>
            </a:r>
          </a:p>
          <a:p>
            <a:r>
              <a:rPr lang="en-US" sz="1600" dirty="0"/>
              <a:t>9</a:t>
            </a:r>
          </a:p>
          <a:p>
            <a:r>
              <a:rPr lang="en-US" sz="1600" dirty="0"/>
              <a:t>10</a:t>
            </a:r>
          </a:p>
          <a:p>
            <a:r>
              <a:rPr lang="en-US" sz="1600" dirty="0"/>
              <a:t>11</a:t>
            </a:r>
          </a:p>
          <a:p>
            <a:r>
              <a:rPr lang="en-US" sz="1600" dirty="0"/>
              <a:t>12</a:t>
            </a:r>
          </a:p>
          <a:p>
            <a:r>
              <a:rPr lang="en-US" sz="1600" dirty="0"/>
              <a:t>13</a:t>
            </a:r>
          </a:p>
          <a:p>
            <a:r>
              <a:rPr lang="en-US" sz="1600" dirty="0"/>
              <a:t>14</a:t>
            </a:r>
          </a:p>
          <a:p>
            <a:r>
              <a:rPr lang="en-US" sz="1600" dirty="0"/>
              <a:t>15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A822D-D86A-8F48-2372-DDDCC824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68FB0-0C7C-1E13-B31A-687B12DE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11B96-3D3C-FDB7-B1AC-935A82E7055E}"/>
              </a:ext>
            </a:extLst>
          </p:cNvPr>
          <p:cNvSpPr txBox="1"/>
          <p:nvPr/>
        </p:nvSpPr>
        <p:spPr>
          <a:xfrm>
            <a:off x="6584786" y="2328913"/>
            <a:ext cx="1429154" cy="1200329"/>
          </a:xfrm>
          <a:prstGeom prst="rect">
            <a:avLst/>
          </a:prstGeom>
          <a:noFill/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┏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┓</a:t>
            </a:r>
            <a:r>
              <a:rPr lang="en-US" dirty="0"/>
              <a:t>      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┃              ┃ ┃              ┃</a:t>
            </a:r>
            <a:endParaRPr lang="en-US" dirty="0"/>
          </a:p>
          <a:p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┗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.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┛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11EC5-02EE-3A82-060A-3B95967A6224}"/>
              </a:ext>
            </a:extLst>
          </p:cNvPr>
          <p:cNvSpPr txBox="1"/>
          <p:nvPr/>
        </p:nvSpPr>
        <p:spPr>
          <a:xfrm>
            <a:off x="7393709" y="3729873"/>
            <a:ext cx="9535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O(n*m)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F8DDB-327E-C3BA-2D2F-C802B307D768}"/>
              </a:ext>
            </a:extLst>
          </p:cNvPr>
          <p:cNvSpPr txBox="1"/>
          <p:nvPr/>
        </p:nvSpPr>
        <p:spPr>
          <a:xfrm>
            <a:off x="1025312" y="5747333"/>
            <a:ext cx="714996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each </a:t>
            </a:r>
            <a:r>
              <a:rPr lang="en-US" dirty="0" err="1"/>
              <a:t>draw_line</a:t>
            </a:r>
            <a:r>
              <a:rPr lang="en-US" dirty="0"/>
              <a:t>(): (1 step + (m-2) iterations of 1 step + 1 step) = 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D72F2-9E0C-B475-6FBF-569B736F0125}"/>
              </a:ext>
            </a:extLst>
          </p:cNvPr>
          <p:cNvSpPr txBox="1"/>
          <p:nvPr/>
        </p:nvSpPr>
        <p:spPr>
          <a:xfrm>
            <a:off x="1025312" y="6229929"/>
            <a:ext cx="714996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draw_rectangle</a:t>
            </a:r>
            <a:r>
              <a:rPr lang="en-US" dirty="0"/>
              <a:t>(): (1 + n-2 + 1) calls to </a:t>
            </a:r>
            <a:r>
              <a:rPr lang="en-US" dirty="0" err="1"/>
              <a:t>draw_line</a:t>
            </a:r>
            <a:r>
              <a:rPr lang="en-US" dirty="0"/>
              <a:t>() with m = n * m</a:t>
            </a:r>
          </a:p>
        </p:txBody>
      </p:sp>
    </p:spTree>
    <p:extLst>
      <p:ext uri="{BB962C8B-B14F-4D97-AF65-F5344CB8AC3E}">
        <p14:creationId xmlns:p14="http://schemas.microsoft.com/office/powerpoint/2010/main" val="117549751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502444" y="1330054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Recursive find max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F04A1-C1ED-4C1D-ACD8-E3204A79F658}"/>
              </a:ext>
            </a:extLst>
          </p:cNvPr>
          <p:cNvSpPr txBox="1"/>
          <p:nvPr/>
        </p:nvSpPr>
        <p:spPr>
          <a:xfrm>
            <a:off x="990600" y="1782395"/>
            <a:ext cx="6957708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long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end){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(start &gt;= end –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list[start];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mid = (start + end) /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left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(list, start, mid);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right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(list, mid, end);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(left &gt;= right)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left;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return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right;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8C804-5F83-10E4-9FC9-5185049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12F30-7948-F2EF-CB28-E5CB634D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14340" name="Picture 14339">
            <a:extLst>
              <a:ext uri="{FF2B5EF4-FFF2-40B4-BE49-F238E27FC236}">
                <a16:creationId xmlns:a16="http://schemas.microsoft.com/office/drawing/2014/main" id="{39DAFD10-1524-FCBC-7D12-150F3FE6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501" y="3767869"/>
            <a:ext cx="7372541" cy="2857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817D02-839C-C41B-5B7F-DAA3AFA70FA8}"/>
              </a:ext>
            </a:extLst>
          </p:cNvPr>
          <p:cNvSpPr txBox="1"/>
          <p:nvPr/>
        </p:nvSpPr>
        <p:spPr>
          <a:xfrm>
            <a:off x="6989988" y="3020008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E7CAD3-94C4-8143-D95D-937A37BD9BDA}"/>
              </a:ext>
            </a:extLst>
          </p:cNvPr>
          <p:cNvGrpSpPr/>
          <p:nvPr/>
        </p:nvGrpSpPr>
        <p:grpSpPr>
          <a:xfrm>
            <a:off x="5099859" y="406878"/>
            <a:ext cx="2776059" cy="1313956"/>
            <a:chOff x="5686454" y="362668"/>
            <a:chExt cx="2798977" cy="12791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53934F-596D-B4A8-0B17-A9D4DB0F0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6454" y="362668"/>
              <a:ext cx="2798977" cy="9241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58F13A-AA24-BC02-7940-21036CE4C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020" t="13310"/>
            <a:stretch/>
          </p:blipFill>
          <p:spPr>
            <a:xfrm>
              <a:off x="6102314" y="1261354"/>
              <a:ext cx="2041022" cy="38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46540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Fibonacci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F0774-9E07-46B8-A5FB-60FD63749D63}"/>
              </a:ext>
            </a:extLst>
          </p:cNvPr>
          <p:cNvSpPr txBox="1"/>
          <p:nvPr/>
        </p:nvSpPr>
        <p:spPr>
          <a:xfrm>
            <a:off x="4184893" y="479821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A2A543-62F1-481B-B73E-83642BA87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08F04A1-C1ED-4C1D-ACD8-E3204A79F658}"/>
              </a:ext>
            </a:extLst>
          </p:cNvPr>
          <p:cNvSpPr txBox="1"/>
          <p:nvPr/>
        </p:nvSpPr>
        <p:spPr>
          <a:xfrm>
            <a:off x="4184894" y="479821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406AC-A314-402A-88B1-3102B81D5035}"/>
              </a:ext>
            </a:extLst>
          </p:cNvPr>
          <p:cNvSpPr txBox="1"/>
          <p:nvPr/>
        </p:nvSpPr>
        <p:spPr>
          <a:xfrm>
            <a:off x="7231528" y="532465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8C804-5F83-10E4-9FC9-5185049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12F30-7948-F2EF-CB28-E5CB634D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0D8AE-B8FB-5698-97D2-2B513EFBA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" t="6799" r="3519" b="2215"/>
          <a:stretch/>
        </p:blipFill>
        <p:spPr>
          <a:xfrm>
            <a:off x="5697473" y="840044"/>
            <a:ext cx="2913127" cy="15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780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 err="1"/>
              <a:t>Collatz</a:t>
            </a: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1786948"/>
            <a:ext cx="765863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!= 1)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collatz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(n);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1;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FD17B-C03F-4569-B6EC-EFB5F751521E}"/>
              </a:ext>
            </a:extLst>
          </p:cNvPr>
          <p:cNvSpPr txBox="1"/>
          <p:nvPr/>
        </p:nvSpPr>
        <p:spPr>
          <a:xfrm>
            <a:off x="533400" y="1786948"/>
            <a:ext cx="533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  <a:p>
            <a:r>
              <a:rPr lang="en-US" sz="1600" dirty="0"/>
              <a:t>2</a:t>
            </a:r>
          </a:p>
          <a:p>
            <a:r>
              <a:rPr lang="en-US" sz="1600" dirty="0"/>
              <a:t>3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</a:t>
            </a:r>
          </a:p>
          <a:p>
            <a:r>
              <a:rPr lang="en-US" sz="1600" dirty="0"/>
              <a:t>6</a:t>
            </a:r>
          </a:p>
          <a:p>
            <a:r>
              <a:rPr lang="en-US" sz="1600" dirty="0"/>
              <a:t>7</a:t>
            </a:r>
          </a:p>
          <a:p>
            <a:r>
              <a:rPr lang="en-US" sz="1600" dirty="0"/>
              <a:t>8</a:t>
            </a:r>
          </a:p>
          <a:p>
            <a:r>
              <a:rPr lang="en-US" sz="1600" dirty="0"/>
              <a:t>9</a:t>
            </a:r>
          </a:p>
          <a:p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87AA3-700B-4734-8B9A-7FBF290B7FCC}"/>
              </a:ext>
            </a:extLst>
          </p:cNvPr>
          <p:cNvSpPr txBox="1"/>
          <p:nvPr/>
        </p:nvSpPr>
        <p:spPr>
          <a:xfrm>
            <a:off x="4165767" y="2756444"/>
            <a:ext cx="421131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O(??) since the loop may not terminate.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7AB68-CAF4-C1F6-F754-BE616B32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ED66C-37A8-EE94-190E-AFF76FAC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5682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8: due </a:t>
            </a:r>
            <a:r>
              <a:rPr lang="en-US" sz="2000" dirty="0">
                <a:solidFill>
                  <a:srgbClr val="0000FF"/>
                </a:solidFill>
              </a:rPr>
              <a:t>20 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9: due </a:t>
            </a:r>
            <a:r>
              <a:rPr lang="en-US" sz="2000" dirty="0">
                <a:solidFill>
                  <a:srgbClr val="0000FF"/>
                </a:solidFill>
              </a:rPr>
              <a:t>24 Mar,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19-20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4 due </a:t>
            </a:r>
            <a:r>
              <a:rPr lang="en-US" sz="2000" dirty="0">
                <a:solidFill>
                  <a:srgbClr val="0000FF"/>
                </a:solidFill>
              </a:rPr>
              <a:t>20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5 due </a:t>
            </a:r>
            <a:r>
              <a:rPr lang="en-US" sz="2000" dirty="0">
                <a:solidFill>
                  <a:srgbClr val="0000FF"/>
                </a:solidFill>
              </a:rPr>
              <a:t>24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>
              <a:solidFill>
                <a:srgbClr val="0000FF"/>
              </a:solidFill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D564BB-E3AB-0C77-EBAA-0582DBE7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9174B-82E6-5C70-C4E4-EB6BF5D6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14461</TotalTime>
  <Words>3462</Words>
  <Application>Microsoft Office PowerPoint</Application>
  <PresentationFormat>On-screen Show (4:3)</PresentationFormat>
  <Paragraphs>890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STIXGeneral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Clarity</vt:lpstr>
      <vt:lpstr>PowerPoint Presentation</vt:lpstr>
      <vt:lpstr>Unit 19: Multi-Dimensional Arrays</vt:lpstr>
      <vt:lpstr>Multi-dimensional Arrays</vt:lpstr>
      <vt:lpstr>Multi-dimensional Arrays</vt:lpstr>
      <vt:lpstr>Different Types of 2D Arrays</vt:lpstr>
      <vt:lpstr>Different Types of 2D Arrays</vt:lpstr>
      <vt:lpstr>Different Types of 2D Arrays</vt:lpstr>
      <vt:lpstr>Different Types of 2D Arrays</vt:lpstr>
      <vt:lpstr>Initializing Arrays</vt:lpstr>
      <vt:lpstr>Functions and 2D arrays</vt:lpstr>
      <vt:lpstr>Functions and 2D arrays</vt:lpstr>
      <vt:lpstr>Problem Solving with 2D arrays</vt:lpstr>
      <vt:lpstr>Problem Solving with 2D arrays</vt:lpstr>
      <vt:lpstr>Problem Solving with 2D arrays</vt:lpstr>
      <vt:lpstr>Problem Solving with 2D arrays</vt:lpstr>
      <vt:lpstr>PowerPoint Presentation</vt:lpstr>
      <vt:lpstr>Unit 22: Efficiency</vt:lpstr>
      <vt:lpstr>Good Habits for Writing Efficient Code</vt:lpstr>
      <vt:lpstr>Good Habits for Writing Efficient Code</vt:lpstr>
      <vt:lpstr>Good Habits for Writing Efficient Code</vt:lpstr>
      <vt:lpstr>Good Habits for Writing Efficient Code</vt:lpstr>
      <vt:lpstr>Time Complexity Analysis</vt:lpstr>
      <vt:lpstr>Time Complexity Analysis</vt:lpstr>
      <vt:lpstr>Time Complexity Analysis</vt:lpstr>
      <vt:lpstr>Time Complexity Analysis</vt:lpstr>
      <vt:lpstr>Time Complexity Analysis</vt:lpstr>
      <vt:lpstr>More examples</vt:lpstr>
      <vt:lpstr>More examples</vt:lpstr>
      <vt:lpstr>More examples</vt:lpstr>
      <vt:lpstr>More examples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2026-03-17T01:43:28Z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