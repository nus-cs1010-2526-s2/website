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18"/>
  </p:notesMasterIdLst>
  <p:handoutMasterIdLst>
    <p:handoutMasterId r:id="rId19"/>
  </p:handoutMasterIdLst>
  <p:sldIdLst>
    <p:sldId id="256" r:id="rId2"/>
    <p:sldId id="626" r:id="rId3"/>
    <p:sldId id="602" r:id="rId4"/>
    <p:sldId id="603" r:id="rId5"/>
    <p:sldId id="604" r:id="rId6"/>
    <p:sldId id="605" r:id="rId7"/>
    <p:sldId id="627" r:id="rId8"/>
    <p:sldId id="596" r:id="rId9"/>
    <p:sldId id="658" r:id="rId10"/>
    <p:sldId id="648" r:id="rId11"/>
    <p:sldId id="642" r:id="rId12"/>
    <p:sldId id="661" r:id="rId13"/>
    <p:sldId id="647" r:id="rId14"/>
    <p:sldId id="659" r:id="rId15"/>
    <p:sldId id="660" r:id="rId16"/>
    <p:sldId id="525" r:id="rId17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00"/>
    <a:srgbClr val="0066FF"/>
    <a:srgbClr val="FFFF99"/>
    <a:srgbClr val="CCFFCC"/>
    <a:srgbClr val="000099"/>
    <a:srgbClr val="FF3300"/>
    <a:srgbClr val="000000"/>
    <a:srgbClr val="FE8D6E"/>
    <a:srgbClr val="91F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EC3A52-1BE2-4ED5-ADC5-50902A0D9296}" v="1" dt="2026-04-06T06:54:13.8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67"/>
  </p:normalViewPr>
  <p:slideViewPr>
    <p:cSldViewPr snapToGrid="0">
      <p:cViewPr varScale="1">
        <p:scale>
          <a:sx n="101" d="100"/>
          <a:sy n="101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modSld">
      <pc:chgData name="Zhao Jin" userId="cd05a825-544c-438a-9ba1-08e63db50b47" providerId="ADAL" clId="{5DF3A229-1965-414E-AF54-F4C37AC7DF68}" dt="2026-04-06T06:54:13.843" v="0" actId="20577"/>
      <pc:docMkLst>
        <pc:docMk/>
      </pc:docMkLst>
      <pc:sldChg chg="modSp">
        <pc:chgData name="Zhao Jin" userId="cd05a825-544c-438a-9ba1-08e63db50b47" providerId="ADAL" clId="{5DF3A229-1965-414E-AF54-F4C37AC7DF68}" dt="2026-04-06T06:54:13.843" v="0" actId="20577"/>
        <pc:sldMkLst>
          <pc:docMk/>
          <pc:sldMk cId="3056023935" sldId="596"/>
        </pc:sldMkLst>
        <pc:spChg chg="mod">
          <ac:chgData name="Zhao Jin" userId="cd05a825-544c-438a-9ba1-08e63db50b47" providerId="ADAL" clId="{5DF3A229-1965-414E-AF54-F4C37AC7DF68}" dt="2026-04-06T06:54:13.843" v="0" actId="20577"/>
          <ac:spMkLst>
            <pc:docMk/>
            <pc:sldMk cId="3056023935" sldId="596"/>
            <ac:spMk id="10" creationId="{46782AF2-AA4A-4243-84D2-A48349DF920C}"/>
          </ac:spMkLst>
        </pc:spChg>
      </pc:sldChg>
    </pc:docChg>
  </pc:docChgLst>
  <pc:docChgLst>
    <pc:chgData name="Zhao Jin" userId="cd05a825-544c-438a-9ba1-08e63db50b47" providerId="ADAL" clId="{7346625B-7E8F-4E9B-A9F0-94C1DD70E907}"/>
    <pc:docChg chg="undo redo custSel modSld">
      <pc:chgData name="Zhao Jin" userId="cd05a825-544c-438a-9ba1-08e63db50b47" providerId="ADAL" clId="{7346625B-7E8F-4E9B-A9F0-94C1DD70E907}" dt="2026-03-30T02:19:06.123" v="422" actId="20577"/>
      <pc:docMkLst>
        <pc:docMk/>
      </pc:docMkLst>
      <pc:sldChg chg="addSp delSp modSp mod modAnim">
        <pc:chgData name="Zhao Jin" userId="cd05a825-544c-438a-9ba1-08e63db50b47" providerId="ADAL" clId="{7346625B-7E8F-4E9B-A9F0-94C1DD70E907}" dt="2026-03-30T02:18:49.438" v="409" actId="20577"/>
        <pc:sldMkLst>
          <pc:docMk/>
          <pc:sldMk cId="3056023935" sldId="596"/>
        </pc:sldMkLst>
        <pc:spChg chg="mod">
          <ac:chgData name="Zhao Jin" userId="cd05a825-544c-438a-9ba1-08e63db50b47" providerId="ADAL" clId="{7346625B-7E8F-4E9B-A9F0-94C1DD70E907}" dt="2026-03-30T02:15:24.055" v="257" actId="1076"/>
          <ac:spMkLst>
            <pc:docMk/>
            <pc:sldMk cId="3056023935" sldId="596"/>
            <ac:spMk id="8" creationId="{99A0CDBB-C985-4D72-9121-5ED2A6FEB14D}"/>
          </ac:spMkLst>
        </pc:spChg>
        <pc:spChg chg="add del mod">
          <ac:chgData name="Zhao Jin" userId="cd05a825-544c-438a-9ba1-08e63db50b47" providerId="ADAL" clId="{7346625B-7E8F-4E9B-A9F0-94C1DD70E907}" dt="2026-03-30T02:18:45.199" v="403" actId="6549"/>
          <ac:spMkLst>
            <pc:docMk/>
            <pc:sldMk cId="3056023935" sldId="596"/>
            <ac:spMk id="9" creationId="{00000000-0000-0000-0000-000000000000}"/>
          </ac:spMkLst>
        </pc:spChg>
        <pc:spChg chg="mod">
          <ac:chgData name="Zhao Jin" userId="cd05a825-544c-438a-9ba1-08e63db50b47" providerId="ADAL" clId="{7346625B-7E8F-4E9B-A9F0-94C1DD70E907}" dt="2026-03-30T02:18:49.438" v="409" actId="20577"/>
          <ac:spMkLst>
            <pc:docMk/>
            <pc:sldMk cId="3056023935" sldId="596"/>
            <ac:spMk id="10" creationId="{46782AF2-AA4A-4243-84D2-A48349DF920C}"/>
          </ac:spMkLst>
        </pc:spChg>
      </pc:sldChg>
      <pc:sldChg chg="modSp mod">
        <pc:chgData name="Zhao Jin" userId="cd05a825-544c-438a-9ba1-08e63db50b47" providerId="ADAL" clId="{7346625B-7E8F-4E9B-A9F0-94C1DD70E907}" dt="2026-03-30T02:17:13.604" v="314" actId="6549"/>
        <pc:sldMkLst>
          <pc:docMk/>
          <pc:sldMk cId="2840099445" sldId="602"/>
        </pc:sldMkLst>
        <pc:spChg chg="mod">
          <ac:chgData name="Zhao Jin" userId="cd05a825-544c-438a-9ba1-08e63db50b47" providerId="ADAL" clId="{7346625B-7E8F-4E9B-A9F0-94C1DD70E907}" dt="2026-03-30T02:17:13.604" v="314" actId="6549"/>
          <ac:spMkLst>
            <pc:docMk/>
            <pc:sldMk cId="2840099445" sldId="602"/>
            <ac:spMk id="52" creationId="{00000000-0000-0000-0000-000000000000}"/>
          </ac:spMkLst>
        </pc:spChg>
      </pc:sldChg>
      <pc:sldChg chg="modSp mod">
        <pc:chgData name="Zhao Jin" userId="cd05a825-544c-438a-9ba1-08e63db50b47" providerId="ADAL" clId="{7346625B-7E8F-4E9B-A9F0-94C1DD70E907}" dt="2026-03-30T02:17:31.913" v="316" actId="20577"/>
        <pc:sldMkLst>
          <pc:docMk/>
          <pc:sldMk cId="657864584" sldId="603"/>
        </pc:sldMkLst>
        <pc:spChg chg="mod">
          <ac:chgData name="Zhao Jin" userId="cd05a825-544c-438a-9ba1-08e63db50b47" providerId="ADAL" clId="{7346625B-7E8F-4E9B-A9F0-94C1DD70E907}" dt="2026-03-30T02:17:31.913" v="316" actId="20577"/>
          <ac:spMkLst>
            <pc:docMk/>
            <pc:sldMk cId="657864584" sldId="603"/>
            <ac:spMk id="10" creationId="{00000000-0000-0000-0000-000000000000}"/>
          </ac:spMkLst>
        </pc:spChg>
      </pc:sldChg>
      <pc:sldChg chg="modSp mod">
        <pc:chgData name="Zhao Jin" userId="cd05a825-544c-438a-9ba1-08e63db50b47" providerId="ADAL" clId="{7346625B-7E8F-4E9B-A9F0-94C1DD70E907}" dt="2026-03-30T02:17:40.982" v="320" actId="20577"/>
        <pc:sldMkLst>
          <pc:docMk/>
          <pc:sldMk cId="2266731302" sldId="604"/>
        </pc:sldMkLst>
        <pc:spChg chg="mod">
          <ac:chgData name="Zhao Jin" userId="cd05a825-544c-438a-9ba1-08e63db50b47" providerId="ADAL" clId="{7346625B-7E8F-4E9B-A9F0-94C1DD70E907}" dt="2026-03-30T02:17:40.982" v="320" actId="20577"/>
          <ac:spMkLst>
            <pc:docMk/>
            <pc:sldMk cId="2266731302" sldId="604"/>
            <ac:spMk id="11" creationId="{00000000-0000-0000-0000-000000000000}"/>
          </ac:spMkLst>
        </pc:spChg>
      </pc:sldChg>
      <pc:sldChg chg="modSp">
        <pc:chgData name="Zhao Jin" userId="cd05a825-544c-438a-9ba1-08e63db50b47" providerId="ADAL" clId="{7346625B-7E8F-4E9B-A9F0-94C1DD70E907}" dt="2026-03-30T02:17:55.863" v="338" actId="20577"/>
        <pc:sldMkLst>
          <pc:docMk/>
          <pc:sldMk cId="3047898109" sldId="605"/>
        </pc:sldMkLst>
        <pc:spChg chg="mod">
          <ac:chgData name="Zhao Jin" userId="cd05a825-544c-438a-9ba1-08e63db50b47" providerId="ADAL" clId="{7346625B-7E8F-4E9B-A9F0-94C1DD70E907}" dt="2026-03-30T02:17:55.863" v="338" actId="20577"/>
          <ac:spMkLst>
            <pc:docMk/>
            <pc:sldMk cId="3047898109" sldId="605"/>
            <ac:spMk id="40" creationId="{00000000-0000-0000-0000-000000000000}"/>
          </ac:spMkLst>
        </pc:spChg>
      </pc:sldChg>
      <pc:sldChg chg="modSp mod">
        <pc:chgData name="Zhao Jin" userId="cd05a825-544c-438a-9ba1-08e63db50b47" providerId="ADAL" clId="{7346625B-7E8F-4E9B-A9F0-94C1DD70E907}" dt="2026-03-30T02:18:02.939" v="343" actId="20577"/>
        <pc:sldMkLst>
          <pc:docMk/>
          <pc:sldMk cId="2964341788" sldId="627"/>
        </pc:sldMkLst>
        <pc:spChg chg="mod">
          <ac:chgData name="Zhao Jin" userId="cd05a825-544c-438a-9ba1-08e63db50b47" providerId="ADAL" clId="{7346625B-7E8F-4E9B-A9F0-94C1DD70E907}" dt="2026-03-30T02:18:02.939" v="343" actId="20577"/>
          <ac:spMkLst>
            <pc:docMk/>
            <pc:sldMk cId="2964341788" sldId="627"/>
            <ac:spMk id="11" creationId="{00000000-0000-0000-0000-000000000000}"/>
          </ac:spMkLst>
        </pc:spChg>
      </pc:sldChg>
      <pc:sldChg chg="modSp mod modAnim">
        <pc:chgData name="Zhao Jin" userId="cd05a825-544c-438a-9ba1-08e63db50b47" providerId="ADAL" clId="{7346625B-7E8F-4E9B-A9F0-94C1DD70E907}" dt="2026-03-30T02:19:06.123" v="422" actId="20577"/>
        <pc:sldMkLst>
          <pc:docMk/>
          <pc:sldMk cId="1792936429" sldId="658"/>
        </pc:sldMkLst>
        <pc:spChg chg="mod">
          <ac:chgData name="Zhao Jin" userId="cd05a825-544c-438a-9ba1-08e63db50b47" providerId="ADAL" clId="{7346625B-7E8F-4E9B-A9F0-94C1DD70E907}" dt="2026-03-30T02:19:06.123" v="422" actId="20577"/>
          <ac:spMkLst>
            <pc:docMk/>
            <pc:sldMk cId="1792936429" sldId="658"/>
            <ac:spMk id="5" creationId="{ED95DCE1-90E4-AC0C-BDB4-C7437EE79DFD}"/>
          </ac:spMkLst>
        </pc:spChg>
        <pc:spChg chg="mod">
          <ac:chgData name="Zhao Jin" userId="cd05a825-544c-438a-9ba1-08e63db50b47" providerId="ADAL" clId="{7346625B-7E8F-4E9B-A9F0-94C1DD70E907}" dt="2026-03-30T02:18:59.082" v="415" actId="20577"/>
          <ac:spMkLst>
            <pc:docMk/>
            <pc:sldMk cId="1792936429" sldId="658"/>
            <ac:spMk id="11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4/6/2026</a:t>
            </a:fld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746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431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33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2339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7924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045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58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4773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7727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3713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676FD-0C90-F58E-4D8C-1B6CB3D5E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EE85B9E9-42C6-FBAA-A665-5DAADF93A50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7B09D4F1-818D-0261-F0F2-7F2FDA52E0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62707A81-FA87-49B6-B831-3421E6577E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9932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1496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3D31B-FA58-0C18-A404-C368E00A5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8503FAC4-DC6F-F2FF-CA46-FC827F40C5B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5D8F412C-6347-8C94-185B-BD4BA38E2D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7D230E11-0639-08B8-9ABC-CA603428B8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961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0F0DD-D6AE-F1C1-210D-42A5FBA5C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41BCBABA-7BC9-1F87-4391-732255C23F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FA62BC33-E7E6-C41D-3C52-933953B421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023358C2-12B1-EC36-7559-BD73DB9AAA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6707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52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Week 11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C00000"/>
                </a:solidFill>
                <a:latin typeface="Calibri" panose="020F0502020204030204" pitchFamily="34" charset="0"/>
              </a:rPr>
              <a:t>Recap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00100" y="1227775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BC9FBA7A-C75B-5CCE-991E-BC407B2E81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6F19A5-3927-D89E-8B2C-E7ECBA9285DF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Common Types of Recursion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1214490"/>
            <a:ext cx="8229600" cy="564351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Integers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Base case:  a single digit or 0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Recursive case: number – 1 or number / 10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Example: factorial, </a:t>
            </a:r>
            <a:r>
              <a:rPr lang="en-US" sz="2200" dirty="0" err="1"/>
              <a:t>sumDigits</a:t>
            </a:r>
            <a:endParaRPr lang="en-US" sz="2200" dirty="0"/>
          </a:p>
          <a:p>
            <a:pPr marL="341313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00" u="sng" dirty="0"/>
          </a:p>
          <a:p>
            <a:pPr marL="341313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1D arrays (including strings)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Base case: an array of 1 element or an empty array</a:t>
            </a:r>
          </a:p>
          <a:p>
            <a:pPr marL="615633" lvl="1" indent="-341313" fontAlgn="auto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Recursive case: the array minus the first / last element, or left / right half of the elements.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Example: </a:t>
            </a:r>
            <a:r>
              <a:rPr lang="en-US" sz="2200" dirty="0" err="1"/>
              <a:t>findMax</a:t>
            </a:r>
            <a:r>
              <a:rPr lang="en-US" sz="2200" dirty="0"/>
              <a:t>, </a:t>
            </a:r>
            <a:r>
              <a:rPr lang="en-US" sz="2200" dirty="0" err="1"/>
              <a:t>binarySearch</a:t>
            </a:r>
            <a:endParaRPr lang="en-US" sz="2200" dirty="0"/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00" dirty="0"/>
          </a:p>
          <a:p>
            <a:pPr marL="341313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2D arrays 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Base case: a single row / column or an empty array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Recursive case: the array minus one row and / or a column</a:t>
            </a:r>
          </a:p>
          <a:p>
            <a:pPr marL="615633" lvl="1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615633" lvl="1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615633" lvl="1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606A07-F14A-1B17-02A7-B3A0AD3EA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5B8C67-C51B-25EF-A866-53A238D69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4924E-D0AF-4B55-310A-2E58D8003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400082861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Exercise #1: Counting Occurrence</a:t>
            </a:r>
          </a:p>
        </p:txBody>
      </p:sp>
      <p:sp>
        <p:nvSpPr>
          <p:cNvPr id="52" name="Rectangle 3"/>
          <p:cNvSpPr txBox="1">
            <a:spLocks noChangeArrowheads="1"/>
          </p:cNvSpPr>
          <p:nvPr/>
        </p:nvSpPr>
        <p:spPr>
          <a:xfrm>
            <a:off x="457199" y="1617663"/>
            <a:ext cx="8381999" cy="4249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Problem: Given an array  </a:t>
            </a:r>
          </a:p>
          <a:p>
            <a:pPr lvl="1" fontAlgn="auto">
              <a:spcBef>
                <a:spcPts val="1200"/>
              </a:spcBef>
              <a:spcAft>
                <a:spcPts val="0"/>
              </a:spcAft>
              <a:buFont typeface="Arial" pitchFamily="34" charset="0"/>
              <a:buNone/>
              <a:tabLst>
                <a:tab pos="806450" algn="l"/>
              </a:tabLst>
            </a:pPr>
            <a:r>
              <a:rPr lang="en-US" sz="2400" dirty="0"/>
              <a:t>		</a:t>
            </a:r>
            <a:r>
              <a:rPr lang="en-US" sz="2400" dirty="0">
                <a:solidFill>
                  <a:srgbClr val="0000FF"/>
                </a:solidFill>
              </a:rPr>
              <a:t>long</a:t>
            </a:r>
            <a:r>
              <a:rPr lang="en-US" sz="2400" dirty="0"/>
              <a:t> list[ ] = { 9, -2, 1, 7, 3, 9, -5, 7, 2, 1, 7, -2, 0, 8, -3 } </a:t>
            </a:r>
          </a:p>
          <a:p>
            <a:pPr marL="341313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We want</a:t>
            </a:r>
          </a:p>
          <a:p>
            <a:pPr lvl="1" fontAlgn="auto">
              <a:spcBef>
                <a:spcPts val="1200"/>
              </a:spcBef>
              <a:spcAft>
                <a:spcPts val="0"/>
              </a:spcAft>
              <a:buFont typeface="Arial" pitchFamily="34" charset="0"/>
              <a:buNone/>
              <a:tabLst>
                <a:tab pos="806450" algn="l"/>
              </a:tabLst>
            </a:pPr>
            <a:r>
              <a:rPr lang="en-US" sz="2400" dirty="0"/>
              <a:t>		</a:t>
            </a:r>
            <a:r>
              <a:rPr lang="en-US" sz="2400" dirty="0" err="1">
                <a:solidFill>
                  <a:srgbClr val="0000FF"/>
                </a:solidFill>
              </a:rPr>
              <a:t>count_occur</a:t>
            </a:r>
            <a:r>
              <a:rPr lang="en-US" sz="2400" dirty="0">
                <a:solidFill>
                  <a:srgbClr val="0000FF"/>
                </a:solidFill>
              </a:rPr>
              <a:t>(7, list, 15)</a:t>
            </a:r>
          </a:p>
          <a:p>
            <a:pPr marL="449263" lvl="1" indent="7938" fontAlgn="auto">
              <a:spcBef>
                <a:spcPts val="120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US" sz="2400" dirty="0"/>
              <a:t>to return </a:t>
            </a:r>
            <a:r>
              <a:rPr lang="en-US" sz="2400" dirty="0">
                <a:solidFill>
                  <a:srgbClr val="0000FF"/>
                </a:solidFill>
              </a:rPr>
              <a:t>3</a:t>
            </a:r>
            <a:r>
              <a:rPr lang="en-US" sz="2400" dirty="0"/>
              <a:t> (the number of times 7 appears in the 15 elements of list).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60D94F8-23DF-4014-8D7B-4FB3719A0DEC}"/>
              </a:ext>
            </a:extLst>
          </p:cNvPr>
          <p:cNvCxnSpPr/>
          <p:nvPr/>
        </p:nvCxnSpPr>
        <p:spPr>
          <a:xfrm flipH="1" flipV="1">
            <a:off x="4379495" y="2614863"/>
            <a:ext cx="1026694" cy="125128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A70A6E-498B-4053-9F49-5A343AF62E27}"/>
              </a:ext>
            </a:extLst>
          </p:cNvPr>
          <p:cNvCxnSpPr>
            <a:cxnSpLocks/>
          </p:cNvCxnSpPr>
          <p:nvPr/>
        </p:nvCxnSpPr>
        <p:spPr>
          <a:xfrm flipV="1">
            <a:off x="5406189" y="2542675"/>
            <a:ext cx="368969" cy="132347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3F25462-7C83-460A-B156-4D69B724C45F}"/>
              </a:ext>
            </a:extLst>
          </p:cNvPr>
          <p:cNvCxnSpPr>
            <a:cxnSpLocks/>
          </p:cNvCxnSpPr>
          <p:nvPr/>
        </p:nvCxnSpPr>
        <p:spPr>
          <a:xfrm flipV="1">
            <a:off x="5406189" y="2542675"/>
            <a:ext cx="1443790" cy="132347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4E68C29-80B3-1EEE-7F7B-8089106AD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4F9AF-F376-EFE2-61FD-FA9DA5FFE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6420B-6EE7-E921-090B-8E6C1A5DA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284009944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Counting Occurrences (by Iteration)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698" y="1441681"/>
            <a:ext cx="8072686" cy="34778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count_occur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value,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[], </a:t>
            </a:r>
            <a:br>
              <a:rPr lang="en-US" sz="2000" b="1" dirty="0">
                <a:latin typeface="Courier New" pitchFamily="49" charset="0"/>
                <a:cs typeface="Courier New" pitchFamily="49" charset="0"/>
              </a:rPr>
            </a:b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                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size) 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count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&lt; size;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(value ==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]){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	count +=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return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count;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844EAD-D795-43ED-9D25-0D3A3D1F6F06}"/>
              </a:ext>
            </a:extLst>
          </p:cNvPr>
          <p:cNvSpPr txBox="1"/>
          <p:nvPr/>
        </p:nvSpPr>
        <p:spPr>
          <a:xfrm>
            <a:off x="482980" y="4977094"/>
            <a:ext cx="7137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Can you solve this problem by recursion?</a:t>
            </a:r>
            <a:endParaRPr lang="en-SG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BC8A98E-CC43-33AD-A093-B588E1010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284306-ABDE-1594-E385-B8A3AE7F8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A466E-9E76-5916-01C4-BD437B6EA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65786458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Counting Occurrences (by Recursion 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709" y="1467358"/>
            <a:ext cx="730816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indent="-360363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/>
              <a:t>To get </a:t>
            </a:r>
            <a:r>
              <a:rPr lang="en-US" sz="2400" dirty="0" err="1">
                <a:solidFill>
                  <a:srgbClr val="0000FF"/>
                </a:solidFill>
              </a:rPr>
              <a:t>count_occur</a:t>
            </a:r>
            <a:r>
              <a:rPr lang="en-US" sz="2400" dirty="0">
                <a:solidFill>
                  <a:srgbClr val="0000FF"/>
                </a:solidFill>
              </a:rPr>
              <a:t>(7, list, 15)</a:t>
            </a:r>
            <a:r>
              <a:rPr lang="en-US" sz="2400" dirty="0"/>
              <a:t> to return 3.</a:t>
            </a:r>
          </a:p>
          <a:p>
            <a:pPr marL="360363" indent="-360363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/>
              <a:t>Recursive thinking goes…</a:t>
            </a:r>
          </a:p>
        </p:txBody>
      </p:sp>
      <p:graphicFrame>
        <p:nvGraphicFramePr>
          <p:cNvPr id="13" name="Object 2"/>
          <p:cNvGraphicFramePr>
            <a:graphicFrameLocks noChangeAspect="1"/>
          </p:cNvGraphicFramePr>
          <p:nvPr/>
        </p:nvGraphicFramePr>
        <p:xfrm>
          <a:off x="8160895" y="1440305"/>
          <a:ext cx="550863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296063" imgH="3934305" progId="">
                  <p:embed/>
                </p:oleObj>
              </mc:Choice>
              <mc:Fallback>
                <p:oleObj name="Clip" r:id="rId3" imgW="1296063" imgH="3934305" progId="">
                  <p:embed/>
                  <p:pic>
                    <p:nvPicPr>
                      <p:cNvPr id="1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0895" y="1440305"/>
                        <a:ext cx="550863" cy="167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3"/>
          <p:cNvGrpSpPr/>
          <p:nvPr/>
        </p:nvGrpSpPr>
        <p:grpSpPr>
          <a:xfrm>
            <a:off x="644577" y="2633272"/>
            <a:ext cx="6490740" cy="371830"/>
            <a:chOff x="644577" y="2888105"/>
            <a:chExt cx="6490740" cy="371830"/>
          </a:xfrm>
        </p:grpSpPr>
        <p:sp>
          <p:nvSpPr>
            <p:cNvPr id="15" name="TextBox 14"/>
            <p:cNvSpPr txBox="1"/>
            <p:nvPr/>
          </p:nvSpPr>
          <p:spPr>
            <a:xfrm>
              <a:off x="644577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9</a:t>
              </a:r>
              <a:endParaRPr lang="en-SG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81790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-2</a:t>
              </a:r>
              <a:endParaRPr lang="en-SG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19003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  <a:endParaRPr lang="en-SG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956215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  <a:endParaRPr lang="en-SG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378439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</a:t>
              </a:r>
              <a:endParaRPr lang="en-SG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815651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9</a:t>
              </a:r>
              <a:endParaRPr lang="en-SG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37875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-5</a:t>
              </a:r>
              <a:endParaRPr lang="en-SG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675087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  <a:endParaRPr lang="en-SG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097311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</a:t>
              </a:r>
              <a:endParaRPr lang="en-SG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529528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  <a:endParaRPr lang="en-SG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966741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  <a:endParaRPr lang="en-SG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03954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-2</a:t>
              </a:r>
              <a:endParaRPr lang="en-SG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841166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  <a:endParaRPr lang="en-SG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263390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8</a:t>
              </a:r>
              <a:endParaRPr lang="en-SG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700602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-3</a:t>
              </a:r>
              <a:endParaRPr lang="en-SG" dirty="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115986" y="2503357"/>
            <a:ext cx="2548329" cy="1775377"/>
            <a:chOff x="6115986" y="2758190"/>
            <a:chExt cx="2548329" cy="1775377"/>
          </a:xfrm>
        </p:grpSpPr>
        <p:cxnSp>
          <p:nvCxnSpPr>
            <p:cNvPr id="31" name="Straight Arrow Connector 30"/>
            <p:cNvCxnSpPr/>
            <p:nvPr/>
          </p:nvCxnSpPr>
          <p:spPr bwMode="auto">
            <a:xfrm flipH="1" flipV="1">
              <a:off x="6955436" y="3342807"/>
              <a:ext cx="179882" cy="464695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rgbClr val="800000"/>
              </a:solidFill>
              <a:prstDash val="solid"/>
              <a:round/>
              <a:headEnd type="none" w="med" len="med"/>
              <a:tailEnd type="triangle" w="lg" len="med"/>
            </a:ln>
            <a:effectLst/>
          </p:spPr>
        </p:cxnSp>
        <p:sp>
          <p:nvSpPr>
            <p:cNvPr id="32" name="TextBox 31"/>
            <p:cNvSpPr txBox="1"/>
            <p:nvPr/>
          </p:nvSpPr>
          <p:spPr>
            <a:xfrm>
              <a:off x="6115986" y="3702570"/>
              <a:ext cx="2548329" cy="8309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solidFill>
                    <a:srgbClr val="800000"/>
                  </a:solidFill>
                  <a:latin typeface="Calibri" pitchFamily="34" charset="0"/>
                </a:rPr>
                <a:t>If I handle the last element myself, …</a:t>
              </a:r>
              <a:endParaRPr lang="en-SG" sz="2400" i="1" dirty="0">
                <a:solidFill>
                  <a:srgbClr val="800000"/>
                </a:solidFill>
                <a:latin typeface="Calibri" pitchFamily="34" charset="0"/>
              </a:endParaRPr>
            </a:p>
          </p:txBody>
        </p:sp>
        <p:sp>
          <p:nvSpPr>
            <p:cNvPr id="33" name="Oval 32"/>
            <p:cNvSpPr/>
            <p:nvPr/>
          </p:nvSpPr>
          <p:spPr bwMode="auto">
            <a:xfrm>
              <a:off x="6655633" y="2758190"/>
              <a:ext cx="569626" cy="569626"/>
            </a:xfrm>
            <a:prstGeom prst="ellipse">
              <a:avLst/>
            </a:prstGeom>
            <a:noFill/>
            <a:ln w="28575" cap="sq" cmpd="sng" algn="ctr">
              <a:solidFill>
                <a:srgbClr val="8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659567" y="3057991"/>
            <a:ext cx="6086007" cy="1607563"/>
            <a:chOff x="659567" y="3312824"/>
            <a:chExt cx="6086007" cy="1607563"/>
          </a:xfrm>
        </p:grpSpPr>
        <p:sp>
          <p:nvSpPr>
            <p:cNvPr id="35" name="Left Brace 34"/>
            <p:cNvSpPr/>
            <p:nvPr/>
          </p:nvSpPr>
          <p:spPr bwMode="auto">
            <a:xfrm rot="16200000">
              <a:off x="3477718" y="494673"/>
              <a:ext cx="449705" cy="6086007"/>
            </a:xfrm>
            <a:prstGeom prst="leftBrace">
              <a:avLst>
                <a:gd name="adj1" fmla="val 71666"/>
                <a:gd name="adj2" fmla="val 50000"/>
              </a:avLst>
            </a:prstGeom>
            <a:noFill/>
            <a:ln w="28575" cap="sq" cmpd="sng" algn="ctr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038662" y="3720058"/>
              <a:ext cx="3582649" cy="120032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solidFill>
                    <a:srgbClr val="0000FF"/>
                  </a:solidFill>
                  <a:latin typeface="Calibri" pitchFamily="34" charset="0"/>
                </a:rPr>
                <a:t>… and get someone to count the 7 in this smaller problem, …</a:t>
              </a:r>
              <a:endParaRPr lang="en-SG" sz="2400" i="1" dirty="0">
                <a:solidFill>
                  <a:srgbClr val="0000FF"/>
                </a:solidFill>
                <a:latin typeface="Calibri" pitchFamily="34" charset="0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1184223" y="4861809"/>
            <a:ext cx="6071016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6600FF"/>
                </a:solidFill>
                <a:latin typeface="Calibri" pitchFamily="34" charset="0"/>
              </a:rPr>
              <a:t>… then, depending on whether the last element is 7 or not, my answer is either his answer plus 1 or his answer by itself!</a:t>
            </a:r>
            <a:endParaRPr lang="en-SG" sz="2400" i="1" dirty="0">
              <a:solidFill>
                <a:srgbClr val="6600FF"/>
              </a:solidFill>
              <a:latin typeface="Calibri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C86CF45-4E8B-DB34-3B42-D5FA7CC06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D4FFFA-4A6E-D8C4-35A2-DEFAE293F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8517F-08A7-0E47-677C-935E0BF1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22667313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Counting Occurrences (by Recursion v1)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6697" y="1474041"/>
            <a:ext cx="8200103" cy="40934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count_occur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value, </a:t>
            </a:r>
            <a:br>
              <a:rPr lang="en-US" sz="2000" b="1" dirty="0">
                <a:latin typeface="Courier New" pitchFamily="49" charset="0"/>
                <a:cs typeface="Courier New" pitchFamily="49" charset="0"/>
              </a:rPr>
            </a:b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            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[],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size) 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(size ==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answer =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count_occur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(value,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narr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size-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(value ==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[size-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]){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 answer;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return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answer;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757F58-AE25-465B-8055-66D4DA5A865B}"/>
              </a:ext>
            </a:extLst>
          </p:cNvPr>
          <p:cNvSpPr txBox="1"/>
          <p:nvPr/>
        </p:nvSpPr>
        <p:spPr>
          <a:xfrm>
            <a:off x="5673472" y="4659528"/>
            <a:ext cx="2852907" cy="1200329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150" lvl="2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sz="1800" dirty="0" err="1">
                <a:solidFill>
                  <a:schemeClr val="tx1"/>
                </a:solidFill>
              </a:rPr>
              <a:t>countValue</a:t>
            </a:r>
            <a:r>
              <a:rPr lang="en-US" sz="1800" dirty="0">
                <a:solidFill>
                  <a:schemeClr val="tx1"/>
                </a:solidFill>
              </a:rPr>
              <a:t>(7, list, 15) 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b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</a:br>
            <a:r>
              <a:rPr lang="en-US" sz="1800" dirty="0" err="1">
                <a:solidFill>
                  <a:schemeClr val="tx1"/>
                </a:solidFill>
              </a:rPr>
              <a:t>countValue</a:t>
            </a:r>
            <a:r>
              <a:rPr lang="en-US" sz="1800" dirty="0">
                <a:solidFill>
                  <a:schemeClr val="tx1"/>
                </a:solidFill>
              </a:rPr>
              <a:t>(7, list, 14) 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b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</a:br>
            <a:r>
              <a:rPr lang="en-US" sz="1800" dirty="0">
                <a:solidFill>
                  <a:schemeClr val="tx1"/>
                </a:solidFill>
              </a:rPr>
              <a:t>…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 err="1">
                <a:solidFill>
                  <a:schemeClr val="tx1"/>
                </a:solidFill>
              </a:rPr>
              <a:t>countValue</a:t>
            </a:r>
            <a:r>
              <a:rPr lang="en-US" sz="1800" dirty="0">
                <a:solidFill>
                  <a:schemeClr val="tx1"/>
                </a:solidFill>
              </a:rPr>
              <a:t>(7, list, 0)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63D3DBA-F46C-9C3B-10A9-2CF993FEC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3ABE4E-66E0-112B-8569-611D24568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544E9-0512-3F44-7C6F-EC06315EE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30478981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Counting Occurrences (by Recursion v2)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709" y="1467358"/>
            <a:ext cx="717528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indent="-360363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/>
              <a:t>To get </a:t>
            </a:r>
            <a:r>
              <a:rPr lang="en-US" sz="2400" dirty="0" err="1">
                <a:solidFill>
                  <a:srgbClr val="0000FF"/>
                </a:solidFill>
              </a:rPr>
              <a:t>count_occur</a:t>
            </a:r>
            <a:r>
              <a:rPr lang="en-US" sz="2400" dirty="0">
                <a:solidFill>
                  <a:srgbClr val="0000FF"/>
                </a:solidFill>
              </a:rPr>
              <a:t>(7, list, 15)</a:t>
            </a:r>
            <a:r>
              <a:rPr lang="en-US" sz="2400" dirty="0"/>
              <a:t> to return 3.</a:t>
            </a:r>
          </a:p>
          <a:p>
            <a:pPr marL="360363" indent="-360363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/>
              <a:t>Recursive thinking goes…</a:t>
            </a:r>
          </a:p>
        </p:txBody>
      </p:sp>
      <p:graphicFrame>
        <p:nvGraphicFramePr>
          <p:cNvPr id="13" name="Object 2"/>
          <p:cNvGraphicFramePr>
            <a:graphicFrameLocks noChangeAspect="1"/>
          </p:cNvGraphicFramePr>
          <p:nvPr/>
        </p:nvGraphicFramePr>
        <p:xfrm>
          <a:off x="8160895" y="1440305"/>
          <a:ext cx="550863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296063" imgH="3934305" progId="">
                  <p:embed/>
                </p:oleObj>
              </mc:Choice>
              <mc:Fallback>
                <p:oleObj name="Clip" r:id="rId3" imgW="1296063" imgH="3934305" progId="">
                  <p:embed/>
                  <p:pic>
                    <p:nvPicPr>
                      <p:cNvPr id="1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0895" y="1440305"/>
                        <a:ext cx="550863" cy="167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3"/>
          <p:cNvGrpSpPr/>
          <p:nvPr/>
        </p:nvGrpSpPr>
        <p:grpSpPr>
          <a:xfrm>
            <a:off x="1243666" y="2633272"/>
            <a:ext cx="6490740" cy="371830"/>
            <a:chOff x="644577" y="2888105"/>
            <a:chExt cx="6490740" cy="371830"/>
          </a:xfrm>
        </p:grpSpPr>
        <p:sp>
          <p:nvSpPr>
            <p:cNvPr id="15" name="TextBox 14"/>
            <p:cNvSpPr txBox="1"/>
            <p:nvPr/>
          </p:nvSpPr>
          <p:spPr>
            <a:xfrm>
              <a:off x="644577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9</a:t>
              </a:r>
              <a:endParaRPr lang="en-SG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81790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-2</a:t>
              </a:r>
              <a:endParaRPr lang="en-SG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19003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  <a:endParaRPr lang="en-SG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956215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  <a:endParaRPr lang="en-SG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378439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</a:t>
              </a:r>
              <a:endParaRPr lang="en-SG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815651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9</a:t>
              </a:r>
              <a:endParaRPr lang="en-SG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37875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-5</a:t>
              </a:r>
              <a:endParaRPr lang="en-SG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675087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  <a:endParaRPr lang="en-SG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097311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</a:t>
              </a:r>
              <a:endParaRPr lang="en-SG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529528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  <a:endParaRPr lang="en-SG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966741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  <a:endParaRPr lang="en-SG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03954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-2</a:t>
              </a:r>
              <a:endParaRPr lang="en-SG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841166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  <a:endParaRPr lang="en-SG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263390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8</a:t>
              </a:r>
              <a:endParaRPr lang="en-SG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700602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-3</a:t>
              </a:r>
              <a:endParaRPr lang="en-SG" dirty="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16576" y="2541311"/>
            <a:ext cx="2548329" cy="1775377"/>
            <a:chOff x="6115986" y="2758190"/>
            <a:chExt cx="2548329" cy="1775377"/>
          </a:xfrm>
        </p:grpSpPr>
        <p:cxnSp>
          <p:nvCxnSpPr>
            <p:cNvPr id="31" name="Straight Arrow Connector 30"/>
            <p:cNvCxnSpPr/>
            <p:nvPr/>
          </p:nvCxnSpPr>
          <p:spPr bwMode="auto">
            <a:xfrm flipH="1" flipV="1">
              <a:off x="6955436" y="3342807"/>
              <a:ext cx="179882" cy="464695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rgbClr val="800000"/>
              </a:solidFill>
              <a:prstDash val="solid"/>
              <a:round/>
              <a:headEnd type="none" w="med" len="med"/>
              <a:tailEnd type="triangle" w="lg" len="med"/>
            </a:ln>
            <a:effectLst/>
          </p:spPr>
        </p:cxnSp>
        <p:sp>
          <p:nvSpPr>
            <p:cNvPr id="32" name="TextBox 31"/>
            <p:cNvSpPr txBox="1"/>
            <p:nvPr/>
          </p:nvSpPr>
          <p:spPr>
            <a:xfrm>
              <a:off x="6115986" y="3702570"/>
              <a:ext cx="2548329" cy="8309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solidFill>
                    <a:srgbClr val="800000"/>
                  </a:solidFill>
                  <a:latin typeface="Calibri" pitchFamily="34" charset="0"/>
                </a:rPr>
                <a:t>If I handle the first element myself, …</a:t>
              </a:r>
              <a:endParaRPr lang="en-SG" sz="2400" i="1" dirty="0">
                <a:solidFill>
                  <a:srgbClr val="800000"/>
                </a:solidFill>
                <a:latin typeface="Calibri" pitchFamily="34" charset="0"/>
              </a:endParaRPr>
            </a:p>
          </p:txBody>
        </p:sp>
        <p:sp>
          <p:nvSpPr>
            <p:cNvPr id="33" name="Oval 32"/>
            <p:cNvSpPr/>
            <p:nvPr/>
          </p:nvSpPr>
          <p:spPr bwMode="auto">
            <a:xfrm>
              <a:off x="6655633" y="2758190"/>
              <a:ext cx="569626" cy="569626"/>
            </a:xfrm>
            <a:prstGeom prst="ellipse">
              <a:avLst/>
            </a:prstGeom>
            <a:noFill/>
            <a:ln w="28575" cap="sq" cmpd="sng" algn="ctr">
              <a:solidFill>
                <a:srgbClr val="8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678381" y="3049117"/>
            <a:ext cx="6086007" cy="1607563"/>
            <a:chOff x="659567" y="3312824"/>
            <a:chExt cx="6086007" cy="1607563"/>
          </a:xfrm>
        </p:grpSpPr>
        <p:sp>
          <p:nvSpPr>
            <p:cNvPr id="35" name="Left Brace 34"/>
            <p:cNvSpPr/>
            <p:nvPr/>
          </p:nvSpPr>
          <p:spPr bwMode="auto">
            <a:xfrm rot="16200000">
              <a:off x="3477718" y="494673"/>
              <a:ext cx="449705" cy="6086007"/>
            </a:xfrm>
            <a:prstGeom prst="leftBrace">
              <a:avLst>
                <a:gd name="adj1" fmla="val 71666"/>
                <a:gd name="adj2" fmla="val 50000"/>
              </a:avLst>
            </a:prstGeom>
            <a:noFill/>
            <a:ln w="28575" cap="sq" cmpd="sng" algn="ctr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038662" y="3720058"/>
              <a:ext cx="3582649" cy="120032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solidFill>
                    <a:srgbClr val="0000FF"/>
                  </a:solidFill>
                  <a:latin typeface="Calibri" pitchFamily="34" charset="0"/>
                </a:rPr>
                <a:t>… and get someone to count the 7 in this smaller problem, …</a:t>
              </a:r>
              <a:endParaRPr lang="en-SG" sz="2400" i="1" dirty="0">
                <a:solidFill>
                  <a:srgbClr val="0000FF"/>
                </a:solidFill>
                <a:latin typeface="Calibri" pitchFamily="34" charset="0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1184223" y="4861809"/>
            <a:ext cx="6071016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6600FF"/>
                </a:solidFill>
                <a:latin typeface="Calibri" pitchFamily="34" charset="0"/>
              </a:rPr>
              <a:t>… then, depending on whether the first element is 7 or not, my answer is either his answer plus 1 or his answer by itself!</a:t>
            </a:r>
            <a:endParaRPr lang="en-SG" sz="2400" i="1" dirty="0">
              <a:solidFill>
                <a:srgbClr val="6600FF"/>
              </a:solidFill>
              <a:latin typeface="Calibri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0BE9AD1-A0CC-E3BE-6FEA-4875F5E4F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9F500D-67C8-06FD-FBF0-BC61DC698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20791-0EA8-6552-9B17-739360D78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29643417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Counting Occurrences (by Recursion v2)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666" y="1357072"/>
            <a:ext cx="8177048" cy="39703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count_occur_helper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value,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[], 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                  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start,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size) 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(start == size)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 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answer =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count_occur_helper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(value,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           start+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size);</a:t>
            </a:r>
            <a:endParaRPr lang="en-US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if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(value ==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[start]) 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 answer;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return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answer;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782AF2-AA4A-4243-84D2-A48349DF920C}"/>
              </a:ext>
            </a:extLst>
          </p:cNvPr>
          <p:cNvSpPr txBox="1"/>
          <p:nvPr/>
        </p:nvSpPr>
        <p:spPr>
          <a:xfrm>
            <a:off x="649666" y="5328648"/>
            <a:ext cx="8177048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count_occur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value,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[],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size) {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count_occur_helper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(value,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size);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A0CDBB-C985-4D72-9121-5ED2A6FEB14D}"/>
              </a:ext>
            </a:extLst>
          </p:cNvPr>
          <p:cNvSpPr txBox="1"/>
          <p:nvPr/>
        </p:nvSpPr>
        <p:spPr>
          <a:xfrm>
            <a:off x="5288500" y="3675348"/>
            <a:ext cx="3398300" cy="1477328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150" lvl="2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sz="1800" dirty="0" err="1">
                <a:solidFill>
                  <a:schemeClr val="tx1"/>
                </a:solidFill>
              </a:rPr>
              <a:t>countValue</a:t>
            </a:r>
            <a:r>
              <a:rPr lang="en-US" sz="1800" dirty="0">
                <a:solidFill>
                  <a:schemeClr val="tx1"/>
                </a:solidFill>
              </a:rPr>
              <a:t>(7, list, 15) 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countValue_v2(7, list, 0, 15) 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b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</a:br>
            <a:r>
              <a:rPr lang="en-US" sz="1800" dirty="0">
                <a:solidFill>
                  <a:schemeClr val="tx1"/>
                </a:solidFill>
              </a:rPr>
              <a:t>countValue_v2(7, list, 1, 15) </a:t>
            </a: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b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</a:br>
            <a:r>
              <a:rPr lang="en-US" sz="1800" dirty="0">
                <a:solidFill>
                  <a:schemeClr val="tx1"/>
                </a:solidFill>
              </a:rPr>
              <a:t>…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countValue_v2(7, list, 15, 15)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077A3E1-8CD3-5FDB-D82F-880A93AD6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39D280-5989-CE5B-E39E-F7D36CD2C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7990D-181E-99B3-E800-14019C156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30560239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Counting Occurrences (by Recursion v3)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709" y="1467358"/>
            <a:ext cx="717528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indent="-360363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/>
              <a:t>To get </a:t>
            </a:r>
            <a:r>
              <a:rPr lang="en-US" sz="2400" dirty="0" err="1">
                <a:solidFill>
                  <a:srgbClr val="0000FF"/>
                </a:solidFill>
              </a:rPr>
              <a:t>count_occur</a:t>
            </a:r>
            <a:r>
              <a:rPr lang="en-US" sz="2400" dirty="0">
                <a:solidFill>
                  <a:srgbClr val="0000FF"/>
                </a:solidFill>
              </a:rPr>
              <a:t>(7, list, 15)</a:t>
            </a:r>
            <a:r>
              <a:rPr lang="en-US" sz="2400" dirty="0"/>
              <a:t> to return 3.</a:t>
            </a:r>
          </a:p>
          <a:p>
            <a:pPr marL="360363" indent="-360363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/>
              <a:t>Recursive thinking goes…</a:t>
            </a:r>
          </a:p>
        </p:txBody>
      </p:sp>
      <p:graphicFrame>
        <p:nvGraphicFramePr>
          <p:cNvPr id="13" name="Object 2"/>
          <p:cNvGraphicFramePr>
            <a:graphicFrameLocks noChangeAspect="1"/>
          </p:cNvGraphicFramePr>
          <p:nvPr/>
        </p:nvGraphicFramePr>
        <p:xfrm>
          <a:off x="8160895" y="1440305"/>
          <a:ext cx="550863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296063" imgH="3934305" progId="">
                  <p:embed/>
                </p:oleObj>
              </mc:Choice>
              <mc:Fallback>
                <p:oleObj name="Clip" r:id="rId3" imgW="1296063" imgH="3934305" progId="">
                  <p:embed/>
                  <p:pic>
                    <p:nvPicPr>
                      <p:cNvPr id="1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0895" y="1440305"/>
                        <a:ext cx="550863" cy="167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3"/>
          <p:cNvGrpSpPr/>
          <p:nvPr/>
        </p:nvGrpSpPr>
        <p:grpSpPr>
          <a:xfrm>
            <a:off x="644577" y="2633272"/>
            <a:ext cx="6490740" cy="371830"/>
            <a:chOff x="644577" y="2888105"/>
            <a:chExt cx="6490740" cy="371830"/>
          </a:xfrm>
        </p:grpSpPr>
        <p:sp>
          <p:nvSpPr>
            <p:cNvPr id="15" name="TextBox 14"/>
            <p:cNvSpPr txBox="1"/>
            <p:nvPr/>
          </p:nvSpPr>
          <p:spPr>
            <a:xfrm>
              <a:off x="644577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9</a:t>
              </a:r>
              <a:endParaRPr lang="en-SG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81790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-2</a:t>
              </a:r>
              <a:endParaRPr lang="en-SG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19003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  <a:endParaRPr lang="en-SG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956215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  <a:endParaRPr lang="en-SG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378439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</a:t>
              </a:r>
              <a:endParaRPr lang="en-SG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815651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9</a:t>
              </a:r>
              <a:endParaRPr lang="en-SG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37875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-5</a:t>
              </a:r>
              <a:endParaRPr lang="en-SG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675087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  <a:endParaRPr lang="en-SG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097311" y="2888105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</a:t>
              </a:r>
              <a:endParaRPr lang="en-SG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529528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  <a:endParaRPr lang="en-SG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966741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  <a:endParaRPr lang="en-SG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03954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-2</a:t>
              </a:r>
              <a:endParaRPr lang="en-SG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841166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  <a:endParaRPr lang="en-SG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263390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8</a:t>
              </a:r>
              <a:endParaRPr lang="en-SG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700602" y="2890603"/>
              <a:ext cx="434715" cy="36933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-3</a:t>
              </a:r>
              <a:endParaRPr lang="en-SG" dirty="0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659567" y="3057990"/>
            <a:ext cx="3869960" cy="1590076"/>
            <a:chOff x="659567" y="3312823"/>
            <a:chExt cx="3869960" cy="1590076"/>
          </a:xfrm>
        </p:grpSpPr>
        <p:sp>
          <p:nvSpPr>
            <p:cNvPr id="35" name="Left Brace 34"/>
            <p:cNvSpPr/>
            <p:nvPr/>
          </p:nvSpPr>
          <p:spPr bwMode="auto">
            <a:xfrm rot="16200000">
              <a:off x="2153587" y="1818803"/>
              <a:ext cx="449705" cy="3437745"/>
            </a:xfrm>
            <a:prstGeom prst="leftBrace">
              <a:avLst>
                <a:gd name="adj1" fmla="val 71666"/>
                <a:gd name="adj2" fmla="val 50000"/>
              </a:avLst>
            </a:prstGeom>
            <a:noFill/>
            <a:ln w="28575" cap="sq" cmpd="sng" algn="ctr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32018" y="3702570"/>
              <a:ext cx="3797509" cy="120032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solidFill>
                    <a:srgbClr val="0000FF"/>
                  </a:solidFill>
                  <a:latin typeface="Calibri" pitchFamily="34" charset="0"/>
                </a:rPr>
                <a:t>If I get someone to count </a:t>
              </a:r>
              <a:br>
                <a:rPr lang="en-US" sz="2400" i="1" dirty="0">
                  <a:solidFill>
                    <a:srgbClr val="0000FF"/>
                  </a:solidFill>
                  <a:latin typeface="Calibri" pitchFamily="34" charset="0"/>
                </a:rPr>
              </a:br>
              <a:r>
                <a:rPr lang="en-US" sz="2400" i="1" dirty="0">
                  <a:solidFill>
                    <a:srgbClr val="0000FF"/>
                  </a:solidFill>
                  <a:latin typeface="Calibri" pitchFamily="34" charset="0"/>
                </a:rPr>
                <a:t>the 7 in this smaller </a:t>
              </a:r>
              <a:br>
                <a:rPr lang="en-US" sz="2400" i="1" dirty="0">
                  <a:solidFill>
                    <a:srgbClr val="0000FF"/>
                  </a:solidFill>
                  <a:latin typeface="Calibri" pitchFamily="34" charset="0"/>
                </a:rPr>
              </a:br>
              <a:r>
                <a:rPr lang="en-US" sz="2400" i="1" dirty="0">
                  <a:solidFill>
                    <a:srgbClr val="0000FF"/>
                  </a:solidFill>
                  <a:latin typeface="Calibri" pitchFamily="34" charset="0"/>
                </a:rPr>
                <a:t>problem, …</a:t>
              </a:r>
              <a:endParaRPr lang="en-SG" sz="2400" i="1" dirty="0">
                <a:solidFill>
                  <a:srgbClr val="0000FF"/>
                </a:solidFill>
                <a:latin typeface="Calibri" pitchFamily="34" charset="0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1184222" y="4861809"/>
            <a:ext cx="689490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6600FF"/>
                </a:solidFill>
                <a:latin typeface="Calibri" pitchFamily="34" charset="0"/>
              </a:rPr>
              <a:t>… then, my answer is the sum of these two answers!</a:t>
            </a:r>
            <a:endParaRPr lang="en-SG" sz="2400" i="1" dirty="0">
              <a:solidFill>
                <a:srgbClr val="6600FF"/>
              </a:solidFill>
              <a:latin typeface="Calibri" pitchFamily="34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BB20CF4-2BA0-0A45-A30D-09D89391801D}"/>
              </a:ext>
            </a:extLst>
          </p:cNvPr>
          <p:cNvGrpSpPr/>
          <p:nvPr/>
        </p:nvGrpSpPr>
        <p:grpSpPr>
          <a:xfrm>
            <a:off x="4109802" y="3057990"/>
            <a:ext cx="4051093" cy="1590076"/>
            <a:chOff x="659568" y="3312823"/>
            <a:chExt cx="4051093" cy="1590076"/>
          </a:xfrm>
        </p:grpSpPr>
        <p:sp>
          <p:nvSpPr>
            <p:cNvPr id="39" name="Left Brace 38">
              <a:extLst>
                <a:ext uri="{FF2B5EF4-FFF2-40B4-BE49-F238E27FC236}">
                  <a16:creationId xmlns:a16="http://schemas.microsoft.com/office/drawing/2014/main" id="{BEA40C7E-2D82-F048-BA11-5E93859E486B}"/>
                </a:ext>
              </a:extLst>
            </p:cNvPr>
            <p:cNvSpPr/>
            <p:nvPr/>
          </p:nvSpPr>
          <p:spPr bwMode="auto">
            <a:xfrm rot="16200000">
              <a:off x="1941227" y="2031164"/>
              <a:ext cx="449705" cy="3013024"/>
            </a:xfrm>
            <a:prstGeom prst="leftBrace">
              <a:avLst>
                <a:gd name="adj1" fmla="val 71666"/>
                <a:gd name="adj2" fmla="val 50000"/>
              </a:avLst>
            </a:prstGeom>
            <a:noFill/>
            <a:ln w="28575" cap="sq" cmpd="sng" algn="ctr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9B42D35-C6C0-1D43-92A6-F5A50B1E8C54}"/>
                </a:ext>
              </a:extLst>
            </p:cNvPr>
            <p:cNvSpPr txBox="1"/>
            <p:nvPr/>
          </p:nvSpPr>
          <p:spPr>
            <a:xfrm>
              <a:off x="732019" y="3702570"/>
              <a:ext cx="3978642" cy="120032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solidFill>
                    <a:srgbClr val="0000FF"/>
                  </a:solidFill>
                  <a:latin typeface="Calibri" pitchFamily="34" charset="0"/>
                </a:rPr>
                <a:t>… and get someone to count the 7 in this smaller </a:t>
              </a:r>
              <a:br>
                <a:rPr lang="en-US" sz="2400" i="1" dirty="0">
                  <a:solidFill>
                    <a:srgbClr val="0000FF"/>
                  </a:solidFill>
                  <a:latin typeface="Calibri" pitchFamily="34" charset="0"/>
                </a:rPr>
              </a:br>
              <a:r>
                <a:rPr lang="en-US" sz="2400" i="1" dirty="0">
                  <a:solidFill>
                    <a:srgbClr val="0000FF"/>
                  </a:solidFill>
                  <a:latin typeface="Calibri" pitchFamily="34" charset="0"/>
                </a:rPr>
                <a:t>problem, …</a:t>
              </a:r>
              <a:endParaRPr lang="en-SG" sz="2400" i="1" dirty="0">
                <a:solidFill>
                  <a:srgbClr val="0000FF"/>
                </a:solidFill>
                <a:latin typeface="Calibri" pitchFamily="34" charset="0"/>
              </a:endParaRP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2AB40A-F6D6-3F1C-82F6-2997A6626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7C7D28-7974-A66C-D7B2-47046FA8A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59552-68D7-CA80-62D0-C40F11340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95DCE1-90E4-AC0C-BDB4-C7437EE79DFD}"/>
              </a:ext>
            </a:extLst>
          </p:cNvPr>
          <p:cNvSpPr txBox="1"/>
          <p:nvPr/>
        </p:nvSpPr>
        <p:spPr>
          <a:xfrm>
            <a:off x="626740" y="5659067"/>
            <a:ext cx="8177048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count_occur_helper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value,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[], </a:t>
            </a:r>
          </a:p>
          <a:p>
            <a:pPr>
              <a:tabLst>
                <a:tab pos="363538" algn="l"/>
                <a:tab pos="714375" algn="l"/>
                <a:tab pos="1077913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             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start,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end);</a:t>
            </a:r>
          </a:p>
        </p:txBody>
      </p:sp>
    </p:spTree>
    <p:extLst>
      <p:ext uri="{BB962C8B-B14F-4D97-AF65-F5344CB8AC3E}">
        <p14:creationId xmlns:p14="http://schemas.microsoft.com/office/powerpoint/2010/main" val="17929364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N Queens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71488" y="1182172"/>
            <a:ext cx="7948612" cy="5372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Problem: </a:t>
            </a:r>
            <a:r>
              <a:rPr lang="en-US" dirty="0"/>
              <a:t>Given a </a:t>
            </a:r>
            <a:r>
              <a:rPr lang="en-US" dirty="0">
                <a:solidFill>
                  <a:srgbClr val="0000FF"/>
                </a:solidFill>
              </a:rPr>
              <a:t>n</a:t>
            </a:r>
            <a:r>
              <a:rPr lang="en-US" dirty="0"/>
              <a:t> x </a:t>
            </a:r>
            <a:r>
              <a:rPr lang="en-US" dirty="0">
                <a:solidFill>
                  <a:srgbClr val="0000FF"/>
                </a:solidFill>
              </a:rPr>
              <a:t>n</a:t>
            </a:r>
            <a:r>
              <a:rPr lang="en-US" dirty="0"/>
              <a:t> chessboard, find a possible placement of </a:t>
            </a:r>
            <a:r>
              <a:rPr lang="en-US" dirty="0">
                <a:solidFill>
                  <a:srgbClr val="0000FF"/>
                </a:solidFill>
              </a:rPr>
              <a:t>n</a:t>
            </a:r>
            <a:r>
              <a:rPr lang="en-US" dirty="0"/>
              <a:t> queens on the chessboard, such that the queens do not threaten each other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sz="800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Analysis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A placement is a sequence of positions for n rows</a:t>
            </a:r>
          </a:p>
          <a:p>
            <a:pPr marL="731520" lvl="1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</p:txBody>
      </p:sp>
      <p:pic>
        <p:nvPicPr>
          <p:cNvPr id="6" name="Picture 5" descr="n_queens.gif">
            <a:extLst>
              <a:ext uri="{FF2B5EF4-FFF2-40B4-BE49-F238E27FC236}">
                <a16:creationId xmlns:a16="http://schemas.microsoft.com/office/drawing/2014/main" id="{06BD5EA7-3F8A-4F54-B2FB-A40CD7C241D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8860" t="8890" r="9284" b="7022"/>
          <a:stretch/>
        </p:blipFill>
        <p:spPr bwMode="auto">
          <a:xfrm>
            <a:off x="1266825" y="3715610"/>
            <a:ext cx="2600326" cy="2867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9BA1AC-E8A8-4A46-BFEA-B4931C2521C0}"/>
              </a:ext>
            </a:extLst>
          </p:cNvPr>
          <p:cNvSpPr txBox="1"/>
          <p:nvPr/>
        </p:nvSpPr>
        <p:spPr>
          <a:xfrm>
            <a:off x="4367213" y="3715610"/>
            <a:ext cx="2867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{'d', 'g', 'c', 'h', 'b', 'e', 'a', 'f'}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109360-C639-4046-926E-E9CC88A2CB54}"/>
              </a:ext>
            </a:extLst>
          </p:cNvPr>
          <p:cNvSpPr txBox="1"/>
          <p:nvPr/>
        </p:nvSpPr>
        <p:spPr>
          <a:xfrm>
            <a:off x="4445795" y="4400364"/>
            <a:ext cx="3860006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150" lvl="2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GB"/>
              <a:t>There cannot be repeated positions </a:t>
            </a:r>
            <a:br>
              <a:rPr lang="en-GB"/>
            </a:br>
            <a:r>
              <a:rPr lang="en-GB"/>
              <a:t>since two queens cannot be in the </a:t>
            </a:r>
            <a:br>
              <a:rPr lang="en-GB"/>
            </a:br>
            <a:r>
              <a:rPr lang="en-GB"/>
              <a:t>same column.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B439D8-1620-5273-B844-29E9F5519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92C99-890C-4532-7731-76FD3E912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050" dirty="0"/>
              <a:t>Week11R - </a:t>
            </a:r>
            <a:fld id="{2E4790E1-2590-4AEE-892D-AB46A7688113}" type="slidenum">
              <a:rPr lang="en-US" sz="1050" smtClean="0"/>
              <a:pPr>
                <a:defRPr/>
              </a:pPr>
              <a:t>10</a:t>
            </a:fld>
            <a:endParaRPr lang="en-US" sz="105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DD7BC-2F5C-B922-A5A5-EB04F176D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233139905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N Queens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F89B9B9F-CD0C-439D-9426-3B8160FADD58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1182172"/>
            <a:ext cx="7948612" cy="5372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Implementation: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9DA3F-9CE1-4733-A287-6E9A20182AD7}"/>
              </a:ext>
            </a:extLst>
          </p:cNvPr>
          <p:cNvSpPr txBox="1"/>
          <p:nvPr/>
        </p:nvSpPr>
        <p:spPr>
          <a:xfrm>
            <a:off x="682426" y="1658271"/>
            <a:ext cx="8004374" cy="424731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nqueens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queens[],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row)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(row == n-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(!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threaten_each_other_diagonally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(queens, n))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cs1010_println_string(queens);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nqueens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(queens, n, row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row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n;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++)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swap(queens, row,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nqueens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(queens, n, row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swap(queens, row,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82E1CE-42DB-409B-A5FF-C13933723249}"/>
              </a:ext>
            </a:extLst>
          </p:cNvPr>
          <p:cNvSpPr txBox="1"/>
          <p:nvPr/>
        </p:nvSpPr>
        <p:spPr>
          <a:xfrm>
            <a:off x="7908059" y="1220015"/>
            <a:ext cx="759691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O(n!)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2076FD-ABA9-4E41-A999-DDB821DA1735}"/>
              </a:ext>
            </a:extLst>
          </p:cNvPr>
          <p:cNvSpPr txBox="1"/>
          <p:nvPr/>
        </p:nvSpPr>
        <p:spPr>
          <a:xfrm>
            <a:off x="6116738" y="3868542"/>
            <a:ext cx="3006524" cy="1477328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15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queens = {a, b, c, d, e, f, g, h}</a:t>
            </a:r>
          </a:p>
          <a:p>
            <a:pPr marL="5715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 solutions {a, …}</a:t>
            </a:r>
          </a:p>
          <a:p>
            <a:pPr marL="5715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 solutions {b, …}</a:t>
            </a:r>
          </a:p>
          <a:p>
            <a:pPr marL="5715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57150" lvl="2" fontAlgn="auto"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 solutions {h, …}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94F2BE-3886-5492-C3EB-77414A5CF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CBB0AA-EB18-0476-00A9-29EC9F684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050" dirty="0"/>
              <a:t>Week11R - </a:t>
            </a:r>
            <a:fld id="{2E4790E1-2590-4AEE-892D-AB46A7688113}" type="slidenum">
              <a:rPr lang="en-US" sz="1050" smtClean="0"/>
              <a:pPr>
                <a:defRPr/>
              </a:pPr>
              <a:t>11</a:t>
            </a:fld>
            <a:endParaRPr lang="en-US" sz="105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31CA-6567-0F6B-C9DB-E4621B369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408900606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174AC-DA88-C51B-3430-C9279F89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08C9C00-6394-0D32-349C-36C6D0ECFD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Common Types of Enumeration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1F6E69F-2BCE-E8D1-EBD7-524472910409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14490"/>
            <a:ext cx="8229600" cy="5643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Try solutions with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Each of the given elements as the starting element (</a:t>
            </a:r>
            <a:r>
              <a:rPr lang="en-US" sz="2200"/>
              <a:t>n queens</a:t>
            </a:r>
            <a:r>
              <a:rPr lang="en-US" sz="2200" dirty="0"/>
              <a:t>)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Each of the possible directions (e.g., a walk in a maze)</a:t>
            </a:r>
          </a:p>
          <a:p>
            <a:pPr marL="615633" lvl="1" indent="-341313"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Each of the possible color for the current cell (e.g., coloring problem)</a:t>
            </a:r>
          </a:p>
          <a:p>
            <a:pPr marL="615633" lvl="1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…</a:t>
            </a:r>
          </a:p>
          <a:p>
            <a:pPr marL="615633" lvl="1" indent="-341313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20DE1A3-1C18-67B6-5357-6DB039A0A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6E403E-CE5F-4BCE-6984-0A5D9E425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Week11R - </a:t>
            </a:r>
            <a:fld id="{2E4790E1-2590-4AEE-892D-AB46A768811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2D9A7-44CB-EDEB-3930-84942110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280824863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N Queens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F89B9B9F-CD0C-439D-9426-3B8160FADD58}"/>
              </a:ext>
            </a:extLst>
          </p:cNvPr>
          <p:cNvSpPr txBox="1">
            <a:spLocks noChangeArrowheads="1"/>
          </p:cNvSpPr>
          <p:nvPr/>
        </p:nvSpPr>
        <p:spPr>
          <a:xfrm>
            <a:off x="471488" y="1182172"/>
            <a:ext cx="7948612" cy="5372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Implementation: (with pruning)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9DA3F-9CE1-4733-A287-6E9A20182AD7}"/>
              </a:ext>
            </a:extLst>
          </p:cNvPr>
          <p:cNvSpPr txBox="1"/>
          <p:nvPr/>
        </p:nvSpPr>
        <p:spPr>
          <a:xfrm>
            <a:off x="682426" y="1658271"/>
            <a:ext cx="8004374" cy="39703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nqueens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queens[],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row)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…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(!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threaten_each_other_diagonally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(queens, row))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nqueens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(queens, n, row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row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n;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++)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swap(queens, row,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(!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threaten_each_other_diagonally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(queens, row))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nqueens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(queens, n, row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swap(queens, row,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9407C0-28E5-4740-9B64-A05FFFEE11D3}"/>
              </a:ext>
            </a:extLst>
          </p:cNvPr>
          <p:cNvSpPr/>
          <p:nvPr/>
        </p:nvSpPr>
        <p:spPr>
          <a:xfrm>
            <a:off x="1584435" y="2506717"/>
            <a:ext cx="5975131" cy="3074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CEB935-D000-45CC-9C0E-26ABB556432F}"/>
              </a:ext>
            </a:extLst>
          </p:cNvPr>
          <p:cNvSpPr/>
          <p:nvPr/>
        </p:nvSpPr>
        <p:spPr>
          <a:xfrm>
            <a:off x="1862960" y="3884308"/>
            <a:ext cx="5975131" cy="3074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CE3489-11E2-B49D-9616-3DF65153C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C26CA-A55F-B5CC-3966-2785BDA19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050" dirty="0"/>
              <a:t>Week11R - </a:t>
            </a:r>
            <a:fld id="{2E4790E1-2590-4AEE-892D-AB46A7688113}" type="slidenum">
              <a:rPr lang="en-US" sz="1050" smtClean="0"/>
              <a:pPr>
                <a:defRPr/>
              </a:pPr>
              <a:t>13</a:t>
            </a:fld>
            <a:endParaRPr lang="en-US" sz="105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F83D8-EC1A-0B12-F0EB-04B7977CB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266371573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03D9C-F69E-D2E2-BCBB-7A22BCDA2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E9ECDA0-16FD-8142-FFFF-20204D7F17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Fibonacci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DC160E-FC3C-1973-725D-9ED4B0C19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5E850-ACE3-39CD-2867-FDBC1895B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050" dirty="0"/>
              <a:t>Week11R - </a:t>
            </a:r>
            <a:fld id="{2E4790E1-2590-4AEE-892D-AB46A7688113}" type="slidenum">
              <a:rPr lang="en-US" sz="1050" smtClean="0"/>
              <a:pPr>
                <a:defRPr/>
              </a:pPr>
              <a:t>14</a:t>
            </a:fld>
            <a:endParaRPr lang="en-US" sz="105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D7FCAB-A566-3B6D-8BF2-55080B4F4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F8F314-EE09-8E59-B963-07F03F78997E}"/>
              </a:ext>
            </a:extLst>
          </p:cNvPr>
          <p:cNvSpPr txBox="1"/>
          <p:nvPr/>
        </p:nvSpPr>
        <p:spPr>
          <a:xfrm>
            <a:off x="4184893" y="4798218"/>
            <a:ext cx="4040897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fib(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(n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|| 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fib(n-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 + fib(n-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F1727F1-DE75-6994-1D8A-CC1C57A3E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776" y="1533345"/>
            <a:ext cx="6847147" cy="379131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DA897A8-2913-4383-91EF-E4A492B105FB}"/>
              </a:ext>
            </a:extLst>
          </p:cNvPr>
          <p:cNvSpPr txBox="1"/>
          <p:nvPr/>
        </p:nvSpPr>
        <p:spPr>
          <a:xfrm>
            <a:off x="4184894" y="4798218"/>
            <a:ext cx="4614050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fib(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(n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|| n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fib(n -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 + fib(n -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BD2020-A839-A235-CDFE-766DFBC3A315}"/>
              </a:ext>
            </a:extLst>
          </p:cNvPr>
          <p:cNvSpPr txBox="1"/>
          <p:nvPr/>
        </p:nvSpPr>
        <p:spPr>
          <a:xfrm>
            <a:off x="7231528" y="5324655"/>
            <a:ext cx="759691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O(2</a:t>
            </a:r>
            <a:r>
              <a:rPr lang="en-US" baseline="30000" dirty="0"/>
              <a:t>n</a:t>
            </a:r>
            <a:r>
              <a:rPr lang="en-US" dirty="0"/>
              <a:t>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8F28315-E62C-ED9F-03F5-BF323D14A99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785" t="6799" r="3519" b="2215"/>
          <a:stretch/>
        </p:blipFill>
        <p:spPr>
          <a:xfrm>
            <a:off x="5697473" y="840044"/>
            <a:ext cx="2913127" cy="151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07312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CA58F-0BC7-C060-75EC-F79B1C537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88D32DC-9C04-70AA-FE08-EFACB6121C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Fibonacci with </a:t>
            </a:r>
            <a:r>
              <a:rPr lang="en-GB" sz="3600" dirty="0" err="1">
                <a:solidFill>
                  <a:srgbClr val="0000FF"/>
                </a:solidFill>
              </a:rPr>
              <a:t>Memoization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FF13FD-1386-83C4-4FAC-B7839D847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89EDE-F681-DFBA-9A47-2274569B3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050" dirty="0"/>
              <a:t>Week11R - </a:t>
            </a:r>
            <a:fld id="{2E4790E1-2590-4AEE-892D-AB46A7688113}" type="slidenum">
              <a:rPr lang="en-US" sz="1050" smtClean="0"/>
              <a:pPr>
                <a:defRPr/>
              </a:pPr>
              <a:t>15</a:t>
            </a:fld>
            <a:endParaRPr lang="en-US" sz="105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3AC2C-26A2-065B-5ECC-06451D2E0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12DC634-CE7F-6DE5-2269-A0BC8A422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776" y="1533345"/>
            <a:ext cx="6847147" cy="379131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9250B4E-6278-7EBB-025C-4F745884845A}"/>
              </a:ext>
            </a:extLst>
          </p:cNvPr>
          <p:cNvSpPr/>
          <p:nvPr/>
        </p:nvSpPr>
        <p:spPr>
          <a:xfrm>
            <a:off x="4960382" y="3006242"/>
            <a:ext cx="3035191" cy="19051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2D108C-3285-E577-A0E3-BEE1FC824C4B}"/>
              </a:ext>
            </a:extLst>
          </p:cNvPr>
          <p:cNvSpPr/>
          <p:nvPr/>
        </p:nvSpPr>
        <p:spPr>
          <a:xfrm>
            <a:off x="3206804" y="3761963"/>
            <a:ext cx="3035191" cy="2639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492E09-40E2-A7C7-D647-3A9A88515B4D}"/>
              </a:ext>
            </a:extLst>
          </p:cNvPr>
          <p:cNvSpPr txBox="1"/>
          <p:nvPr/>
        </p:nvSpPr>
        <p:spPr>
          <a:xfrm>
            <a:off x="4724399" y="3676233"/>
            <a:ext cx="3997941" cy="280076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fib(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n,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memo[])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(memo[n]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-1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(n &lt;=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memo[n] = n;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memo[n] = fib(n-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memo) </a:t>
            </a:r>
            <a:b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+ fib(n-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memo);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memo[n];</a:t>
            </a:r>
          </a:p>
          <a:p>
            <a:pPr>
              <a:tabLst>
                <a:tab pos="268288" algn="l"/>
                <a:tab pos="536575" algn="l"/>
                <a:tab pos="8048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671775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ighlightTextShape201406241503265130"/>
          <p:cNvSpPr>
            <a:spLocks noChangeArrowheads="1"/>
          </p:cNvSpPr>
          <p:nvPr/>
        </p:nvSpPr>
        <p:spPr bwMode="auto">
          <a:xfrm>
            <a:off x="668215" y="1402461"/>
            <a:ext cx="7142285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r>
              <a:rPr lang="en-US" sz="6000" dirty="0"/>
              <a:t>Get used to thinking </a:t>
            </a:r>
            <a:r>
              <a:rPr lang="en-US" sz="6000" dirty="0">
                <a:solidFill>
                  <a:srgbClr val="0000FF"/>
                </a:solidFill>
              </a:rPr>
              <a:t>recursively…</a:t>
            </a:r>
          </a:p>
          <a:p>
            <a:pPr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r>
              <a:rPr lang="en-US" sz="4800" dirty="0">
                <a:solidFill>
                  <a:srgbClr val="0000FF"/>
                </a:solidFill>
              </a:rPr>
              <a:t>recursively</a:t>
            </a:r>
            <a:r>
              <a:rPr lang="en-US" sz="4800" dirty="0"/>
              <a:t>…</a:t>
            </a:r>
          </a:p>
          <a:p>
            <a:pPr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r>
              <a:rPr lang="en-US" sz="3600" dirty="0">
                <a:solidFill>
                  <a:srgbClr val="0000FF"/>
                </a:solidFill>
              </a:rPr>
              <a:t>recursively</a:t>
            </a:r>
            <a:r>
              <a:rPr lang="en-US" sz="3600" dirty="0"/>
              <a:t>…</a:t>
            </a:r>
          </a:p>
          <a:p>
            <a:pPr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r>
              <a:rPr lang="en-US" sz="2400" dirty="0">
                <a:solidFill>
                  <a:srgbClr val="0000FF"/>
                </a:solidFill>
              </a:rPr>
              <a:t>recursively</a:t>
            </a:r>
            <a:r>
              <a:rPr lang="en-US" sz="2400" dirty="0"/>
              <a:t>…</a:t>
            </a:r>
          </a:p>
          <a:p>
            <a:pPr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r>
              <a:rPr lang="en-US" sz="2400"/>
              <a:t>…</a:t>
            </a:r>
            <a:endParaRPr lang="en-US" sz="2400" dirty="0"/>
          </a:p>
          <a:p>
            <a:pPr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endParaRPr lang="en-US" sz="3200" dirty="0"/>
          </a:p>
          <a:p>
            <a:pPr algn="ctr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endParaRPr lang="en-GB" sz="2800" dirty="0">
              <a:solidFill>
                <a:srgbClr val="0000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24D28D-598C-F801-6AA7-A8B46C23B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C3BE39-13C8-ABD4-77BF-F963B3BCA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050" dirty="0"/>
              <a:t>Week11R - </a:t>
            </a:r>
            <a:fld id="{2E4790E1-2590-4AEE-892D-AB46A7688113}" type="slidenum">
              <a:rPr lang="en-US" sz="1050" smtClean="0"/>
              <a:pPr>
                <a:defRPr/>
              </a:pPr>
              <a:t>16</a:t>
            </a:fld>
            <a:endParaRPr lang="en-US" sz="105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982E5-A1A7-7511-A108-267540D24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4078418712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274</TotalTime>
  <Words>1629</Words>
  <Application>Microsoft Office PowerPoint</Application>
  <PresentationFormat>On-screen Show (4:3)</PresentationFormat>
  <Paragraphs>278</Paragraphs>
  <Slides>16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Courier New</vt:lpstr>
      <vt:lpstr>Times New Roman</vt:lpstr>
      <vt:lpstr>Wingdings</vt:lpstr>
      <vt:lpstr>Clarity</vt:lpstr>
      <vt:lpstr>Clip</vt:lpstr>
      <vt:lpstr>PowerPoint Presentation</vt:lpstr>
      <vt:lpstr>Common Types of Recursion</vt:lpstr>
      <vt:lpstr>Exercise #1: Counting Occurrence</vt:lpstr>
      <vt:lpstr>Counting Occurrences (by Iteration)</vt:lpstr>
      <vt:lpstr>Counting Occurrences (by Recursion v1)</vt:lpstr>
      <vt:lpstr>Counting Occurrences (by Recursion v1)</vt:lpstr>
      <vt:lpstr>Counting Occurrences (by Recursion v2)</vt:lpstr>
      <vt:lpstr>Counting Occurrences (by Recursion v2)</vt:lpstr>
      <vt:lpstr>Counting Occurrences (by Recursion v3)</vt:lpstr>
      <vt:lpstr>N Queens</vt:lpstr>
      <vt:lpstr>N Queens</vt:lpstr>
      <vt:lpstr>Common Types of Enumeration</vt:lpstr>
      <vt:lpstr>N Queens</vt:lpstr>
      <vt:lpstr>Fibonacci</vt:lpstr>
      <vt:lpstr>Fibonacci with Memoization</vt:lpstr>
      <vt:lpstr>PowerPoint Presentation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2</cp:revision>
  <cp:lastPrinted>2014-06-20T04:24:53Z</cp:lastPrinted>
  <dcterms:created xsi:type="dcterms:W3CDTF">1998-09-05T15:03:32Z</dcterms:created>
  <dcterms:modified xsi:type="dcterms:W3CDTF">2026-04-06T06:54:23Z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